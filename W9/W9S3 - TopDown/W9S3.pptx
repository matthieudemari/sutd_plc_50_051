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ngesInfos/changesInfo1.xml" ContentType="application/vnd.ms-powerpoint.changes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47"/>
  </p:notesMasterIdLst>
  <p:sldIdLst>
    <p:sldId id="377" r:id="rId2"/>
    <p:sldId id="387" r:id="rId3"/>
    <p:sldId id="449" r:id="rId4"/>
    <p:sldId id="450" r:id="rId5"/>
    <p:sldId id="451" r:id="rId6"/>
    <p:sldId id="454" r:id="rId7"/>
    <p:sldId id="455" r:id="rId8"/>
    <p:sldId id="453" r:id="rId9"/>
    <p:sldId id="456" r:id="rId10"/>
    <p:sldId id="458" r:id="rId11"/>
    <p:sldId id="459" r:id="rId12"/>
    <p:sldId id="461" r:id="rId13"/>
    <p:sldId id="462" r:id="rId14"/>
    <p:sldId id="463" r:id="rId15"/>
    <p:sldId id="464" r:id="rId16"/>
    <p:sldId id="466" r:id="rId17"/>
    <p:sldId id="467" r:id="rId18"/>
    <p:sldId id="468" r:id="rId19"/>
    <p:sldId id="470" r:id="rId20"/>
    <p:sldId id="471" r:id="rId21"/>
    <p:sldId id="472" r:id="rId22"/>
    <p:sldId id="473" r:id="rId23"/>
    <p:sldId id="474" r:id="rId24"/>
    <p:sldId id="475" r:id="rId25"/>
    <p:sldId id="476" r:id="rId26"/>
    <p:sldId id="477" r:id="rId27"/>
    <p:sldId id="478" r:id="rId28"/>
    <p:sldId id="479" r:id="rId29"/>
    <p:sldId id="480" r:id="rId30"/>
    <p:sldId id="481" r:id="rId31"/>
    <p:sldId id="482" r:id="rId32"/>
    <p:sldId id="483" r:id="rId33"/>
    <p:sldId id="484" r:id="rId34"/>
    <p:sldId id="485" r:id="rId35"/>
    <p:sldId id="486" r:id="rId36"/>
    <p:sldId id="487" r:id="rId37"/>
    <p:sldId id="488" r:id="rId38"/>
    <p:sldId id="489" r:id="rId39"/>
    <p:sldId id="490" r:id="rId40"/>
    <p:sldId id="491" r:id="rId41"/>
    <p:sldId id="492" r:id="rId42"/>
    <p:sldId id="494" r:id="rId43"/>
    <p:sldId id="495" r:id="rId44"/>
    <p:sldId id="496" r:id="rId45"/>
    <p:sldId id="497" r:id="rId46"/>
    <p:sldId id="498" r:id="rId47"/>
    <p:sldId id="499" r:id="rId48"/>
    <p:sldId id="500" r:id="rId49"/>
    <p:sldId id="501" r:id="rId50"/>
    <p:sldId id="502" r:id="rId51"/>
    <p:sldId id="503" r:id="rId52"/>
    <p:sldId id="504" r:id="rId53"/>
    <p:sldId id="505" r:id="rId54"/>
    <p:sldId id="506" r:id="rId55"/>
    <p:sldId id="507" r:id="rId56"/>
    <p:sldId id="508" r:id="rId57"/>
    <p:sldId id="509" r:id="rId58"/>
    <p:sldId id="510" r:id="rId59"/>
    <p:sldId id="512" r:id="rId60"/>
    <p:sldId id="513" r:id="rId61"/>
    <p:sldId id="514" r:id="rId62"/>
    <p:sldId id="511" r:id="rId63"/>
    <p:sldId id="493" r:id="rId64"/>
    <p:sldId id="515" r:id="rId65"/>
    <p:sldId id="516" r:id="rId66"/>
    <p:sldId id="551" r:id="rId67"/>
    <p:sldId id="552" r:id="rId68"/>
    <p:sldId id="553" r:id="rId69"/>
    <p:sldId id="554" r:id="rId70"/>
    <p:sldId id="549" r:id="rId71"/>
    <p:sldId id="550" r:id="rId72"/>
    <p:sldId id="517" r:id="rId73"/>
    <p:sldId id="518" r:id="rId74"/>
    <p:sldId id="519" r:id="rId75"/>
    <p:sldId id="521" r:id="rId76"/>
    <p:sldId id="522" r:id="rId77"/>
    <p:sldId id="523" r:id="rId78"/>
    <p:sldId id="524" r:id="rId79"/>
    <p:sldId id="525" r:id="rId80"/>
    <p:sldId id="526" r:id="rId81"/>
    <p:sldId id="527" r:id="rId82"/>
    <p:sldId id="528" r:id="rId83"/>
    <p:sldId id="529" r:id="rId84"/>
    <p:sldId id="530" r:id="rId85"/>
    <p:sldId id="531" r:id="rId86"/>
    <p:sldId id="532" r:id="rId87"/>
    <p:sldId id="533" r:id="rId88"/>
    <p:sldId id="534" r:id="rId89"/>
    <p:sldId id="535" r:id="rId90"/>
    <p:sldId id="536" r:id="rId91"/>
    <p:sldId id="537" r:id="rId92"/>
    <p:sldId id="538" r:id="rId93"/>
    <p:sldId id="539" r:id="rId94"/>
    <p:sldId id="540" r:id="rId95"/>
    <p:sldId id="541" r:id="rId96"/>
    <p:sldId id="544" r:id="rId97"/>
    <p:sldId id="542" r:id="rId98"/>
    <p:sldId id="543" r:id="rId99"/>
    <p:sldId id="545" r:id="rId100"/>
    <p:sldId id="599" r:id="rId101"/>
    <p:sldId id="546" r:id="rId102"/>
    <p:sldId id="547" r:id="rId103"/>
    <p:sldId id="555" r:id="rId104"/>
    <p:sldId id="557" r:id="rId105"/>
    <p:sldId id="558" r:id="rId106"/>
    <p:sldId id="559" r:id="rId107"/>
    <p:sldId id="560" r:id="rId108"/>
    <p:sldId id="561" r:id="rId109"/>
    <p:sldId id="562" r:id="rId110"/>
    <p:sldId id="563" r:id="rId111"/>
    <p:sldId id="565" r:id="rId112"/>
    <p:sldId id="566" r:id="rId113"/>
    <p:sldId id="567" r:id="rId114"/>
    <p:sldId id="568" r:id="rId115"/>
    <p:sldId id="570" r:id="rId116"/>
    <p:sldId id="569" r:id="rId117"/>
    <p:sldId id="572" r:id="rId118"/>
    <p:sldId id="573" r:id="rId119"/>
    <p:sldId id="574" r:id="rId120"/>
    <p:sldId id="571" r:id="rId121"/>
    <p:sldId id="556" r:id="rId122"/>
    <p:sldId id="575" r:id="rId123"/>
    <p:sldId id="576" r:id="rId124"/>
    <p:sldId id="587" r:id="rId125"/>
    <p:sldId id="577" r:id="rId126"/>
    <p:sldId id="589" r:id="rId127"/>
    <p:sldId id="578" r:id="rId128"/>
    <p:sldId id="579" r:id="rId129"/>
    <p:sldId id="580" r:id="rId130"/>
    <p:sldId id="581" r:id="rId131"/>
    <p:sldId id="582" r:id="rId132"/>
    <p:sldId id="583" r:id="rId133"/>
    <p:sldId id="584" r:id="rId134"/>
    <p:sldId id="585" r:id="rId135"/>
    <p:sldId id="586" r:id="rId136"/>
    <p:sldId id="597" r:id="rId137"/>
    <p:sldId id="520" r:id="rId138"/>
    <p:sldId id="598" r:id="rId139"/>
    <p:sldId id="590" r:id="rId140"/>
    <p:sldId id="591" r:id="rId141"/>
    <p:sldId id="592" r:id="rId142"/>
    <p:sldId id="593" r:id="rId143"/>
    <p:sldId id="594" r:id="rId144"/>
    <p:sldId id="595" r:id="rId145"/>
    <p:sldId id="596" r:id="rId14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B78B9027-D5BB-40A0-9AF0-3B950F71C46E}">
          <p14:sldIdLst>
            <p14:sldId id="377"/>
          </p14:sldIdLst>
        </p14:section>
        <p14:section name="Where we currently are" id="{A4FC8DF2-57C6-4A7E-B353-9083B2F279F9}">
          <p14:sldIdLst>
            <p14:sldId id="387"/>
            <p14:sldId id="449"/>
          </p14:sldIdLst>
        </p14:section>
        <p14:section name="Idea behind top-down parsing" id="{0D5A9A29-998A-468B-A9CA-57CFD80D4A7E}">
          <p14:sldIdLst>
            <p14:sldId id="450"/>
            <p14:sldId id="451"/>
            <p14:sldId id="454"/>
            <p14:sldId id="455"/>
            <p14:sldId id="453"/>
          </p14:sldIdLst>
        </p14:section>
        <p14:section name="Top-Down as a Graph Search" id="{29E3CF25-7607-4C0C-BF59-CBEF7BFDEDE2}">
          <p14:sldIdLst>
            <p14:sldId id="456"/>
            <p14:sldId id="458"/>
            <p14:sldId id="459"/>
          </p14:sldIdLst>
        </p14:section>
        <p14:section name="Using a naive BFS" id="{56023CC8-C184-4C52-AAED-37C5AA3E90C8}">
          <p14:sldIdLst>
            <p14:sldId id="461"/>
            <p14:sldId id="462"/>
            <p14:sldId id="463"/>
            <p14:sldId id="464"/>
            <p14:sldId id="466"/>
            <p14:sldId id="467"/>
            <p14:sldId id="468"/>
            <p14:sldId id="470"/>
            <p14:sldId id="471"/>
            <p14:sldId id="472"/>
            <p14:sldId id="473"/>
            <p14:sldId id="474"/>
            <p14:sldId id="475"/>
            <p14:sldId id="476"/>
            <p14:sldId id="477"/>
            <p14:sldId id="478"/>
            <p14:sldId id="479"/>
            <p14:sldId id="480"/>
          </p14:sldIdLst>
        </p14:section>
        <p14:section name="BFS is slow" id="{AB28B521-DA94-4DB3-88BA-B2B58B6D9B0B}">
          <p14:sldIdLst>
            <p14:sldId id="481"/>
          </p14:sldIdLst>
        </p14:section>
        <p14:section name="Reducing the branching factor" id="{40A753C4-1E1C-4C1E-AA05-D4558E2E0743}">
          <p14:sldIdLst>
            <p14:sldId id="482"/>
            <p14:sldId id="483"/>
            <p14:sldId id="484"/>
          </p14:sldIdLst>
        </p14:section>
        <p14:section name="Leftmost BFS in action" id="{5F3C2850-7307-4A18-976F-232C41D26062}">
          <p14:sldIdLst>
            <p14:sldId id="485"/>
            <p14:sldId id="486"/>
            <p14:sldId id="487"/>
            <p14:sldId id="488"/>
            <p14:sldId id="489"/>
            <p14:sldId id="490"/>
          </p14:sldIdLst>
        </p14:section>
        <p14:section name="Problems with Leftmost BFS" id="{B005EFF2-85A7-444C-830F-E5255B3681BA}">
          <p14:sldIdLst>
            <p14:sldId id="491"/>
            <p14:sldId id="492"/>
            <p14:sldId id="494"/>
            <p14:sldId id="495"/>
            <p14:sldId id="496"/>
            <p14:sldId id="497"/>
            <p14:sldId id="498"/>
          </p14:sldIdLst>
        </p14:section>
        <p14:section name="Leftmost DFS in action" id="{357518CB-3DFE-4037-B456-F147A1645B12}">
          <p14:sldIdLst>
            <p14:sldId id="499"/>
            <p14:sldId id="500"/>
            <p14:sldId id="501"/>
            <p14:sldId id="502"/>
            <p14:sldId id="503"/>
            <p14:sldId id="504"/>
            <p14:sldId id="505"/>
            <p14:sldId id="506"/>
            <p14:sldId id="507"/>
            <p14:sldId id="508"/>
            <p14:sldId id="509"/>
            <p14:sldId id="510"/>
          </p14:sldIdLst>
        </p14:section>
        <p14:section name="Problems with Leftmost DFS" id="{8D59EC1E-8E3C-444D-8606-21DB0B0F84F3}">
          <p14:sldIdLst>
            <p14:sldId id="512"/>
            <p14:sldId id="513"/>
            <p14:sldId id="514"/>
            <p14:sldId id="511"/>
          </p14:sldIdLst>
        </p14:section>
        <p14:section name="Left-recursive grammars and how to fix them" id="{24DC7DB2-1383-4957-A61F-F1A61961C178}">
          <p14:sldIdLst>
            <p14:sldId id="493"/>
            <p14:sldId id="515"/>
            <p14:sldId id="516"/>
          </p14:sldIdLst>
        </p14:section>
        <p14:section name="Quiz time!" id="{D343E827-B9F3-43E2-A444-1CF91637309A}">
          <p14:sldIdLst>
            <p14:sldId id="551"/>
            <p14:sldId id="552"/>
            <p14:sldId id="553"/>
            <p14:sldId id="554"/>
            <p14:sldId id="549"/>
            <p14:sldId id="550"/>
          </p14:sldIdLst>
        </p14:section>
        <p14:section name="Predictive Parsing" id="{18DD91A1-B683-4D98-9E5D-299C67B9A327}">
          <p14:sldIdLst>
            <p14:sldId id="517"/>
            <p14:sldId id="518"/>
            <p14:sldId id="519"/>
          </p14:sldIdLst>
        </p14:section>
        <p14:section name="Predictive Parsing in action" id="{18A1F95D-B2BE-471B-BA00-6CFAAFDB1545}">
          <p14:sldIdLst>
            <p14:sldId id="521"/>
            <p14:sldId id="522"/>
            <p14:sldId id="523"/>
            <p14:sldId id="524"/>
            <p14:sldId id="525"/>
            <p14:sldId id="526"/>
            <p14:sldId id="527"/>
            <p14:sldId id="528"/>
            <p14:sldId id="529"/>
            <p14:sldId id="530"/>
          </p14:sldIdLst>
        </p14:section>
        <p14:section name="The LL(1) Parser" id="{0CCDD4FC-D155-439C-B97A-81B92AE9349A}">
          <p14:sldIdLst>
            <p14:sldId id="531"/>
            <p14:sldId id="532"/>
            <p14:sldId id="533"/>
            <p14:sldId id="534"/>
            <p14:sldId id="535"/>
            <p14:sldId id="536"/>
            <p14:sldId id="537"/>
            <p14:sldId id="538"/>
            <p14:sldId id="539"/>
            <p14:sldId id="540"/>
            <p14:sldId id="541"/>
          </p14:sldIdLst>
        </p14:section>
        <p14:section name="Detecting errors with LL(1)" id="{C98BD862-EBF4-43BA-B741-E23F1A5812D7}">
          <p14:sldIdLst>
            <p14:sldId id="544"/>
            <p14:sldId id="542"/>
            <p14:sldId id="543"/>
          </p14:sldIdLst>
        </p14:section>
        <p14:section name="LL(1) in short" id="{1E92FAEF-0475-4CAD-830D-7143FA2A51ED}">
          <p14:sldIdLst>
            <p14:sldId id="545"/>
            <p14:sldId id="599"/>
          </p14:sldIdLst>
        </p14:section>
        <p14:section name="Constructing a LL(1) table" id="{95513F71-D5B4-4B5C-80E4-C6E47E2661D5}">
          <p14:sldIdLst>
            <p14:sldId id="546"/>
            <p14:sldId id="547"/>
          </p14:sldIdLst>
        </p14:section>
        <p14:section name="First sets" id="{B2EDB202-42E2-493E-A8A3-0493157DF11D}">
          <p14:sldIdLst>
            <p14:sldId id="555"/>
            <p14:sldId id="557"/>
            <p14:sldId id="558"/>
            <p14:sldId id="559"/>
          </p14:sldIdLst>
        </p14:section>
        <p14:section name="Building a LL(1) table using FIRST sets" id="{B67BFE13-3860-4C99-A497-91D50559DF56}">
          <p14:sldIdLst>
            <p14:sldId id="560"/>
            <p14:sldId id="561"/>
            <p14:sldId id="562"/>
            <p14:sldId id="563"/>
            <p14:sldId id="565"/>
            <p14:sldId id="566"/>
            <p14:sldId id="567"/>
            <p14:sldId id="568"/>
            <p14:sldId id="570"/>
            <p14:sldId id="569"/>
          </p14:sldIdLst>
        </p14:section>
        <p14:section name="Follow sets" id="{99A6A49D-5D24-4C27-B288-B36925385F95}">
          <p14:sldIdLst>
            <p14:sldId id="572"/>
            <p14:sldId id="573"/>
            <p14:sldId id="574"/>
            <p14:sldId id="571"/>
            <p14:sldId id="556"/>
          </p14:sldIdLst>
        </p14:section>
        <p14:section name="Final LL(1) table algorithm" id="{FD2A3724-F717-4BDF-A1C5-646B57D083F8}">
          <p14:sldIdLst>
            <p14:sldId id="575"/>
          </p14:sldIdLst>
        </p14:section>
        <p14:section name="LL(1) construction example" id="{1CBB5961-609F-41FF-A361-E3E13FF30579}">
          <p14:sldIdLst>
            <p14:sldId id="576"/>
            <p14:sldId id="587"/>
            <p14:sldId id="577"/>
            <p14:sldId id="589"/>
            <p14:sldId id="578"/>
            <p14:sldId id="579"/>
            <p14:sldId id="580"/>
            <p14:sldId id="581"/>
            <p14:sldId id="582"/>
            <p14:sldId id="583"/>
            <p14:sldId id="584"/>
            <p14:sldId id="585"/>
            <p14:sldId id="586"/>
          </p14:sldIdLst>
        </p14:section>
        <p14:section name="Problems with LL(1)" id="{568CFF2A-EAA3-42B5-A336-0543C8393139}">
          <p14:sldIdLst>
            <p14:sldId id="597"/>
          </p14:sldIdLst>
        </p14:section>
        <p14:section name="Lookahead size" id="{AD151072-D8C4-44E0-A567-BD1CB4E4AAFE}">
          <p14:sldIdLst>
            <p14:sldId id="520"/>
          </p14:sldIdLst>
        </p14:section>
        <p14:section name="Conclusion" id="{9E1E8CEC-27EB-47B2-B4DC-C7D030EE7E4D}">
          <p14:sldIdLst>
            <p14:sldId id="598"/>
          </p14:sldIdLst>
        </p14:section>
        <p14:section name="Extra: FIRST and FOLLOW sets for our CFG in the LL(1) demo" id="{DFCD41DC-4FB8-49BC-AF89-F62F23B29BAC}">
          <p14:sldIdLst>
            <p14:sldId id="590"/>
            <p14:sldId id="591"/>
            <p14:sldId id="592"/>
            <p14:sldId id="593"/>
            <p14:sldId id="594"/>
            <p14:sldId id="595"/>
            <p14:sldId id="596"/>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BB37E7B-2C63-881E-D1CD-0B80C5165243}" name="Matthieu DE MARI" initials="MDM" userId="15f9bd7465eafadb"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AF606853-7671-496A-8E4F-DF71F8EC918B}" styleName="Dark Style 1 - Accent 6">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6"/>
          </a:solidFill>
        </a:fill>
      </a:tcStyle>
    </a:wholeTbl>
    <a:band1H>
      <a:tcStyle>
        <a:tcBdr/>
        <a:fill>
          <a:solidFill>
            <a:schemeClr val="accent6">
              <a:shade val="60000"/>
            </a:schemeClr>
          </a:solidFill>
        </a:fill>
      </a:tcStyle>
    </a:band1H>
    <a:band1V>
      <a:tcStyle>
        <a:tcBdr/>
        <a:fill>
          <a:solidFill>
            <a:schemeClr val="accent6">
              <a:shade val="60000"/>
            </a:schemeClr>
          </a:solidFill>
        </a:fill>
      </a:tcStyle>
    </a:band1V>
    <a:lastCol>
      <a:tcTxStyle b="on"/>
      <a:tcStyle>
        <a:tcBdr>
          <a:left>
            <a:ln w="25400" cmpd="sng">
              <a:solidFill>
                <a:schemeClr val="lt1"/>
              </a:solidFill>
            </a:ln>
          </a:left>
        </a:tcBdr>
        <a:fill>
          <a:solidFill>
            <a:schemeClr val="accent6">
              <a:shade val="60000"/>
            </a:schemeClr>
          </a:solidFill>
        </a:fill>
      </a:tcStyle>
    </a:lastCol>
    <a:firstCol>
      <a:tcTxStyle b="on"/>
      <a:tcStyle>
        <a:tcBdr>
          <a:right>
            <a:ln w="25400" cmpd="sng">
              <a:solidFill>
                <a:schemeClr val="lt1"/>
              </a:solidFill>
            </a:ln>
          </a:right>
        </a:tcBdr>
        <a:fill>
          <a:solidFill>
            <a:schemeClr val="accent6">
              <a:shade val="60000"/>
            </a:schemeClr>
          </a:solidFill>
        </a:fill>
      </a:tcStyle>
    </a:firstCol>
    <a:lastRow>
      <a:tcTxStyle b="on"/>
      <a:tcStyle>
        <a:tcBdr>
          <a:top>
            <a:ln w="25400" cmpd="sng">
              <a:solidFill>
                <a:schemeClr val="lt1"/>
              </a:solidFill>
            </a:ln>
          </a:top>
        </a:tcBdr>
        <a:fill>
          <a:solidFill>
            <a:schemeClr val="accent6">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0" d="100"/>
          <a:sy n="70" d="100"/>
        </p:scale>
        <p:origin x="1138" y="2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viewProps" Target="viewProps.xml"/><Relationship Id="rId5" Type="http://schemas.openxmlformats.org/officeDocument/2006/relationships/slide" Target="slides/slide4.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150" Type="http://schemas.openxmlformats.org/officeDocument/2006/relationships/theme" Target="theme/theme1.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tableStyles" Target="tableStyles.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61" Type="http://schemas.openxmlformats.org/officeDocument/2006/relationships/slide" Target="slides/slide60.xml"/><Relationship Id="rId82" Type="http://schemas.openxmlformats.org/officeDocument/2006/relationships/slide" Target="slides/slide81.xml"/><Relationship Id="rId152" Type="http://schemas.microsoft.com/office/2016/11/relationships/changesInfo" Target="changesInfos/changesInfo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microsoft.com/office/2018/10/relationships/authors" Target="authors.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tthieu De Mari" userId="dfb708c9-d8dc-439f-9a3b-c772bf4a311c" providerId="ADAL" clId="{81E9B007-0C2C-493E-9B93-55A62C9C1F12}"/>
    <pc:docChg chg="custSel modSld">
      <pc:chgData name="Matthieu De Mari" userId="dfb708c9-d8dc-439f-9a3b-c772bf4a311c" providerId="ADAL" clId="{81E9B007-0C2C-493E-9B93-55A62C9C1F12}" dt="2026-03-03T10:14:48.717" v="154" actId="20577"/>
      <pc:docMkLst>
        <pc:docMk/>
      </pc:docMkLst>
      <pc:sldChg chg="modSp mod">
        <pc:chgData name="Matthieu De Mari" userId="dfb708c9-d8dc-439f-9a3b-c772bf4a311c" providerId="ADAL" clId="{81E9B007-0C2C-493E-9B93-55A62C9C1F12}" dt="2026-03-03T10:14:48.717" v="154" actId="20577"/>
        <pc:sldMkLst>
          <pc:docMk/>
          <pc:sldMk cId="1040156172" sldId="377"/>
        </pc:sldMkLst>
        <pc:spChg chg="mod">
          <ac:chgData name="Matthieu De Mari" userId="dfb708c9-d8dc-439f-9a3b-c772bf4a311c" providerId="ADAL" clId="{81E9B007-0C2C-493E-9B93-55A62C9C1F12}" dt="2026-03-03T10:14:48.717" v="154" actId="20577"/>
          <ac:spMkLst>
            <pc:docMk/>
            <pc:sldMk cId="1040156172" sldId="377"/>
            <ac:spMk id="2" creationId="{080CEB46-CC16-4D19-8C2C-AEE9471D8168}"/>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G"/>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8CFC6A4-B085-437B-8084-693BEB2A32DE}" type="datetimeFigureOut">
              <a:rPr lang="en-SG" smtClean="0"/>
              <a:t>3/3/2026</a:t>
            </a:fld>
            <a:endParaRPr lang="en-SG"/>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SG"/>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SG"/>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51275F3-0744-4B3F-986A-B720E2CE0519}" type="slidenum">
              <a:rPr lang="en-SG" smtClean="0"/>
              <a:t>‹#›</a:t>
            </a:fld>
            <a:endParaRPr lang="en-SG"/>
          </a:p>
        </p:txBody>
      </p:sp>
    </p:spTree>
    <p:extLst>
      <p:ext uri="{BB962C8B-B14F-4D97-AF65-F5344CB8AC3E}">
        <p14:creationId xmlns:p14="http://schemas.microsoft.com/office/powerpoint/2010/main" val="332298684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751275F3-0744-4B3F-986A-B720E2CE0519}" type="slidenum">
              <a:rPr lang="en-SG" smtClean="0"/>
              <a:t>99</a:t>
            </a:fld>
            <a:endParaRPr lang="en-SG"/>
          </a:p>
        </p:txBody>
      </p:sp>
    </p:spTree>
    <p:extLst>
      <p:ext uri="{BB962C8B-B14F-4D97-AF65-F5344CB8AC3E}">
        <p14:creationId xmlns:p14="http://schemas.microsoft.com/office/powerpoint/2010/main" val="373155401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751275F3-0744-4B3F-986A-B720E2CE0519}" type="slidenum">
              <a:rPr lang="en-SG" smtClean="0"/>
              <a:t>100</a:t>
            </a:fld>
            <a:endParaRPr lang="en-SG"/>
          </a:p>
        </p:txBody>
      </p:sp>
    </p:spTree>
    <p:extLst>
      <p:ext uri="{BB962C8B-B14F-4D97-AF65-F5344CB8AC3E}">
        <p14:creationId xmlns:p14="http://schemas.microsoft.com/office/powerpoint/2010/main" val="340394831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751275F3-0744-4B3F-986A-B720E2CE0519}" type="slidenum">
              <a:rPr lang="en-SG" smtClean="0"/>
              <a:t>105</a:t>
            </a:fld>
            <a:endParaRPr lang="en-SG"/>
          </a:p>
        </p:txBody>
      </p:sp>
    </p:spTree>
    <p:extLst>
      <p:ext uri="{BB962C8B-B14F-4D97-AF65-F5344CB8AC3E}">
        <p14:creationId xmlns:p14="http://schemas.microsoft.com/office/powerpoint/2010/main" val="189795608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751275F3-0744-4B3F-986A-B720E2CE0519}" type="slidenum">
              <a:rPr lang="en-SG" smtClean="0"/>
              <a:t>106</a:t>
            </a:fld>
            <a:endParaRPr lang="en-SG"/>
          </a:p>
        </p:txBody>
      </p:sp>
    </p:spTree>
    <p:extLst>
      <p:ext uri="{BB962C8B-B14F-4D97-AF65-F5344CB8AC3E}">
        <p14:creationId xmlns:p14="http://schemas.microsoft.com/office/powerpoint/2010/main" val="157771895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751275F3-0744-4B3F-986A-B720E2CE0519}" type="slidenum">
              <a:rPr lang="en-SG" smtClean="0"/>
              <a:t>111</a:t>
            </a:fld>
            <a:endParaRPr lang="en-SG"/>
          </a:p>
        </p:txBody>
      </p:sp>
    </p:spTree>
    <p:extLst>
      <p:ext uri="{BB962C8B-B14F-4D97-AF65-F5344CB8AC3E}">
        <p14:creationId xmlns:p14="http://schemas.microsoft.com/office/powerpoint/2010/main" val="383322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751275F3-0744-4B3F-986A-B720E2CE0519}" type="slidenum">
              <a:rPr lang="en-SG" smtClean="0"/>
              <a:t>112</a:t>
            </a:fld>
            <a:endParaRPr lang="en-SG"/>
          </a:p>
        </p:txBody>
      </p:sp>
    </p:spTree>
    <p:extLst>
      <p:ext uri="{BB962C8B-B14F-4D97-AF65-F5344CB8AC3E}">
        <p14:creationId xmlns:p14="http://schemas.microsoft.com/office/powerpoint/2010/main" val="6504226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751275F3-0744-4B3F-986A-B720E2CE0519}" type="slidenum">
              <a:rPr lang="en-SG" smtClean="0"/>
              <a:t>115</a:t>
            </a:fld>
            <a:endParaRPr lang="en-SG"/>
          </a:p>
        </p:txBody>
      </p:sp>
    </p:spTree>
    <p:extLst>
      <p:ext uri="{BB962C8B-B14F-4D97-AF65-F5344CB8AC3E}">
        <p14:creationId xmlns:p14="http://schemas.microsoft.com/office/powerpoint/2010/main" val="42477265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EA04E3-9B9E-0B91-AA29-B356F19B724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SG"/>
          </a:p>
        </p:txBody>
      </p:sp>
      <p:sp>
        <p:nvSpPr>
          <p:cNvPr id="3" name="Subtitle 2">
            <a:extLst>
              <a:ext uri="{FF2B5EF4-FFF2-40B4-BE49-F238E27FC236}">
                <a16:creationId xmlns:a16="http://schemas.microsoft.com/office/drawing/2014/main" id="{1AF6A716-5C7D-F23B-5221-64E9C8264B8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SG"/>
          </a:p>
        </p:txBody>
      </p:sp>
      <p:sp>
        <p:nvSpPr>
          <p:cNvPr id="4" name="Date Placeholder 3">
            <a:extLst>
              <a:ext uri="{FF2B5EF4-FFF2-40B4-BE49-F238E27FC236}">
                <a16:creationId xmlns:a16="http://schemas.microsoft.com/office/drawing/2014/main" id="{80A554BE-C464-1858-7CE8-EE087B7165EA}"/>
              </a:ext>
            </a:extLst>
          </p:cNvPr>
          <p:cNvSpPr>
            <a:spLocks noGrp="1"/>
          </p:cNvSpPr>
          <p:nvPr>
            <p:ph type="dt" sz="half" idx="10"/>
          </p:nvPr>
        </p:nvSpPr>
        <p:spPr/>
        <p:txBody>
          <a:bodyPr/>
          <a:lstStyle/>
          <a:p>
            <a:fld id="{AB35F6B0-D468-4997-9CE3-CF2A1AE5E3F9}" type="datetimeFigureOut">
              <a:rPr lang="en-SG" smtClean="0"/>
              <a:t>3/3/2026</a:t>
            </a:fld>
            <a:endParaRPr lang="en-SG"/>
          </a:p>
        </p:txBody>
      </p:sp>
      <p:sp>
        <p:nvSpPr>
          <p:cNvPr id="5" name="Footer Placeholder 4">
            <a:extLst>
              <a:ext uri="{FF2B5EF4-FFF2-40B4-BE49-F238E27FC236}">
                <a16:creationId xmlns:a16="http://schemas.microsoft.com/office/drawing/2014/main" id="{36BC678C-234A-A12A-C292-CF7A8FE3B47B}"/>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03558BCA-A573-1FAE-54DF-9261AECB3711}"/>
              </a:ext>
            </a:extLst>
          </p:cNvPr>
          <p:cNvSpPr>
            <a:spLocks noGrp="1"/>
          </p:cNvSpPr>
          <p:nvPr>
            <p:ph type="sldNum" sz="quarter" idx="12"/>
          </p:nvPr>
        </p:nvSpPr>
        <p:spPr/>
        <p:txBody>
          <a:bodyPr/>
          <a:lstStyle/>
          <a:p>
            <a:fld id="{1BE59FAF-36E2-46C7-B056-2E79DE02A3C7}" type="slidenum">
              <a:rPr lang="en-SG" smtClean="0"/>
              <a:t>‹#›</a:t>
            </a:fld>
            <a:endParaRPr lang="en-SG"/>
          </a:p>
        </p:txBody>
      </p:sp>
    </p:spTree>
    <p:extLst>
      <p:ext uri="{BB962C8B-B14F-4D97-AF65-F5344CB8AC3E}">
        <p14:creationId xmlns:p14="http://schemas.microsoft.com/office/powerpoint/2010/main" val="33490454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59CDC6-8674-88A5-68BA-4DF3EF7F3C98}"/>
              </a:ext>
            </a:extLst>
          </p:cNvPr>
          <p:cNvSpPr>
            <a:spLocks noGrp="1"/>
          </p:cNvSpPr>
          <p:nvPr>
            <p:ph type="title"/>
          </p:nvPr>
        </p:nvSpPr>
        <p:spPr/>
        <p:txBody>
          <a:bodyPr/>
          <a:lstStyle/>
          <a:p>
            <a:r>
              <a:rPr lang="en-US"/>
              <a:t>Click to edit Master title style</a:t>
            </a:r>
            <a:endParaRPr lang="en-SG"/>
          </a:p>
        </p:txBody>
      </p:sp>
      <p:sp>
        <p:nvSpPr>
          <p:cNvPr id="3" name="Content Placeholder 2">
            <a:extLst>
              <a:ext uri="{FF2B5EF4-FFF2-40B4-BE49-F238E27FC236}">
                <a16:creationId xmlns:a16="http://schemas.microsoft.com/office/drawing/2014/main" id="{4CCBD233-6835-D2C8-D4B6-2377CA6957F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a:extLst>
              <a:ext uri="{FF2B5EF4-FFF2-40B4-BE49-F238E27FC236}">
                <a16:creationId xmlns:a16="http://schemas.microsoft.com/office/drawing/2014/main" id="{BF2CB200-8CA3-3D50-247E-E169485014FC}"/>
              </a:ext>
            </a:extLst>
          </p:cNvPr>
          <p:cNvSpPr>
            <a:spLocks noGrp="1"/>
          </p:cNvSpPr>
          <p:nvPr>
            <p:ph type="dt" sz="half" idx="10"/>
          </p:nvPr>
        </p:nvSpPr>
        <p:spPr/>
        <p:txBody>
          <a:bodyPr/>
          <a:lstStyle/>
          <a:p>
            <a:fld id="{AB35F6B0-D468-4997-9CE3-CF2A1AE5E3F9}" type="datetimeFigureOut">
              <a:rPr lang="en-SG" smtClean="0"/>
              <a:t>3/3/2026</a:t>
            </a:fld>
            <a:endParaRPr lang="en-SG"/>
          </a:p>
        </p:txBody>
      </p:sp>
      <p:sp>
        <p:nvSpPr>
          <p:cNvPr id="5" name="Footer Placeholder 4">
            <a:extLst>
              <a:ext uri="{FF2B5EF4-FFF2-40B4-BE49-F238E27FC236}">
                <a16:creationId xmlns:a16="http://schemas.microsoft.com/office/drawing/2014/main" id="{5243C4F2-0C9D-182B-FAF9-7AF1B77A4727}"/>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0A8EC91B-956F-EA73-BCF4-F07962880647}"/>
              </a:ext>
            </a:extLst>
          </p:cNvPr>
          <p:cNvSpPr>
            <a:spLocks noGrp="1"/>
          </p:cNvSpPr>
          <p:nvPr>
            <p:ph type="sldNum" sz="quarter" idx="12"/>
          </p:nvPr>
        </p:nvSpPr>
        <p:spPr/>
        <p:txBody>
          <a:bodyPr/>
          <a:lstStyle/>
          <a:p>
            <a:fld id="{1BE59FAF-36E2-46C7-B056-2E79DE02A3C7}" type="slidenum">
              <a:rPr lang="en-SG" smtClean="0"/>
              <a:t>‹#›</a:t>
            </a:fld>
            <a:endParaRPr lang="en-SG"/>
          </a:p>
        </p:txBody>
      </p:sp>
    </p:spTree>
    <p:extLst>
      <p:ext uri="{BB962C8B-B14F-4D97-AF65-F5344CB8AC3E}">
        <p14:creationId xmlns:p14="http://schemas.microsoft.com/office/powerpoint/2010/main" val="270305504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62F325-7251-4FD9-5A0A-482D967524A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SG"/>
          </a:p>
        </p:txBody>
      </p:sp>
      <p:sp>
        <p:nvSpPr>
          <p:cNvPr id="3" name="Text Placeholder 2">
            <a:extLst>
              <a:ext uri="{FF2B5EF4-FFF2-40B4-BE49-F238E27FC236}">
                <a16:creationId xmlns:a16="http://schemas.microsoft.com/office/drawing/2014/main" id="{6ED4414C-39F5-968A-8953-D6E4A4BBB700}"/>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F2787D6-E021-15BD-3F47-6B3A2CEAAB8A}"/>
              </a:ext>
            </a:extLst>
          </p:cNvPr>
          <p:cNvSpPr>
            <a:spLocks noGrp="1"/>
          </p:cNvSpPr>
          <p:nvPr>
            <p:ph type="dt" sz="half" idx="10"/>
          </p:nvPr>
        </p:nvSpPr>
        <p:spPr/>
        <p:txBody>
          <a:bodyPr/>
          <a:lstStyle/>
          <a:p>
            <a:fld id="{AB35F6B0-D468-4997-9CE3-CF2A1AE5E3F9}" type="datetimeFigureOut">
              <a:rPr lang="en-SG" smtClean="0"/>
              <a:t>3/3/2026</a:t>
            </a:fld>
            <a:endParaRPr lang="en-SG"/>
          </a:p>
        </p:txBody>
      </p:sp>
      <p:sp>
        <p:nvSpPr>
          <p:cNvPr id="5" name="Footer Placeholder 4">
            <a:extLst>
              <a:ext uri="{FF2B5EF4-FFF2-40B4-BE49-F238E27FC236}">
                <a16:creationId xmlns:a16="http://schemas.microsoft.com/office/drawing/2014/main" id="{ED513CE0-0459-2E8E-3279-EF5B62DD6802}"/>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B5049588-601F-7C26-2A07-334BD5E2D818}"/>
              </a:ext>
            </a:extLst>
          </p:cNvPr>
          <p:cNvSpPr>
            <a:spLocks noGrp="1"/>
          </p:cNvSpPr>
          <p:nvPr>
            <p:ph type="sldNum" sz="quarter" idx="12"/>
          </p:nvPr>
        </p:nvSpPr>
        <p:spPr/>
        <p:txBody>
          <a:bodyPr/>
          <a:lstStyle/>
          <a:p>
            <a:fld id="{1BE59FAF-36E2-46C7-B056-2E79DE02A3C7}" type="slidenum">
              <a:rPr lang="en-SG" smtClean="0"/>
              <a:t>‹#›</a:t>
            </a:fld>
            <a:endParaRPr lang="en-SG"/>
          </a:p>
        </p:txBody>
      </p:sp>
    </p:spTree>
    <p:extLst>
      <p:ext uri="{BB962C8B-B14F-4D97-AF65-F5344CB8AC3E}">
        <p14:creationId xmlns:p14="http://schemas.microsoft.com/office/powerpoint/2010/main" val="42870413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67D91B-BBA0-866E-9BF6-0971AE779B87}"/>
              </a:ext>
            </a:extLst>
          </p:cNvPr>
          <p:cNvSpPr>
            <a:spLocks noGrp="1"/>
          </p:cNvSpPr>
          <p:nvPr>
            <p:ph type="title"/>
          </p:nvPr>
        </p:nvSpPr>
        <p:spPr/>
        <p:txBody>
          <a:bodyPr/>
          <a:lstStyle/>
          <a:p>
            <a:r>
              <a:rPr lang="en-US"/>
              <a:t>Click to edit Master title style</a:t>
            </a:r>
            <a:endParaRPr lang="en-SG"/>
          </a:p>
        </p:txBody>
      </p:sp>
      <p:sp>
        <p:nvSpPr>
          <p:cNvPr id="3" name="Content Placeholder 2">
            <a:extLst>
              <a:ext uri="{FF2B5EF4-FFF2-40B4-BE49-F238E27FC236}">
                <a16:creationId xmlns:a16="http://schemas.microsoft.com/office/drawing/2014/main" id="{4FF788D2-0925-B3F9-22BD-A25915E04D2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Content Placeholder 3">
            <a:extLst>
              <a:ext uri="{FF2B5EF4-FFF2-40B4-BE49-F238E27FC236}">
                <a16:creationId xmlns:a16="http://schemas.microsoft.com/office/drawing/2014/main" id="{0974DBE8-2CD0-1238-EE02-0801D12E703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5" name="Date Placeholder 4">
            <a:extLst>
              <a:ext uri="{FF2B5EF4-FFF2-40B4-BE49-F238E27FC236}">
                <a16:creationId xmlns:a16="http://schemas.microsoft.com/office/drawing/2014/main" id="{9C5C1A08-9D08-4757-4860-2175B179D02E}"/>
              </a:ext>
            </a:extLst>
          </p:cNvPr>
          <p:cNvSpPr>
            <a:spLocks noGrp="1"/>
          </p:cNvSpPr>
          <p:nvPr>
            <p:ph type="dt" sz="half" idx="10"/>
          </p:nvPr>
        </p:nvSpPr>
        <p:spPr/>
        <p:txBody>
          <a:bodyPr/>
          <a:lstStyle/>
          <a:p>
            <a:fld id="{AB35F6B0-D468-4997-9CE3-CF2A1AE5E3F9}" type="datetimeFigureOut">
              <a:rPr lang="en-SG" smtClean="0"/>
              <a:t>3/3/2026</a:t>
            </a:fld>
            <a:endParaRPr lang="en-SG"/>
          </a:p>
        </p:txBody>
      </p:sp>
      <p:sp>
        <p:nvSpPr>
          <p:cNvPr id="6" name="Footer Placeholder 5">
            <a:extLst>
              <a:ext uri="{FF2B5EF4-FFF2-40B4-BE49-F238E27FC236}">
                <a16:creationId xmlns:a16="http://schemas.microsoft.com/office/drawing/2014/main" id="{C7BB010B-6483-0B1F-5B0B-B683238821BA}"/>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a16="http://schemas.microsoft.com/office/drawing/2014/main" id="{E84C635F-808F-F58D-6EB6-0AE5EFDB599E}"/>
              </a:ext>
            </a:extLst>
          </p:cNvPr>
          <p:cNvSpPr>
            <a:spLocks noGrp="1"/>
          </p:cNvSpPr>
          <p:nvPr>
            <p:ph type="sldNum" sz="quarter" idx="12"/>
          </p:nvPr>
        </p:nvSpPr>
        <p:spPr/>
        <p:txBody>
          <a:bodyPr/>
          <a:lstStyle/>
          <a:p>
            <a:fld id="{1BE59FAF-36E2-46C7-B056-2E79DE02A3C7}" type="slidenum">
              <a:rPr lang="en-SG" smtClean="0"/>
              <a:t>‹#›</a:t>
            </a:fld>
            <a:endParaRPr lang="en-SG"/>
          </a:p>
        </p:txBody>
      </p:sp>
    </p:spTree>
    <p:extLst>
      <p:ext uri="{BB962C8B-B14F-4D97-AF65-F5344CB8AC3E}">
        <p14:creationId xmlns:p14="http://schemas.microsoft.com/office/powerpoint/2010/main" val="146424903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E80DC9-E3FF-E219-0E49-D7D20A95189C}"/>
              </a:ext>
            </a:extLst>
          </p:cNvPr>
          <p:cNvSpPr>
            <a:spLocks noGrp="1"/>
          </p:cNvSpPr>
          <p:nvPr>
            <p:ph type="title"/>
          </p:nvPr>
        </p:nvSpPr>
        <p:spPr>
          <a:xfrm>
            <a:off x="839788" y="365125"/>
            <a:ext cx="10515600" cy="1325563"/>
          </a:xfrm>
        </p:spPr>
        <p:txBody>
          <a:bodyPr/>
          <a:lstStyle/>
          <a:p>
            <a:r>
              <a:rPr lang="en-US"/>
              <a:t>Click to edit Master title style</a:t>
            </a:r>
            <a:endParaRPr lang="en-SG"/>
          </a:p>
        </p:txBody>
      </p:sp>
      <p:sp>
        <p:nvSpPr>
          <p:cNvPr id="3" name="Text Placeholder 2">
            <a:extLst>
              <a:ext uri="{FF2B5EF4-FFF2-40B4-BE49-F238E27FC236}">
                <a16:creationId xmlns:a16="http://schemas.microsoft.com/office/drawing/2014/main" id="{18DE6D7B-100B-C183-40D4-96803F1BB8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342DE0A-2907-D16A-F14E-54AFDA36AC0B}"/>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5" name="Text Placeholder 4">
            <a:extLst>
              <a:ext uri="{FF2B5EF4-FFF2-40B4-BE49-F238E27FC236}">
                <a16:creationId xmlns:a16="http://schemas.microsoft.com/office/drawing/2014/main" id="{C210E894-7CE5-F017-AA15-A24E5281DF5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4920203-5A0A-1AF2-47B3-27418EB2DA6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7" name="Date Placeholder 6">
            <a:extLst>
              <a:ext uri="{FF2B5EF4-FFF2-40B4-BE49-F238E27FC236}">
                <a16:creationId xmlns:a16="http://schemas.microsoft.com/office/drawing/2014/main" id="{76BA0826-6B70-B30F-F054-248E26E2E842}"/>
              </a:ext>
            </a:extLst>
          </p:cNvPr>
          <p:cNvSpPr>
            <a:spLocks noGrp="1"/>
          </p:cNvSpPr>
          <p:nvPr>
            <p:ph type="dt" sz="half" idx="10"/>
          </p:nvPr>
        </p:nvSpPr>
        <p:spPr/>
        <p:txBody>
          <a:bodyPr/>
          <a:lstStyle/>
          <a:p>
            <a:fld id="{AB35F6B0-D468-4997-9CE3-CF2A1AE5E3F9}" type="datetimeFigureOut">
              <a:rPr lang="en-SG" smtClean="0"/>
              <a:t>3/3/2026</a:t>
            </a:fld>
            <a:endParaRPr lang="en-SG"/>
          </a:p>
        </p:txBody>
      </p:sp>
      <p:sp>
        <p:nvSpPr>
          <p:cNvPr id="8" name="Footer Placeholder 7">
            <a:extLst>
              <a:ext uri="{FF2B5EF4-FFF2-40B4-BE49-F238E27FC236}">
                <a16:creationId xmlns:a16="http://schemas.microsoft.com/office/drawing/2014/main" id="{28C3948B-56AE-8DB5-883D-7E0ADA595FE3}"/>
              </a:ext>
            </a:extLst>
          </p:cNvPr>
          <p:cNvSpPr>
            <a:spLocks noGrp="1"/>
          </p:cNvSpPr>
          <p:nvPr>
            <p:ph type="ftr" sz="quarter" idx="11"/>
          </p:nvPr>
        </p:nvSpPr>
        <p:spPr/>
        <p:txBody>
          <a:bodyPr/>
          <a:lstStyle/>
          <a:p>
            <a:endParaRPr lang="en-SG"/>
          </a:p>
        </p:txBody>
      </p:sp>
      <p:sp>
        <p:nvSpPr>
          <p:cNvPr id="9" name="Slide Number Placeholder 8">
            <a:extLst>
              <a:ext uri="{FF2B5EF4-FFF2-40B4-BE49-F238E27FC236}">
                <a16:creationId xmlns:a16="http://schemas.microsoft.com/office/drawing/2014/main" id="{DFC00A08-E897-BB96-0E14-88D07380B3D2}"/>
              </a:ext>
            </a:extLst>
          </p:cNvPr>
          <p:cNvSpPr>
            <a:spLocks noGrp="1"/>
          </p:cNvSpPr>
          <p:nvPr>
            <p:ph type="sldNum" sz="quarter" idx="12"/>
          </p:nvPr>
        </p:nvSpPr>
        <p:spPr/>
        <p:txBody>
          <a:bodyPr/>
          <a:lstStyle/>
          <a:p>
            <a:fld id="{1BE59FAF-36E2-46C7-B056-2E79DE02A3C7}" type="slidenum">
              <a:rPr lang="en-SG" smtClean="0"/>
              <a:t>‹#›</a:t>
            </a:fld>
            <a:endParaRPr lang="en-SG"/>
          </a:p>
        </p:txBody>
      </p:sp>
    </p:spTree>
    <p:extLst>
      <p:ext uri="{BB962C8B-B14F-4D97-AF65-F5344CB8AC3E}">
        <p14:creationId xmlns:p14="http://schemas.microsoft.com/office/powerpoint/2010/main" val="111050811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3D70C-4ED2-C81B-9AC6-3791B4661B90}"/>
              </a:ext>
            </a:extLst>
          </p:cNvPr>
          <p:cNvSpPr>
            <a:spLocks noGrp="1"/>
          </p:cNvSpPr>
          <p:nvPr>
            <p:ph type="title"/>
          </p:nvPr>
        </p:nvSpPr>
        <p:spPr/>
        <p:txBody>
          <a:bodyPr/>
          <a:lstStyle/>
          <a:p>
            <a:r>
              <a:rPr lang="en-US"/>
              <a:t>Click to edit Master title style</a:t>
            </a:r>
            <a:endParaRPr lang="en-SG"/>
          </a:p>
        </p:txBody>
      </p:sp>
      <p:sp>
        <p:nvSpPr>
          <p:cNvPr id="3" name="Date Placeholder 2">
            <a:extLst>
              <a:ext uri="{FF2B5EF4-FFF2-40B4-BE49-F238E27FC236}">
                <a16:creationId xmlns:a16="http://schemas.microsoft.com/office/drawing/2014/main" id="{D59A99B7-97F4-423D-BDAF-4827705CFE00}"/>
              </a:ext>
            </a:extLst>
          </p:cNvPr>
          <p:cNvSpPr>
            <a:spLocks noGrp="1"/>
          </p:cNvSpPr>
          <p:nvPr>
            <p:ph type="dt" sz="half" idx="10"/>
          </p:nvPr>
        </p:nvSpPr>
        <p:spPr/>
        <p:txBody>
          <a:bodyPr/>
          <a:lstStyle/>
          <a:p>
            <a:fld id="{AB35F6B0-D468-4997-9CE3-CF2A1AE5E3F9}" type="datetimeFigureOut">
              <a:rPr lang="en-SG" smtClean="0"/>
              <a:t>3/3/2026</a:t>
            </a:fld>
            <a:endParaRPr lang="en-SG"/>
          </a:p>
        </p:txBody>
      </p:sp>
      <p:sp>
        <p:nvSpPr>
          <p:cNvPr id="4" name="Footer Placeholder 3">
            <a:extLst>
              <a:ext uri="{FF2B5EF4-FFF2-40B4-BE49-F238E27FC236}">
                <a16:creationId xmlns:a16="http://schemas.microsoft.com/office/drawing/2014/main" id="{0BCED9FE-3730-E498-E87E-C5D4F1C98F2A}"/>
              </a:ext>
            </a:extLst>
          </p:cNvPr>
          <p:cNvSpPr>
            <a:spLocks noGrp="1"/>
          </p:cNvSpPr>
          <p:nvPr>
            <p:ph type="ftr" sz="quarter" idx="11"/>
          </p:nvPr>
        </p:nvSpPr>
        <p:spPr/>
        <p:txBody>
          <a:bodyPr/>
          <a:lstStyle/>
          <a:p>
            <a:endParaRPr lang="en-SG"/>
          </a:p>
        </p:txBody>
      </p:sp>
      <p:sp>
        <p:nvSpPr>
          <p:cNvPr id="5" name="Slide Number Placeholder 4">
            <a:extLst>
              <a:ext uri="{FF2B5EF4-FFF2-40B4-BE49-F238E27FC236}">
                <a16:creationId xmlns:a16="http://schemas.microsoft.com/office/drawing/2014/main" id="{276A7511-9EBE-2037-4332-F5B0B6AA9D16}"/>
              </a:ext>
            </a:extLst>
          </p:cNvPr>
          <p:cNvSpPr>
            <a:spLocks noGrp="1"/>
          </p:cNvSpPr>
          <p:nvPr>
            <p:ph type="sldNum" sz="quarter" idx="12"/>
          </p:nvPr>
        </p:nvSpPr>
        <p:spPr/>
        <p:txBody>
          <a:bodyPr/>
          <a:lstStyle/>
          <a:p>
            <a:fld id="{1BE59FAF-36E2-46C7-B056-2E79DE02A3C7}" type="slidenum">
              <a:rPr lang="en-SG" smtClean="0"/>
              <a:t>‹#›</a:t>
            </a:fld>
            <a:endParaRPr lang="en-SG"/>
          </a:p>
        </p:txBody>
      </p:sp>
    </p:spTree>
    <p:extLst>
      <p:ext uri="{BB962C8B-B14F-4D97-AF65-F5344CB8AC3E}">
        <p14:creationId xmlns:p14="http://schemas.microsoft.com/office/powerpoint/2010/main" val="118330059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C68D6E9-5B1E-E414-B4BB-A00EAB4AFB9B}"/>
              </a:ext>
            </a:extLst>
          </p:cNvPr>
          <p:cNvSpPr>
            <a:spLocks noGrp="1"/>
          </p:cNvSpPr>
          <p:nvPr>
            <p:ph type="dt" sz="half" idx="10"/>
          </p:nvPr>
        </p:nvSpPr>
        <p:spPr/>
        <p:txBody>
          <a:bodyPr/>
          <a:lstStyle/>
          <a:p>
            <a:fld id="{AB35F6B0-D468-4997-9CE3-CF2A1AE5E3F9}" type="datetimeFigureOut">
              <a:rPr lang="en-SG" smtClean="0"/>
              <a:t>3/3/2026</a:t>
            </a:fld>
            <a:endParaRPr lang="en-SG"/>
          </a:p>
        </p:txBody>
      </p:sp>
      <p:sp>
        <p:nvSpPr>
          <p:cNvPr id="3" name="Footer Placeholder 2">
            <a:extLst>
              <a:ext uri="{FF2B5EF4-FFF2-40B4-BE49-F238E27FC236}">
                <a16:creationId xmlns:a16="http://schemas.microsoft.com/office/drawing/2014/main" id="{48E7774D-CDCD-146B-FC2D-28E83A75BA27}"/>
              </a:ext>
            </a:extLst>
          </p:cNvPr>
          <p:cNvSpPr>
            <a:spLocks noGrp="1"/>
          </p:cNvSpPr>
          <p:nvPr>
            <p:ph type="ftr" sz="quarter" idx="11"/>
          </p:nvPr>
        </p:nvSpPr>
        <p:spPr/>
        <p:txBody>
          <a:bodyPr/>
          <a:lstStyle/>
          <a:p>
            <a:endParaRPr lang="en-SG"/>
          </a:p>
        </p:txBody>
      </p:sp>
      <p:sp>
        <p:nvSpPr>
          <p:cNvPr id="4" name="Slide Number Placeholder 3">
            <a:extLst>
              <a:ext uri="{FF2B5EF4-FFF2-40B4-BE49-F238E27FC236}">
                <a16:creationId xmlns:a16="http://schemas.microsoft.com/office/drawing/2014/main" id="{28E859B5-E4B6-9852-BE06-6B29AE883A50}"/>
              </a:ext>
            </a:extLst>
          </p:cNvPr>
          <p:cNvSpPr>
            <a:spLocks noGrp="1"/>
          </p:cNvSpPr>
          <p:nvPr>
            <p:ph type="sldNum" sz="quarter" idx="12"/>
          </p:nvPr>
        </p:nvSpPr>
        <p:spPr/>
        <p:txBody>
          <a:bodyPr/>
          <a:lstStyle/>
          <a:p>
            <a:fld id="{1BE59FAF-36E2-46C7-B056-2E79DE02A3C7}" type="slidenum">
              <a:rPr lang="en-SG" smtClean="0"/>
              <a:t>‹#›</a:t>
            </a:fld>
            <a:endParaRPr lang="en-SG"/>
          </a:p>
        </p:txBody>
      </p:sp>
    </p:spTree>
    <p:extLst>
      <p:ext uri="{BB962C8B-B14F-4D97-AF65-F5344CB8AC3E}">
        <p14:creationId xmlns:p14="http://schemas.microsoft.com/office/powerpoint/2010/main" val="3693030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5E1E7E-7FFC-7D20-B361-9F3B52ADFE2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SG"/>
          </a:p>
        </p:txBody>
      </p:sp>
      <p:sp>
        <p:nvSpPr>
          <p:cNvPr id="3" name="Content Placeholder 2">
            <a:extLst>
              <a:ext uri="{FF2B5EF4-FFF2-40B4-BE49-F238E27FC236}">
                <a16:creationId xmlns:a16="http://schemas.microsoft.com/office/drawing/2014/main" id="{F599E599-603D-2F32-D4D8-DBAFE76259D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Text Placeholder 3">
            <a:extLst>
              <a:ext uri="{FF2B5EF4-FFF2-40B4-BE49-F238E27FC236}">
                <a16:creationId xmlns:a16="http://schemas.microsoft.com/office/drawing/2014/main" id="{F52CE027-AF2D-0C5B-C650-3D1DF50CE99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2BA35D9-EACF-710A-C495-B386C26255A0}"/>
              </a:ext>
            </a:extLst>
          </p:cNvPr>
          <p:cNvSpPr>
            <a:spLocks noGrp="1"/>
          </p:cNvSpPr>
          <p:nvPr>
            <p:ph type="dt" sz="half" idx="10"/>
          </p:nvPr>
        </p:nvSpPr>
        <p:spPr/>
        <p:txBody>
          <a:bodyPr/>
          <a:lstStyle/>
          <a:p>
            <a:fld id="{AB35F6B0-D468-4997-9CE3-CF2A1AE5E3F9}" type="datetimeFigureOut">
              <a:rPr lang="en-SG" smtClean="0"/>
              <a:t>3/3/2026</a:t>
            </a:fld>
            <a:endParaRPr lang="en-SG"/>
          </a:p>
        </p:txBody>
      </p:sp>
      <p:sp>
        <p:nvSpPr>
          <p:cNvPr id="6" name="Footer Placeholder 5">
            <a:extLst>
              <a:ext uri="{FF2B5EF4-FFF2-40B4-BE49-F238E27FC236}">
                <a16:creationId xmlns:a16="http://schemas.microsoft.com/office/drawing/2014/main" id="{638C95A1-CCC7-8794-CBB7-67865E6AB0E5}"/>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a16="http://schemas.microsoft.com/office/drawing/2014/main" id="{E208442F-C062-76CF-A283-7F9D40066F80}"/>
              </a:ext>
            </a:extLst>
          </p:cNvPr>
          <p:cNvSpPr>
            <a:spLocks noGrp="1"/>
          </p:cNvSpPr>
          <p:nvPr>
            <p:ph type="sldNum" sz="quarter" idx="12"/>
          </p:nvPr>
        </p:nvSpPr>
        <p:spPr/>
        <p:txBody>
          <a:bodyPr/>
          <a:lstStyle/>
          <a:p>
            <a:fld id="{1BE59FAF-36E2-46C7-B056-2E79DE02A3C7}" type="slidenum">
              <a:rPr lang="en-SG" smtClean="0"/>
              <a:t>‹#›</a:t>
            </a:fld>
            <a:endParaRPr lang="en-SG"/>
          </a:p>
        </p:txBody>
      </p:sp>
    </p:spTree>
    <p:extLst>
      <p:ext uri="{BB962C8B-B14F-4D97-AF65-F5344CB8AC3E}">
        <p14:creationId xmlns:p14="http://schemas.microsoft.com/office/powerpoint/2010/main" val="170820769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4F101F-436C-78D4-3353-52675D7050C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SG"/>
          </a:p>
        </p:txBody>
      </p:sp>
      <p:sp>
        <p:nvSpPr>
          <p:cNvPr id="3" name="Picture Placeholder 2">
            <a:extLst>
              <a:ext uri="{FF2B5EF4-FFF2-40B4-BE49-F238E27FC236}">
                <a16:creationId xmlns:a16="http://schemas.microsoft.com/office/drawing/2014/main" id="{099DD766-D53E-402F-6ABB-7220593A415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SG"/>
          </a:p>
        </p:txBody>
      </p:sp>
      <p:sp>
        <p:nvSpPr>
          <p:cNvPr id="4" name="Text Placeholder 3">
            <a:extLst>
              <a:ext uri="{FF2B5EF4-FFF2-40B4-BE49-F238E27FC236}">
                <a16:creationId xmlns:a16="http://schemas.microsoft.com/office/drawing/2014/main" id="{72481012-864C-DA8A-6BE2-C7E016EFB20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214AF22-E284-A04F-35FA-BAC8CC467F9A}"/>
              </a:ext>
            </a:extLst>
          </p:cNvPr>
          <p:cNvSpPr>
            <a:spLocks noGrp="1"/>
          </p:cNvSpPr>
          <p:nvPr>
            <p:ph type="dt" sz="half" idx="10"/>
          </p:nvPr>
        </p:nvSpPr>
        <p:spPr/>
        <p:txBody>
          <a:bodyPr/>
          <a:lstStyle/>
          <a:p>
            <a:fld id="{AB35F6B0-D468-4997-9CE3-CF2A1AE5E3F9}" type="datetimeFigureOut">
              <a:rPr lang="en-SG" smtClean="0"/>
              <a:t>3/3/2026</a:t>
            </a:fld>
            <a:endParaRPr lang="en-SG"/>
          </a:p>
        </p:txBody>
      </p:sp>
      <p:sp>
        <p:nvSpPr>
          <p:cNvPr id="6" name="Footer Placeholder 5">
            <a:extLst>
              <a:ext uri="{FF2B5EF4-FFF2-40B4-BE49-F238E27FC236}">
                <a16:creationId xmlns:a16="http://schemas.microsoft.com/office/drawing/2014/main" id="{7DBDB1FE-2F11-940A-0D5F-F3D399A4894F}"/>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a16="http://schemas.microsoft.com/office/drawing/2014/main" id="{3A7109B1-55CB-156E-CD60-2B1EB9DE1C01}"/>
              </a:ext>
            </a:extLst>
          </p:cNvPr>
          <p:cNvSpPr>
            <a:spLocks noGrp="1"/>
          </p:cNvSpPr>
          <p:nvPr>
            <p:ph type="sldNum" sz="quarter" idx="12"/>
          </p:nvPr>
        </p:nvSpPr>
        <p:spPr/>
        <p:txBody>
          <a:bodyPr/>
          <a:lstStyle/>
          <a:p>
            <a:fld id="{1BE59FAF-36E2-46C7-B056-2E79DE02A3C7}" type="slidenum">
              <a:rPr lang="en-SG" smtClean="0"/>
              <a:t>‹#›</a:t>
            </a:fld>
            <a:endParaRPr lang="en-SG"/>
          </a:p>
        </p:txBody>
      </p:sp>
    </p:spTree>
    <p:extLst>
      <p:ext uri="{BB962C8B-B14F-4D97-AF65-F5344CB8AC3E}">
        <p14:creationId xmlns:p14="http://schemas.microsoft.com/office/powerpoint/2010/main" val="5813271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C699D2-6E79-0D65-DB6E-B0BBE96B94B6}"/>
              </a:ext>
            </a:extLst>
          </p:cNvPr>
          <p:cNvSpPr>
            <a:spLocks noGrp="1"/>
          </p:cNvSpPr>
          <p:nvPr>
            <p:ph type="title"/>
          </p:nvPr>
        </p:nvSpPr>
        <p:spPr/>
        <p:txBody>
          <a:bodyPr/>
          <a:lstStyle/>
          <a:p>
            <a:r>
              <a:rPr lang="en-US"/>
              <a:t>Click to edit Master title style</a:t>
            </a:r>
            <a:endParaRPr lang="en-SG"/>
          </a:p>
        </p:txBody>
      </p:sp>
      <p:sp>
        <p:nvSpPr>
          <p:cNvPr id="3" name="Vertical Text Placeholder 2">
            <a:extLst>
              <a:ext uri="{FF2B5EF4-FFF2-40B4-BE49-F238E27FC236}">
                <a16:creationId xmlns:a16="http://schemas.microsoft.com/office/drawing/2014/main" id="{DA29EEA9-80A3-BE9A-FF93-6F71EBDA455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a:extLst>
              <a:ext uri="{FF2B5EF4-FFF2-40B4-BE49-F238E27FC236}">
                <a16:creationId xmlns:a16="http://schemas.microsoft.com/office/drawing/2014/main" id="{222AC008-F0D0-891C-DAED-28B00F77F534}"/>
              </a:ext>
            </a:extLst>
          </p:cNvPr>
          <p:cNvSpPr>
            <a:spLocks noGrp="1"/>
          </p:cNvSpPr>
          <p:nvPr>
            <p:ph type="dt" sz="half" idx="10"/>
          </p:nvPr>
        </p:nvSpPr>
        <p:spPr/>
        <p:txBody>
          <a:bodyPr/>
          <a:lstStyle/>
          <a:p>
            <a:fld id="{AB35F6B0-D468-4997-9CE3-CF2A1AE5E3F9}" type="datetimeFigureOut">
              <a:rPr lang="en-SG" smtClean="0"/>
              <a:t>3/3/2026</a:t>
            </a:fld>
            <a:endParaRPr lang="en-SG"/>
          </a:p>
        </p:txBody>
      </p:sp>
      <p:sp>
        <p:nvSpPr>
          <p:cNvPr id="5" name="Footer Placeholder 4">
            <a:extLst>
              <a:ext uri="{FF2B5EF4-FFF2-40B4-BE49-F238E27FC236}">
                <a16:creationId xmlns:a16="http://schemas.microsoft.com/office/drawing/2014/main" id="{5BA338D0-440C-2B3C-B840-065F121724F5}"/>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9C6B32F4-0DEA-EC93-20BA-8671A4F5A51D}"/>
              </a:ext>
            </a:extLst>
          </p:cNvPr>
          <p:cNvSpPr>
            <a:spLocks noGrp="1"/>
          </p:cNvSpPr>
          <p:nvPr>
            <p:ph type="sldNum" sz="quarter" idx="12"/>
          </p:nvPr>
        </p:nvSpPr>
        <p:spPr/>
        <p:txBody>
          <a:bodyPr/>
          <a:lstStyle/>
          <a:p>
            <a:fld id="{1BE59FAF-36E2-46C7-B056-2E79DE02A3C7}" type="slidenum">
              <a:rPr lang="en-SG" smtClean="0"/>
              <a:t>‹#›</a:t>
            </a:fld>
            <a:endParaRPr lang="en-SG"/>
          </a:p>
        </p:txBody>
      </p:sp>
    </p:spTree>
    <p:extLst>
      <p:ext uri="{BB962C8B-B14F-4D97-AF65-F5344CB8AC3E}">
        <p14:creationId xmlns:p14="http://schemas.microsoft.com/office/powerpoint/2010/main" val="29688799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CE7E0DD-AE40-51F8-67ED-2757B9CE83DE}"/>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SG"/>
          </a:p>
        </p:txBody>
      </p:sp>
      <p:sp>
        <p:nvSpPr>
          <p:cNvPr id="3" name="Vertical Text Placeholder 2">
            <a:extLst>
              <a:ext uri="{FF2B5EF4-FFF2-40B4-BE49-F238E27FC236}">
                <a16:creationId xmlns:a16="http://schemas.microsoft.com/office/drawing/2014/main" id="{F2A65760-CB0B-CCF8-974D-AF210249816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a:extLst>
              <a:ext uri="{FF2B5EF4-FFF2-40B4-BE49-F238E27FC236}">
                <a16:creationId xmlns:a16="http://schemas.microsoft.com/office/drawing/2014/main" id="{B220DC16-6EB9-6693-25EE-22631FBD0DED}"/>
              </a:ext>
            </a:extLst>
          </p:cNvPr>
          <p:cNvSpPr>
            <a:spLocks noGrp="1"/>
          </p:cNvSpPr>
          <p:nvPr>
            <p:ph type="dt" sz="half" idx="10"/>
          </p:nvPr>
        </p:nvSpPr>
        <p:spPr/>
        <p:txBody>
          <a:bodyPr/>
          <a:lstStyle/>
          <a:p>
            <a:fld id="{AB35F6B0-D468-4997-9CE3-CF2A1AE5E3F9}" type="datetimeFigureOut">
              <a:rPr lang="en-SG" smtClean="0"/>
              <a:t>3/3/2026</a:t>
            </a:fld>
            <a:endParaRPr lang="en-SG"/>
          </a:p>
        </p:txBody>
      </p:sp>
      <p:sp>
        <p:nvSpPr>
          <p:cNvPr id="5" name="Footer Placeholder 4">
            <a:extLst>
              <a:ext uri="{FF2B5EF4-FFF2-40B4-BE49-F238E27FC236}">
                <a16:creationId xmlns:a16="http://schemas.microsoft.com/office/drawing/2014/main" id="{40AF9D08-60B1-AC3E-15DA-EDB52EDEB2CB}"/>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E2259838-C42F-58BE-18FC-85DBA5C2ADE4}"/>
              </a:ext>
            </a:extLst>
          </p:cNvPr>
          <p:cNvSpPr>
            <a:spLocks noGrp="1"/>
          </p:cNvSpPr>
          <p:nvPr>
            <p:ph type="sldNum" sz="quarter" idx="12"/>
          </p:nvPr>
        </p:nvSpPr>
        <p:spPr/>
        <p:txBody>
          <a:bodyPr/>
          <a:lstStyle/>
          <a:p>
            <a:fld id="{1BE59FAF-36E2-46C7-B056-2E79DE02A3C7}" type="slidenum">
              <a:rPr lang="en-SG" smtClean="0"/>
              <a:t>‹#›</a:t>
            </a:fld>
            <a:endParaRPr lang="en-SG"/>
          </a:p>
        </p:txBody>
      </p:sp>
    </p:spTree>
    <p:extLst>
      <p:ext uri="{BB962C8B-B14F-4D97-AF65-F5344CB8AC3E}">
        <p14:creationId xmlns:p14="http://schemas.microsoft.com/office/powerpoint/2010/main" val="291470845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1A22612-53E9-1472-DE56-3B9BA8CBC10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SG"/>
          </a:p>
        </p:txBody>
      </p:sp>
      <p:sp>
        <p:nvSpPr>
          <p:cNvPr id="3" name="Text Placeholder 2">
            <a:extLst>
              <a:ext uri="{FF2B5EF4-FFF2-40B4-BE49-F238E27FC236}">
                <a16:creationId xmlns:a16="http://schemas.microsoft.com/office/drawing/2014/main" id="{D9B0B86C-45DF-4306-D1E8-17192610927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a:extLst>
              <a:ext uri="{FF2B5EF4-FFF2-40B4-BE49-F238E27FC236}">
                <a16:creationId xmlns:a16="http://schemas.microsoft.com/office/drawing/2014/main" id="{830B4949-C105-D7A3-A521-C8123DF3D7B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B35F6B0-D468-4997-9CE3-CF2A1AE5E3F9}" type="datetimeFigureOut">
              <a:rPr lang="en-SG" smtClean="0"/>
              <a:t>3/3/2026</a:t>
            </a:fld>
            <a:endParaRPr lang="en-SG"/>
          </a:p>
        </p:txBody>
      </p:sp>
      <p:sp>
        <p:nvSpPr>
          <p:cNvPr id="5" name="Footer Placeholder 4">
            <a:extLst>
              <a:ext uri="{FF2B5EF4-FFF2-40B4-BE49-F238E27FC236}">
                <a16:creationId xmlns:a16="http://schemas.microsoft.com/office/drawing/2014/main" id="{A2BC09B9-0678-1AEF-93C0-B1A3A7CDB61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SG"/>
          </a:p>
        </p:txBody>
      </p:sp>
      <p:sp>
        <p:nvSpPr>
          <p:cNvPr id="6" name="Slide Number Placeholder 5">
            <a:extLst>
              <a:ext uri="{FF2B5EF4-FFF2-40B4-BE49-F238E27FC236}">
                <a16:creationId xmlns:a16="http://schemas.microsoft.com/office/drawing/2014/main" id="{6493F84A-B605-98F7-7694-62AFD7A6E22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BE59FAF-36E2-46C7-B056-2E79DE02A3C7}" type="slidenum">
              <a:rPr lang="en-SG" smtClean="0"/>
              <a:t>‹#›</a:t>
            </a:fld>
            <a:endParaRPr lang="en-SG"/>
          </a:p>
        </p:txBody>
      </p:sp>
      <p:sp>
        <p:nvSpPr>
          <p:cNvPr id="9" name="TextBox 8">
            <a:extLst>
              <a:ext uri="{FF2B5EF4-FFF2-40B4-BE49-F238E27FC236}">
                <a16:creationId xmlns:a16="http://schemas.microsoft.com/office/drawing/2014/main" id="{487321BB-4993-C3D7-45BA-3941EB0C1E33}"/>
              </a:ext>
            </a:extLst>
          </p:cNvPr>
          <p:cNvSpPr txBox="1"/>
          <p:nvPr userDrawn="1">
            <p:extLst>
              <p:ext uri="{1162E1C5-73C7-4A58-AE30-91384D911F3F}">
                <p184:classification xmlns:p184="http://schemas.microsoft.com/office/powerpoint/2018/4/main" val="hdr"/>
              </p:ext>
            </p:extLst>
          </p:nvPr>
        </p:nvSpPr>
        <p:spPr>
          <a:xfrm>
            <a:off x="5781675" y="0"/>
            <a:ext cx="663575" cy="182880"/>
          </a:xfrm>
          <a:prstGeom prst="rect">
            <a:avLst/>
          </a:prstGeom>
        </p:spPr>
        <p:txBody>
          <a:bodyPr horzOverflow="overflow" lIns="0" tIns="0" rIns="0" bIns="0">
            <a:spAutoFit/>
          </a:bodyPr>
          <a:lstStyle/>
          <a:p>
            <a:pPr algn="l"/>
            <a:r>
              <a:rPr lang="en-SG" sz="1200">
                <a:solidFill>
                  <a:srgbClr val="FF0000"/>
                </a:solidFill>
                <a:latin typeface="Calibri" panose="020F0502020204030204" pitchFamily="34" charset="0"/>
                <a:cs typeface="Calibri" panose="020F0502020204030204" pitchFamily="34" charset="0"/>
              </a:rPr>
              <a:t>Restricted</a:t>
            </a:r>
          </a:p>
        </p:txBody>
      </p:sp>
      <p:sp>
        <p:nvSpPr>
          <p:cNvPr id="10" name="TextBox 9">
            <a:extLst>
              <a:ext uri="{FF2B5EF4-FFF2-40B4-BE49-F238E27FC236}">
                <a16:creationId xmlns:a16="http://schemas.microsoft.com/office/drawing/2014/main" id="{1EEF943D-E5F8-C50D-F37B-649E0AB3F320}"/>
              </a:ext>
            </a:extLst>
          </p:cNvPr>
          <p:cNvSpPr txBox="1"/>
          <p:nvPr userDrawn="1">
            <p:extLst>
              <p:ext uri="{1162E1C5-73C7-4A58-AE30-91384D911F3F}">
                <p184:classification xmlns:p184="http://schemas.microsoft.com/office/powerpoint/2018/4/main" val="ftr"/>
              </p:ext>
            </p:extLst>
          </p:nvPr>
        </p:nvSpPr>
        <p:spPr>
          <a:xfrm>
            <a:off x="5781675" y="6675120"/>
            <a:ext cx="663575" cy="182880"/>
          </a:xfrm>
          <a:prstGeom prst="rect">
            <a:avLst/>
          </a:prstGeom>
        </p:spPr>
        <p:txBody>
          <a:bodyPr horzOverflow="overflow" lIns="0" tIns="0" rIns="0" bIns="0">
            <a:spAutoFit/>
          </a:bodyPr>
          <a:lstStyle/>
          <a:p>
            <a:pPr algn="l"/>
            <a:r>
              <a:rPr lang="en-SG" sz="1200">
                <a:solidFill>
                  <a:srgbClr val="FF0000"/>
                </a:solidFill>
                <a:latin typeface="Calibri" panose="020F0502020204030204" pitchFamily="34" charset="0"/>
                <a:cs typeface="Calibri" panose="020F0502020204030204" pitchFamily="34" charset="0"/>
              </a:rPr>
              <a:t>Restricted</a:t>
            </a:r>
          </a:p>
        </p:txBody>
      </p:sp>
    </p:spTree>
    <p:extLst>
      <p:ext uri="{BB962C8B-B14F-4D97-AF65-F5344CB8AC3E}">
        <p14:creationId xmlns:p14="http://schemas.microsoft.com/office/powerpoint/2010/main" val="116289535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13.jp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14.jp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15.jp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16.jp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17.jp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18.jp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19.jp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20.jp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21.jp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22.jp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3.jp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image" Target="../media/image24.jp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25.jp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26.jp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27.jp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28.jp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29.jpg"/><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image" Target="../media/image30.jp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image" Target="../media/image31.jpg"/><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image" Target="../media/image32.jp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33.jpg"/><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2" Type="http://schemas.openxmlformats.org/officeDocument/2006/relationships/image" Target="../media/image34.jp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image" Target="../media/image35.jpg"/><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2" Type="http://schemas.openxmlformats.org/officeDocument/2006/relationships/image" Target="../media/image36.jp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2" Type="http://schemas.openxmlformats.org/officeDocument/2006/relationships/image" Target="../media/image34.jpg"/><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image" Target="../media/image37.jpg"/><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image" Target="../media/image38.jpg"/><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image" Target="../media/image39.jpg"/><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image" Target="../media/image40.jpg"/><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2" Type="http://schemas.openxmlformats.org/officeDocument/2006/relationships/image" Target="../media/image41.jpg"/><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2" Type="http://schemas.openxmlformats.org/officeDocument/2006/relationships/image" Target="../media/image42.jpg"/><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44.jpg"/><Relationship Id="rId2" Type="http://schemas.openxmlformats.org/officeDocument/2006/relationships/image" Target="../media/image43.jpg"/><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image" Target="../media/image45.jpg"/><Relationship Id="rId1" Type="http://schemas.openxmlformats.org/officeDocument/2006/relationships/slideLayout" Target="../slideLayouts/slideLayout6.xml"/></Relationships>
</file>

<file path=ppt/slides/_rels/slide76.xml.rels><?xml version="1.0" encoding="UTF-8" standalone="yes"?>
<Relationships xmlns="http://schemas.openxmlformats.org/package/2006/relationships"><Relationship Id="rId2" Type="http://schemas.openxmlformats.org/officeDocument/2006/relationships/image" Target="../media/image46.jpg"/><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2" Type="http://schemas.openxmlformats.org/officeDocument/2006/relationships/image" Target="../media/image48.jpg"/><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2" Type="http://schemas.openxmlformats.org/officeDocument/2006/relationships/image" Target="../media/image49.jpg"/><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2" Type="http://schemas.openxmlformats.org/officeDocument/2006/relationships/image" Target="../media/image50.jpg"/><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2" Type="http://schemas.openxmlformats.org/officeDocument/2006/relationships/image" Target="../media/image51.jpg"/><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2" Type="http://schemas.openxmlformats.org/officeDocument/2006/relationships/image" Target="../media/image52.jpg"/><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2" Type="http://schemas.openxmlformats.org/officeDocument/2006/relationships/image" Target="../media/image53.jpg"/><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2" Type="http://schemas.openxmlformats.org/officeDocument/2006/relationships/image" Target="../media/image54.jpg"/><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55.jp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56.jpg"/><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2" Type="http://schemas.openxmlformats.org/officeDocument/2006/relationships/image" Target="../media/image57.jpg"/><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2" Type="http://schemas.openxmlformats.org/officeDocument/2006/relationships/image" Target="../media/image58.jpg"/><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2" Type="http://schemas.openxmlformats.org/officeDocument/2006/relationships/image" Target="../media/image59.jpg"/><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2" Type="http://schemas.openxmlformats.org/officeDocument/2006/relationships/image" Target="../media/image60.jpg"/><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2" Type="http://schemas.openxmlformats.org/officeDocument/2006/relationships/image" Target="../media/image61.jpg"/><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2" Type="http://schemas.openxmlformats.org/officeDocument/2006/relationships/image" Target="../media/image62.jpg"/><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2" Type="http://schemas.openxmlformats.org/officeDocument/2006/relationships/image" Target="../media/image63.jpg"/><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2" Type="http://schemas.openxmlformats.org/officeDocument/2006/relationships/image" Target="../media/image64.jpg"/><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2" Type="http://schemas.openxmlformats.org/officeDocument/2006/relationships/image" Target="../media/image55.jpg"/><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image" Target="../media/image65.jpg"/><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2" Type="http://schemas.openxmlformats.org/officeDocument/2006/relationships/image" Target="../media/image66.jpg"/><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image" Target="../media/image55.jpg"/><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3" Type="http://schemas.openxmlformats.org/officeDocument/2006/relationships/image" Target="../media/image55.jpg"/><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image" Target="../media/image680.png"/><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4.xml"/></Relationships>
</file>

<file path=ppt/slides/_rels/slide105.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3.xml"/><Relationship Id="rId1" Type="http://schemas.openxmlformats.org/officeDocument/2006/relationships/slideLayout" Target="../slideLayouts/slideLayout4.xml"/><Relationship Id="rId4" Type="http://schemas.openxmlformats.org/officeDocument/2006/relationships/image" Target="../media/image70.png"/></Relationships>
</file>

<file path=ppt/slides/_rels/slide106.xml.rels><?xml version="1.0" encoding="UTF-8" standalone="yes"?>
<Relationships xmlns="http://schemas.openxmlformats.org/package/2006/relationships"><Relationship Id="rId3" Type="http://schemas.openxmlformats.org/officeDocument/2006/relationships/image" Target="../media/image670.png"/><Relationship Id="rId2" Type="http://schemas.openxmlformats.org/officeDocument/2006/relationships/notesSlide" Target="../notesSlides/notesSlide4.xml"/><Relationship Id="rId1" Type="http://schemas.openxmlformats.org/officeDocument/2006/relationships/slideLayout" Target="../slideLayouts/slideLayout4.xml"/><Relationship Id="rId4" Type="http://schemas.openxmlformats.org/officeDocument/2006/relationships/image" Target="../media/image68.png"/></Relationships>
</file>

<file path=ppt/slides/_rels/slide107.xml.rels><?xml version="1.0" encoding="UTF-8" standalone="yes"?>
<Relationships xmlns="http://schemas.openxmlformats.org/package/2006/relationships"><Relationship Id="rId2" Type="http://schemas.openxmlformats.org/officeDocument/2006/relationships/image" Target="../media/image681.png"/><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9.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4.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3" Type="http://schemas.openxmlformats.org/officeDocument/2006/relationships/image" Target="../media/image670.png"/><Relationship Id="rId2" Type="http://schemas.openxmlformats.org/officeDocument/2006/relationships/notesSlide" Target="../notesSlides/notesSlide7.xml"/><Relationship Id="rId1" Type="http://schemas.openxmlformats.org/officeDocument/2006/relationships/slideLayout" Target="../slideLayouts/slideLayout4.xml"/><Relationship Id="rId4" Type="http://schemas.openxmlformats.org/officeDocument/2006/relationships/image" Target="../media/image710.png"/></Relationships>
</file>

<file path=ppt/slides/_rels/slide116.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81.png"/><Relationship Id="rId1" Type="http://schemas.openxmlformats.org/officeDocument/2006/relationships/slideLayout" Target="../slideLayouts/slideLayout4.xml"/></Relationships>
</file>

<file path=ppt/slides/_rels/slide120.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image" Target="../media/image79.png"/><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image" Target="../media/image67.jpg"/><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image" Target="../media/image67.jpg"/><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image" Target="../media/image68.jpg"/><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image" Target="../media/image68.jpg"/><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image" Target="../media/image69.jpg"/><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2" Type="http://schemas.openxmlformats.org/officeDocument/2006/relationships/image" Target="../media/image70.jpg"/><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2" Type="http://schemas.openxmlformats.org/officeDocument/2006/relationships/image" Target="../media/image71.jpg"/><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2" Type="http://schemas.openxmlformats.org/officeDocument/2006/relationships/image" Target="../media/image72.jpg"/><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2" Type="http://schemas.openxmlformats.org/officeDocument/2006/relationships/image" Target="../media/image73.jpg"/><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2" Type="http://schemas.openxmlformats.org/officeDocument/2006/relationships/image" Target="../media/image74.jpg"/><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2" Type="http://schemas.openxmlformats.org/officeDocument/2006/relationships/image" Target="../media/image75.jpg"/><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2" Type="http://schemas.openxmlformats.org/officeDocument/2006/relationships/image" Target="../media/image76.jpg"/><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2" Type="http://schemas.openxmlformats.org/officeDocument/2006/relationships/image" Target="../media/image77.jpg"/><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image" Target="../media/image78.jpg"/><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2" Type="http://schemas.openxmlformats.org/officeDocument/2006/relationships/image" Target="../media/image79.jpg"/><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2" Type="http://schemas.openxmlformats.org/officeDocument/2006/relationships/image" Target="../media/image80.jpg"/><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2" Type="http://schemas.openxmlformats.org/officeDocument/2006/relationships/image" Target="../media/image81.jpg"/><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2" Type="http://schemas.openxmlformats.org/officeDocument/2006/relationships/image" Target="../media/image82.jpg"/><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2" Type="http://schemas.openxmlformats.org/officeDocument/2006/relationships/image" Target="../media/image83.jpg"/><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2" Type="http://schemas.openxmlformats.org/officeDocument/2006/relationships/image" Target="../media/image84.jp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CEB46-CC16-4D19-8C2C-AEE9471D8168}"/>
              </a:ext>
            </a:extLst>
          </p:cNvPr>
          <p:cNvSpPr>
            <a:spLocks noGrp="1"/>
          </p:cNvSpPr>
          <p:nvPr>
            <p:ph type="ctrTitle"/>
          </p:nvPr>
        </p:nvSpPr>
        <p:spPr>
          <a:xfrm>
            <a:off x="375139" y="942610"/>
            <a:ext cx="11441722" cy="2387600"/>
          </a:xfrm>
        </p:spPr>
        <p:txBody>
          <a:bodyPr>
            <a:normAutofit fontScale="90000"/>
          </a:bodyPr>
          <a:lstStyle/>
          <a:p>
            <a:r>
              <a:rPr lang="en-US" b="1" dirty="0"/>
              <a:t>50.051 Programming Language Concepts</a:t>
            </a:r>
            <a:br>
              <a:rPr lang="en-US" b="1" dirty="0"/>
            </a:br>
            <a:br>
              <a:rPr lang="en-US" dirty="0"/>
            </a:br>
            <a:r>
              <a:rPr lang="en-US" dirty="0"/>
              <a:t>W9-S3 Top-Down Parsing</a:t>
            </a:r>
            <a:endParaRPr lang="en-GB" dirty="0"/>
          </a:p>
        </p:txBody>
      </p:sp>
      <p:sp>
        <p:nvSpPr>
          <p:cNvPr id="3" name="Subtitle 2">
            <a:extLst>
              <a:ext uri="{FF2B5EF4-FFF2-40B4-BE49-F238E27FC236}">
                <a16:creationId xmlns:a16="http://schemas.microsoft.com/office/drawing/2014/main" id="{816ABDE1-A047-4B53-92F2-67282914DD77}"/>
              </a:ext>
            </a:extLst>
          </p:cNvPr>
          <p:cNvSpPr>
            <a:spLocks noGrp="1"/>
          </p:cNvSpPr>
          <p:nvPr>
            <p:ph type="subTitle" idx="1"/>
          </p:nvPr>
        </p:nvSpPr>
        <p:spPr/>
        <p:txBody>
          <a:bodyPr/>
          <a:lstStyle/>
          <a:p>
            <a:r>
              <a:rPr lang="en-US" dirty="0"/>
              <a:t>Matthieu De Mari</a:t>
            </a:r>
          </a:p>
        </p:txBody>
      </p:sp>
      <p:pic>
        <p:nvPicPr>
          <p:cNvPr id="4" name="Picture 3" descr="A picture containing drawing&#10;&#10;Description automatically generated">
            <a:extLst>
              <a:ext uri="{FF2B5EF4-FFF2-40B4-BE49-F238E27FC236}">
                <a16:creationId xmlns:a16="http://schemas.microsoft.com/office/drawing/2014/main" id="{EEFD138E-FF3C-4975-898F-31371952367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74008" y="4484243"/>
            <a:ext cx="4443984" cy="1731264"/>
          </a:xfrm>
          <a:prstGeom prst="rect">
            <a:avLst/>
          </a:prstGeom>
        </p:spPr>
      </p:pic>
    </p:spTree>
    <p:extLst>
      <p:ext uri="{BB962C8B-B14F-4D97-AF65-F5344CB8AC3E}">
        <p14:creationId xmlns:p14="http://schemas.microsoft.com/office/powerpoint/2010/main" val="10401561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F65D25-7F02-1A6E-2220-8B8B8FC53D9F}"/>
              </a:ext>
            </a:extLst>
          </p:cNvPr>
          <p:cNvSpPr>
            <a:spLocks noGrp="1"/>
          </p:cNvSpPr>
          <p:nvPr>
            <p:ph type="title"/>
          </p:nvPr>
        </p:nvSpPr>
        <p:spPr/>
        <p:txBody>
          <a:bodyPr/>
          <a:lstStyle/>
          <a:p>
            <a:r>
              <a:rPr lang="en-GB" dirty="0"/>
              <a:t>The unspoken problem #2</a:t>
            </a:r>
            <a:endParaRPr lang="en-SG" dirty="0"/>
          </a:p>
        </p:txBody>
      </p:sp>
      <p:sp>
        <p:nvSpPr>
          <p:cNvPr id="3" name="Content Placeholder 2">
            <a:extLst>
              <a:ext uri="{FF2B5EF4-FFF2-40B4-BE49-F238E27FC236}">
                <a16:creationId xmlns:a16="http://schemas.microsoft.com/office/drawing/2014/main" id="{D43A445A-AA9E-3BA0-7A43-2935C8FC7E4D}"/>
              </a:ext>
            </a:extLst>
          </p:cNvPr>
          <p:cNvSpPr>
            <a:spLocks noGrp="1"/>
          </p:cNvSpPr>
          <p:nvPr>
            <p:ph idx="1"/>
          </p:nvPr>
        </p:nvSpPr>
        <p:spPr>
          <a:xfrm>
            <a:off x="838200" y="1825624"/>
            <a:ext cx="10515600" cy="5032375"/>
          </a:xfrm>
        </p:spPr>
        <p:txBody>
          <a:bodyPr>
            <a:normAutofit/>
          </a:bodyPr>
          <a:lstStyle/>
          <a:p>
            <a:pPr marL="0" indent="0">
              <a:buNone/>
            </a:pPr>
            <a:r>
              <a:rPr lang="en-GB" dirty="0"/>
              <a:t>Given a CFG and a string </a:t>
            </a:r>
            <a:r>
              <a:rPr lang="en-GB" i="1" dirty="0"/>
              <a:t>x</a:t>
            </a:r>
            <a:r>
              <a:rPr lang="en-GB" dirty="0"/>
              <a:t> whose syntax needs to be verified</a:t>
            </a:r>
          </a:p>
          <a:p>
            <a:r>
              <a:rPr lang="en-GB" dirty="0"/>
              <a:t>We understand how to use production rules and apply them manually to eventually find the string </a:t>
            </a:r>
            <a:r>
              <a:rPr lang="en-GB" i="1" dirty="0"/>
              <a:t>x</a:t>
            </a:r>
            <a:r>
              <a:rPr lang="en-GB" dirty="0"/>
              <a:t>.</a:t>
            </a:r>
          </a:p>
          <a:p>
            <a:r>
              <a:rPr lang="en-GB" dirty="0"/>
              <a:t>We understand how to derive a parse tree for the derivation.</a:t>
            </a:r>
          </a:p>
          <a:p>
            <a:r>
              <a:rPr lang="en-GB" dirty="0"/>
              <a:t>We understand how to add syntax-directed rules to our production rules and use them in the derivation.</a:t>
            </a:r>
          </a:p>
          <a:p>
            <a:r>
              <a:rPr lang="en-GB" dirty="0"/>
              <a:t>We understand how to use syntax-directed rules to transform our parse tree into an AST.</a:t>
            </a:r>
          </a:p>
          <a:p>
            <a:r>
              <a:rPr lang="en-GB" dirty="0"/>
              <a:t>We understand that the AST will give us the machine code translation, or at least something already close to what the CPU would need to execute to obtain the outcome of our source code.</a:t>
            </a:r>
          </a:p>
          <a:p>
            <a:pPr marL="0" indent="0">
              <a:buNone/>
            </a:pPr>
            <a:endParaRPr lang="en-GB" b="1" dirty="0"/>
          </a:p>
        </p:txBody>
      </p:sp>
    </p:spTree>
    <p:extLst>
      <p:ext uri="{BB962C8B-B14F-4D97-AF65-F5344CB8AC3E}">
        <p14:creationId xmlns:p14="http://schemas.microsoft.com/office/powerpoint/2010/main" val="22571239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F65D25-7F02-1A6E-2220-8B8B8FC53D9F}"/>
              </a:ext>
            </a:extLst>
          </p:cNvPr>
          <p:cNvSpPr>
            <a:spLocks noGrp="1"/>
          </p:cNvSpPr>
          <p:nvPr>
            <p:ph type="title"/>
          </p:nvPr>
        </p:nvSpPr>
        <p:spPr/>
        <p:txBody>
          <a:bodyPr/>
          <a:lstStyle/>
          <a:p>
            <a:r>
              <a:rPr lang="en-GB" dirty="0"/>
              <a:t>The unspoken problem</a:t>
            </a:r>
            <a:endParaRPr lang="en-SG" dirty="0"/>
          </a:p>
        </p:txBody>
      </p:sp>
      <p:sp>
        <p:nvSpPr>
          <p:cNvPr id="3" name="Content Placeholder 2">
            <a:extLst>
              <a:ext uri="{FF2B5EF4-FFF2-40B4-BE49-F238E27FC236}">
                <a16:creationId xmlns:a16="http://schemas.microsoft.com/office/drawing/2014/main" id="{D43A445A-AA9E-3BA0-7A43-2935C8FC7E4D}"/>
              </a:ext>
            </a:extLst>
          </p:cNvPr>
          <p:cNvSpPr>
            <a:spLocks noGrp="1"/>
          </p:cNvSpPr>
          <p:nvPr>
            <p:ph idx="1"/>
          </p:nvPr>
        </p:nvSpPr>
        <p:spPr>
          <a:xfrm>
            <a:off x="838200" y="1825624"/>
            <a:ext cx="10515600" cy="5032375"/>
          </a:xfrm>
        </p:spPr>
        <p:txBody>
          <a:bodyPr>
            <a:normAutofit/>
          </a:bodyPr>
          <a:lstStyle/>
          <a:p>
            <a:pPr marL="0" indent="0">
              <a:buNone/>
            </a:pPr>
            <a:r>
              <a:rPr lang="en-GB" dirty="0"/>
              <a:t>For syntax analysis, we will now need</a:t>
            </a:r>
          </a:p>
          <a:p>
            <a:r>
              <a:rPr lang="en-GB" b="1" dirty="0"/>
              <a:t>An algorithm to find if a given sequence of tokens </a:t>
            </a:r>
            <a:r>
              <a:rPr lang="en-GB" b="1" i="1" dirty="0"/>
              <a:t>x</a:t>
            </a:r>
            <a:r>
              <a:rPr lang="en-GB" b="1" dirty="0"/>
              <a:t> has a valid syntax and admits a valid derivation</a:t>
            </a:r>
            <a:r>
              <a:rPr lang="en-GB" dirty="0"/>
              <a:t> for our given CFG,</a:t>
            </a:r>
          </a:p>
          <a:p>
            <a:r>
              <a:rPr lang="en-GB" i="1" dirty="0"/>
              <a:t>(Also known as the </a:t>
            </a:r>
            <a:r>
              <a:rPr lang="en-GB" b="1" i="1" dirty="0"/>
              <a:t>parsing</a:t>
            </a:r>
            <a:r>
              <a:rPr lang="en-GB" i="1" dirty="0"/>
              <a:t> problem).</a:t>
            </a:r>
            <a:endParaRPr lang="en-SG" b="1" i="1" dirty="0">
              <a:solidFill>
                <a:srgbClr val="C00000"/>
              </a:solidFill>
            </a:endParaRPr>
          </a:p>
          <a:p>
            <a:pPr marL="0" indent="0">
              <a:buNone/>
            </a:pPr>
            <a:endParaRPr lang="en-SG" b="1" dirty="0">
              <a:solidFill>
                <a:srgbClr val="C00000"/>
              </a:solidFill>
            </a:endParaRPr>
          </a:p>
          <a:p>
            <a:pPr marL="0" indent="0">
              <a:buNone/>
            </a:pPr>
            <a:r>
              <a:rPr lang="en-SG" b="1" dirty="0">
                <a:solidFill>
                  <a:srgbClr val="C00000"/>
                </a:solidFill>
              </a:rPr>
              <a:t>Small tiny teeny issue: </a:t>
            </a:r>
            <a:r>
              <a:rPr lang="en-SG" dirty="0">
                <a:solidFill>
                  <a:srgbClr val="C00000"/>
                </a:solidFill>
              </a:rPr>
              <a:t>This is absolutely not an easy problem algorithmically speaking! (It is very much NP-Hard!)</a:t>
            </a:r>
            <a:br>
              <a:rPr lang="en-SG" dirty="0">
                <a:solidFill>
                  <a:srgbClr val="C00000"/>
                </a:solidFill>
              </a:rPr>
            </a:br>
            <a:r>
              <a:rPr lang="en-SG" dirty="0">
                <a:solidFill>
                  <a:srgbClr val="C00000"/>
                </a:solidFill>
              </a:rPr>
              <a:t>Will take us the next three lectures…!</a:t>
            </a:r>
            <a:br>
              <a:rPr lang="en-SG" dirty="0">
                <a:solidFill>
                  <a:srgbClr val="C00000"/>
                </a:solidFill>
              </a:rPr>
            </a:br>
            <a:r>
              <a:rPr lang="en-SG" dirty="0">
                <a:solidFill>
                  <a:srgbClr val="C00000"/>
                </a:solidFill>
              </a:rPr>
              <a:t>And we will not even dare to implement said algorithms…!</a:t>
            </a:r>
          </a:p>
          <a:p>
            <a:pPr marL="0" indent="0">
              <a:buNone/>
            </a:pPr>
            <a:endParaRPr lang="en-GB" dirty="0"/>
          </a:p>
        </p:txBody>
      </p:sp>
    </p:spTree>
    <p:extLst>
      <p:ext uri="{BB962C8B-B14F-4D97-AF65-F5344CB8AC3E}">
        <p14:creationId xmlns:p14="http://schemas.microsoft.com/office/powerpoint/2010/main" val="361235982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66EAAC-A1C3-7E2F-EA78-29337EC9BA1B}"/>
              </a:ext>
            </a:extLst>
          </p:cNvPr>
          <p:cNvSpPr>
            <a:spLocks noGrp="1"/>
          </p:cNvSpPr>
          <p:nvPr>
            <p:ph type="title"/>
          </p:nvPr>
        </p:nvSpPr>
        <p:spPr/>
        <p:txBody>
          <a:bodyPr/>
          <a:lstStyle/>
          <a:p>
            <a:r>
              <a:rPr lang="en-GB" dirty="0"/>
              <a:t>Different types of Parsing</a:t>
            </a:r>
            <a:endParaRPr lang="en-SG" dirty="0"/>
          </a:p>
        </p:txBody>
      </p:sp>
      <p:sp>
        <p:nvSpPr>
          <p:cNvPr id="3" name="Content Placeholder 2">
            <a:extLst>
              <a:ext uri="{FF2B5EF4-FFF2-40B4-BE49-F238E27FC236}">
                <a16:creationId xmlns:a16="http://schemas.microsoft.com/office/drawing/2014/main" id="{EAE47573-73F1-F6C1-08DE-5E83AC025DB8}"/>
              </a:ext>
            </a:extLst>
          </p:cNvPr>
          <p:cNvSpPr>
            <a:spLocks noGrp="1"/>
          </p:cNvSpPr>
          <p:nvPr>
            <p:ph idx="1"/>
          </p:nvPr>
        </p:nvSpPr>
        <p:spPr>
          <a:xfrm>
            <a:off x="838200" y="1825624"/>
            <a:ext cx="10515600" cy="5032375"/>
          </a:xfrm>
        </p:spPr>
        <p:txBody>
          <a:bodyPr/>
          <a:lstStyle/>
          <a:p>
            <a:pPr marL="0" indent="0">
              <a:buNone/>
            </a:pPr>
            <a:r>
              <a:rPr lang="en-GB" dirty="0"/>
              <a:t>Two big families of parsing algorithms</a:t>
            </a:r>
          </a:p>
          <a:p>
            <a:pPr marL="0" indent="0">
              <a:buNone/>
            </a:pPr>
            <a:endParaRPr lang="en-GB" dirty="0"/>
          </a:p>
          <a:p>
            <a:pPr marL="0" indent="0">
              <a:buNone/>
            </a:pPr>
            <a:r>
              <a:rPr lang="en-GB" b="1" dirty="0"/>
              <a:t>Top-Down Parsing</a:t>
            </a:r>
          </a:p>
          <a:p>
            <a:r>
              <a:rPr lang="en-GB" dirty="0"/>
              <a:t>To be discussed in W10S2.</a:t>
            </a:r>
          </a:p>
          <a:p>
            <a:r>
              <a:rPr lang="en-GB" dirty="0"/>
              <a:t>Most intuitive approach.</a:t>
            </a:r>
          </a:p>
          <a:p>
            <a:r>
              <a:rPr lang="en-SG" dirty="0"/>
              <a:t>Begin with the start symbol, try to guess the production rules to apply and end up with the stream of symbols you want.</a:t>
            </a:r>
          </a:p>
          <a:p>
            <a:pPr marL="0" indent="0">
              <a:buNone/>
            </a:pPr>
            <a:r>
              <a:rPr lang="en-SG" b="1" dirty="0"/>
              <a:t>Bottom-Up Parsing</a:t>
            </a:r>
          </a:p>
          <a:p>
            <a:r>
              <a:rPr lang="en-SG" dirty="0"/>
              <a:t>Something for later (W10S3?).</a:t>
            </a:r>
          </a:p>
        </p:txBody>
      </p:sp>
    </p:spTree>
    <p:extLst>
      <p:ext uri="{BB962C8B-B14F-4D97-AF65-F5344CB8AC3E}">
        <p14:creationId xmlns:p14="http://schemas.microsoft.com/office/powerpoint/2010/main" val="154563811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Box and whisker chart&#10;&#10;Description automatically generated with medium confidence">
            <a:extLst>
              <a:ext uri="{FF2B5EF4-FFF2-40B4-BE49-F238E27FC236}">
                <a16:creationId xmlns:a16="http://schemas.microsoft.com/office/drawing/2014/main" id="{BFD4A802-A589-0874-40DD-AF6EA275C595}"/>
              </a:ext>
            </a:extLst>
          </p:cNvPr>
          <p:cNvPicPr>
            <a:picLocks noChangeAspect="1"/>
          </p:cNvPicPr>
          <p:nvPr/>
        </p:nvPicPr>
        <p:blipFill rotWithShape="1">
          <a:blip r:embed="rId2">
            <a:extLst>
              <a:ext uri="{28A0092B-C50C-407E-A947-70E740481C1C}">
                <a14:useLocalDpi xmlns:a14="http://schemas.microsoft.com/office/drawing/2010/main" val="0"/>
              </a:ext>
            </a:extLst>
          </a:blip>
          <a:srcRect t="17550"/>
          <a:stretch/>
        </p:blipFill>
        <p:spPr>
          <a:xfrm>
            <a:off x="1518039" y="1203568"/>
            <a:ext cx="9155922" cy="5654431"/>
          </a:xfrm>
          <a:prstGeom prst="rect">
            <a:avLst/>
          </a:prstGeom>
        </p:spPr>
      </p:pic>
      <p:sp>
        <p:nvSpPr>
          <p:cNvPr id="2" name="Title 1">
            <a:extLst>
              <a:ext uri="{FF2B5EF4-FFF2-40B4-BE49-F238E27FC236}">
                <a16:creationId xmlns:a16="http://schemas.microsoft.com/office/drawing/2014/main" id="{CB134AFD-4C20-6FAB-51A9-E862D7E7613E}"/>
              </a:ext>
            </a:extLst>
          </p:cNvPr>
          <p:cNvSpPr>
            <a:spLocks noGrp="1"/>
          </p:cNvSpPr>
          <p:nvPr>
            <p:ph type="title"/>
          </p:nvPr>
        </p:nvSpPr>
        <p:spPr/>
        <p:txBody>
          <a:bodyPr/>
          <a:lstStyle/>
          <a:p>
            <a:r>
              <a:rPr lang="en-GB" dirty="0"/>
              <a:t>Top-Down Parsing</a:t>
            </a:r>
            <a:endParaRPr lang="en-SG" dirty="0"/>
          </a:p>
        </p:txBody>
      </p:sp>
    </p:spTree>
    <p:extLst>
      <p:ext uri="{BB962C8B-B14F-4D97-AF65-F5344CB8AC3E}">
        <p14:creationId xmlns:p14="http://schemas.microsoft.com/office/powerpoint/2010/main" val="338877169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2540A3-21E1-142A-0670-0E3ACABA1764}"/>
              </a:ext>
            </a:extLst>
          </p:cNvPr>
          <p:cNvSpPr>
            <a:spLocks noGrp="1"/>
          </p:cNvSpPr>
          <p:nvPr>
            <p:ph type="title"/>
          </p:nvPr>
        </p:nvSpPr>
        <p:spPr/>
        <p:txBody>
          <a:bodyPr/>
          <a:lstStyle/>
          <a:p>
            <a:r>
              <a:rPr lang="en-GB" dirty="0"/>
              <a:t>Challenges in Top-Down Parsing</a:t>
            </a:r>
            <a:endParaRPr lang="en-SG" dirty="0"/>
          </a:p>
        </p:txBody>
      </p:sp>
      <p:sp>
        <p:nvSpPr>
          <p:cNvPr id="3" name="Content Placeholder 2">
            <a:extLst>
              <a:ext uri="{FF2B5EF4-FFF2-40B4-BE49-F238E27FC236}">
                <a16:creationId xmlns:a16="http://schemas.microsoft.com/office/drawing/2014/main" id="{3448A8DC-903A-45CC-C1F8-FCD566834918}"/>
              </a:ext>
            </a:extLst>
          </p:cNvPr>
          <p:cNvSpPr>
            <a:spLocks noGrp="1"/>
          </p:cNvSpPr>
          <p:nvPr>
            <p:ph idx="1"/>
          </p:nvPr>
        </p:nvSpPr>
        <p:spPr/>
        <p:txBody>
          <a:bodyPr>
            <a:normAutofit/>
          </a:bodyPr>
          <a:lstStyle/>
          <a:p>
            <a:pPr marL="0" indent="0">
              <a:buNone/>
            </a:pPr>
            <a:r>
              <a:rPr lang="en-GB" b="1" dirty="0"/>
              <a:t>Top-down parsing begins with virtually no information.</a:t>
            </a:r>
          </a:p>
          <a:p>
            <a:r>
              <a:rPr lang="en-GB" dirty="0"/>
              <a:t>Begins with just the start symbol, which matches every program.</a:t>
            </a:r>
          </a:p>
          <a:p>
            <a:pPr marL="0" indent="0">
              <a:buNone/>
            </a:pPr>
            <a:endParaRPr lang="en-GB" dirty="0"/>
          </a:p>
          <a:p>
            <a:pPr marL="0" indent="0">
              <a:buNone/>
            </a:pPr>
            <a:r>
              <a:rPr lang="en-GB" b="1" dirty="0"/>
              <a:t>How can we know which productions to apply?</a:t>
            </a:r>
          </a:p>
          <a:p>
            <a:r>
              <a:rPr lang="en-GB" dirty="0"/>
              <a:t>In general, we cannot.</a:t>
            </a:r>
          </a:p>
        </p:txBody>
      </p:sp>
    </p:spTree>
    <p:extLst>
      <p:ext uri="{BB962C8B-B14F-4D97-AF65-F5344CB8AC3E}">
        <p14:creationId xmlns:p14="http://schemas.microsoft.com/office/powerpoint/2010/main" val="18589303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C41EE44-4720-9915-3EFE-A83E933D49B0}"/>
              </a:ext>
            </a:extLst>
          </p:cNvPr>
          <p:cNvSpPr>
            <a:spLocks noGrp="1"/>
          </p:cNvSpPr>
          <p:nvPr>
            <p:ph type="title"/>
          </p:nvPr>
        </p:nvSpPr>
        <p:spPr/>
        <p:txBody>
          <a:bodyPr/>
          <a:lstStyle/>
          <a:p>
            <a:r>
              <a:rPr lang="en-GB" dirty="0"/>
              <a:t>Conclusion</a:t>
            </a:r>
            <a:endParaRPr lang="en-SG" dirty="0"/>
          </a:p>
        </p:txBody>
      </p:sp>
      <p:sp>
        <p:nvSpPr>
          <p:cNvPr id="5" name="Text Placeholder 4">
            <a:extLst>
              <a:ext uri="{FF2B5EF4-FFF2-40B4-BE49-F238E27FC236}">
                <a16:creationId xmlns:a16="http://schemas.microsoft.com/office/drawing/2014/main" id="{098E1822-6818-9D9F-D4A9-32F533265DA8}"/>
              </a:ext>
            </a:extLst>
          </p:cNvPr>
          <p:cNvSpPr>
            <a:spLocks noGrp="1"/>
          </p:cNvSpPr>
          <p:nvPr>
            <p:ph type="body" idx="1"/>
          </p:nvPr>
        </p:nvSpPr>
        <p:spPr/>
        <p:txBody>
          <a:bodyPr/>
          <a:lstStyle/>
          <a:p>
            <a:r>
              <a:rPr lang="en-GB" dirty="0"/>
              <a:t>Good luck for the exam!</a:t>
            </a:r>
            <a:endParaRPr lang="en-SG" dirty="0"/>
          </a:p>
        </p:txBody>
      </p:sp>
    </p:spTree>
    <p:extLst>
      <p:ext uri="{BB962C8B-B14F-4D97-AF65-F5344CB8AC3E}">
        <p14:creationId xmlns:p14="http://schemas.microsoft.com/office/powerpoint/2010/main" val="7678078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2540A3-21E1-142A-0670-0E3ACABA1764}"/>
              </a:ext>
            </a:extLst>
          </p:cNvPr>
          <p:cNvSpPr>
            <a:spLocks noGrp="1"/>
          </p:cNvSpPr>
          <p:nvPr>
            <p:ph type="title"/>
          </p:nvPr>
        </p:nvSpPr>
        <p:spPr/>
        <p:txBody>
          <a:bodyPr/>
          <a:lstStyle/>
          <a:p>
            <a:r>
              <a:rPr lang="en-GB" dirty="0"/>
              <a:t>Challenges in Top-Down Parsing</a:t>
            </a:r>
            <a:endParaRPr lang="en-SG" dirty="0"/>
          </a:p>
        </p:txBody>
      </p:sp>
      <p:sp>
        <p:nvSpPr>
          <p:cNvPr id="3" name="Content Placeholder 2">
            <a:extLst>
              <a:ext uri="{FF2B5EF4-FFF2-40B4-BE49-F238E27FC236}">
                <a16:creationId xmlns:a16="http://schemas.microsoft.com/office/drawing/2014/main" id="{3448A8DC-903A-45CC-C1F8-FCD566834918}"/>
              </a:ext>
            </a:extLst>
          </p:cNvPr>
          <p:cNvSpPr>
            <a:spLocks noGrp="1"/>
          </p:cNvSpPr>
          <p:nvPr>
            <p:ph idx="1"/>
          </p:nvPr>
        </p:nvSpPr>
        <p:spPr/>
        <p:txBody>
          <a:bodyPr>
            <a:normAutofit/>
          </a:bodyPr>
          <a:lstStyle/>
          <a:p>
            <a:pPr marL="0" indent="0">
              <a:buNone/>
            </a:pPr>
            <a:r>
              <a:rPr lang="en-GB" b="1" dirty="0"/>
              <a:t>Top-down parsing begins with virtually no information.</a:t>
            </a:r>
          </a:p>
          <a:p>
            <a:r>
              <a:rPr lang="en-GB" dirty="0"/>
              <a:t>Begins with just the start symbol, which matches every program.</a:t>
            </a:r>
          </a:p>
          <a:p>
            <a:pPr marL="0" indent="0">
              <a:buNone/>
            </a:pPr>
            <a:endParaRPr lang="en-GB" dirty="0"/>
          </a:p>
          <a:p>
            <a:pPr marL="0" indent="0">
              <a:buNone/>
            </a:pPr>
            <a:r>
              <a:rPr lang="en-GB" b="1" dirty="0"/>
              <a:t>How can we know which productions to apply?</a:t>
            </a:r>
          </a:p>
          <a:p>
            <a:r>
              <a:rPr lang="en-GB" dirty="0"/>
              <a:t>In general, we cannot.</a:t>
            </a:r>
          </a:p>
          <a:p>
            <a:r>
              <a:rPr lang="en-GB" dirty="0"/>
              <a:t>There are some grammars for which the best we can do is guess and backtrack if we are wrong.</a:t>
            </a:r>
          </a:p>
          <a:p>
            <a:r>
              <a:rPr lang="en-GB" dirty="0"/>
              <a:t>If we have to guess, how do we do it?</a:t>
            </a:r>
            <a:endParaRPr lang="en-SG" dirty="0"/>
          </a:p>
        </p:txBody>
      </p:sp>
    </p:spTree>
    <p:extLst>
      <p:ext uri="{BB962C8B-B14F-4D97-AF65-F5344CB8AC3E}">
        <p14:creationId xmlns:p14="http://schemas.microsoft.com/office/powerpoint/2010/main" val="16184427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3287FC-88B0-6D5E-7D11-159603195B8D}"/>
              </a:ext>
            </a:extLst>
          </p:cNvPr>
          <p:cNvSpPr>
            <a:spLocks noGrp="1"/>
          </p:cNvSpPr>
          <p:nvPr>
            <p:ph type="title"/>
          </p:nvPr>
        </p:nvSpPr>
        <p:spPr/>
        <p:txBody>
          <a:bodyPr/>
          <a:lstStyle/>
          <a:p>
            <a:r>
              <a:rPr lang="en-GB" dirty="0"/>
              <a:t>Top-Down as a Graph Search</a:t>
            </a:r>
            <a:endParaRPr lang="en-SG" dirty="0"/>
          </a:p>
        </p:txBody>
      </p:sp>
      <p:sp>
        <p:nvSpPr>
          <p:cNvPr id="3" name="Content Placeholder 2">
            <a:extLst>
              <a:ext uri="{FF2B5EF4-FFF2-40B4-BE49-F238E27FC236}">
                <a16:creationId xmlns:a16="http://schemas.microsoft.com/office/drawing/2014/main" id="{175F5094-5A73-44EE-2E9B-A8E942FABD1B}"/>
              </a:ext>
            </a:extLst>
          </p:cNvPr>
          <p:cNvSpPr>
            <a:spLocks noGrp="1"/>
          </p:cNvSpPr>
          <p:nvPr>
            <p:ph idx="1"/>
          </p:nvPr>
        </p:nvSpPr>
        <p:spPr>
          <a:xfrm>
            <a:off x="838200" y="1825624"/>
            <a:ext cx="10515600" cy="5032375"/>
          </a:xfrm>
        </p:spPr>
        <p:txBody>
          <a:bodyPr>
            <a:normAutofit/>
          </a:bodyPr>
          <a:lstStyle/>
          <a:p>
            <a:pPr marL="0" indent="0">
              <a:buNone/>
            </a:pPr>
            <a:r>
              <a:rPr lang="en-GB" b="1" dirty="0"/>
              <a:t>First idea: </a:t>
            </a:r>
            <a:r>
              <a:rPr lang="en-GB" dirty="0"/>
              <a:t>treat parsing as a </a:t>
            </a:r>
            <a:r>
              <a:rPr lang="en-GB" b="1" dirty="0"/>
              <a:t>graph search</a:t>
            </a:r>
            <a:r>
              <a:rPr lang="en-GB" dirty="0"/>
              <a:t>.</a:t>
            </a:r>
          </a:p>
          <a:p>
            <a:endParaRPr lang="en-GB" dirty="0"/>
          </a:p>
          <a:p>
            <a:r>
              <a:rPr lang="en-GB" dirty="0"/>
              <a:t>Each node is a sentential form (a string of terminals and non-terminals symbols derivable from the start symbol).</a:t>
            </a:r>
          </a:p>
          <a:p>
            <a:r>
              <a:rPr lang="en-GB" dirty="0"/>
              <a:t>There is an edge from node α to node β </a:t>
            </a:r>
            <a:r>
              <a:rPr lang="en-GB" dirty="0" err="1"/>
              <a:t>iff</a:t>
            </a:r>
            <a:r>
              <a:rPr lang="en-GB" dirty="0"/>
              <a:t> α can be transformed into β using a production rule from the CFG.</a:t>
            </a:r>
          </a:p>
          <a:p>
            <a:endParaRPr lang="en-GB" b="1" dirty="0"/>
          </a:p>
          <a:p>
            <a:pPr marL="0" indent="0">
              <a:buNone/>
            </a:pPr>
            <a:r>
              <a:rPr lang="en-GB" b="1" dirty="0"/>
              <a:t>Objective: </a:t>
            </a:r>
            <a:r>
              <a:rPr lang="en-GB" dirty="0"/>
              <a:t>Find if the graph of all possible applications of the CFG rules eventually admits a node whose sentential form corresponds to our string </a:t>
            </a:r>
            <a:r>
              <a:rPr lang="en-GB" i="1" dirty="0"/>
              <a:t>x</a:t>
            </a:r>
            <a:r>
              <a:rPr lang="en-GB" dirty="0"/>
              <a:t>.</a:t>
            </a:r>
            <a:endParaRPr lang="en-SG" dirty="0"/>
          </a:p>
        </p:txBody>
      </p:sp>
    </p:spTree>
    <p:extLst>
      <p:ext uri="{BB962C8B-B14F-4D97-AF65-F5344CB8AC3E}">
        <p14:creationId xmlns:p14="http://schemas.microsoft.com/office/powerpoint/2010/main" val="308348915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107E95B0-A63E-1142-9AD7-27B0D8BE51AE}"/>
              </a:ext>
            </a:extLst>
          </p:cNvPr>
          <p:cNvPicPr>
            <a:picLocks noChangeAspect="1"/>
          </p:cNvPicPr>
          <p:nvPr/>
        </p:nvPicPr>
        <p:blipFill>
          <a:blip r:embed="rId2"/>
          <a:stretch>
            <a:fillRect/>
          </a:stretch>
        </p:blipFill>
        <p:spPr>
          <a:xfrm>
            <a:off x="1517903" y="0"/>
            <a:ext cx="9156193" cy="6858000"/>
          </a:xfrm>
          <a:prstGeom prst="rect">
            <a:avLst/>
          </a:prstGeom>
        </p:spPr>
      </p:pic>
      <p:sp>
        <p:nvSpPr>
          <p:cNvPr id="5" name="Title 3">
            <a:extLst>
              <a:ext uri="{FF2B5EF4-FFF2-40B4-BE49-F238E27FC236}">
                <a16:creationId xmlns:a16="http://schemas.microsoft.com/office/drawing/2014/main" id="{EB4C5E4A-C9D9-ABE8-EAF2-BD84292F2AC0}"/>
              </a:ext>
            </a:extLst>
          </p:cNvPr>
          <p:cNvSpPr txBox="1">
            <a:spLocks/>
          </p:cNvSpPr>
          <p:nvPr/>
        </p:nvSpPr>
        <p:spPr>
          <a:xfrm>
            <a:off x="838200" y="365126"/>
            <a:ext cx="7039708" cy="752474"/>
          </a:xfrm>
          <a:prstGeom prst="rect">
            <a:avLst/>
          </a:prstGeom>
          <a:solidFill>
            <a:schemeClr val="bg1"/>
          </a:solid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t>Graph Search Problem</a:t>
            </a:r>
            <a:endParaRPr lang="en-SG" dirty="0"/>
          </a:p>
        </p:txBody>
      </p:sp>
    </p:spTree>
    <p:extLst>
      <p:ext uri="{BB962C8B-B14F-4D97-AF65-F5344CB8AC3E}">
        <p14:creationId xmlns:p14="http://schemas.microsoft.com/office/powerpoint/2010/main" val="24579318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1A8A8A99-E80D-11C3-B5D4-4DD94790D4D0}"/>
              </a:ext>
            </a:extLst>
          </p:cNvPr>
          <p:cNvPicPr>
            <a:picLocks noChangeAspect="1"/>
          </p:cNvPicPr>
          <p:nvPr/>
        </p:nvPicPr>
        <p:blipFill>
          <a:blip r:embed="rId2"/>
          <a:stretch>
            <a:fillRect/>
          </a:stretch>
        </p:blipFill>
        <p:spPr>
          <a:xfrm>
            <a:off x="1517903" y="0"/>
            <a:ext cx="9156193" cy="6858000"/>
          </a:xfrm>
          <a:prstGeom prst="rect">
            <a:avLst/>
          </a:prstGeom>
        </p:spPr>
      </p:pic>
      <p:sp>
        <p:nvSpPr>
          <p:cNvPr id="5" name="Title 3">
            <a:extLst>
              <a:ext uri="{FF2B5EF4-FFF2-40B4-BE49-F238E27FC236}">
                <a16:creationId xmlns:a16="http://schemas.microsoft.com/office/drawing/2014/main" id="{66DAB611-D754-DFDC-B396-CAA2EE80EB46}"/>
              </a:ext>
            </a:extLst>
          </p:cNvPr>
          <p:cNvSpPr txBox="1">
            <a:spLocks/>
          </p:cNvSpPr>
          <p:nvPr/>
        </p:nvSpPr>
        <p:spPr>
          <a:xfrm>
            <a:off x="838200" y="365126"/>
            <a:ext cx="7039708" cy="752474"/>
          </a:xfrm>
          <a:prstGeom prst="rect">
            <a:avLst/>
          </a:prstGeom>
          <a:solidFill>
            <a:schemeClr val="bg1"/>
          </a:solid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t>Graph Search Problem</a:t>
            </a:r>
            <a:endParaRPr lang="en-SG" dirty="0"/>
          </a:p>
        </p:txBody>
      </p:sp>
    </p:spTree>
    <p:extLst>
      <p:ext uri="{BB962C8B-B14F-4D97-AF65-F5344CB8AC3E}">
        <p14:creationId xmlns:p14="http://schemas.microsoft.com/office/powerpoint/2010/main" val="86585330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Text&#10;&#10;Description automatically generated">
            <a:extLst>
              <a:ext uri="{FF2B5EF4-FFF2-40B4-BE49-F238E27FC236}">
                <a16:creationId xmlns:a16="http://schemas.microsoft.com/office/drawing/2014/main" id="{7BC917FD-B277-B33A-A6EC-650F7803532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8039" y="0"/>
            <a:ext cx="9155922" cy="6858000"/>
          </a:xfrm>
          <a:prstGeom prst="rect">
            <a:avLst/>
          </a:prstGeom>
        </p:spPr>
      </p:pic>
      <p:sp>
        <p:nvSpPr>
          <p:cNvPr id="6" name="Title 3">
            <a:extLst>
              <a:ext uri="{FF2B5EF4-FFF2-40B4-BE49-F238E27FC236}">
                <a16:creationId xmlns:a16="http://schemas.microsoft.com/office/drawing/2014/main" id="{63115A1D-3329-0D7D-CA3A-8802E5F9B1A0}"/>
              </a:ext>
            </a:extLst>
          </p:cNvPr>
          <p:cNvSpPr txBox="1">
            <a:spLocks/>
          </p:cNvSpPr>
          <p:nvPr/>
        </p:nvSpPr>
        <p:spPr>
          <a:xfrm>
            <a:off x="838200" y="365126"/>
            <a:ext cx="10515600" cy="1211748"/>
          </a:xfrm>
          <a:prstGeom prst="rect">
            <a:avLst/>
          </a:prstGeom>
          <a:solidFill>
            <a:schemeClr val="bg1"/>
          </a:solid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t>BFS in action: demo on a simple CFG</a:t>
            </a:r>
            <a:endParaRPr lang="en-SG" dirty="0"/>
          </a:p>
        </p:txBody>
      </p:sp>
    </p:spTree>
    <p:extLst>
      <p:ext uri="{BB962C8B-B14F-4D97-AF65-F5344CB8AC3E}">
        <p14:creationId xmlns:p14="http://schemas.microsoft.com/office/powerpoint/2010/main" val="19438080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Chart&#10;&#10;Description automatically generated">
            <a:extLst>
              <a:ext uri="{FF2B5EF4-FFF2-40B4-BE49-F238E27FC236}">
                <a16:creationId xmlns:a16="http://schemas.microsoft.com/office/drawing/2014/main" id="{398A6D9F-D112-6C3F-D471-784F2E6EEAE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8039" y="0"/>
            <a:ext cx="9155922" cy="6858000"/>
          </a:xfrm>
          <a:prstGeom prst="rect">
            <a:avLst/>
          </a:prstGeom>
        </p:spPr>
      </p:pic>
      <p:sp>
        <p:nvSpPr>
          <p:cNvPr id="7" name="Title 3">
            <a:extLst>
              <a:ext uri="{FF2B5EF4-FFF2-40B4-BE49-F238E27FC236}">
                <a16:creationId xmlns:a16="http://schemas.microsoft.com/office/drawing/2014/main" id="{D144B119-291C-7D18-EBED-C55F3D2954F6}"/>
              </a:ext>
            </a:extLst>
          </p:cNvPr>
          <p:cNvSpPr txBox="1">
            <a:spLocks/>
          </p:cNvSpPr>
          <p:nvPr/>
        </p:nvSpPr>
        <p:spPr>
          <a:xfrm>
            <a:off x="838200" y="365126"/>
            <a:ext cx="10515600" cy="1211748"/>
          </a:xfrm>
          <a:prstGeom prst="rect">
            <a:avLst/>
          </a:prstGeom>
          <a:solidFill>
            <a:schemeClr val="bg1"/>
          </a:solid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t>BFS in action: demo on a simple CFG</a:t>
            </a:r>
            <a:endParaRPr lang="en-SG" dirty="0"/>
          </a:p>
        </p:txBody>
      </p:sp>
    </p:spTree>
    <p:extLst>
      <p:ext uri="{BB962C8B-B14F-4D97-AF65-F5344CB8AC3E}">
        <p14:creationId xmlns:p14="http://schemas.microsoft.com/office/powerpoint/2010/main" val="273616937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picture containing diagram&#10;&#10;Description automatically generated">
            <a:extLst>
              <a:ext uri="{FF2B5EF4-FFF2-40B4-BE49-F238E27FC236}">
                <a16:creationId xmlns:a16="http://schemas.microsoft.com/office/drawing/2014/main" id="{6D5009E0-B688-8F97-6E0E-481D385BD35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8039" y="0"/>
            <a:ext cx="9155922" cy="6858000"/>
          </a:xfrm>
          <a:prstGeom prst="rect">
            <a:avLst/>
          </a:prstGeom>
        </p:spPr>
      </p:pic>
      <p:sp>
        <p:nvSpPr>
          <p:cNvPr id="4" name="Title 3">
            <a:extLst>
              <a:ext uri="{FF2B5EF4-FFF2-40B4-BE49-F238E27FC236}">
                <a16:creationId xmlns:a16="http://schemas.microsoft.com/office/drawing/2014/main" id="{5785AA97-8B3C-BC16-EF60-45D6E046D43A}"/>
              </a:ext>
            </a:extLst>
          </p:cNvPr>
          <p:cNvSpPr txBox="1">
            <a:spLocks/>
          </p:cNvSpPr>
          <p:nvPr/>
        </p:nvSpPr>
        <p:spPr>
          <a:xfrm>
            <a:off x="838200" y="365126"/>
            <a:ext cx="10515600" cy="1211748"/>
          </a:xfrm>
          <a:prstGeom prst="rect">
            <a:avLst/>
          </a:prstGeom>
          <a:solidFill>
            <a:schemeClr val="bg1"/>
          </a:solid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a:t>BFS in action: demo on a simple CFG</a:t>
            </a:r>
            <a:endParaRPr lang="en-SG" dirty="0"/>
          </a:p>
        </p:txBody>
      </p:sp>
    </p:spTree>
    <p:extLst>
      <p:ext uri="{BB962C8B-B14F-4D97-AF65-F5344CB8AC3E}">
        <p14:creationId xmlns:p14="http://schemas.microsoft.com/office/powerpoint/2010/main" val="335821929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picture containing chart&#10;&#10;Description automatically generated">
            <a:extLst>
              <a:ext uri="{FF2B5EF4-FFF2-40B4-BE49-F238E27FC236}">
                <a16:creationId xmlns:a16="http://schemas.microsoft.com/office/drawing/2014/main" id="{06783A9A-1404-4789-03EA-91B3D7918A8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8039" y="0"/>
            <a:ext cx="9155922" cy="6858000"/>
          </a:xfrm>
          <a:prstGeom prst="rect">
            <a:avLst/>
          </a:prstGeom>
        </p:spPr>
      </p:pic>
      <p:sp>
        <p:nvSpPr>
          <p:cNvPr id="4" name="Title 3">
            <a:extLst>
              <a:ext uri="{FF2B5EF4-FFF2-40B4-BE49-F238E27FC236}">
                <a16:creationId xmlns:a16="http://schemas.microsoft.com/office/drawing/2014/main" id="{1B751C28-DD1E-CB17-D223-67B647653138}"/>
              </a:ext>
            </a:extLst>
          </p:cNvPr>
          <p:cNvSpPr txBox="1">
            <a:spLocks/>
          </p:cNvSpPr>
          <p:nvPr/>
        </p:nvSpPr>
        <p:spPr>
          <a:xfrm>
            <a:off x="838200" y="365126"/>
            <a:ext cx="10515600" cy="1211748"/>
          </a:xfrm>
          <a:prstGeom prst="rect">
            <a:avLst/>
          </a:prstGeom>
          <a:solidFill>
            <a:schemeClr val="bg1"/>
          </a:solid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a:t>BFS in action: demo on a simple CFG</a:t>
            </a:r>
            <a:endParaRPr lang="en-SG" dirty="0"/>
          </a:p>
        </p:txBody>
      </p:sp>
    </p:spTree>
    <p:extLst>
      <p:ext uri="{BB962C8B-B14F-4D97-AF65-F5344CB8AC3E}">
        <p14:creationId xmlns:p14="http://schemas.microsoft.com/office/powerpoint/2010/main" val="293228581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Chart, waterfall chart&#10;&#10;Description automatically generated">
            <a:extLst>
              <a:ext uri="{FF2B5EF4-FFF2-40B4-BE49-F238E27FC236}">
                <a16:creationId xmlns:a16="http://schemas.microsoft.com/office/drawing/2014/main" id="{27BCBC28-0B6D-AA32-43B0-8D453D6C20A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8039" y="0"/>
            <a:ext cx="9155922" cy="6858000"/>
          </a:xfrm>
          <a:prstGeom prst="rect">
            <a:avLst/>
          </a:prstGeom>
        </p:spPr>
      </p:pic>
      <p:sp>
        <p:nvSpPr>
          <p:cNvPr id="4" name="Title 3">
            <a:extLst>
              <a:ext uri="{FF2B5EF4-FFF2-40B4-BE49-F238E27FC236}">
                <a16:creationId xmlns:a16="http://schemas.microsoft.com/office/drawing/2014/main" id="{B4448890-BE04-ECD0-7CC3-642A2D10BDE7}"/>
              </a:ext>
            </a:extLst>
          </p:cNvPr>
          <p:cNvSpPr txBox="1">
            <a:spLocks/>
          </p:cNvSpPr>
          <p:nvPr/>
        </p:nvSpPr>
        <p:spPr>
          <a:xfrm>
            <a:off x="838200" y="365126"/>
            <a:ext cx="10515600" cy="1211748"/>
          </a:xfrm>
          <a:prstGeom prst="rect">
            <a:avLst/>
          </a:prstGeom>
          <a:solidFill>
            <a:schemeClr val="bg1"/>
          </a:solid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a:t>BFS in action: demo on a simple CFG</a:t>
            </a:r>
            <a:endParaRPr lang="en-SG" dirty="0"/>
          </a:p>
        </p:txBody>
      </p:sp>
    </p:spTree>
    <p:extLst>
      <p:ext uri="{BB962C8B-B14F-4D97-AF65-F5344CB8AC3E}">
        <p14:creationId xmlns:p14="http://schemas.microsoft.com/office/powerpoint/2010/main" val="136873538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Chart&#10;&#10;Description automatically generated">
            <a:extLst>
              <a:ext uri="{FF2B5EF4-FFF2-40B4-BE49-F238E27FC236}">
                <a16:creationId xmlns:a16="http://schemas.microsoft.com/office/drawing/2014/main" id="{F1D7B2D1-34AB-F073-F5D6-520BA0C1CA9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8039" y="0"/>
            <a:ext cx="9155922" cy="6858000"/>
          </a:xfrm>
          <a:prstGeom prst="rect">
            <a:avLst/>
          </a:prstGeom>
        </p:spPr>
      </p:pic>
      <p:sp>
        <p:nvSpPr>
          <p:cNvPr id="4" name="Title 3">
            <a:extLst>
              <a:ext uri="{FF2B5EF4-FFF2-40B4-BE49-F238E27FC236}">
                <a16:creationId xmlns:a16="http://schemas.microsoft.com/office/drawing/2014/main" id="{89E5434C-6376-4D45-90DD-DC5FCDC0AA46}"/>
              </a:ext>
            </a:extLst>
          </p:cNvPr>
          <p:cNvSpPr txBox="1">
            <a:spLocks/>
          </p:cNvSpPr>
          <p:nvPr/>
        </p:nvSpPr>
        <p:spPr>
          <a:xfrm>
            <a:off x="838200" y="365126"/>
            <a:ext cx="10515600" cy="1211748"/>
          </a:xfrm>
          <a:prstGeom prst="rect">
            <a:avLst/>
          </a:prstGeom>
          <a:solidFill>
            <a:schemeClr val="bg1"/>
          </a:solid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a:t>BFS in action: demo on a simple CFG</a:t>
            </a:r>
            <a:endParaRPr lang="en-SG" dirty="0"/>
          </a:p>
        </p:txBody>
      </p:sp>
    </p:spTree>
    <p:extLst>
      <p:ext uri="{BB962C8B-B14F-4D97-AF65-F5344CB8AC3E}">
        <p14:creationId xmlns:p14="http://schemas.microsoft.com/office/powerpoint/2010/main" val="372236429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picture containing chart&#10;&#10;Description automatically generated">
            <a:extLst>
              <a:ext uri="{FF2B5EF4-FFF2-40B4-BE49-F238E27FC236}">
                <a16:creationId xmlns:a16="http://schemas.microsoft.com/office/drawing/2014/main" id="{4B9D9BAE-CECC-8DA8-A3C9-BD2C13A97BE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8039" y="0"/>
            <a:ext cx="9155922" cy="6858000"/>
          </a:xfrm>
          <a:prstGeom prst="rect">
            <a:avLst/>
          </a:prstGeom>
        </p:spPr>
      </p:pic>
      <p:sp>
        <p:nvSpPr>
          <p:cNvPr id="4" name="Title 3">
            <a:extLst>
              <a:ext uri="{FF2B5EF4-FFF2-40B4-BE49-F238E27FC236}">
                <a16:creationId xmlns:a16="http://schemas.microsoft.com/office/drawing/2014/main" id="{4ADC8209-72FF-9863-363A-638522091DCF}"/>
              </a:ext>
            </a:extLst>
          </p:cNvPr>
          <p:cNvSpPr txBox="1">
            <a:spLocks/>
          </p:cNvSpPr>
          <p:nvPr/>
        </p:nvSpPr>
        <p:spPr>
          <a:xfrm>
            <a:off x="838200" y="365126"/>
            <a:ext cx="10515600" cy="1211748"/>
          </a:xfrm>
          <a:prstGeom prst="rect">
            <a:avLst/>
          </a:prstGeom>
          <a:solidFill>
            <a:schemeClr val="bg1"/>
          </a:solid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a:t>BFS in action: demo on a simple CFG</a:t>
            </a:r>
            <a:endParaRPr lang="en-SG" dirty="0"/>
          </a:p>
        </p:txBody>
      </p:sp>
    </p:spTree>
    <p:extLst>
      <p:ext uri="{BB962C8B-B14F-4D97-AF65-F5344CB8AC3E}">
        <p14:creationId xmlns:p14="http://schemas.microsoft.com/office/powerpoint/2010/main" val="323281623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Chart, waterfall chart&#10;&#10;Description automatically generated">
            <a:extLst>
              <a:ext uri="{FF2B5EF4-FFF2-40B4-BE49-F238E27FC236}">
                <a16:creationId xmlns:a16="http://schemas.microsoft.com/office/drawing/2014/main" id="{63F7F3D1-115C-3AE4-E3F1-DF8E0BBD34B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8039" y="0"/>
            <a:ext cx="9155922" cy="6858000"/>
          </a:xfrm>
          <a:prstGeom prst="rect">
            <a:avLst/>
          </a:prstGeom>
        </p:spPr>
      </p:pic>
      <p:sp>
        <p:nvSpPr>
          <p:cNvPr id="4" name="Title 3">
            <a:extLst>
              <a:ext uri="{FF2B5EF4-FFF2-40B4-BE49-F238E27FC236}">
                <a16:creationId xmlns:a16="http://schemas.microsoft.com/office/drawing/2014/main" id="{486BD268-E0D4-BC0D-1EB9-15C8750C8481}"/>
              </a:ext>
            </a:extLst>
          </p:cNvPr>
          <p:cNvSpPr txBox="1">
            <a:spLocks/>
          </p:cNvSpPr>
          <p:nvPr/>
        </p:nvSpPr>
        <p:spPr>
          <a:xfrm>
            <a:off x="838200" y="365126"/>
            <a:ext cx="10515600" cy="1211748"/>
          </a:xfrm>
          <a:prstGeom prst="rect">
            <a:avLst/>
          </a:prstGeom>
          <a:solidFill>
            <a:schemeClr val="bg1"/>
          </a:solid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a:t>BFS in action: demo on a simple CFG</a:t>
            </a:r>
            <a:endParaRPr lang="en-SG" dirty="0"/>
          </a:p>
        </p:txBody>
      </p:sp>
    </p:spTree>
    <p:extLst>
      <p:ext uri="{BB962C8B-B14F-4D97-AF65-F5344CB8AC3E}">
        <p14:creationId xmlns:p14="http://schemas.microsoft.com/office/powerpoint/2010/main" val="55869667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Diagram&#10;&#10;Description automatically generated">
            <a:extLst>
              <a:ext uri="{FF2B5EF4-FFF2-40B4-BE49-F238E27FC236}">
                <a16:creationId xmlns:a16="http://schemas.microsoft.com/office/drawing/2014/main" id="{12B1491C-EE22-97EB-E1C4-8B683B352E9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8039" y="0"/>
            <a:ext cx="9155922" cy="6858000"/>
          </a:xfrm>
          <a:prstGeom prst="rect">
            <a:avLst/>
          </a:prstGeom>
        </p:spPr>
      </p:pic>
      <p:sp>
        <p:nvSpPr>
          <p:cNvPr id="4" name="Title 3">
            <a:extLst>
              <a:ext uri="{FF2B5EF4-FFF2-40B4-BE49-F238E27FC236}">
                <a16:creationId xmlns:a16="http://schemas.microsoft.com/office/drawing/2014/main" id="{9F46F672-FEDA-88A3-12D3-42E68FF1DA55}"/>
              </a:ext>
            </a:extLst>
          </p:cNvPr>
          <p:cNvSpPr txBox="1">
            <a:spLocks/>
          </p:cNvSpPr>
          <p:nvPr/>
        </p:nvSpPr>
        <p:spPr>
          <a:xfrm>
            <a:off x="838200" y="365126"/>
            <a:ext cx="10515600" cy="1211748"/>
          </a:xfrm>
          <a:prstGeom prst="rect">
            <a:avLst/>
          </a:prstGeom>
          <a:solidFill>
            <a:schemeClr val="bg1"/>
          </a:solid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a:t>BFS in action: demo on a simple CFG</a:t>
            </a:r>
            <a:endParaRPr lang="en-SG" dirty="0"/>
          </a:p>
        </p:txBody>
      </p:sp>
    </p:spTree>
    <p:extLst>
      <p:ext uri="{BB962C8B-B14F-4D97-AF65-F5344CB8AC3E}">
        <p14:creationId xmlns:p14="http://schemas.microsoft.com/office/powerpoint/2010/main" val="152526092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Diagram&#10;&#10;Description automatically generated">
            <a:extLst>
              <a:ext uri="{FF2B5EF4-FFF2-40B4-BE49-F238E27FC236}">
                <a16:creationId xmlns:a16="http://schemas.microsoft.com/office/drawing/2014/main" id="{2D595B7F-B294-3E75-EBDD-572904517BF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8039" y="0"/>
            <a:ext cx="9155922" cy="6858000"/>
          </a:xfrm>
          <a:prstGeom prst="rect">
            <a:avLst/>
          </a:prstGeom>
        </p:spPr>
      </p:pic>
      <p:sp>
        <p:nvSpPr>
          <p:cNvPr id="4" name="Title 3">
            <a:extLst>
              <a:ext uri="{FF2B5EF4-FFF2-40B4-BE49-F238E27FC236}">
                <a16:creationId xmlns:a16="http://schemas.microsoft.com/office/drawing/2014/main" id="{029C4FE5-D970-A1B1-3298-192D60F6CC56}"/>
              </a:ext>
            </a:extLst>
          </p:cNvPr>
          <p:cNvSpPr txBox="1">
            <a:spLocks/>
          </p:cNvSpPr>
          <p:nvPr/>
        </p:nvSpPr>
        <p:spPr>
          <a:xfrm>
            <a:off x="838200" y="365126"/>
            <a:ext cx="10515600" cy="1211748"/>
          </a:xfrm>
          <a:prstGeom prst="rect">
            <a:avLst/>
          </a:prstGeom>
          <a:solidFill>
            <a:schemeClr val="bg1"/>
          </a:solid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a:t>BFS in action: demo on a simple CFG</a:t>
            </a:r>
            <a:endParaRPr lang="en-SG" dirty="0"/>
          </a:p>
        </p:txBody>
      </p:sp>
    </p:spTree>
    <p:extLst>
      <p:ext uri="{BB962C8B-B14F-4D97-AF65-F5344CB8AC3E}">
        <p14:creationId xmlns:p14="http://schemas.microsoft.com/office/powerpoint/2010/main" val="216365221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Chart, waterfall chart&#10;&#10;Description automatically generated">
            <a:extLst>
              <a:ext uri="{FF2B5EF4-FFF2-40B4-BE49-F238E27FC236}">
                <a16:creationId xmlns:a16="http://schemas.microsoft.com/office/drawing/2014/main" id="{6E9F6140-CF76-CCA7-C59E-78B7C1A9DC6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8039" y="0"/>
            <a:ext cx="9155922" cy="6858000"/>
          </a:xfrm>
          <a:prstGeom prst="rect">
            <a:avLst/>
          </a:prstGeom>
        </p:spPr>
      </p:pic>
      <p:sp>
        <p:nvSpPr>
          <p:cNvPr id="4" name="Title 3">
            <a:extLst>
              <a:ext uri="{FF2B5EF4-FFF2-40B4-BE49-F238E27FC236}">
                <a16:creationId xmlns:a16="http://schemas.microsoft.com/office/drawing/2014/main" id="{76EF8436-7A62-D321-E83B-811947DA8B66}"/>
              </a:ext>
            </a:extLst>
          </p:cNvPr>
          <p:cNvSpPr txBox="1">
            <a:spLocks/>
          </p:cNvSpPr>
          <p:nvPr/>
        </p:nvSpPr>
        <p:spPr>
          <a:xfrm>
            <a:off x="838200" y="365126"/>
            <a:ext cx="10515600" cy="1211748"/>
          </a:xfrm>
          <a:prstGeom prst="rect">
            <a:avLst/>
          </a:prstGeom>
          <a:solidFill>
            <a:schemeClr val="bg1"/>
          </a:solid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a:t>BFS in action: demo on a simple CFG</a:t>
            </a:r>
            <a:endParaRPr lang="en-SG" dirty="0"/>
          </a:p>
        </p:txBody>
      </p:sp>
    </p:spTree>
    <p:extLst>
      <p:ext uri="{BB962C8B-B14F-4D97-AF65-F5344CB8AC3E}">
        <p14:creationId xmlns:p14="http://schemas.microsoft.com/office/powerpoint/2010/main" val="349510863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Chart, waterfall chart&#10;&#10;Description automatically generated">
            <a:extLst>
              <a:ext uri="{FF2B5EF4-FFF2-40B4-BE49-F238E27FC236}">
                <a16:creationId xmlns:a16="http://schemas.microsoft.com/office/drawing/2014/main" id="{3C528009-7E1B-3439-6C0D-F2E7E99AF4B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8039" y="0"/>
            <a:ext cx="9155922" cy="6858000"/>
          </a:xfrm>
          <a:prstGeom prst="rect">
            <a:avLst/>
          </a:prstGeom>
        </p:spPr>
      </p:pic>
      <p:sp>
        <p:nvSpPr>
          <p:cNvPr id="4" name="Title 3">
            <a:extLst>
              <a:ext uri="{FF2B5EF4-FFF2-40B4-BE49-F238E27FC236}">
                <a16:creationId xmlns:a16="http://schemas.microsoft.com/office/drawing/2014/main" id="{D602E653-32CA-D685-182A-60330A3DFF2F}"/>
              </a:ext>
            </a:extLst>
          </p:cNvPr>
          <p:cNvSpPr txBox="1">
            <a:spLocks/>
          </p:cNvSpPr>
          <p:nvPr/>
        </p:nvSpPr>
        <p:spPr>
          <a:xfrm>
            <a:off x="838200" y="365126"/>
            <a:ext cx="10515600" cy="1211748"/>
          </a:xfrm>
          <a:prstGeom prst="rect">
            <a:avLst/>
          </a:prstGeom>
          <a:solidFill>
            <a:schemeClr val="bg1"/>
          </a:solid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a:t>BFS in action: demo on a simple CFG</a:t>
            </a:r>
            <a:endParaRPr lang="en-SG" dirty="0"/>
          </a:p>
        </p:txBody>
      </p:sp>
    </p:spTree>
    <p:extLst>
      <p:ext uri="{BB962C8B-B14F-4D97-AF65-F5344CB8AC3E}">
        <p14:creationId xmlns:p14="http://schemas.microsoft.com/office/powerpoint/2010/main" val="43572370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Text&#10;&#10;Description automatically generated with low confidence">
            <a:extLst>
              <a:ext uri="{FF2B5EF4-FFF2-40B4-BE49-F238E27FC236}">
                <a16:creationId xmlns:a16="http://schemas.microsoft.com/office/drawing/2014/main" id="{38F57819-CE47-90E4-902C-F0E261B1F41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8039" y="0"/>
            <a:ext cx="9155922" cy="6858000"/>
          </a:xfrm>
          <a:prstGeom prst="rect">
            <a:avLst/>
          </a:prstGeom>
        </p:spPr>
      </p:pic>
      <p:sp>
        <p:nvSpPr>
          <p:cNvPr id="4" name="Title 3">
            <a:extLst>
              <a:ext uri="{FF2B5EF4-FFF2-40B4-BE49-F238E27FC236}">
                <a16:creationId xmlns:a16="http://schemas.microsoft.com/office/drawing/2014/main" id="{47E54E63-CB1B-F53E-6D66-13C491878D25}"/>
              </a:ext>
            </a:extLst>
          </p:cNvPr>
          <p:cNvSpPr txBox="1">
            <a:spLocks/>
          </p:cNvSpPr>
          <p:nvPr/>
        </p:nvSpPr>
        <p:spPr>
          <a:xfrm>
            <a:off x="838200" y="365126"/>
            <a:ext cx="10515600" cy="1211748"/>
          </a:xfrm>
          <a:prstGeom prst="rect">
            <a:avLst/>
          </a:prstGeom>
          <a:solidFill>
            <a:schemeClr val="bg1"/>
          </a:solid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a:t>BFS in action: demo on a simple CFG</a:t>
            </a:r>
            <a:endParaRPr lang="en-SG" dirty="0"/>
          </a:p>
        </p:txBody>
      </p:sp>
    </p:spTree>
    <p:extLst>
      <p:ext uri="{BB962C8B-B14F-4D97-AF65-F5344CB8AC3E}">
        <p14:creationId xmlns:p14="http://schemas.microsoft.com/office/powerpoint/2010/main" val="128072653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picture containing text&#10;&#10;Description automatically generated">
            <a:extLst>
              <a:ext uri="{FF2B5EF4-FFF2-40B4-BE49-F238E27FC236}">
                <a16:creationId xmlns:a16="http://schemas.microsoft.com/office/drawing/2014/main" id="{DB196DAA-ED3C-E2DB-9C95-A7BAB5AD3AA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8039" y="0"/>
            <a:ext cx="9155922" cy="6858000"/>
          </a:xfrm>
          <a:prstGeom prst="rect">
            <a:avLst/>
          </a:prstGeom>
        </p:spPr>
      </p:pic>
      <p:sp>
        <p:nvSpPr>
          <p:cNvPr id="4" name="Title 3">
            <a:extLst>
              <a:ext uri="{FF2B5EF4-FFF2-40B4-BE49-F238E27FC236}">
                <a16:creationId xmlns:a16="http://schemas.microsoft.com/office/drawing/2014/main" id="{8E8117A6-E775-8843-5D10-5C24603BE5B3}"/>
              </a:ext>
            </a:extLst>
          </p:cNvPr>
          <p:cNvSpPr txBox="1">
            <a:spLocks/>
          </p:cNvSpPr>
          <p:nvPr/>
        </p:nvSpPr>
        <p:spPr>
          <a:xfrm>
            <a:off x="838200" y="365126"/>
            <a:ext cx="10515600" cy="1211748"/>
          </a:xfrm>
          <a:prstGeom prst="rect">
            <a:avLst/>
          </a:prstGeom>
          <a:solidFill>
            <a:schemeClr val="bg1"/>
          </a:solid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a:t>BFS in action: demo on a simple CFG</a:t>
            </a:r>
            <a:endParaRPr lang="en-SG" dirty="0"/>
          </a:p>
        </p:txBody>
      </p:sp>
    </p:spTree>
    <p:extLst>
      <p:ext uri="{BB962C8B-B14F-4D97-AF65-F5344CB8AC3E}">
        <p14:creationId xmlns:p14="http://schemas.microsoft.com/office/powerpoint/2010/main" val="317218665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Diagram&#10;&#10;Description automatically generated with low confidence">
            <a:extLst>
              <a:ext uri="{FF2B5EF4-FFF2-40B4-BE49-F238E27FC236}">
                <a16:creationId xmlns:a16="http://schemas.microsoft.com/office/drawing/2014/main" id="{573FE63B-59D5-9DCC-4C6C-A1C21B15C77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8039" y="0"/>
            <a:ext cx="9155922" cy="6858000"/>
          </a:xfrm>
          <a:prstGeom prst="rect">
            <a:avLst/>
          </a:prstGeom>
        </p:spPr>
      </p:pic>
      <p:sp>
        <p:nvSpPr>
          <p:cNvPr id="8" name="Title 3">
            <a:extLst>
              <a:ext uri="{FF2B5EF4-FFF2-40B4-BE49-F238E27FC236}">
                <a16:creationId xmlns:a16="http://schemas.microsoft.com/office/drawing/2014/main" id="{2FEF738C-34C1-6975-330E-36DEA3680500}"/>
              </a:ext>
            </a:extLst>
          </p:cNvPr>
          <p:cNvSpPr txBox="1">
            <a:spLocks/>
          </p:cNvSpPr>
          <p:nvPr/>
        </p:nvSpPr>
        <p:spPr>
          <a:xfrm>
            <a:off x="838200" y="365126"/>
            <a:ext cx="10515600" cy="1211748"/>
          </a:xfrm>
          <a:prstGeom prst="rect">
            <a:avLst/>
          </a:prstGeom>
          <a:solidFill>
            <a:schemeClr val="bg1"/>
          </a:solid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a:t>BFS in action: demo on a simple CFG</a:t>
            </a:r>
            <a:endParaRPr lang="en-SG" dirty="0"/>
          </a:p>
        </p:txBody>
      </p:sp>
    </p:spTree>
    <p:extLst>
      <p:ext uri="{BB962C8B-B14F-4D97-AF65-F5344CB8AC3E}">
        <p14:creationId xmlns:p14="http://schemas.microsoft.com/office/powerpoint/2010/main" val="230201083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pplication&#10;&#10;Description automatically generated with medium confidence">
            <a:extLst>
              <a:ext uri="{FF2B5EF4-FFF2-40B4-BE49-F238E27FC236}">
                <a16:creationId xmlns:a16="http://schemas.microsoft.com/office/drawing/2014/main" id="{959547C8-03AC-D3A9-9F6A-A27A003CB20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8039" y="0"/>
            <a:ext cx="9155922" cy="6858000"/>
          </a:xfrm>
          <a:prstGeom prst="rect">
            <a:avLst/>
          </a:prstGeom>
        </p:spPr>
      </p:pic>
      <p:sp>
        <p:nvSpPr>
          <p:cNvPr id="4" name="Title 3">
            <a:extLst>
              <a:ext uri="{FF2B5EF4-FFF2-40B4-BE49-F238E27FC236}">
                <a16:creationId xmlns:a16="http://schemas.microsoft.com/office/drawing/2014/main" id="{4FF9F933-362F-CB1C-3E1A-9BDADD33D89D}"/>
              </a:ext>
            </a:extLst>
          </p:cNvPr>
          <p:cNvSpPr txBox="1">
            <a:spLocks/>
          </p:cNvSpPr>
          <p:nvPr/>
        </p:nvSpPr>
        <p:spPr>
          <a:xfrm>
            <a:off x="838200" y="365126"/>
            <a:ext cx="10515600" cy="1211748"/>
          </a:xfrm>
          <a:prstGeom prst="rect">
            <a:avLst/>
          </a:prstGeom>
          <a:solidFill>
            <a:schemeClr val="bg1"/>
          </a:solid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a:t>BFS in action: demo on a simple CFG</a:t>
            </a:r>
            <a:endParaRPr lang="en-SG" dirty="0"/>
          </a:p>
        </p:txBody>
      </p:sp>
    </p:spTree>
    <p:extLst>
      <p:ext uri="{BB962C8B-B14F-4D97-AF65-F5344CB8AC3E}">
        <p14:creationId xmlns:p14="http://schemas.microsoft.com/office/powerpoint/2010/main" val="16207264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Diagram&#10;&#10;Description automatically generated with medium confidence">
            <a:extLst>
              <a:ext uri="{FF2B5EF4-FFF2-40B4-BE49-F238E27FC236}">
                <a16:creationId xmlns:a16="http://schemas.microsoft.com/office/drawing/2014/main" id="{EACC06C8-E68C-8466-7D4D-4811BF86299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8039" y="0"/>
            <a:ext cx="9155922" cy="6858000"/>
          </a:xfrm>
          <a:prstGeom prst="rect">
            <a:avLst/>
          </a:prstGeom>
        </p:spPr>
      </p:pic>
      <p:sp>
        <p:nvSpPr>
          <p:cNvPr id="4" name="Title 3">
            <a:extLst>
              <a:ext uri="{FF2B5EF4-FFF2-40B4-BE49-F238E27FC236}">
                <a16:creationId xmlns:a16="http://schemas.microsoft.com/office/drawing/2014/main" id="{4FDDE43E-4ECF-A0DD-A57D-A05AE2713227}"/>
              </a:ext>
            </a:extLst>
          </p:cNvPr>
          <p:cNvSpPr txBox="1">
            <a:spLocks/>
          </p:cNvSpPr>
          <p:nvPr/>
        </p:nvSpPr>
        <p:spPr>
          <a:xfrm>
            <a:off x="838200" y="365126"/>
            <a:ext cx="10515600" cy="1211748"/>
          </a:xfrm>
          <a:prstGeom prst="rect">
            <a:avLst/>
          </a:prstGeom>
          <a:solidFill>
            <a:schemeClr val="bg1"/>
          </a:solid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a:t>BFS in action: demo on a simple CFG</a:t>
            </a:r>
            <a:endParaRPr lang="en-SG" dirty="0"/>
          </a:p>
        </p:txBody>
      </p:sp>
    </p:spTree>
    <p:extLst>
      <p:ext uri="{BB962C8B-B14F-4D97-AF65-F5344CB8AC3E}">
        <p14:creationId xmlns:p14="http://schemas.microsoft.com/office/powerpoint/2010/main" val="370405515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picture containing timeline&#10;&#10;Description automatically generated">
            <a:extLst>
              <a:ext uri="{FF2B5EF4-FFF2-40B4-BE49-F238E27FC236}">
                <a16:creationId xmlns:a16="http://schemas.microsoft.com/office/drawing/2014/main" id="{5E50E513-870A-47C2-0DA3-BC9BEEC3CC3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8039" y="0"/>
            <a:ext cx="9155922" cy="6858000"/>
          </a:xfrm>
          <a:prstGeom prst="rect">
            <a:avLst/>
          </a:prstGeom>
        </p:spPr>
      </p:pic>
      <p:sp>
        <p:nvSpPr>
          <p:cNvPr id="4" name="Title 3">
            <a:extLst>
              <a:ext uri="{FF2B5EF4-FFF2-40B4-BE49-F238E27FC236}">
                <a16:creationId xmlns:a16="http://schemas.microsoft.com/office/drawing/2014/main" id="{930C8FF0-5322-FB92-92B3-B7C87CBB4E6C}"/>
              </a:ext>
            </a:extLst>
          </p:cNvPr>
          <p:cNvSpPr txBox="1">
            <a:spLocks/>
          </p:cNvSpPr>
          <p:nvPr/>
        </p:nvSpPr>
        <p:spPr>
          <a:xfrm>
            <a:off x="838200" y="365126"/>
            <a:ext cx="10515600" cy="1211748"/>
          </a:xfrm>
          <a:prstGeom prst="rect">
            <a:avLst/>
          </a:prstGeom>
          <a:solidFill>
            <a:schemeClr val="bg1"/>
          </a:solid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a:t>BFS in action: demo on a simple CFG</a:t>
            </a:r>
            <a:endParaRPr lang="en-SG" dirty="0"/>
          </a:p>
        </p:txBody>
      </p:sp>
    </p:spTree>
    <p:extLst>
      <p:ext uri="{BB962C8B-B14F-4D97-AF65-F5344CB8AC3E}">
        <p14:creationId xmlns:p14="http://schemas.microsoft.com/office/powerpoint/2010/main" val="37155117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13672C-6946-45C0-F95B-E6CB938AF0BD}"/>
              </a:ext>
            </a:extLst>
          </p:cNvPr>
          <p:cNvSpPr>
            <a:spLocks noGrp="1"/>
          </p:cNvSpPr>
          <p:nvPr>
            <p:ph type="title"/>
          </p:nvPr>
        </p:nvSpPr>
        <p:spPr/>
        <p:txBody>
          <a:bodyPr/>
          <a:lstStyle/>
          <a:p>
            <a:r>
              <a:rPr lang="en-GB" dirty="0"/>
              <a:t>BFS is slow, but guaranteed to work</a:t>
            </a:r>
            <a:endParaRPr lang="en-SG" dirty="0"/>
          </a:p>
        </p:txBody>
      </p:sp>
      <p:sp>
        <p:nvSpPr>
          <p:cNvPr id="3" name="Content Placeholder 2">
            <a:extLst>
              <a:ext uri="{FF2B5EF4-FFF2-40B4-BE49-F238E27FC236}">
                <a16:creationId xmlns:a16="http://schemas.microsoft.com/office/drawing/2014/main" id="{92882930-B7A8-B81B-3741-3E93EADCF7B7}"/>
              </a:ext>
            </a:extLst>
          </p:cNvPr>
          <p:cNvSpPr>
            <a:spLocks noGrp="1"/>
          </p:cNvSpPr>
          <p:nvPr>
            <p:ph idx="1"/>
          </p:nvPr>
        </p:nvSpPr>
        <p:spPr>
          <a:xfrm>
            <a:off x="838199" y="1825624"/>
            <a:ext cx="10929359" cy="5032375"/>
          </a:xfrm>
        </p:spPr>
        <p:txBody>
          <a:bodyPr>
            <a:normAutofit/>
          </a:bodyPr>
          <a:lstStyle/>
          <a:p>
            <a:pPr marL="0" indent="0">
              <a:buNone/>
            </a:pPr>
            <a:r>
              <a:rPr lang="en-GB" b="1" dirty="0"/>
              <a:t>Good: </a:t>
            </a:r>
            <a:r>
              <a:rPr lang="en-GB" dirty="0"/>
              <a:t>Guaranteed to work? But equivalent to “brute-force”?</a:t>
            </a:r>
            <a:endParaRPr lang="en-SG" dirty="0"/>
          </a:p>
          <a:p>
            <a:pPr marL="0" indent="0">
              <a:buNone/>
            </a:pPr>
            <a:endParaRPr lang="en-GB" b="1" dirty="0"/>
          </a:p>
          <a:p>
            <a:pPr marL="0" indent="0">
              <a:buNone/>
            </a:pPr>
            <a:r>
              <a:rPr lang="en-GB" b="1" dirty="0"/>
              <a:t>Problem: </a:t>
            </a:r>
            <a:r>
              <a:rPr lang="en-GB" dirty="0"/>
              <a:t>time and memory usage due to lots of wasted effort…</a:t>
            </a:r>
          </a:p>
          <a:p>
            <a:r>
              <a:rPr lang="en-GB" dirty="0"/>
              <a:t>BFS generates a lot of sentential forms that could not possibly match.</a:t>
            </a:r>
          </a:p>
          <a:p>
            <a:r>
              <a:rPr lang="en-GB" dirty="0"/>
              <a:t>But in general, it is extremely hard to tell whether a sentential form can match…</a:t>
            </a:r>
          </a:p>
          <a:p>
            <a:r>
              <a:rPr lang="en-GB" dirty="0"/>
              <a:t>That is the job of parsing!</a:t>
            </a:r>
          </a:p>
          <a:p>
            <a:r>
              <a:rPr lang="en-GB" b="1" dirty="0"/>
              <a:t>Complexity comes from a high branching factor: </a:t>
            </a:r>
            <a:r>
              <a:rPr lang="en-GB" dirty="0"/>
              <a:t>Each sentential form can expand in (potentially) many ways for each non-terminal it contains.</a:t>
            </a:r>
          </a:p>
        </p:txBody>
      </p:sp>
    </p:spTree>
    <p:extLst>
      <p:ext uri="{BB962C8B-B14F-4D97-AF65-F5344CB8AC3E}">
        <p14:creationId xmlns:p14="http://schemas.microsoft.com/office/powerpoint/2010/main" val="339014541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FD057D-912B-7F61-3D35-AE0A5B542985}"/>
              </a:ext>
            </a:extLst>
          </p:cNvPr>
          <p:cNvSpPr>
            <a:spLocks noGrp="1"/>
          </p:cNvSpPr>
          <p:nvPr>
            <p:ph type="title"/>
          </p:nvPr>
        </p:nvSpPr>
        <p:spPr/>
        <p:txBody>
          <a:bodyPr/>
          <a:lstStyle/>
          <a:p>
            <a:r>
              <a:rPr lang="en-GB" dirty="0"/>
              <a:t>Reducing the branching factor: Idea #1</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911E9C3-121A-598A-5FEB-A9518ADBF235}"/>
                  </a:ext>
                </a:extLst>
              </p:cNvPr>
              <p:cNvSpPr>
                <a:spLocks noGrp="1"/>
              </p:cNvSpPr>
              <p:nvPr>
                <p:ph idx="1"/>
              </p:nvPr>
            </p:nvSpPr>
            <p:spPr>
              <a:xfrm>
                <a:off x="838200" y="1825624"/>
                <a:ext cx="10515600" cy="5032375"/>
              </a:xfrm>
            </p:spPr>
            <p:txBody>
              <a:bodyPr>
                <a:normAutofit/>
              </a:bodyPr>
              <a:lstStyle/>
              <a:p>
                <a:r>
                  <a:rPr lang="en-GB" dirty="0"/>
                  <a:t>Suppose we are trying to match a sequence of tokens </a:t>
                </a:r>
                <a14:m>
                  <m:oMath xmlns:m="http://schemas.openxmlformats.org/officeDocument/2006/math">
                    <m:r>
                      <a:rPr lang="en-GB" i="1" dirty="0" smtClean="0">
                        <a:latin typeface="Cambria Math" panose="02040503050406030204" pitchFamily="18" charset="0"/>
                      </a:rPr>
                      <m:t>𝛾</m:t>
                    </m:r>
                  </m:oMath>
                </a14:m>
                <a:r>
                  <a:rPr lang="en-GB" dirty="0"/>
                  <a:t>.</a:t>
                </a:r>
              </a:p>
              <a:p>
                <a:r>
                  <a:rPr lang="en-GB" dirty="0"/>
                  <a:t>Suppose we have a sentential form </a:t>
                </a:r>
                <a14:m>
                  <m:oMath xmlns:m="http://schemas.openxmlformats.org/officeDocument/2006/math">
                    <m:r>
                      <a:rPr lang="en-GB" i="1" dirty="0" smtClean="0">
                        <a:latin typeface="Cambria Math" panose="02040503050406030204" pitchFamily="18" charset="0"/>
                      </a:rPr>
                      <m:t>𝜏</m:t>
                    </m:r>
                    <m:r>
                      <a:rPr lang="en-GB" i="1" dirty="0" smtClean="0">
                        <a:latin typeface="Cambria Math" panose="02040503050406030204" pitchFamily="18" charset="0"/>
                      </a:rPr>
                      <m:t> = </m:t>
                    </m:r>
                    <m:r>
                      <a:rPr lang="en-GB" i="1" dirty="0" smtClean="0">
                        <a:latin typeface="Cambria Math" panose="02040503050406030204" pitchFamily="18" charset="0"/>
                      </a:rPr>
                      <m:t>𝛼𝜔</m:t>
                    </m:r>
                  </m:oMath>
                </a14:m>
                <a:r>
                  <a:rPr lang="en-GB" dirty="0"/>
                  <a:t>, where </a:t>
                </a:r>
                <a14:m>
                  <m:oMath xmlns:m="http://schemas.openxmlformats.org/officeDocument/2006/math">
                    <m:r>
                      <a:rPr lang="en-GB" i="1" dirty="0" smtClean="0">
                        <a:latin typeface="Cambria Math" panose="02040503050406030204" pitchFamily="18" charset="0"/>
                      </a:rPr>
                      <m:t>𝛼</m:t>
                    </m:r>
                  </m:oMath>
                </a14:m>
                <a:r>
                  <a:rPr lang="en-GB" dirty="0"/>
                  <a:t> is a string of terminals and </a:t>
                </a:r>
                <a14:m>
                  <m:oMath xmlns:m="http://schemas.openxmlformats.org/officeDocument/2006/math">
                    <m:r>
                      <a:rPr lang="en-GB" i="1" dirty="0" smtClean="0">
                        <a:latin typeface="Cambria Math" panose="02040503050406030204" pitchFamily="18" charset="0"/>
                      </a:rPr>
                      <m:t>𝜔</m:t>
                    </m:r>
                  </m:oMath>
                </a14:m>
                <a:r>
                  <a:rPr lang="en-GB" dirty="0"/>
                  <a:t> is a string of terminals and non-terminals.</a:t>
                </a:r>
              </a:p>
              <a:p>
                <a:r>
                  <a:rPr lang="en-GB" dirty="0"/>
                  <a:t>If </a:t>
                </a:r>
                <a14:m>
                  <m:oMath xmlns:m="http://schemas.openxmlformats.org/officeDocument/2006/math">
                    <m:r>
                      <a:rPr lang="en-GB" i="1" dirty="0" smtClean="0">
                        <a:latin typeface="Cambria Math" panose="02040503050406030204" pitchFamily="18" charset="0"/>
                      </a:rPr>
                      <m:t>𝛼</m:t>
                    </m:r>
                  </m:oMath>
                </a14:m>
                <a:r>
                  <a:rPr lang="en-GB" dirty="0"/>
                  <a:t> isn't a prefix of </a:t>
                </a:r>
                <a14:m>
                  <m:oMath xmlns:m="http://schemas.openxmlformats.org/officeDocument/2006/math">
                    <m:r>
                      <a:rPr lang="en-GB" i="1" dirty="0" smtClean="0">
                        <a:latin typeface="Cambria Math" panose="02040503050406030204" pitchFamily="18" charset="0"/>
                      </a:rPr>
                      <m:t>𝛾</m:t>
                    </m:r>
                  </m:oMath>
                </a14:m>
                <a:r>
                  <a:rPr lang="en-GB" dirty="0"/>
                  <a:t>, then no string derived from </a:t>
                </a:r>
                <a14:m>
                  <m:oMath xmlns:m="http://schemas.openxmlformats.org/officeDocument/2006/math">
                    <m:r>
                      <a:rPr lang="en-GB" i="1" dirty="0" smtClean="0">
                        <a:latin typeface="Cambria Math" panose="02040503050406030204" pitchFamily="18" charset="0"/>
                      </a:rPr>
                      <m:t>𝜏</m:t>
                    </m:r>
                  </m:oMath>
                </a14:m>
                <a:r>
                  <a:rPr lang="en-GB" dirty="0"/>
                  <a:t> can ever match </a:t>
                </a:r>
                <a14:m>
                  <m:oMath xmlns:m="http://schemas.openxmlformats.org/officeDocument/2006/math">
                    <m:r>
                      <a:rPr lang="en-GB" i="1" dirty="0" smtClean="0">
                        <a:latin typeface="Cambria Math" panose="02040503050406030204" pitchFamily="18" charset="0"/>
                      </a:rPr>
                      <m:t>𝛾</m:t>
                    </m:r>
                  </m:oMath>
                </a14:m>
                <a:r>
                  <a:rPr lang="en-GB" dirty="0"/>
                  <a:t>.</a:t>
                </a:r>
              </a:p>
              <a:p>
                <a:r>
                  <a:rPr lang="en-GB" dirty="0"/>
                  <a:t>For instance, if </a:t>
                </a:r>
                <a14:m>
                  <m:oMath xmlns:m="http://schemas.openxmlformats.org/officeDocument/2006/math">
                    <m:r>
                      <a:rPr lang="en-GB" i="1" dirty="0" smtClean="0">
                        <a:latin typeface="Cambria Math" panose="02040503050406030204" pitchFamily="18" charset="0"/>
                      </a:rPr>
                      <m:t>𝛼</m:t>
                    </m:r>
                    <m:r>
                      <a:rPr lang="en-GB" b="0" i="1" dirty="0" smtClean="0">
                        <a:latin typeface="Cambria Math" panose="02040503050406030204" pitchFamily="18" charset="0"/>
                      </a:rPr>
                      <m:t>=</m:t>
                    </m:r>
                    <m:r>
                      <a:rPr lang="en-GB" b="0" i="1" dirty="0" smtClean="0">
                        <a:latin typeface="Cambria Math" panose="02040503050406030204" pitchFamily="18" charset="0"/>
                      </a:rPr>
                      <m:t>𝑖𝑛𝑡</m:t>
                    </m:r>
                  </m:oMath>
                </a14:m>
                <a:r>
                  <a:rPr lang="en-GB" dirty="0"/>
                  <a:t>, </a:t>
                </a:r>
                <a14:m>
                  <m:oMath xmlns:m="http://schemas.openxmlformats.org/officeDocument/2006/math">
                    <m:r>
                      <a:rPr lang="en-GB" i="1" dirty="0">
                        <a:latin typeface="Cambria Math" panose="02040503050406030204" pitchFamily="18" charset="0"/>
                      </a:rPr>
                      <m:t>𝜔</m:t>
                    </m:r>
                    <m:r>
                      <a:rPr lang="en-GB" i="1" dirty="0">
                        <a:latin typeface="Cambria Math" panose="02040503050406030204" pitchFamily="18" charset="0"/>
                      </a:rPr>
                      <m:t>=+ </m:t>
                    </m:r>
                    <m:r>
                      <a:rPr lang="en-GB" b="0" i="1" dirty="0" smtClean="0">
                        <a:latin typeface="Cambria Math" panose="02040503050406030204" pitchFamily="18" charset="0"/>
                      </a:rPr>
                      <m:t>𝐸</m:t>
                    </m:r>
                  </m:oMath>
                </a14:m>
                <a:r>
                  <a:rPr lang="en-GB" dirty="0"/>
                  <a:t> and our string to match is</a:t>
                </a:r>
                <a:br>
                  <a:rPr lang="en-GB" dirty="0"/>
                </a:br>
                <a14:m>
                  <m:oMath xmlns:m="http://schemas.openxmlformats.org/officeDocument/2006/math">
                    <m:r>
                      <a:rPr lang="en-GB" i="1" dirty="0">
                        <a:latin typeface="Cambria Math" panose="02040503050406030204" pitchFamily="18" charset="0"/>
                      </a:rPr>
                      <m:t>𝛾</m:t>
                    </m:r>
                    <m:r>
                      <a:rPr lang="en-GB" b="0" i="1" dirty="0" smtClean="0">
                        <a:latin typeface="Cambria Math" panose="02040503050406030204" pitchFamily="18" charset="0"/>
                      </a:rPr>
                      <m:t>=</m:t>
                    </m:r>
                    <m:d>
                      <m:dPr>
                        <m:ctrlPr>
                          <a:rPr lang="en-GB" b="0" i="1" dirty="0" smtClean="0">
                            <a:latin typeface="Cambria Math" panose="02040503050406030204" pitchFamily="18" charset="0"/>
                          </a:rPr>
                        </m:ctrlPr>
                      </m:dPr>
                      <m:e>
                        <m:r>
                          <a:rPr lang="en-GB" b="0" i="1" dirty="0" smtClean="0">
                            <a:latin typeface="Cambria Math" panose="02040503050406030204" pitchFamily="18" charset="0"/>
                          </a:rPr>
                          <m:t>𝑖𝑛𝑡</m:t>
                        </m:r>
                        <m:r>
                          <a:rPr lang="en-GB" b="0" i="1" dirty="0" smtClean="0">
                            <a:latin typeface="Cambria Math" panose="02040503050406030204" pitchFamily="18" charset="0"/>
                          </a:rPr>
                          <m:t>+</m:t>
                        </m:r>
                        <m:r>
                          <a:rPr lang="en-GB" b="0" i="1" dirty="0" smtClean="0">
                            <a:latin typeface="Cambria Math" panose="02040503050406030204" pitchFamily="18" charset="0"/>
                          </a:rPr>
                          <m:t>𝑖𝑛𝑡</m:t>
                        </m:r>
                      </m:e>
                    </m:d>
                    <m:r>
                      <a:rPr lang="en-GB" b="0" i="1" dirty="0" smtClean="0">
                        <a:latin typeface="Cambria Math" panose="02040503050406030204" pitchFamily="18" charset="0"/>
                      </a:rPr>
                      <m:t>∗</m:t>
                    </m:r>
                    <m:r>
                      <a:rPr lang="en-GB" b="0" i="1" dirty="0" smtClean="0">
                        <a:latin typeface="Cambria Math" panose="02040503050406030204" pitchFamily="18" charset="0"/>
                      </a:rPr>
                      <m:t>𝑖𝑛𝑡</m:t>
                    </m:r>
                  </m:oMath>
                </a14:m>
                <a:r>
                  <a:rPr lang="en-GB" dirty="0"/>
                  <a:t>, then </a:t>
                </a:r>
                <a14:m>
                  <m:oMath xmlns:m="http://schemas.openxmlformats.org/officeDocument/2006/math">
                    <m:r>
                      <a:rPr lang="en-GB" i="1" dirty="0">
                        <a:latin typeface="Cambria Math" panose="02040503050406030204" pitchFamily="18" charset="0"/>
                      </a:rPr>
                      <m:t>𝜏</m:t>
                    </m:r>
                    <m:r>
                      <a:rPr lang="en-GB" b="0" i="1" dirty="0" smtClean="0">
                        <a:latin typeface="Cambria Math" panose="02040503050406030204" pitchFamily="18" charset="0"/>
                      </a:rPr>
                      <m:t>=</m:t>
                    </m:r>
                    <m:r>
                      <a:rPr lang="en-GB" b="0" i="1" dirty="0" smtClean="0">
                        <a:latin typeface="Cambria Math" panose="02040503050406030204" pitchFamily="18" charset="0"/>
                      </a:rPr>
                      <m:t>𝑖𝑛𝑡</m:t>
                    </m:r>
                    <m:r>
                      <a:rPr lang="en-GB" b="0" i="1" dirty="0" smtClean="0">
                        <a:latin typeface="Cambria Math" panose="02040503050406030204" pitchFamily="18" charset="0"/>
                      </a:rPr>
                      <m:t>+</m:t>
                    </m:r>
                    <m:r>
                      <a:rPr lang="en-GB" b="0" i="1" dirty="0" smtClean="0">
                        <a:latin typeface="Cambria Math" panose="02040503050406030204" pitchFamily="18" charset="0"/>
                      </a:rPr>
                      <m:t>𝐸</m:t>
                    </m:r>
                  </m:oMath>
                </a14:m>
                <a:r>
                  <a:rPr lang="en-GB" dirty="0"/>
                  <a:t> cannot derive into </a:t>
                </a:r>
                <a14:m>
                  <m:oMath xmlns:m="http://schemas.openxmlformats.org/officeDocument/2006/math">
                    <m:r>
                      <a:rPr lang="en-GB" i="1" dirty="0">
                        <a:latin typeface="Cambria Math" panose="02040503050406030204" pitchFamily="18" charset="0"/>
                      </a:rPr>
                      <m:t>𝛾</m:t>
                    </m:r>
                  </m:oMath>
                </a14:m>
                <a:r>
                  <a:rPr lang="en-GB" dirty="0"/>
                  <a:t> (because it does not start with a parenthesis symbol).</a:t>
                </a:r>
                <a:br>
                  <a:rPr lang="en-GB" dirty="0"/>
                </a:br>
                <a:endParaRPr lang="en-GB" b="1" dirty="0"/>
              </a:p>
              <a:p>
                <a:pPr marL="0" indent="0">
                  <a:buNone/>
                </a:pPr>
                <a:r>
                  <a:rPr lang="en-GB" b="1" dirty="0"/>
                  <a:t>Idea #1: If we can find a way to try to get a prefix of terminals at the front of our sentential forms, then we can start pruning out impossible options and reduce the branching factor in our graph.</a:t>
                </a:r>
                <a:endParaRPr lang="en-SG" b="1" dirty="0"/>
              </a:p>
            </p:txBody>
          </p:sp>
        </mc:Choice>
        <mc:Fallback xmlns="">
          <p:sp>
            <p:nvSpPr>
              <p:cNvPr id="3" name="Content Placeholder 2">
                <a:extLst>
                  <a:ext uri="{FF2B5EF4-FFF2-40B4-BE49-F238E27FC236}">
                    <a16:creationId xmlns:a16="http://schemas.microsoft.com/office/drawing/2014/main" id="{6911E9C3-121A-598A-5FEB-A9518ADBF235}"/>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r="-522"/>
                </a:stretch>
              </a:blipFill>
            </p:spPr>
            <p:txBody>
              <a:bodyPr/>
              <a:lstStyle/>
              <a:p>
                <a:r>
                  <a:rPr lang="en-GB">
                    <a:noFill/>
                  </a:rPr>
                  <a:t> </a:t>
                </a:r>
              </a:p>
            </p:txBody>
          </p:sp>
        </mc:Fallback>
      </mc:AlternateContent>
    </p:spTree>
    <p:extLst>
      <p:ext uri="{BB962C8B-B14F-4D97-AF65-F5344CB8AC3E}">
        <p14:creationId xmlns:p14="http://schemas.microsoft.com/office/powerpoint/2010/main" val="20628904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66D86C-6309-0827-3591-6D91DB573397}"/>
              </a:ext>
            </a:extLst>
          </p:cNvPr>
          <p:cNvSpPr>
            <a:spLocks noGrp="1"/>
          </p:cNvSpPr>
          <p:nvPr>
            <p:ph type="title"/>
          </p:nvPr>
        </p:nvSpPr>
        <p:spPr/>
        <p:txBody>
          <a:bodyPr/>
          <a:lstStyle/>
          <a:p>
            <a:r>
              <a:rPr lang="en-GB" dirty="0"/>
              <a:t>Leftmost derivation</a:t>
            </a:r>
            <a:endParaRPr lang="en-SG" dirty="0"/>
          </a:p>
        </p:txBody>
      </p:sp>
      <p:sp>
        <p:nvSpPr>
          <p:cNvPr id="3" name="Content Placeholder 2">
            <a:extLst>
              <a:ext uri="{FF2B5EF4-FFF2-40B4-BE49-F238E27FC236}">
                <a16:creationId xmlns:a16="http://schemas.microsoft.com/office/drawing/2014/main" id="{4C645C9B-5A92-BEC5-DC1B-A94843CCA4DE}"/>
              </a:ext>
            </a:extLst>
          </p:cNvPr>
          <p:cNvSpPr>
            <a:spLocks noGrp="1"/>
          </p:cNvSpPr>
          <p:nvPr>
            <p:ph idx="1"/>
          </p:nvPr>
        </p:nvSpPr>
        <p:spPr/>
        <p:txBody>
          <a:bodyPr/>
          <a:lstStyle/>
          <a:p>
            <a:pPr marL="0" indent="0">
              <a:buNone/>
            </a:pPr>
            <a:r>
              <a:rPr lang="en-GB" b="1" dirty="0"/>
              <a:t>Definition (</a:t>
            </a:r>
            <a:r>
              <a:rPr lang="en-GB" b="1" dirty="0">
                <a:solidFill>
                  <a:srgbClr val="00B050"/>
                </a:solidFill>
              </a:rPr>
              <a:t>Leftmost Derivation</a:t>
            </a:r>
            <a:r>
              <a:rPr lang="en-GB" b="1" dirty="0"/>
              <a:t>):</a:t>
            </a:r>
          </a:p>
          <a:p>
            <a:pPr marL="0" indent="0">
              <a:buNone/>
            </a:pPr>
            <a:r>
              <a:rPr lang="en-GB" dirty="0"/>
              <a:t>In parsing, a </a:t>
            </a:r>
            <a:r>
              <a:rPr lang="en-GB" b="1" dirty="0">
                <a:solidFill>
                  <a:srgbClr val="00B050"/>
                </a:solidFill>
              </a:rPr>
              <a:t>Leftmost Derivation </a:t>
            </a:r>
            <a:r>
              <a:rPr lang="en-GB" dirty="0"/>
              <a:t>is a derivation where we always try to </a:t>
            </a:r>
            <a:r>
              <a:rPr lang="en-GB" b="1" dirty="0"/>
              <a:t>transform the leftmost non-terminal first</a:t>
            </a:r>
            <a:r>
              <a:rPr lang="en-GB" dirty="0"/>
              <a:t>.</a:t>
            </a:r>
          </a:p>
          <a:p>
            <a:pPr marL="0" indent="0">
              <a:buNone/>
            </a:pPr>
            <a:r>
              <a:rPr lang="en-GB" dirty="0"/>
              <a:t>For instance, consider that the current string is T + E, with T and E being non-terminals. The leftmost derivation will suggest to transform T first, and figure out how to transform E later. </a:t>
            </a:r>
          </a:p>
          <a:p>
            <a:pPr marL="0" indent="0">
              <a:buNone/>
            </a:pPr>
            <a:endParaRPr lang="en-GB" dirty="0"/>
          </a:p>
          <a:p>
            <a:pPr marL="0" indent="0">
              <a:buNone/>
            </a:pPr>
            <a:r>
              <a:rPr lang="en-GB" dirty="0"/>
              <a:t>Similarly, we can define a </a:t>
            </a:r>
            <a:r>
              <a:rPr lang="en-GB" b="1" dirty="0">
                <a:solidFill>
                  <a:srgbClr val="00B050"/>
                </a:solidFill>
              </a:rPr>
              <a:t>Rightmost Derivation</a:t>
            </a:r>
            <a:r>
              <a:rPr lang="en-GB" dirty="0"/>
              <a:t>, where we always try to transform the rightmost non-terminal first.</a:t>
            </a:r>
          </a:p>
          <a:p>
            <a:pPr marL="0" indent="0">
              <a:buNone/>
            </a:pPr>
            <a:endParaRPr lang="en-GB" dirty="0"/>
          </a:p>
        </p:txBody>
      </p:sp>
    </p:spTree>
    <p:extLst>
      <p:ext uri="{BB962C8B-B14F-4D97-AF65-F5344CB8AC3E}">
        <p14:creationId xmlns:p14="http://schemas.microsoft.com/office/powerpoint/2010/main" val="400789559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3A97F7-783B-9329-67DC-986049A9774E}"/>
              </a:ext>
            </a:extLst>
          </p:cNvPr>
          <p:cNvSpPr>
            <a:spLocks noGrp="1"/>
          </p:cNvSpPr>
          <p:nvPr>
            <p:ph type="title"/>
          </p:nvPr>
        </p:nvSpPr>
        <p:spPr/>
        <p:txBody>
          <a:bodyPr/>
          <a:lstStyle/>
          <a:p>
            <a:r>
              <a:rPr lang="en-GB" dirty="0"/>
              <a:t>Updated algo: Leftmost BFS</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CCE03FF-A8DF-2CF9-F186-C4AD73C6C03E}"/>
                  </a:ext>
                </a:extLst>
              </p:cNvPr>
              <p:cNvSpPr>
                <a:spLocks noGrp="1"/>
              </p:cNvSpPr>
              <p:nvPr>
                <p:ph idx="1"/>
              </p:nvPr>
            </p:nvSpPr>
            <p:spPr>
              <a:xfrm>
                <a:off x="838200" y="1825624"/>
                <a:ext cx="10515600" cy="5032375"/>
              </a:xfrm>
            </p:spPr>
            <p:txBody>
              <a:bodyPr/>
              <a:lstStyle/>
              <a:p>
                <a:pPr marL="0" indent="0">
                  <a:buNone/>
                </a:pPr>
                <a:r>
                  <a:rPr lang="en-GB" b="1" dirty="0"/>
                  <a:t>Updated Algo #1: Do a BFS, only considering leftmost derivations.</a:t>
                </a:r>
              </a:p>
              <a:p>
                <a:pPr marL="514350" indent="-514350">
                  <a:buFont typeface="+mj-lt"/>
                  <a:buAutoNum type="arabicPeriod"/>
                </a:pPr>
                <a:r>
                  <a:rPr lang="en-GB" dirty="0"/>
                  <a:t>Dramatically drops branching factor.</a:t>
                </a:r>
              </a:p>
              <a:p>
                <a:pPr marL="514350" indent="-514350">
                  <a:buFont typeface="+mj-lt"/>
                  <a:buAutoNum type="arabicPeriod"/>
                </a:pPr>
                <a:r>
                  <a:rPr lang="en-GB" dirty="0"/>
                  <a:t>Increases likelihood that we get a prefix of non-terminals. When that happens, you can prune sentential forms that can't possibly match, to reduce the branching factor and avoid wasted effort.</a:t>
                </a:r>
              </a:p>
              <a:p>
                <a:pPr marL="0" indent="0">
                  <a:buNone/>
                </a:pPr>
                <a:r>
                  <a:rPr lang="en-GB" dirty="0"/>
                  <a:t>Remember,</a:t>
                </a:r>
              </a:p>
              <a:p>
                <a:r>
                  <a:rPr lang="en-GB" dirty="0"/>
                  <a:t>If we have a sentential form </a:t>
                </a:r>
                <a14:m>
                  <m:oMath xmlns:m="http://schemas.openxmlformats.org/officeDocument/2006/math">
                    <m:r>
                      <a:rPr lang="en-GB" i="1" dirty="0" smtClean="0">
                        <a:latin typeface="Cambria Math" panose="02040503050406030204" pitchFamily="18" charset="0"/>
                      </a:rPr>
                      <m:t>𝜏</m:t>
                    </m:r>
                    <m:r>
                      <a:rPr lang="en-GB" i="1" dirty="0" smtClean="0">
                        <a:latin typeface="Cambria Math" panose="02040503050406030204" pitchFamily="18" charset="0"/>
                      </a:rPr>
                      <m:t> = </m:t>
                    </m:r>
                    <m:r>
                      <a:rPr lang="en-GB" i="1" dirty="0" smtClean="0">
                        <a:latin typeface="Cambria Math" panose="02040503050406030204" pitchFamily="18" charset="0"/>
                      </a:rPr>
                      <m:t>𝛼𝜔</m:t>
                    </m:r>
                  </m:oMath>
                </a14:m>
                <a:r>
                  <a:rPr lang="en-GB" dirty="0"/>
                  <a:t>, where </a:t>
                </a:r>
                <a14:m>
                  <m:oMath xmlns:m="http://schemas.openxmlformats.org/officeDocument/2006/math">
                    <m:r>
                      <a:rPr lang="en-GB" i="1" dirty="0" smtClean="0">
                        <a:latin typeface="Cambria Math" panose="02040503050406030204" pitchFamily="18" charset="0"/>
                      </a:rPr>
                      <m:t>𝛼</m:t>
                    </m:r>
                  </m:oMath>
                </a14:m>
                <a:r>
                  <a:rPr lang="en-GB" dirty="0"/>
                  <a:t> is a string of terminals and </a:t>
                </a:r>
                <a14:m>
                  <m:oMath xmlns:m="http://schemas.openxmlformats.org/officeDocument/2006/math">
                    <m:r>
                      <a:rPr lang="en-GB" i="1" dirty="0" smtClean="0">
                        <a:latin typeface="Cambria Math" panose="02040503050406030204" pitchFamily="18" charset="0"/>
                      </a:rPr>
                      <m:t>𝜔</m:t>
                    </m:r>
                  </m:oMath>
                </a14:m>
                <a:r>
                  <a:rPr lang="en-GB" dirty="0"/>
                  <a:t> is a string of terminals and non-terminals.</a:t>
                </a:r>
              </a:p>
              <a:p>
                <a:r>
                  <a:rPr lang="en-GB" dirty="0"/>
                  <a:t>And if </a:t>
                </a:r>
                <a14:m>
                  <m:oMath xmlns:m="http://schemas.openxmlformats.org/officeDocument/2006/math">
                    <m:r>
                      <a:rPr lang="en-GB" i="1" dirty="0" smtClean="0">
                        <a:latin typeface="Cambria Math" panose="02040503050406030204" pitchFamily="18" charset="0"/>
                      </a:rPr>
                      <m:t>𝛼</m:t>
                    </m:r>
                  </m:oMath>
                </a14:m>
                <a:r>
                  <a:rPr lang="en-GB" dirty="0"/>
                  <a:t> isn't a prefix of </a:t>
                </a:r>
                <a14:m>
                  <m:oMath xmlns:m="http://schemas.openxmlformats.org/officeDocument/2006/math">
                    <m:r>
                      <a:rPr lang="en-GB" i="1" dirty="0" smtClean="0">
                        <a:latin typeface="Cambria Math" panose="02040503050406030204" pitchFamily="18" charset="0"/>
                      </a:rPr>
                      <m:t>𝛾</m:t>
                    </m:r>
                  </m:oMath>
                </a14:m>
                <a:r>
                  <a:rPr lang="en-GB" dirty="0"/>
                  <a:t>, then no string derived from </a:t>
                </a:r>
                <a14:m>
                  <m:oMath xmlns:m="http://schemas.openxmlformats.org/officeDocument/2006/math">
                    <m:r>
                      <a:rPr lang="en-GB" i="1" dirty="0" smtClean="0">
                        <a:latin typeface="Cambria Math" panose="02040503050406030204" pitchFamily="18" charset="0"/>
                      </a:rPr>
                      <m:t>𝜏</m:t>
                    </m:r>
                  </m:oMath>
                </a14:m>
                <a:r>
                  <a:rPr lang="en-GB" dirty="0"/>
                  <a:t> can ever match </a:t>
                </a:r>
                <a14:m>
                  <m:oMath xmlns:m="http://schemas.openxmlformats.org/officeDocument/2006/math">
                    <m:r>
                      <a:rPr lang="en-GB" i="1" dirty="0" smtClean="0">
                        <a:latin typeface="Cambria Math" panose="02040503050406030204" pitchFamily="18" charset="0"/>
                      </a:rPr>
                      <m:t>𝛾</m:t>
                    </m:r>
                  </m:oMath>
                </a14:m>
                <a:r>
                  <a:rPr lang="en-GB" dirty="0"/>
                  <a:t>. Close that branch in the graph!</a:t>
                </a:r>
              </a:p>
              <a:p>
                <a:pPr marL="0" indent="0">
                  <a:buNone/>
                </a:pPr>
                <a:endParaRPr lang="en-SG" dirty="0"/>
              </a:p>
            </p:txBody>
          </p:sp>
        </mc:Choice>
        <mc:Fallback xmlns="">
          <p:sp>
            <p:nvSpPr>
              <p:cNvPr id="3" name="Content Placeholder 2">
                <a:extLst>
                  <a:ext uri="{FF2B5EF4-FFF2-40B4-BE49-F238E27FC236}">
                    <a16:creationId xmlns:a16="http://schemas.microsoft.com/office/drawing/2014/main" id="{ACCE03FF-A8DF-2CF9-F186-C4AD73C6C03E}"/>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r="-1043"/>
                </a:stretch>
              </a:blipFill>
            </p:spPr>
            <p:txBody>
              <a:bodyPr/>
              <a:lstStyle/>
              <a:p>
                <a:r>
                  <a:rPr lang="en-SG">
                    <a:noFill/>
                  </a:rPr>
                  <a:t> </a:t>
                </a:r>
              </a:p>
            </p:txBody>
          </p:sp>
        </mc:Fallback>
      </mc:AlternateContent>
    </p:spTree>
    <p:extLst>
      <p:ext uri="{BB962C8B-B14F-4D97-AF65-F5344CB8AC3E}">
        <p14:creationId xmlns:p14="http://schemas.microsoft.com/office/powerpoint/2010/main" val="44616361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picture containing graphical user interface&#10;&#10;Description automatically generated">
            <a:extLst>
              <a:ext uri="{FF2B5EF4-FFF2-40B4-BE49-F238E27FC236}">
                <a16:creationId xmlns:a16="http://schemas.microsoft.com/office/drawing/2014/main" id="{A0A71EB6-1DD8-56D6-DF97-D2D0BB685EF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8039" y="0"/>
            <a:ext cx="9155922" cy="6858000"/>
          </a:xfrm>
          <a:prstGeom prst="rect">
            <a:avLst/>
          </a:prstGeom>
        </p:spPr>
      </p:pic>
      <p:sp>
        <p:nvSpPr>
          <p:cNvPr id="6" name="Title 3">
            <a:extLst>
              <a:ext uri="{FF2B5EF4-FFF2-40B4-BE49-F238E27FC236}">
                <a16:creationId xmlns:a16="http://schemas.microsoft.com/office/drawing/2014/main" id="{CA581A8B-22EF-FEB2-402C-7356E69E52B4}"/>
              </a:ext>
            </a:extLst>
          </p:cNvPr>
          <p:cNvSpPr txBox="1">
            <a:spLocks/>
          </p:cNvSpPr>
          <p:nvPr/>
        </p:nvSpPr>
        <p:spPr>
          <a:xfrm>
            <a:off x="838200" y="365126"/>
            <a:ext cx="10515600" cy="1211748"/>
          </a:xfrm>
          <a:prstGeom prst="rect">
            <a:avLst/>
          </a:prstGeom>
          <a:solidFill>
            <a:schemeClr val="bg1"/>
          </a:solid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t>Leftmost BFS in action</a:t>
            </a:r>
            <a:endParaRPr lang="en-SG" dirty="0"/>
          </a:p>
        </p:txBody>
      </p:sp>
    </p:spTree>
    <p:extLst>
      <p:ext uri="{BB962C8B-B14F-4D97-AF65-F5344CB8AC3E}">
        <p14:creationId xmlns:p14="http://schemas.microsoft.com/office/powerpoint/2010/main" val="183612496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Chart, waterfall chart&#10;&#10;Description automatically generated">
            <a:extLst>
              <a:ext uri="{FF2B5EF4-FFF2-40B4-BE49-F238E27FC236}">
                <a16:creationId xmlns:a16="http://schemas.microsoft.com/office/drawing/2014/main" id="{6F1668CB-9063-489F-C4C7-053C3C71AA4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8039" y="0"/>
            <a:ext cx="9155922" cy="6858000"/>
          </a:xfrm>
          <a:prstGeom prst="rect">
            <a:avLst/>
          </a:prstGeom>
        </p:spPr>
      </p:pic>
      <p:sp>
        <p:nvSpPr>
          <p:cNvPr id="6" name="Title 3">
            <a:extLst>
              <a:ext uri="{FF2B5EF4-FFF2-40B4-BE49-F238E27FC236}">
                <a16:creationId xmlns:a16="http://schemas.microsoft.com/office/drawing/2014/main" id="{16500BBA-78BA-43D2-54EB-ED030E7773C2}"/>
              </a:ext>
            </a:extLst>
          </p:cNvPr>
          <p:cNvSpPr txBox="1">
            <a:spLocks/>
          </p:cNvSpPr>
          <p:nvPr/>
        </p:nvSpPr>
        <p:spPr>
          <a:xfrm>
            <a:off x="838200" y="365126"/>
            <a:ext cx="10515600" cy="1211748"/>
          </a:xfrm>
          <a:prstGeom prst="rect">
            <a:avLst/>
          </a:prstGeom>
          <a:solidFill>
            <a:schemeClr val="bg1"/>
          </a:solid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t>Leftmost BFS in action</a:t>
            </a:r>
            <a:endParaRPr lang="en-SG" dirty="0"/>
          </a:p>
        </p:txBody>
      </p:sp>
    </p:spTree>
    <p:extLst>
      <p:ext uri="{BB962C8B-B14F-4D97-AF65-F5344CB8AC3E}">
        <p14:creationId xmlns:p14="http://schemas.microsoft.com/office/powerpoint/2010/main" val="392484469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Chart, waterfall chart&#10;&#10;Description automatically generated">
            <a:extLst>
              <a:ext uri="{FF2B5EF4-FFF2-40B4-BE49-F238E27FC236}">
                <a16:creationId xmlns:a16="http://schemas.microsoft.com/office/drawing/2014/main" id="{4B758D21-0C51-B80A-6428-789E408A726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8039" y="0"/>
            <a:ext cx="9155922" cy="6858000"/>
          </a:xfrm>
          <a:prstGeom prst="rect">
            <a:avLst/>
          </a:prstGeom>
        </p:spPr>
      </p:pic>
      <p:sp>
        <p:nvSpPr>
          <p:cNvPr id="6" name="Title 3">
            <a:extLst>
              <a:ext uri="{FF2B5EF4-FFF2-40B4-BE49-F238E27FC236}">
                <a16:creationId xmlns:a16="http://schemas.microsoft.com/office/drawing/2014/main" id="{67F098DD-EB37-2224-7B1B-91786FECE29D}"/>
              </a:ext>
            </a:extLst>
          </p:cNvPr>
          <p:cNvSpPr txBox="1">
            <a:spLocks/>
          </p:cNvSpPr>
          <p:nvPr/>
        </p:nvSpPr>
        <p:spPr>
          <a:xfrm>
            <a:off x="838200" y="365126"/>
            <a:ext cx="10515600" cy="1211748"/>
          </a:xfrm>
          <a:prstGeom prst="rect">
            <a:avLst/>
          </a:prstGeom>
          <a:solidFill>
            <a:schemeClr val="bg1"/>
          </a:solid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t>Leftmost BFS in action</a:t>
            </a:r>
            <a:endParaRPr lang="en-SG" dirty="0"/>
          </a:p>
        </p:txBody>
      </p:sp>
    </p:spTree>
    <p:extLst>
      <p:ext uri="{BB962C8B-B14F-4D97-AF65-F5344CB8AC3E}">
        <p14:creationId xmlns:p14="http://schemas.microsoft.com/office/powerpoint/2010/main" val="392736482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picture containing diagram&#10;&#10;Description automatically generated">
            <a:extLst>
              <a:ext uri="{FF2B5EF4-FFF2-40B4-BE49-F238E27FC236}">
                <a16:creationId xmlns:a16="http://schemas.microsoft.com/office/drawing/2014/main" id="{5FBFEA82-A1AA-03BE-70E5-199A099DA79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8039" y="0"/>
            <a:ext cx="9155922" cy="6858000"/>
          </a:xfrm>
          <a:prstGeom prst="rect">
            <a:avLst/>
          </a:prstGeom>
        </p:spPr>
      </p:pic>
      <p:sp>
        <p:nvSpPr>
          <p:cNvPr id="4" name="Title 3">
            <a:extLst>
              <a:ext uri="{FF2B5EF4-FFF2-40B4-BE49-F238E27FC236}">
                <a16:creationId xmlns:a16="http://schemas.microsoft.com/office/drawing/2014/main" id="{23015120-7094-C909-8F8F-EFFF6599FFF9}"/>
              </a:ext>
            </a:extLst>
          </p:cNvPr>
          <p:cNvSpPr txBox="1">
            <a:spLocks/>
          </p:cNvSpPr>
          <p:nvPr/>
        </p:nvSpPr>
        <p:spPr>
          <a:xfrm>
            <a:off x="838200" y="365126"/>
            <a:ext cx="10515600" cy="1211748"/>
          </a:xfrm>
          <a:prstGeom prst="rect">
            <a:avLst/>
          </a:prstGeom>
          <a:solidFill>
            <a:schemeClr val="bg1"/>
          </a:solid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t>Leftmost BFS in action</a:t>
            </a:r>
            <a:endParaRPr lang="en-SG" dirty="0"/>
          </a:p>
        </p:txBody>
      </p:sp>
    </p:spTree>
    <p:extLst>
      <p:ext uri="{BB962C8B-B14F-4D97-AF65-F5344CB8AC3E}">
        <p14:creationId xmlns:p14="http://schemas.microsoft.com/office/powerpoint/2010/main" val="381767067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Diagram&#10;&#10;Description automatically generated">
            <a:extLst>
              <a:ext uri="{FF2B5EF4-FFF2-40B4-BE49-F238E27FC236}">
                <a16:creationId xmlns:a16="http://schemas.microsoft.com/office/drawing/2014/main" id="{966E49E1-9258-1C85-E674-7F768F5172C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8039" y="0"/>
            <a:ext cx="9155922" cy="6858000"/>
          </a:xfrm>
          <a:prstGeom prst="rect">
            <a:avLst/>
          </a:prstGeom>
        </p:spPr>
      </p:pic>
      <p:sp>
        <p:nvSpPr>
          <p:cNvPr id="4" name="Title 3">
            <a:extLst>
              <a:ext uri="{FF2B5EF4-FFF2-40B4-BE49-F238E27FC236}">
                <a16:creationId xmlns:a16="http://schemas.microsoft.com/office/drawing/2014/main" id="{84541660-CE38-2E3B-37B1-D5A229587A7E}"/>
              </a:ext>
            </a:extLst>
          </p:cNvPr>
          <p:cNvSpPr txBox="1">
            <a:spLocks/>
          </p:cNvSpPr>
          <p:nvPr/>
        </p:nvSpPr>
        <p:spPr>
          <a:xfrm>
            <a:off x="838200" y="365126"/>
            <a:ext cx="10515600" cy="1211748"/>
          </a:xfrm>
          <a:prstGeom prst="rect">
            <a:avLst/>
          </a:prstGeom>
          <a:solidFill>
            <a:schemeClr val="bg1"/>
          </a:solid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t>Leftmost BFS in action</a:t>
            </a:r>
            <a:endParaRPr lang="en-SG" dirty="0"/>
          </a:p>
        </p:txBody>
      </p:sp>
    </p:spTree>
    <p:extLst>
      <p:ext uri="{BB962C8B-B14F-4D97-AF65-F5344CB8AC3E}">
        <p14:creationId xmlns:p14="http://schemas.microsoft.com/office/powerpoint/2010/main" val="357334447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Diagram&#10;&#10;Description automatically generated with medium confidence">
            <a:extLst>
              <a:ext uri="{FF2B5EF4-FFF2-40B4-BE49-F238E27FC236}">
                <a16:creationId xmlns:a16="http://schemas.microsoft.com/office/drawing/2014/main" id="{776960C3-64BF-4257-CB15-C438A012359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8039" y="0"/>
            <a:ext cx="9155922" cy="6858000"/>
          </a:xfrm>
          <a:prstGeom prst="rect">
            <a:avLst/>
          </a:prstGeom>
        </p:spPr>
      </p:pic>
      <p:sp>
        <p:nvSpPr>
          <p:cNvPr id="4" name="Oval 3">
            <a:extLst>
              <a:ext uri="{FF2B5EF4-FFF2-40B4-BE49-F238E27FC236}">
                <a16:creationId xmlns:a16="http://schemas.microsoft.com/office/drawing/2014/main" id="{8936190F-640F-3EF0-4DC8-CDA1A766D53B}"/>
              </a:ext>
            </a:extLst>
          </p:cNvPr>
          <p:cNvSpPr/>
          <p:nvPr/>
        </p:nvSpPr>
        <p:spPr>
          <a:xfrm>
            <a:off x="3931138" y="3946769"/>
            <a:ext cx="2164862" cy="883139"/>
          </a:xfrm>
          <a:prstGeom prst="ellipse">
            <a:avLst/>
          </a:prstGeom>
          <a:noFill/>
          <a:ln w="38100">
            <a:solidFill>
              <a:srgbClr val="00B05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5" name="Title 3">
            <a:extLst>
              <a:ext uri="{FF2B5EF4-FFF2-40B4-BE49-F238E27FC236}">
                <a16:creationId xmlns:a16="http://schemas.microsoft.com/office/drawing/2014/main" id="{2325CF82-3E73-5BD3-2B44-A9FB5FBD8DB7}"/>
              </a:ext>
            </a:extLst>
          </p:cNvPr>
          <p:cNvSpPr txBox="1">
            <a:spLocks/>
          </p:cNvSpPr>
          <p:nvPr/>
        </p:nvSpPr>
        <p:spPr>
          <a:xfrm>
            <a:off x="838200" y="365126"/>
            <a:ext cx="10515600" cy="1211748"/>
          </a:xfrm>
          <a:prstGeom prst="rect">
            <a:avLst/>
          </a:prstGeom>
          <a:solidFill>
            <a:schemeClr val="bg1"/>
          </a:solid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t>Leftmost BFS in action</a:t>
            </a:r>
            <a:endParaRPr lang="en-SG" dirty="0"/>
          </a:p>
        </p:txBody>
      </p:sp>
    </p:spTree>
    <p:extLst>
      <p:ext uri="{BB962C8B-B14F-4D97-AF65-F5344CB8AC3E}">
        <p14:creationId xmlns:p14="http://schemas.microsoft.com/office/powerpoint/2010/main" val="233751988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EFB025-9B4C-62FA-8AC8-CDC665AD3444}"/>
              </a:ext>
            </a:extLst>
          </p:cNvPr>
          <p:cNvSpPr>
            <a:spLocks noGrp="1"/>
          </p:cNvSpPr>
          <p:nvPr>
            <p:ph type="title"/>
          </p:nvPr>
        </p:nvSpPr>
        <p:spPr/>
        <p:txBody>
          <a:bodyPr/>
          <a:lstStyle/>
          <a:p>
            <a:r>
              <a:rPr lang="en-GB" dirty="0"/>
              <a:t>Leftmost BFS: improvements and issues</a:t>
            </a:r>
            <a:endParaRPr lang="en-SG" dirty="0"/>
          </a:p>
        </p:txBody>
      </p:sp>
      <p:sp>
        <p:nvSpPr>
          <p:cNvPr id="3" name="Content Placeholder 2">
            <a:extLst>
              <a:ext uri="{FF2B5EF4-FFF2-40B4-BE49-F238E27FC236}">
                <a16:creationId xmlns:a16="http://schemas.microsoft.com/office/drawing/2014/main" id="{9CD232F9-60AD-A1BD-B395-54206D245C57}"/>
              </a:ext>
            </a:extLst>
          </p:cNvPr>
          <p:cNvSpPr>
            <a:spLocks noGrp="1"/>
          </p:cNvSpPr>
          <p:nvPr>
            <p:ph idx="1"/>
          </p:nvPr>
        </p:nvSpPr>
        <p:spPr/>
        <p:txBody>
          <a:bodyPr/>
          <a:lstStyle/>
          <a:p>
            <a:pPr marL="0" indent="0">
              <a:buNone/>
            </a:pPr>
            <a:r>
              <a:rPr lang="en-GB" dirty="0"/>
              <a:t>Substantial speed, performance and memory improvement over the naïve BFS algorithm.</a:t>
            </a:r>
          </a:p>
          <a:p>
            <a:r>
              <a:rPr lang="en-GB" dirty="0"/>
              <a:t>Uses the pruning property we established earlier.</a:t>
            </a:r>
          </a:p>
          <a:p>
            <a:r>
              <a:rPr lang="en-GB" dirty="0"/>
              <a:t>Can more rapidly find a valid parse of a program if one exists.</a:t>
            </a:r>
          </a:p>
          <a:p>
            <a:r>
              <a:rPr lang="en-GB" dirty="0"/>
              <a:t>Can easily be modified to find if a program cannot be parsed.</a:t>
            </a:r>
          </a:p>
          <a:p>
            <a:endParaRPr lang="en-GB" dirty="0"/>
          </a:p>
          <a:p>
            <a:pPr marL="0" indent="0">
              <a:buNone/>
            </a:pPr>
            <a:r>
              <a:rPr lang="en-GB" b="1" dirty="0"/>
              <a:t>Unfortunately, there are still many problems.</a:t>
            </a:r>
            <a:endParaRPr lang="en-SG" b="1" dirty="0"/>
          </a:p>
        </p:txBody>
      </p:sp>
    </p:spTree>
    <p:extLst>
      <p:ext uri="{BB962C8B-B14F-4D97-AF65-F5344CB8AC3E}">
        <p14:creationId xmlns:p14="http://schemas.microsoft.com/office/powerpoint/2010/main" val="200060253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B32415-65A1-A0EA-3C52-9CCBA3ACE962}"/>
              </a:ext>
            </a:extLst>
          </p:cNvPr>
          <p:cNvSpPr>
            <a:spLocks noGrp="1"/>
          </p:cNvSpPr>
          <p:nvPr>
            <p:ph type="title"/>
          </p:nvPr>
        </p:nvSpPr>
        <p:spPr/>
        <p:txBody>
          <a:bodyPr/>
          <a:lstStyle/>
          <a:p>
            <a:r>
              <a:rPr lang="en-GB" dirty="0"/>
              <a:t>Practice 1: Leftmost BFS problem.</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CF4E6E8-714F-F088-254A-856623EE5052}"/>
                  </a:ext>
                </a:extLst>
              </p:cNvPr>
              <p:cNvSpPr>
                <a:spLocks noGrp="1"/>
              </p:cNvSpPr>
              <p:nvPr>
                <p:ph idx="1"/>
              </p:nvPr>
            </p:nvSpPr>
            <p:spPr/>
            <p:txBody>
              <a:bodyPr/>
              <a:lstStyle/>
              <a:p>
                <a:pPr marL="0" indent="0">
                  <a:buNone/>
                </a:pPr>
                <a:r>
                  <a:rPr lang="en-GB" dirty="0"/>
                  <a:t>Consider the CFG below.</a:t>
                </a: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𝐴</m:t>
                      </m:r>
                      <m:r>
                        <a:rPr lang="en-GB" b="0" i="1" smtClean="0">
                          <a:latin typeface="Cambria Math" panose="02040503050406030204" pitchFamily="18" charset="0"/>
                        </a:rPr>
                        <m:t> →</m:t>
                      </m:r>
                      <m:r>
                        <a:rPr lang="en-GB" b="0" i="1" smtClean="0">
                          <a:latin typeface="Cambria Math" panose="02040503050406030204" pitchFamily="18" charset="0"/>
                        </a:rPr>
                        <m:t>𝐴𝑎</m:t>
                      </m:r>
                    </m:oMath>
                  </m:oMathPara>
                </a14:m>
                <a:endParaRPr lang="en-GB" b="0" dirty="0"/>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𝐴</m:t>
                      </m:r>
                      <m:r>
                        <a:rPr lang="en-GB" b="0" i="1" smtClean="0">
                          <a:latin typeface="Cambria Math" panose="02040503050406030204" pitchFamily="18" charset="0"/>
                        </a:rPr>
                        <m:t> →</m:t>
                      </m:r>
                      <m:r>
                        <a:rPr lang="en-GB" b="0" i="1" smtClean="0">
                          <a:latin typeface="Cambria Math" panose="02040503050406030204" pitchFamily="18" charset="0"/>
                        </a:rPr>
                        <m:t>𝐴𝑏</m:t>
                      </m:r>
                    </m:oMath>
                  </m:oMathPara>
                </a14:m>
                <a:endParaRPr lang="en-GB" b="0" dirty="0"/>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𝐴</m:t>
                      </m:r>
                      <m:r>
                        <a:rPr lang="en-GB" b="0" i="1" smtClean="0">
                          <a:latin typeface="Cambria Math" panose="02040503050406030204" pitchFamily="18" charset="0"/>
                        </a:rPr>
                        <m:t> →</m:t>
                      </m:r>
                      <m:r>
                        <a:rPr lang="en-GB" b="0" i="1" smtClean="0">
                          <a:latin typeface="Cambria Math" panose="02040503050406030204" pitchFamily="18" charset="0"/>
                        </a:rPr>
                        <m:t>𝑐</m:t>
                      </m:r>
                    </m:oMath>
                  </m:oMathPara>
                </a14:m>
                <a:endParaRPr lang="en-GB" b="0" dirty="0"/>
              </a:p>
              <a:p>
                <a:pPr marL="0" indent="0">
                  <a:buNone/>
                </a:pPr>
                <a:endParaRPr lang="en-GB" dirty="0"/>
              </a:p>
              <a:p>
                <a:pPr marL="0" indent="0">
                  <a:buNone/>
                </a:pPr>
                <a:r>
                  <a:rPr lang="en-GB" dirty="0"/>
                  <a:t>Draw the result of the graph search for the Leftmost BFS algorithm trying to match the string </a:t>
                </a:r>
                <a:r>
                  <a:rPr lang="en-GB" i="1" dirty="0"/>
                  <a:t>x = “</a:t>
                </a:r>
                <a:r>
                  <a:rPr lang="en-GB" i="1" dirty="0" err="1"/>
                  <a:t>caaaaaaaa</a:t>
                </a:r>
                <a:r>
                  <a:rPr lang="en-GB" i="1" dirty="0"/>
                  <a:t>”.</a:t>
                </a:r>
              </a:p>
              <a:p>
                <a:pPr marL="0" indent="0">
                  <a:buNone/>
                </a:pPr>
                <a:endParaRPr lang="en-GB" dirty="0"/>
              </a:p>
              <a:p>
                <a:pPr marL="0" indent="0">
                  <a:buNone/>
                </a:pPr>
                <a:r>
                  <a:rPr lang="en-GB" b="1" dirty="0"/>
                  <a:t>What seems to be the issue here?</a:t>
                </a:r>
                <a:endParaRPr lang="en-SG" b="1" dirty="0"/>
              </a:p>
            </p:txBody>
          </p:sp>
        </mc:Choice>
        <mc:Fallback xmlns="">
          <p:sp>
            <p:nvSpPr>
              <p:cNvPr id="3" name="Content Placeholder 2">
                <a:extLst>
                  <a:ext uri="{FF2B5EF4-FFF2-40B4-BE49-F238E27FC236}">
                    <a16:creationId xmlns:a16="http://schemas.microsoft.com/office/drawing/2014/main" id="{6CF4E6E8-714F-F088-254A-856623EE5052}"/>
                  </a:ext>
                </a:extLst>
              </p:cNvPr>
              <p:cNvSpPr>
                <a:spLocks noGrp="1" noRot="1" noChangeAspect="1" noMove="1" noResize="1" noEditPoints="1" noAdjustHandles="1" noChangeArrowheads="1" noChangeShapeType="1" noTextEdit="1"/>
              </p:cNvSpPr>
              <p:nvPr>
                <p:ph idx="1"/>
              </p:nvPr>
            </p:nvSpPr>
            <p:spPr>
              <a:blipFill>
                <a:blip r:embed="rId2"/>
                <a:stretch>
                  <a:fillRect l="-1217" t="-2241"/>
                </a:stretch>
              </a:blipFill>
            </p:spPr>
            <p:txBody>
              <a:bodyPr/>
              <a:lstStyle/>
              <a:p>
                <a:r>
                  <a:rPr lang="en-SG">
                    <a:noFill/>
                  </a:rPr>
                  <a:t> </a:t>
                </a:r>
              </a:p>
            </p:txBody>
          </p:sp>
        </mc:Fallback>
      </mc:AlternateContent>
    </p:spTree>
    <p:extLst>
      <p:ext uri="{BB962C8B-B14F-4D97-AF65-F5344CB8AC3E}">
        <p14:creationId xmlns:p14="http://schemas.microsoft.com/office/powerpoint/2010/main" val="202928704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Graphical user interface&#10;&#10;Description automatically generated with low confidence">
            <a:extLst>
              <a:ext uri="{FF2B5EF4-FFF2-40B4-BE49-F238E27FC236}">
                <a16:creationId xmlns:a16="http://schemas.microsoft.com/office/drawing/2014/main" id="{457B6C2C-8F6E-3CA9-5387-A830D872CFF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8039" y="0"/>
            <a:ext cx="9155922" cy="6858000"/>
          </a:xfrm>
          <a:prstGeom prst="rect">
            <a:avLst/>
          </a:prstGeom>
        </p:spPr>
      </p:pic>
      <p:sp>
        <p:nvSpPr>
          <p:cNvPr id="6" name="Title 1">
            <a:extLst>
              <a:ext uri="{FF2B5EF4-FFF2-40B4-BE49-F238E27FC236}">
                <a16:creationId xmlns:a16="http://schemas.microsoft.com/office/drawing/2014/main" id="{0A40B1D7-DFA9-9CB2-65BB-A75415C98F95}"/>
              </a:ext>
            </a:extLst>
          </p:cNvPr>
          <p:cNvSpPr txBox="1">
            <a:spLocks/>
          </p:cNvSpPr>
          <p:nvPr/>
        </p:nvSpPr>
        <p:spPr>
          <a:xfrm>
            <a:off x="838200" y="365126"/>
            <a:ext cx="10515600" cy="1041644"/>
          </a:xfrm>
          <a:prstGeom prst="rect">
            <a:avLst/>
          </a:prstGeom>
          <a:solidFill>
            <a:schemeClr val="bg1"/>
          </a:solid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a:t>Practice 1: Leftmost BFS problem.</a:t>
            </a:r>
            <a:endParaRPr lang="en-SG" dirty="0"/>
          </a:p>
        </p:txBody>
      </p:sp>
    </p:spTree>
    <p:extLst>
      <p:ext uri="{BB962C8B-B14F-4D97-AF65-F5344CB8AC3E}">
        <p14:creationId xmlns:p14="http://schemas.microsoft.com/office/powerpoint/2010/main" val="420934901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Diagram&#10;&#10;Description automatically generated">
            <a:extLst>
              <a:ext uri="{FF2B5EF4-FFF2-40B4-BE49-F238E27FC236}">
                <a16:creationId xmlns:a16="http://schemas.microsoft.com/office/drawing/2014/main" id="{CD3279D8-271F-6D3A-F87C-53CCDCCBB4A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8039" y="0"/>
            <a:ext cx="9155922" cy="6858000"/>
          </a:xfrm>
          <a:prstGeom prst="rect">
            <a:avLst/>
          </a:prstGeom>
        </p:spPr>
      </p:pic>
      <p:sp>
        <p:nvSpPr>
          <p:cNvPr id="4" name="Title 1">
            <a:extLst>
              <a:ext uri="{FF2B5EF4-FFF2-40B4-BE49-F238E27FC236}">
                <a16:creationId xmlns:a16="http://schemas.microsoft.com/office/drawing/2014/main" id="{0D7D0034-3AE9-2F98-DAEF-EC145D35EFFF}"/>
              </a:ext>
            </a:extLst>
          </p:cNvPr>
          <p:cNvSpPr txBox="1">
            <a:spLocks/>
          </p:cNvSpPr>
          <p:nvPr/>
        </p:nvSpPr>
        <p:spPr>
          <a:xfrm>
            <a:off x="838200" y="365126"/>
            <a:ext cx="10515600" cy="1041644"/>
          </a:xfrm>
          <a:prstGeom prst="rect">
            <a:avLst/>
          </a:prstGeom>
          <a:solidFill>
            <a:schemeClr val="bg1"/>
          </a:solid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a:t>Practice 1: Leftmost BFS problem.</a:t>
            </a:r>
            <a:endParaRPr lang="en-SG" dirty="0"/>
          </a:p>
        </p:txBody>
      </p:sp>
    </p:spTree>
    <p:extLst>
      <p:ext uri="{BB962C8B-B14F-4D97-AF65-F5344CB8AC3E}">
        <p14:creationId xmlns:p14="http://schemas.microsoft.com/office/powerpoint/2010/main" val="38796874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Diagram&#10;&#10;Description automatically generated with medium confidence">
            <a:extLst>
              <a:ext uri="{FF2B5EF4-FFF2-40B4-BE49-F238E27FC236}">
                <a16:creationId xmlns:a16="http://schemas.microsoft.com/office/drawing/2014/main" id="{4ACE5B6D-A284-7C59-AE2B-75F54514FA9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8039" y="0"/>
            <a:ext cx="9155922" cy="6858000"/>
          </a:xfrm>
          <a:prstGeom prst="rect">
            <a:avLst/>
          </a:prstGeom>
        </p:spPr>
      </p:pic>
      <p:sp>
        <p:nvSpPr>
          <p:cNvPr id="4" name="Title 1">
            <a:extLst>
              <a:ext uri="{FF2B5EF4-FFF2-40B4-BE49-F238E27FC236}">
                <a16:creationId xmlns:a16="http://schemas.microsoft.com/office/drawing/2014/main" id="{8B22CCB7-44F3-179F-CE3F-B65588234C91}"/>
              </a:ext>
            </a:extLst>
          </p:cNvPr>
          <p:cNvSpPr txBox="1">
            <a:spLocks/>
          </p:cNvSpPr>
          <p:nvPr/>
        </p:nvSpPr>
        <p:spPr>
          <a:xfrm>
            <a:off x="838200" y="365126"/>
            <a:ext cx="10515600" cy="1041644"/>
          </a:xfrm>
          <a:prstGeom prst="rect">
            <a:avLst/>
          </a:prstGeom>
          <a:solidFill>
            <a:schemeClr val="bg1"/>
          </a:solid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a:t>Practice 1: Leftmost BFS problem.</a:t>
            </a:r>
            <a:endParaRPr lang="en-SG" dirty="0"/>
          </a:p>
        </p:txBody>
      </p:sp>
    </p:spTree>
    <p:extLst>
      <p:ext uri="{BB962C8B-B14F-4D97-AF65-F5344CB8AC3E}">
        <p14:creationId xmlns:p14="http://schemas.microsoft.com/office/powerpoint/2010/main" val="387416266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picture containing chart&#10;&#10;Description automatically generated">
            <a:extLst>
              <a:ext uri="{FF2B5EF4-FFF2-40B4-BE49-F238E27FC236}">
                <a16:creationId xmlns:a16="http://schemas.microsoft.com/office/drawing/2014/main" id="{72758105-1528-5536-6A5F-1128EF1793A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8039" y="0"/>
            <a:ext cx="9155922" cy="6858000"/>
          </a:xfrm>
          <a:prstGeom prst="rect">
            <a:avLst/>
          </a:prstGeom>
        </p:spPr>
      </p:pic>
      <p:sp>
        <p:nvSpPr>
          <p:cNvPr id="4" name="Title 1">
            <a:extLst>
              <a:ext uri="{FF2B5EF4-FFF2-40B4-BE49-F238E27FC236}">
                <a16:creationId xmlns:a16="http://schemas.microsoft.com/office/drawing/2014/main" id="{AF8405C2-E317-1D65-8BC5-9294701847A1}"/>
              </a:ext>
            </a:extLst>
          </p:cNvPr>
          <p:cNvSpPr txBox="1">
            <a:spLocks/>
          </p:cNvSpPr>
          <p:nvPr/>
        </p:nvSpPr>
        <p:spPr>
          <a:xfrm>
            <a:off x="838200" y="365126"/>
            <a:ext cx="10515600" cy="1041644"/>
          </a:xfrm>
          <a:prstGeom prst="rect">
            <a:avLst/>
          </a:prstGeom>
          <a:solidFill>
            <a:schemeClr val="bg1"/>
          </a:solid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a:t>Practice 1: Leftmost BFS problem.</a:t>
            </a:r>
            <a:endParaRPr lang="en-SG" dirty="0"/>
          </a:p>
        </p:txBody>
      </p:sp>
    </p:spTree>
    <p:extLst>
      <p:ext uri="{BB962C8B-B14F-4D97-AF65-F5344CB8AC3E}">
        <p14:creationId xmlns:p14="http://schemas.microsoft.com/office/powerpoint/2010/main" val="285412206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B32415-65A1-A0EA-3C52-9CCBA3ACE962}"/>
              </a:ext>
            </a:extLst>
          </p:cNvPr>
          <p:cNvSpPr>
            <a:spLocks noGrp="1"/>
          </p:cNvSpPr>
          <p:nvPr>
            <p:ph type="title"/>
          </p:nvPr>
        </p:nvSpPr>
        <p:spPr/>
        <p:txBody>
          <a:bodyPr/>
          <a:lstStyle/>
          <a:p>
            <a:r>
              <a:rPr lang="en-GB" dirty="0"/>
              <a:t>Practice 1: Leftmost BFS problem.</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CF4E6E8-714F-F088-254A-856623EE5052}"/>
                  </a:ext>
                </a:extLst>
              </p:cNvPr>
              <p:cNvSpPr>
                <a:spLocks noGrp="1"/>
              </p:cNvSpPr>
              <p:nvPr>
                <p:ph idx="1"/>
              </p:nvPr>
            </p:nvSpPr>
            <p:spPr>
              <a:xfrm>
                <a:off x="838200" y="1825624"/>
                <a:ext cx="10515600" cy="5032375"/>
              </a:xfrm>
            </p:spPr>
            <p:txBody>
              <a:bodyPr/>
              <a:lstStyle/>
              <a:p>
                <a:pPr marL="0" indent="0">
                  <a:buNone/>
                </a:pPr>
                <a:r>
                  <a:rPr lang="en-GB" dirty="0"/>
                  <a:t>Consider the CFG below.</a:t>
                </a: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𝐴</m:t>
                      </m:r>
                      <m:r>
                        <a:rPr lang="en-GB" b="0" i="1" smtClean="0">
                          <a:latin typeface="Cambria Math" panose="02040503050406030204" pitchFamily="18" charset="0"/>
                        </a:rPr>
                        <m:t> →</m:t>
                      </m:r>
                      <m:r>
                        <a:rPr lang="en-GB" b="0" i="1" smtClean="0">
                          <a:latin typeface="Cambria Math" panose="02040503050406030204" pitchFamily="18" charset="0"/>
                        </a:rPr>
                        <m:t>𝐴𝑎</m:t>
                      </m:r>
                    </m:oMath>
                  </m:oMathPara>
                </a14:m>
                <a:endParaRPr lang="en-GB" b="0" dirty="0"/>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𝐴</m:t>
                      </m:r>
                      <m:r>
                        <a:rPr lang="en-GB" b="0" i="1" smtClean="0">
                          <a:latin typeface="Cambria Math" panose="02040503050406030204" pitchFamily="18" charset="0"/>
                        </a:rPr>
                        <m:t> →</m:t>
                      </m:r>
                      <m:r>
                        <a:rPr lang="en-GB" b="0" i="1" smtClean="0">
                          <a:latin typeface="Cambria Math" panose="02040503050406030204" pitchFamily="18" charset="0"/>
                        </a:rPr>
                        <m:t>𝐴𝑏</m:t>
                      </m:r>
                    </m:oMath>
                  </m:oMathPara>
                </a14:m>
                <a:endParaRPr lang="en-GB" b="0" dirty="0"/>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𝐴</m:t>
                      </m:r>
                      <m:r>
                        <a:rPr lang="en-GB" b="0" i="1" smtClean="0">
                          <a:latin typeface="Cambria Math" panose="02040503050406030204" pitchFamily="18" charset="0"/>
                        </a:rPr>
                        <m:t> →</m:t>
                      </m:r>
                      <m:r>
                        <a:rPr lang="en-GB" b="0" i="1" smtClean="0">
                          <a:latin typeface="Cambria Math" panose="02040503050406030204" pitchFamily="18" charset="0"/>
                        </a:rPr>
                        <m:t>𝑐</m:t>
                      </m:r>
                    </m:oMath>
                  </m:oMathPara>
                </a14:m>
                <a:endParaRPr lang="en-GB" b="0" dirty="0"/>
              </a:p>
              <a:p>
                <a:pPr marL="0" indent="0">
                  <a:buNone/>
                </a:pPr>
                <a:endParaRPr lang="en-GB" dirty="0"/>
              </a:p>
              <a:p>
                <a:pPr marL="0" indent="0">
                  <a:buNone/>
                </a:pPr>
                <a:r>
                  <a:rPr lang="en-GB" b="1" dirty="0"/>
                  <a:t>What seems to be the issue here?</a:t>
                </a:r>
              </a:p>
              <a:p>
                <a:pPr marL="0" indent="0">
                  <a:buNone/>
                </a:pPr>
                <a:r>
                  <a:rPr lang="en-GB" b="1" dirty="0"/>
                  <a:t>Grammar like these will lead to exponential computation times for Leftmost BFS!</a:t>
                </a:r>
              </a:p>
              <a:p>
                <a:pPr marL="0" indent="0">
                  <a:buNone/>
                </a:pPr>
                <a:r>
                  <a:rPr lang="en-GB" b="1" dirty="0"/>
                  <a:t>But sadly, many CFGs have to follow this format to establish precedence or associativity (Refer to W9S2-3 lectures!)</a:t>
                </a:r>
                <a:endParaRPr lang="en-SG" b="1" dirty="0"/>
              </a:p>
            </p:txBody>
          </p:sp>
        </mc:Choice>
        <mc:Fallback xmlns="">
          <p:sp>
            <p:nvSpPr>
              <p:cNvPr id="3" name="Content Placeholder 2">
                <a:extLst>
                  <a:ext uri="{FF2B5EF4-FFF2-40B4-BE49-F238E27FC236}">
                    <a16:creationId xmlns:a16="http://schemas.microsoft.com/office/drawing/2014/main" id="{6CF4E6E8-714F-F088-254A-856623EE5052}"/>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a:stretch>
              </a:blipFill>
            </p:spPr>
            <p:txBody>
              <a:bodyPr/>
              <a:lstStyle/>
              <a:p>
                <a:r>
                  <a:rPr lang="en-GB">
                    <a:noFill/>
                  </a:rPr>
                  <a:t> </a:t>
                </a:r>
              </a:p>
            </p:txBody>
          </p:sp>
        </mc:Fallback>
      </mc:AlternateContent>
    </p:spTree>
    <p:extLst>
      <p:ext uri="{BB962C8B-B14F-4D97-AF65-F5344CB8AC3E}">
        <p14:creationId xmlns:p14="http://schemas.microsoft.com/office/powerpoint/2010/main" val="131211199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7D42AA-890F-3E4B-BAA6-5ADB85F84A38}"/>
              </a:ext>
            </a:extLst>
          </p:cNvPr>
          <p:cNvSpPr>
            <a:spLocks noGrp="1"/>
          </p:cNvSpPr>
          <p:nvPr>
            <p:ph type="title"/>
          </p:nvPr>
        </p:nvSpPr>
        <p:spPr/>
        <p:txBody>
          <a:bodyPr/>
          <a:lstStyle/>
          <a:p>
            <a:r>
              <a:rPr lang="en-GB" dirty="0"/>
              <a:t>Using DFS instead of BFS?</a:t>
            </a:r>
            <a:endParaRPr lang="en-SG" dirty="0"/>
          </a:p>
        </p:txBody>
      </p:sp>
      <p:sp>
        <p:nvSpPr>
          <p:cNvPr id="3" name="Content Placeholder 2">
            <a:extLst>
              <a:ext uri="{FF2B5EF4-FFF2-40B4-BE49-F238E27FC236}">
                <a16:creationId xmlns:a16="http://schemas.microsoft.com/office/drawing/2014/main" id="{285F09F4-5A0C-9AB1-DC9C-860E38E1149C}"/>
              </a:ext>
            </a:extLst>
          </p:cNvPr>
          <p:cNvSpPr>
            <a:spLocks noGrp="1"/>
          </p:cNvSpPr>
          <p:nvPr>
            <p:ph idx="1"/>
          </p:nvPr>
        </p:nvSpPr>
        <p:spPr/>
        <p:txBody>
          <a:bodyPr/>
          <a:lstStyle/>
          <a:p>
            <a:pPr marL="0" indent="0">
              <a:buNone/>
            </a:pPr>
            <a:r>
              <a:rPr lang="en-GB" b="1" dirty="0"/>
              <a:t>Crazy idea: </a:t>
            </a:r>
            <a:r>
              <a:rPr lang="en-GB" dirty="0"/>
              <a:t>How about using DFS instead of BFS then?</a:t>
            </a:r>
          </a:p>
          <a:p>
            <a:r>
              <a:rPr lang="en-GB" dirty="0"/>
              <a:t>Has a lower memory usage as it only considers one branch at a time.</a:t>
            </a:r>
          </a:p>
          <a:p>
            <a:r>
              <a:rPr lang="en-GB" dirty="0"/>
              <a:t>On many grammars it will run very quickly</a:t>
            </a:r>
          </a:p>
          <a:p>
            <a:r>
              <a:rPr lang="en-GB" dirty="0"/>
              <a:t>And it is fairly easy to implement as a set of mutually recursive functions.</a:t>
            </a:r>
          </a:p>
          <a:p>
            <a:endParaRPr lang="en-GB" dirty="0"/>
          </a:p>
          <a:p>
            <a:pPr marL="0" indent="0">
              <a:buNone/>
            </a:pPr>
            <a:r>
              <a:rPr lang="en-GB" dirty="0"/>
              <a:t>Worth a try?</a:t>
            </a:r>
            <a:endParaRPr lang="en-SG" dirty="0"/>
          </a:p>
        </p:txBody>
      </p:sp>
    </p:spTree>
    <p:extLst>
      <p:ext uri="{BB962C8B-B14F-4D97-AF65-F5344CB8AC3E}">
        <p14:creationId xmlns:p14="http://schemas.microsoft.com/office/powerpoint/2010/main" val="273055804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Chart&#10;&#10;Description automatically generated">
            <a:extLst>
              <a:ext uri="{FF2B5EF4-FFF2-40B4-BE49-F238E27FC236}">
                <a16:creationId xmlns:a16="http://schemas.microsoft.com/office/drawing/2014/main" id="{B6C68B5A-4078-852A-7D7B-298EB429ADF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8039" y="0"/>
            <a:ext cx="9155922" cy="6858000"/>
          </a:xfrm>
          <a:prstGeom prst="rect">
            <a:avLst/>
          </a:prstGeom>
        </p:spPr>
      </p:pic>
      <p:sp>
        <p:nvSpPr>
          <p:cNvPr id="10" name="Title 5">
            <a:extLst>
              <a:ext uri="{FF2B5EF4-FFF2-40B4-BE49-F238E27FC236}">
                <a16:creationId xmlns:a16="http://schemas.microsoft.com/office/drawing/2014/main" id="{56D2F8B5-10CB-8CE2-342F-180B6C7B6D2F}"/>
              </a:ext>
            </a:extLst>
          </p:cNvPr>
          <p:cNvSpPr txBox="1">
            <a:spLocks/>
          </p:cNvSpPr>
          <p:nvPr/>
        </p:nvSpPr>
        <p:spPr>
          <a:xfrm>
            <a:off x="838200" y="365125"/>
            <a:ext cx="10515600" cy="1325563"/>
          </a:xfrm>
          <a:prstGeom prst="rect">
            <a:avLst/>
          </a:prstGeom>
          <a:solidFill>
            <a:schemeClr val="bg1"/>
          </a:solid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a:t>Leftmost DFS in action</a:t>
            </a:r>
            <a:endParaRPr lang="en-SG" dirty="0"/>
          </a:p>
        </p:txBody>
      </p:sp>
    </p:spTree>
    <p:extLst>
      <p:ext uri="{BB962C8B-B14F-4D97-AF65-F5344CB8AC3E}">
        <p14:creationId xmlns:p14="http://schemas.microsoft.com/office/powerpoint/2010/main" val="166912640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Chart&#10;&#10;Description automatically generated">
            <a:extLst>
              <a:ext uri="{FF2B5EF4-FFF2-40B4-BE49-F238E27FC236}">
                <a16:creationId xmlns:a16="http://schemas.microsoft.com/office/drawing/2014/main" id="{560B011F-8396-4BBE-1328-7928E212873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8039" y="0"/>
            <a:ext cx="9155922" cy="6858000"/>
          </a:xfrm>
          <a:prstGeom prst="rect">
            <a:avLst/>
          </a:prstGeom>
        </p:spPr>
      </p:pic>
      <p:sp>
        <p:nvSpPr>
          <p:cNvPr id="4" name="Title 5">
            <a:extLst>
              <a:ext uri="{FF2B5EF4-FFF2-40B4-BE49-F238E27FC236}">
                <a16:creationId xmlns:a16="http://schemas.microsoft.com/office/drawing/2014/main" id="{E18D6FE4-B0EF-8E7E-9163-6EE5DB103F32}"/>
              </a:ext>
            </a:extLst>
          </p:cNvPr>
          <p:cNvSpPr txBox="1">
            <a:spLocks/>
          </p:cNvSpPr>
          <p:nvPr/>
        </p:nvSpPr>
        <p:spPr>
          <a:xfrm>
            <a:off x="838200" y="365125"/>
            <a:ext cx="10515600" cy="1325563"/>
          </a:xfrm>
          <a:prstGeom prst="rect">
            <a:avLst/>
          </a:prstGeom>
          <a:solidFill>
            <a:schemeClr val="bg1"/>
          </a:solid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a:t>Leftmost DFS in action</a:t>
            </a:r>
            <a:endParaRPr lang="en-SG" dirty="0"/>
          </a:p>
        </p:txBody>
      </p:sp>
    </p:spTree>
    <p:extLst>
      <p:ext uri="{BB962C8B-B14F-4D97-AF65-F5344CB8AC3E}">
        <p14:creationId xmlns:p14="http://schemas.microsoft.com/office/powerpoint/2010/main" val="142521144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Chart&#10;&#10;Description automatically generated">
            <a:extLst>
              <a:ext uri="{FF2B5EF4-FFF2-40B4-BE49-F238E27FC236}">
                <a16:creationId xmlns:a16="http://schemas.microsoft.com/office/drawing/2014/main" id="{330B64D6-0240-315F-2341-FEB86D0971F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8039" y="0"/>
            <a:ext cx="9155922" cy="6858000"/>
          </a:xfrm>
          <a:prstGeom prst="rect">
            <a:avLst/>
          </a:prstGeom>
        </p:spPr>
      </p:pic>
      <p:sp>
        <p:nvSpPr>
          <p:cNvPr id="4" name="Title 5">
            <a:extLst>
              <a:ext uri="{FF2B5EF4-FFF2-40B4-BE49-F238E27FC236}">
                <a16:creationId xmlns:a16="http://schemas.microsoft.com/office/drawing/2014/main" id="{21B428CB-6F72-86D7-3D9C-A9B76F9B3835}"/>
              </a:ext>
            </a:extLst>
          </p:cNvPr>
          <p:cNvSpPr txBox="1">
            <a:spLocks/>
          </p:cNvSpPr>
          <p:nvPr/>
        </p:nvSpPr>
        <p:spPr>
          <a:xfrm>
            <a:off x="838200" y="365125"/>
            <a:ext cx="10515600" cy="1325563"/>
          </a:xfrm>
          <a:prstGeom prst="rect">
            <a:avLst/>
          </a:prstGeom>
          <a:solidFill>
            <a:schemeClr val="bg1"/>
          </a:solid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a:t>Leftmost DFS in action</a:t>
            </a:r>
            <a:endParaRPr lang="en-SG" dirty="0"/>
          </a:p>
        </p:txBody>
      </p:sp>
    </p:spTree>
    <p:extLst>
      <p:ext uri="{BB962C8B-B14F-4D97-AF65-F5344CB8AC3E}">
        <p14:creationId xmlns:p14="http://schemas.microsoft.com/office/powerpoint/2010/main" val="340874260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Chart, waterfall chart&#10;&#10;Description automatically generated">
            <a:extLst>
              <a:ext uri="{FF2B5EF4-FFF2-40B4-BE49-F238E27FC236}">
                <a16:creationId xmlns:a16="http://schemas.microsoft.com/office/drawing/2014/main" id="{9226BAAA-BBA2-2A46-C931-DF0330996C9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8039" y="0"/>
            <a:ext cx="9155922" cy="6858000"/>
          </a:xfrm>
          <a:prstGeom prst="rect">
            <a:avLst/>
          </a:prstGeom>
        </p:spPr>
      </p:pic>
      <p:sp>
        <p:nvSpPr>
          <p:cNvPr id="4" name="Title 5">
            <a:extLst>
              <a:ext uri="{FF2B5EF4-FFF2-40B4-BE49-F238E27FC236}">
                <a16:creationId xmlns:a16="http://schemas.microsoft.com/office/drawing/2014/main" id="{08F0EB62-9FF1-AC88-E5FD-FAE9643A8B44}"/>
              </a:ext>
            </a:extLst>
          </p:cNvPr>
          <p:cNvSpPr txBox="1">
            <a:spLocks/>
          </p:cNvSpPr>
          <p:nvPr/>
        </p:nvSpPr>
        <p:spPr>
          <a:xfrm>
            <a:off x="838200" y="365125"/>
            <a:ext cx="10515600" cy="1325563"/>
          </a:xfrm>
          <a:prstGeom prst="rect">
            <a:avLst/>
          </a:prstGeom>
          <a:solidFill>
            <a:schemeClr val="bg1"/>
          </a:solid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a:t>Leftmost DFS in action</a:t>
            </a:r>
            <a:endParaRPr lang="en-SG" dirty="0"/>
          </a:p>
        </p:txBody>
      </p:sp>
    </p:spTree>
    <p:extLst>
      <p:ext uri="{BB962C8B-B14F-4D97-AF65-F5344CB8AC3E}">
        <p14:creationId xmlns:p14="http://schemas.microsoft.com/office/powerpoint/2010/main" val="326101216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Chart&#10;&#10;Description automatically generated">
            <a:extLst>
              <a:ext uri="{FF2B5EF4-FFF2-40B4-BE49-F238E27FC236}">
                <a16:creationId xmlns:a16="http://schemas.microsoft.com/office/drawing/2014/main" id="{4A0F1B19-5616-0F22-9E44-CB4564D9019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8039" y="0"/>
            <a:ext cx="9155922" cy="6858000"/>
          </a:xfrm>
          <a:prstGeom prst="rect">
            <a:avLst/>
          </a:prstGeom>
        </p:spPr>
      </p:pic>
      <p:sp>
        <p:nvSpPr>
          <p:cNvPr id="4" name="Title 5">
            <a:extLst>
              <a:ext uri="{FF2B5EF4-FFF2-40B4-BE49-F238E27FC236}">
                <a16:creationId xmlns:a16="http://schemas.microsoft.com/office/drawing/2014/main" id="{EDBBDC05-FF85-64E2-44EB-C63BCE48229B}"/>
              </a:ext>
            </a:extLst>
          </p:cNvPr>
          <p:cNvSpPr txBox="1">
            <a:spLocks/>
          </p:cNvSpPr>
          <p:nvPr/>
        </p:nvSpPr>
        <p:spPr>
          <a:xfrm>
            <a:off x="838200" y="365125"/>
            <a:ext cx="10515600" cy="1325563"/>
          </a:xfrm>
          <a:prstGeom prst="rect">
            <a:avLst/>
          </a:prstGeom>
          <a:solidFill>
            <a:schemeClr val="bg1"/>
          </a:solid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a:t>Leftmost DFS in action</a:t>
            </a:r>
            <a:endParaRPr lang="en-SG" dirty="0"/>
          </a:p>
        </p:txBody>
      </p:sp>
    </p:spTree>
    <p:extLst>
      <p:ext uri="{BB962C8B-B14F-4D97-AF65-F5344CB8AC3E}">
        <p14:creationId xmlns:p14="http://schemas.microsoft.com/office/powerpoint/2010/main" val="233164181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Chart, waterfall chart&#10;&#10;Description automatically generated">
            <a:extLst>
              <a:ext uri="{FF2B5EF4-FFF2-40B4-BE49-F238E27FC236}">
                <a16:creationId xmlns:a16="http://schemas.microsoft.com/office/drawing/2014/main" id="{6B21FD95-45D1-6176-1B60-59D0BCAFCB4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8039" y="0"/>
            <a:ext cx="9155922" cy="6858000"/>
          </a:xfrm>
          <a:prstGeom prst="rect">
            <a:avLst/>
          </a:prstGeom>
        </p:spPr>
      </p:pic>
      <p:sp>
        <p:nvSpPr>
          <p:cNvPr id="4" name="Title 5">
            <a:extLst>
              <a:ext uri="{FF2B5EF4-FFF2-40B4-BE49-F238E27FC236}">
                <a16:creationId xmlns:a16="http://schemas.microsoft.com/office/drawing/2014/main" id="{312AAEC2-1817-EED9-354D-55DB2CECF818}"/>
              </a:ext>
            </a:extLst>
          </p:cNvPr>
          <p:cNvSpPr txBox="1">
            <a:spLocks/>
          </p:cNvSpPr>
          <p:nvPr/>
        </p:nvSpPr>
        <p:spPr>
          <a:xfrm>
            <a:off x="838200" y="365125"/>
            <a:ext cx="10515600" cy="1325563"/>
          </a:xfrm>
          <a:prstGeom prst="rect">
            <a:avLst/>
          </a:prstGeom>
          <a:solidFill>
            <a:schemeClr val="bg1"/>
          </a:solid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a:t>Leftmost DFS in action</a:t>
            </a:r>
            <a:endParaRPr lang="en-SG" dirty="0"/>
          </a:p>
        </p:txBody>
      </p:sp>
    </p:spTree>
    <p:extLst>
      <p:ext uri="{BB962C8B-B14F-4D97-AF65-F5344CB8AC3E}">
        <p14:creationId xmlns:p14="http://schemas.microsoft.com/office/powerpoint/2010/main" val="128159694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Chart, waterfall chart&#10;&#10;Description automatically generated">
            <a:extLst>
              <a:ext uri="{FF2B5EF4-FFF2-40B4-BE49-F238E27FC236}">
                <a16:creationId xmlns:a16="http://schemas.microsoft.com/office/drawing/2014/main" id="{50EC65FF-A60A-40B7-79CA-D16E8D79241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8039" y="0"/>
            <a:ext cx="9155922" cy="6858000"/>
          </a:xfrm>
          <a:prstGeom prst="rect">
            <a:avLst/>
          </a:prstGeom>
        </p:spPr>
      </p:pic>
      <p:sp>
        <p:nvSpPr>
          <p:cNvPr id="6" name="Title 5">
            <a:extLst>
              <a:ext uri="{FF2B5EF4-FFF2-40B4-BE49-F238E27FC236}">
                <a16:creationId xmlns:a16="http://schemas.microsoft.com/office/drawing/2014/main" id="{B12F1EAC-EE1C-956B-A349-01C12724A9A5}"/>
              </a:ext>
            </a:extLst>
          </p:cNvPr>
          <p:cNvSpPr txBox="1">
            <a:spLocks/>
          </p:cNvSpPr>
          <p:nvPr/>
        </p:nvSpPr>
        <p:spPr>
          <a:xfrm>
            <a:off x="838200" y="365125"/>
            <a:ext cx="10515600" cy="1325563"/>
          </a:xfrm>
          <a:prstGeom prst="rect">
            <a:avLst/>
          </a:prstGeom>
          <a:solidFill>
            <a:schemeClr val="bg1"/>
          </a:solid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a:t>Leftmost DFS in action</a:t>
            </a:r>
            <a:endParaRPr lang="en-SG" dirty="0"/>
          </a:p>
        </p:txBody>
      </p:sp>
    </p:spTree>
    <p:extLst>
      <p:ext uri="{BB962C8B-B14F-4D97-AF65-F5344CB8AC3E}">
        <p14:creationId xmlns:p14="http://schemas.microsoft.com/office/powerpoint/2010/main" val="55332050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Chart&#10;&#10;Description automatically generated with medium confidence">
            <a:extLst>
              <a:ext uri="{FF2B5EF4-FFF2-40B4-BE49-F238E27FC236}">
                <a16:creationId xmlns:a16="http://schemas.microsoft.com/office/drawing/2014/main" id="{AA9CFB74-3C38-81EB-F75A-ED314C1B3A6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8039" y="0"/>
            <a:ext cx="9155922" cy="6858000"/>
          </a:xfrm>
          <a:prstGeom prst="rect">
            <a:avLst/>
          </a:prstGeom>
        </p:spPr>
      </p:pic>
      <p:sp>
        <p:nvSpPr>
          <p:cNvPr id="4" name="Title 5">
            <a:extLst>
              <a:ext uri="{FF2B5EF4-FFF2-40B4-BE49-F238E27FC236}">
                <a16:creationId xmlns:a16="http://schemas.microsoft.com/office/drawing/2014/main" id="{824F7FAE-88E4-1469-878A-BB85E9B0D711}"/>
              </a:ext>
            </a:extLst>
          </p:cNvPr>
          <p:cNvSpPr txBox="1">
            <a:spLocks/>
          </p:cNvSpPr>
          <p:nvPr/>
        </p:nvSpPr>
        <p:spPr>
          <a:xfrm>
            <a:off x="838200" y="365125"/>
            <a:ext cx="10515600" cy="1325563"/>
          </a:xfrm>
          <a:prstGeom prst="rect">
            <a:avLst/>
          </a:prstGeom>
          <a:solidFill>
            <a:schemeClr val="bg1"/>
          </a:solid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a:t>Leftmost DFS in action</a:t>
            </a:r>
            <a:endParaRPr lang="en-SG" dirty="0"/>
          </a:p>
        </p:txBody>
      </p:sp>
    </p:spTree>
    <p:extLst>
      <p:ext uri="{BB962C8B-B14F-4D97-AF65-F5344CB8AC3E}">
        <p14:creationId xmlns:p14="http://schemas.microsoft.com/office/powerpoint/2010/main" val="187123063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picture containing diagram&#10;&#10;Description automatically generated">
            <a:extLst>
              <a:ext uri="{FF2B5EF4-FFF2-40B4-BE49-F238E27FC236}">
                <a16:creationId xmlns:a16="http://schemas.microsoft.com/office/drawing/2014/main" id="{B0493409-8E6F-D2C3-8900-70D5A256D0C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8039" y="0"/>
            <a:ext cx="9155922" cy="6858000"/>
          </a:xfrm>
          <a:prstGeom prst="rect">
            <a:avLst/>
          </a:prstGeom>
        </p:spPr>
      </p:pic>
      <p:sp>
        <p:nvSpPr>
          <p:cNvPr id="4" name="Title 5">
            <a:extLst>
              <a:ext uri="{FF2B5EF4-FFF2-40B4-BE49-F238E27FC236}">
                <a16:creationId xmlns:a16="http://schemas.microsoft.com/office/drawing/2014/main" id="{00D1C425-111B-D256-7644-060DF3ADEE7F}"/>
              </a:ext>
            </a:extLst>
          </p:cNvPr>
          <p:cNvSpPr txBox="1">
            <a:spLocks/>
          </p:cNvSpPr>
          <p:nvPr/>
        </p:nvSpPr>
        <p:spPr>
          <a:xfrm>
            <a:off x="838200" y="365125"/>
            <a:ext cx="10515600" cy="1325563"/>
          </a:xfrm>
          <a:prstGeom prst="rect">
            <a:avLst/>
          </a:prstGeom>
          <a:solidFill>
            <a:schemeClr val="bg1"/>
          </a:solid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a:t>Leftmost DFS in action</a:t>
            </a:r>
            <a:endParaRPr lang="en-SG" dirty="0"/>
          </a:p>
        </p:txBody>
      </p:sp>
    </p:spTree>
    <p:extLst>
      <p:ext uri="{BB962C8B-B14F-4D97-AF65-F5344CB8AC3E}">
        <p14:creationId xmlns:p14="http://schemas.microsoft.com/office/powerpoint/2010/main" val="205701500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picture containing diagram&#10;&#10;Description automatically generated">
            <a:extLst>
              <a:ext uri="{FF2B5EF4-FFF2-40B4-BE49-F238E27FC236}">
                <a16:creationId xmlns:a16="http://schemas.microsoft.com/office/drawing/2014/main" id="{8CF58C14-5199-C7AA-0CDA-9C24A779844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8039" y="0"/>
            <a:ext cx="9155922" cy="6858000"/>
          </a:xfrm>
          <a:prstGeom prst="rect">
            <a:avLst/>
          </a:prstGeom>
        </p:spPr>
      </p:pic>
      <p:sp>
        <p:nvSpPr>
          <p:cNvPr id="4" name="Title 5">
            <a:extLst>
              <a:ext uri="{FF2B5EF4-FFF2-40B4-BE49-F238E27FC236}">
                <a16:creationId xmlns:a16="http://schemas.microsoft.com/office/drawing/2014/main" id="{FC667169-2699-A22A-27C1-F98E9AACBDF4}"/>
              </a:ext>
            </a:extLst>
          </p:cNvPr>
          <p:cNvSpPr txBox="1">
            <a:spLocks/>
          </p:cNvSpPr>
          <p:nvPr/>
        </p:nvSpPr>
        <p:spPr>
          <a:xfrm>
            <a:off x="838200" y="365125"/>
            <a:ext cx="10515600" cy="1325563"/>
          </a:xfrm>
          <a:prstGeom prst="rect">
            <a:avLst/>
          </a:prstGeom>
          <a:solidFill>
            <a:schemeClr val="bg1"/>
          </a:solid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a:t>Leftmost DFS in action</a:t>
            </a:r>
            <a:endParaRPr lang="en-SG" dirty="0"/>
          </a:p>
        </p:txBody>
      </p:sp>
    </p:spTree>
    <p:extLst>
      <p:ext uri="{BB962C8B-B14F-4D97-AF65-F5344CB8AC3E}">
        <p14:creationId xmlns:p14="http://schemas.microsoft.com/office/powerpoint/2010/main" val="385564413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Chart&#10;&#10;Description automatically generated with medium confidence">
            <a:extLst>
              <a:ext uri="{FF2B5EF4-FFF2-40B4-BE49-F238E27FC236}">
                <a16:creationId xmlns:a16="http://schemas.microsoft.com/office/drawing/2014/main" id="{30D73308-AC96-049D-BAAB-FD61CE1FFC0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8039" y="0"/>
            <a:ext cx="9155922" cy="6858000"/>
          </a:xfrm>
          <a:prstGeom prst="rect">
            <a:avLst/>
          </a:prstGeom>
        </p:spPr>
      </p:pic>
      <p:sp>
        <p:nvSpPr>
          <p:cNvPr id="4" name="Title 5">
            <a:extLst>
              <a:ext uri="{FF2B5EF4-FFF2-40B4-BE49-F238E27FC236}">
                <a16:creationId xmlns:a16="http://schemas.microsoft.com/office/drawing/2014/main" id="{F115B396-F805-ABA6-11EF-5A6583516D8A}"/>
              </a:ext>
            </a:extLst>
          </p:cNvPr>
          <p:cNvSpPr txBox="1">
            <a:spLocks/>
          </p:cNvSpPr>
          <p:nvPr/>
        </p:nvSpPr>
        <p:spPr>
          <a:xfrm>
            <a:off x="838200" y="365125"/>
            <a:ext cx="10515600" cy="1325563"/>
          </a:xfrm>
          <a:prstGeom prst="rect">
            <a:avLst/>
          </a:prstGeom>
          <a:solidFill>
            <a:schemeClr val="bg1"/>
          </a:solid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a:t>Leftmost DFS in action</a:t>
            </a:r>
            <a:endParaRPr lang="en-SG" dirty="0"/>
          </a:p>
        </p:txBody>
      </p:sp>
      <p:sp>
        <p:nvSpPr>
          <p:cNvPr id="5" name="Oval 4">
            <a:extLst>
              <a:ext uri="{FF2B5EF4-FFF2-40B4-BE49-F238E27FC236}">
                <a16:creationId xmlns:a16="http://schemas.microsoft.com/office/drawing/2014/main" id="{93D62BEE-449E-A13B-A809-1BEC7052864A}"/>
              </a:ext>
            </a:extLst>
          </p:cNvPr>
          <p:cNvSpPr/>
          <p:nvPr/>
        </p:nvSpPr>
        <p:spPr>
          <a:xfrm>
            <a:off x="4681415" y="3657601"/>
            <a:ext cx="2727569" cy="570522"/>
          </a:xfrm>
          <a:prstGeom prst="ellipse">
            <a:avLst/>
          </a:prstGeom>
          <a:noFill/>
          <a:ln w="38100">
            <a:solidFill>
              <a:srgbClr val="00B05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400966155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B32415-65A1-A0EA-3C52-9CCBA3ACE962}"/>
              </a:ext>
            </a:extLst>
          </p:cNvPr>
          <p:cNvSpPr>
            <a:spLocks noGrp="1"/>
          </p:cNvSpPr>
          <p:nvPr>
            <p:ph type="title"/>
          </p:nvPr>
        </p:nvSpPr>
        <p:spPr/>
        <p:txBody>
          <a:bodyPr/>
          <a:lstStyle/>
          <a:p>
            <a:r>
              <a:rPr lang="en-GB" dirty="0"/>
              <a:t>Practice 2: Leftmost DFS problem.</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CF4E6E8-714F-F088-254A-856623EE5052}"/>
                  </a:ext>
                </a:extLst>
              </p:cNvPr>
              <p:cNvSpPr>
                <a:spLocks noGrp="1"/>
              </p:cNvSpPr>
              <p:nvPr>
                <p:ph idx="1"/>
              </p:nvPr>
            </p:nvSpPr>
            <p:spPr/>
            <p:txBody>
              <a:bodyPr/>
              <a:lstStyle/>
              <a:p>
                <a:pPr marL="0" indent="0">
                  <a:buNone/>
                </a:pPr>
                <a:r>
                  <a:rPr lang="en-GB" dirty="0"/>
                  <a:t>Consider the very simple CFG below.</a:t>
                </a: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𝐴</m:t>
                      </m:r>
                      <m:r>
                        <a:rPr lang="en-GB" b="0" i="1" smtClean="0">
                          <a:latin typeface="Cambria Math" panose="02040503050406030204" pitchFamily="18" charset="0"/>
                        </a:rPr>
                        <m:t> →</m:t>
                      </m:r>
                      <m:r>
                        <a:rPr lang="en-GB" b="0" i="1" smtClean="0">
                          <a:latin typeface="Cambria Math" panose="02040503050406030204" pitchFamily="18" charset="0"/>
                        </a:rPr>
                        <m:t>𝐴𝑎</m:t>
                      </m:r>
                    </m:oMath>
                  </m:oMathPara>
                </a14:m>
                <a:endParaRPr lang="en-GB" b="0" dirty="0"/>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𝐴</m:t>
                      </m:r>
                      <m:r>
                        <a:rPr lang="en-GB" b="0" i="1" smtClean="0">
                          <a:latin typeface="Cambria Math" panose="02040503050406030204" pitchFamily="18" charset="0"/>
                        </a:rPr>
                        <m:t> →</m:t>
                      </m:r>
                      <m:r>
                        <a:rPr lang="en-GB" b="0" i="1" smtClean="0">
                          <a:latin typeface="Cambria Math" panose="02040503050406030204" pitchFamily="18" charset="0"/>
                        </a:rPr>
                        <m:t>𝑐</m:t>
                      </m:r>
                    </m:oMath>
                  </m:oMathPara>
                </a14:m>
                <a:endParaRPr lang="en-GB" b="0" dirty="0"/>
              </a:p>
              <a:p>
                <a:pPr marL="0" indent="0">
                  <a:buNone/>
                </a:pPr>
                <a:endParaRPr lang="en-GB" dirty="0"/>
              </a:p>
              <a:p>
                <a:pPr marL="0" indent="0">
                  <a:buNone/>
                </a:pPr>
                <a:r>
                  <a:rPr lang="en-GB" b="1" dirty="0"/>
                  <a:t>Q1. What are the acceptable strings according to this CFG? Would that correspond to a </a:t>
                </a:r>
                <a:r>
                  <a:rPr lang="en-GB" b="1" dirty="0" err="1"/>
                  <a:t>RegEx</a:t>
                </a:r>
                <a:r>
                  <a:rPr lang="en-GB" b="1" dirty="0"/>
                  <a:t> of some sort?</a:t>
                </a:r>
              </a:p>
              <a:p>
                <a:pPr marL="0" indent="0">
                  <a:buNone/>
                </a:pPr>
                <a:r>
                  <a:rPr lang="en-GB" b="1" dirty="0"/>
                  <a:t>Q2. Draw the result of the graph search for the Leftmost DFS algorithm trying to match the string </a:t>
                </a:r>
                <a:r>
                  <a:rPr lang="en-GB" b="1" i="1" dirty="0"/>
                  <a:t>x = “c”.</a:t>
                </a:r>
                <a:endParaRPr lang="en-GB" b="1" dirty="0"/>
              </a:p>
              <a:p>
                <a:pPr marL="0" indent="0">
                  <a:buNone/>
                </a:pPr>
                <a:r>
                  <a:rPr lang="en-GB" b="1" dirty="0"/>
                  <a:t>What seems to be the issue here?</a:t>
                </a:r>
                <a:endParaRPr lang="en-SG" b="1" dirty="0"/>
              </a:p>
            </p:txBody>
          </p:sp>
        </mc:Choice>
        <mc:Fallback xmlns="">
          <p:sp>
            <p:nvSpPr>
              <p:cNvPr id="3" name="Content Placeholder 2">
                <a:extLst>
                  <a:ext uri="{FF2B5EF4-FFF2-40B4-BE49-F238E27FC236}">
                    <a16:creationId xmlns:a16="http://schemas.microsoft.com/office/drawing/2014/main" id="{6CF4E6E8-714F-F088-254A-856623EE5052}"/>
                  </a:ext>
                </a:extLst>
              </p:cNvPr>
              <p:cNvSpPr>
                <a:spLocks noGrp="1" noRot="1" noChangeAspect="1" noMove="1" noResize="1" noEditPoints="1" noAdjustHandles="1" noChangeArrowheads="1" noChangeShapeType="1" noTextEdit="1"/>
              </p:cNvSpPr>
              <p:nvPr>
                <p:ph idx="1"/>
              </p:nvPr>
            </p:nvSpPr>
            <p:spPr>
              <a:blipFill>
                <a:blip r:embed="rId2"/>
                <a:stretch>
                  <a:fillRect l="-1217" t="-2241"/>
                </a:stretch>
              </a:blipFill>
            </p:spPr>
            <p:txBody>
              <a:bodyPr/>
              <a:lstStyle/>
              <a:p>
                <a:r>
                  <a:rPr lang="en-SG">
                    <a:noFill/>
                  </a:rPr>
                  <a:t> </a:t>
                </a:r>
              </a:p>
            </p:txBody>
          </p:sp>
        </mc:Fallback>
      </mc:AlternateContent>
    </p:spTree>
    <p:extLst>
      <p:ext uri="{BB962C8B-B14F-4D97-AF65-F5344CB8AC3E}">
        <p14:creationId xmlns:p14="http://schemas.microsoft.com/office/powerpoint/2010/main" val="54117994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B32415-65A1-A0EA-3C52-9CCBA3ACE962}"/>
              </a:ext>
            </a:extLst>
          </p:cNvPr>
          <p:cNvSpPr>
            <a:spLocks noGrp="1"/>
          </p:cNvSpPr>
          <p:nvPr>
            <p:ph type="title"/>
          </p:nvPr>
        </p:nvSpPr>
        <p:spPr/>
        <p:txBody>
          <a:bodyPr/>
          <a:lstStyle/>
          <a:p>
            <a:r>
              <a:rPr lang="en-GB" dirty="0"/>
              <a:t>Practice 2: Leftmost DFS problem.</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CF4E6E8-714F-F088-254A-856623EE5052}"/>
                  </a:ext>
                </a:extLst>
              </p:cNvPr>
              <p:cNvSpPr>
                <a:spLocks noGrp="1"/>
              </p:cNvSpPr>
              <p:nvPr>
                <p:ph idx="1"/>
              </p:nvPr>
            </p:nvSpPr>
            <p:spPr/>
            <p:txBody>
              <a:bodyPr/>
              <a:lstStyle/>
              <a:p>
                <a:pPr marL="0" indent="0">
                  <a:buNone/>
                </a:pPr>
                <a:r>
                  <a:rPr lang="en-GB" dirty="0"/>
                  <a:t>Consider the very simple CFG below.</a:t>
                </a: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𝐴</m:t>
                      </m:r>
                      <m:r>
                        <a:rPr lang="en-GB" b="0" i="1" smtClean="0">
                          <a:latin typeface="Cambria Math" panose="02040503050406030204" pitchFamily="18" charset="0"/>
                        </a:rPr>
                        <m:t> →</m:t>
                      </m:r>
                      <m:r>
                        <a:rPr lang="en-GB" b="0" i="1" smtClean="0">
                          <a:latin typeface="Cambria Math" panose="02040503050406030204" pitchFamily="18" charset="0"/>
                        </a:rPr>
                        <m:t>𝐴𝑎</m:t>
                      </m:r>
                    </m:oMath>
                  </m:oMathPara>
                </a14:m>
                <a:endParaRPr lang="en-GB" b="0" dirty="0"/>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𝐴</m:t>
                      </m:r>
                      <m:r>
                        <a:rPr lang="en-GB" b="0" i="1" smtClean="0">
                          <a:latin typeface="Cambria Math" panose="02040503050406030204" pitchFamily="18" charset="0"/>
                        </a:rPr>
                        <m:t> →</m:t>
                      </m:r>
                      <m:r>
                        <a:rPr lang="en-GB" b="0" i="1" smtClean="0">
                          <a:latin typeface="Cambria Math" panose="02040503050406030204" pitchFamily="18" charset="0"/>
                        </a:rPr>
                        <m:t>𝑐</m:t>
                      </m:r>
                    </m:oMath>
                  </m:oMathPara>
                </a14:m>
                <a:endParaRPr lang="en-GB" b="0" dirty="0"/>
              </a:p>
              <a:p>
                <a:pPr marL="0" indent="0">
                  <a:buNone/>
                </a:pPr>
                <a:endParaRPr lang="en-GB" dirty="0"/>
              </a:p>
              <a:p>
                <a:pPr marL="0" indent="0">
                  <a:buNone/>
                </a:pPr>
                <a:r>
                  <a:rPr lang="en-GB" b="1" dirty="0"/>
                  <a:t>Q1. What are the acceptable strings according to this CFG? Would that correspond to a </a:t>
                </a:r>
                <a:r>
                  <a:rPr lang="en-GB" b="1" dirty="0" err="1"/>
                  <a:t>RegEx</a:t>
                </a:r>
                <a:r>
                  <a:rPr lang="en-GB" b="1" dirty="0"/>
                  <a:t> of some sort?</a:t>
                </a:r>
              </a:p>
              <a:p>
                <a:pPr marL="0" indent="0">
                  <a:buNone/>
                </a:pPr>
                <a:r>
                  <a:rPr lang="en-GB" dirty="0"/>
                  <a:t>Any string that start with exactly one “c” and is followed by zero or more “a”. That would be equivalent to the </a:t>
                </a:r>
                <a:r>
                  <a:rPr lang="en-GB" dirty="0" err="1"/>
                  <a:t>RegEx</a:t>
                </a:r>
                <a:r>
                  <a:rPr lang="en-GB" dirty="0"/>
                  <a:t> “^ca*$”.</a:t>
                </a:r>
              </a:p>
            </p:txBody>
          </p:sp>
        </mc:Choice>
        <mc:Fallback xmlns="">
          <p:sp>
            <p:nvSpPr>
              <p:cNvPr id="3" name="Content Placeholder 2">
                <a:extLst>
                  <a:ext uri="{FF2B5EF4-FFF2-40B4-BE49-F238E27FC236}">
                    <a16:creationId xmlns:a16="http://schemas.microsoft.com/office/drawing/2014/main" id="{6CF4E6E8-714F-F088-254A-856623EE5052}"/>
                  </a:ext>
                </a:extLst>
              </p:cNvPr>
              <p:cNvSpPr>
                <a:spLocks noGrp="1" noRot="1" noChangeAspect="1" noMove="1" noResize="1" noEditPoints="1" noAdjustHandles="1" noChangeArrowheads="1" noChangeShapeType="1" noTextEdit="1"/>
              </p:cNvSpPr>
              <p:nvPr>
                <p:ph idx="1"/>
              </p:nvPr>
            </p:nvSpPr>
            <p:spPr>
              <a:blipFill>
                <a:blip r:embed="rId2"/>
                <a:stretch>
                  <a:fillRect l="-1217" t="-2241"/>
                </a:stretch>
              </a:blipFill>
            </p:spPr>
            <p:txBody>
              <a:bodyPr/>
              <a:lstStyle/>
              <a:p>
                <a:r>
                  <a:rPr lang="en-GB">
                    <a:noFill/>
                  </a:rPr>
                  <a:t> </a:t>
                </a:r>
              </a:p>
            </p:txBody>
          </p:sp>
        </mc:Fallback>
      </mc:AlternateContent>
    </p:spTree>
    <p:extLst>
      <p:ext uri="{BB962C8B-B14F-4D97-AF65-F5344CB8AC3E}">
        <p14:creationId xmlns:p14="http://schemas.microsoft.com/office/powerpoint/2010/main" val="103951304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B32415-65A1-A0EA-3C52-9CCBA3ACE962}"/>
              </a:ext>
            </a:extLst>
          </p:cNvPr>
          <p:cNvSpPr>
            <a:spLocks noGrp="1"/>
          </p:cNvSpPr>
          <p:nvPr>
            <p:ph type="title"/>
          </p:nvPr>
        </p:nvSpPr>
        <p:spPr/>
        <p:txBody>
          <a:bodyPr/>
          <a:lstStyle/>
          <a:p>
            <a:r>
              <a:rPr lang="en-GB" dirty="0"/>
              <a:t>Practice 2: Leftmost DFS problem.</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CF4E6E8-714F-F088-254A-856623EE5052}"/>
                  </a:ext>
                </a:extLst>
              </p:cNvPr>
              <p:cNvSpPr>
                <a:spLocks noGrp="1"/>
              </p:cNvSpPr>
              <p:nvPr>
                <p:ph idx="1"/>
              </p:nvPr>
            </p:nvSpPr>
            <p:spPr/>
            <p:txBody>
              <a:bodyPr/>
              <a:lstStyle/>
              <a:p>
                <a:pPr marL="0" indent="0">
                  <a:buNone/>
                </a:pPr>
                <a:r>
                  <a:rPr lang="en-GB" dirty="0"/>
                  <a:t>Consider the very simple CFG below.</a:t>
                </a: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𝐴</m:t>
                      </m:r>
                      <m:r>
                        <a:rPr lang="en-GB" b="0" i="1" smtClean="0">
                          <a:latin typeface="Cambria Math" panose="02040503050406030204" pitchFamily="18" charset="0"/>
                        </a:rPr>
                        <m:t> →</m:t>
                      </m:r>
                      <m:r>
                        <a:rPr lang="en-GB" b="0" i="1" smtClean="0">
                          <a:latin typeface="Cambria Math" panose="02040503050406030204" pitchFamily="18" charset="0"/>
                        </a:rPr>
                        <m:t>𝐴𝑎</m:t>
                      </m:r>
                    </m:oMath>
                  </m:oMathPara>
                </a14:m>
                <a:endParaRPr lang="en-GB" b="0" dirty="0"/>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𝐴</m:t>
                      </m:r>
                      <m:r>
                        <a:rPr lang="en-GB" b="0" i="1" smtClean="0">
                          <a:latin typeface="Cambria Math" panose="02040503050406030204" pitchFamily="18" charset="0"/>
                        </a:rPr>
                        <m:t> →</m:t>
                      </m:r>
                      <m:r>
                        <a:rPr lang="en-GB" b="0" i="1" smtClean="0">
                          <a:latin typeface="Cambria Math" panose="02040503050406030204" pitchFamily="18" charset="0"/>
                        </a:rPr>
                        <m:t>𝑐</m:t>
                      </m:r>
                    </m:oMath>
                  </m:oMathPara>
                </a14:m>
                <a:endParaRPr lang="en-GB" b="0" dirty="0"/>
              </a:p>
              <a:p>
                <a:pPr marL="0" indent="0">
                  <a:buNone/>
                </a:pPr>
                <a:endParaRPr lang="en-GB" dirty="0"/>
              </a:p>
              <a:p>
                <a:pPr marL="0" indent="0">
                  <a:buNone/>
                </a:pPr>
                <a:r>
                  <a:rPr lang="en-GB" b="1" dirty="0"/>
                  <a:t>Q2. Draw the result of the graph search for the Leftmost DFS algorithm trying to match the string </a:t>
                </a:r>
                <a:r>
                  <a:rPr lang="en-GB" b="1" i="1" dirty="0"/>
                  <a:t>x = “c”.</a:t>
                </a:r>
                <a:endParaRPr lang="en-GB" b="1" dirty="0"/>
              </a:p>
              <a:p>
                <a:pPr marL="0" indent="0">
                  <a:buNone/>
                </a:pPr>
                <a:r>
                  <a:rPr lang="en-GB" b="1" dirty="0"/>
                  <a:t>What seems to be the issue here?</a:t>
                </a:r>
                <a:endParaRPr lang="en-SG" b="1" dirty="0"/>
              </a:p>
            </p:txBody>
          </p:sp>
        </mc:Choice>
        <mc:Fallback xmlns="">
          <p:sp>
            <p:nvSpPr>
              <p:cNvPr id="3" name="Content Placeholder 2">
                <a:extLst>
                  <a:ext uri="{FF2B5EF4-FFF2-40B4-BE49-F238E27FC236}">
                    <a16:creationId xmlns:a16="http://schemas.microsoft.com/office/drawing/2014/main" id="{6CF4E6E8-714F-F088-254A-856623EE5052}"/>
                  </a:ext>
                </a:extLst>
              </p:cNvPr>
              <p:cNvSpPr>
                <a:spLocks noGrp="1" noRot="1" noChangeAspect="1" noMove="1" noResize="1" noEditPoints="1" noAdjustHandles="1" noChangeArrowheads="1" noChangeShapeType="1" noTextEdit="1"/>
              </p:cNvSpPr>
              <p:nvPr>
                <p:ph idx="1"/>
              </p:nvPr>
            </p:nvSpPr>
            <p:spPr>
              <a:blipFill>
                <a:blip r:embed="rId2"/>
                <a:stretch>
                  <a:fillRect l="-1217" t="-2241"/>
                </a:stretch>
              </a:blipFill>
            </p:spPr>
            <p:txBody>
              <a:bodyPr/>
              <a:lstStyle/>
              <a:p>
                <a:r>
                  <a:rPr lang="en-SG">
                    <a:noFill/>
                  </a:rPr>
                  <a:t> </a:t>
                </a:r>
              </a:p>
            </p:txBody>
          </p:sp>
        </mc:Fallback>
      </mc:AlternateContent>
    </p:spTree>
    <p:extLst>
      <p:ext uri="{BB962C8B-B14F-4D97-AF65-F5344CB8AC3E}">
        <p14:creationId xmlns:p14="http://schemas.microsoft.com/office/powerpoint/2010/main" val="411956818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picture containing table&#10;&#10;Description automatically generated">
            <a:extLst>
              <a:ext uri="{FF2B5EF4-FFF2-40B4-BE49-F238E27FC236}">
                <a16:creationId xmlns:a16="http://schemas.microsoft.com/office/drawing/2014/main" id="{F24D1459-8930-228C-2501-910AD7A3AC1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8039" y="0"/>
            <a:ext cx="9155922" cy="6858000"/>
          </a:xfrm>
          <a:prstGeom prst="rect">
            <a:avLst/>
          </a:prstGeom>
        </p:spPr>
      </p:pic>
      <p:sp>
        <p:nvSpPr>
          <p:cNvPr id="4" name="Title 1">
            <a:extLst>
              <a:ext uri="{FF2B5EF4-FFF2-40B4-BE49-F238E27FC236}">
                <a16:creationId xmlns:a16="http://schemas.microsoft.com/office/drawing/2014/main" id="{134366F0-6E36-C413-6AA1-0E7CEB702D7C}"/>
              </a:ext>
            </a:extLst>
          </p:cNvPr>
          <p:cNvSpPr txBox="1">
            <a:spLocks/>
          </p:cNvSpPr>
          <p:nvPr/>
        </p:nvSpPr>
        <p:spPr>
          <a:xfrm>
            <a:off x="838200" y="365125"/>
            <a:ext cx="10515600" cy="1325563"/>
          </a:xfrm>
          <a:prstGeom prst="rect">
            <a:avLst/>
          </a:prstGeom>
          <a:solidFill>
            <a:schemeClr val="bg1"/>
          </a:solid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err="1"/>
              <a:t>Aaaaaaaaaaaaaaaaaaaaaaaaaaaaaaaaaaaaaa</a:t>
            </a:r>
            <a:endParaRPr lang="en-SG" dirty="0"/>
          </a:p>
        </p:txBody>
      </p:sp>
      <p:sp>
        <p:nvSpPr>
          <p:cNvPr id="5" name="Rectangle 4">
            <a:extLst>
              <a:ext uri="{FF2B5EF4-FFF2-40B4-BE49-F238E27FC236}">
                <a16:creationId xmlns:a16="http://schemas.microsoft.com/office/drawing/2014/main" id="{4C6A83BD-D980-C3FF-1A22-B4D0B16903C4}"/>
              </a:ext>
            </a:extLst>
          </p:cNvPr>
          <p:cNvSpPr/>
          <p:nvPr/>
        </p:nvSpPr>
        <p:spPr>
          <a:xfrm>
            <a:off x="7197969" y="1946031"/>
            <a:ext cx="3133969" cy="4157784"/>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pic>
        <p:nvPicPr>
          <p:cNvPr id="7" name="Picture 6" descr="A child with his mouth open&#10;&#10;Description automatically generated with low confidence">
            <a:extLst>
              <a:ext uri="{FF2B5EF4-FFF2-40B4-BE49-F238E27FC236}">
                <a16:creationId xmlns:a16="http://schemas.microsoft.com/office/drawing/2014/main" id="{0A9917F8-8BFF-EB17-F4BF-6BD82343143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794013" y="1674018"/>
            <a:ext cx="3202233" cy="4725457"/>
          </a:xfrm>
          <a:prstGeom prst="rect">
            <a:avLst/>
          </a:prstGeom>
        </p:spPr>
      </p:pic>
      <p:sp>
        <p:nvSpPr>
          <p:cNvPr id="2" name="TextBox 1">
            <a:extLst>
              <a:ext uri="{FF2B5EF4-FFF2-40B4-BE49-F238E27FC236}">
                <a16:creationId xmlns:a16="http://schemas.microsoft.com/office/drawing/2014/main" id="{6738086E-61B0-05B7-760D-9299E92F9EB6}"/>
              </a:ext>
            </a:extLst>
          </p:cNvPr>
          <p:cNvSpPr txBox="1"/>
          <p:nvPr/>
        </p:nvSpPr>
        <p:spPr>
          <a:xfrm>
            <a:off x="6096000" y="5781717"/>
            <a:ext cx="599768" cy="523220"/>
          </a:xfrm>
          <a:prstGeom prst="rect">
            <a:avLst/>
          </a:prstGeom>
          <a:noFill/>
        </p:spPr>
        <p:txBody>
          <a:bodyPr wrap="square" rtlCol="0">
            <a:spAutoFit/>
          </a:bodyPr>
          <a:lstStyle/>
          <a:p>
            <a:r>
              <a:rPr lang="en-GB" sz="2800" dirty="0"/>
              <a:t>?</a:t>
            </a:r>
          </a:p>
        </p:txBody>
      </p:sp>
    </p:spTree>
    <p:extLst>
      <p:ext uri="{BB962C8B-B14F-4D97-AF65-F5344CB8AC3E}">
        <p14:creationId xmlns:p14="http://schemas.microsoft.com/office/powerpoint/2010/main" val="3049289375"/>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DEF828-CD5E-5447-BB7F-E319C7CE1AED}"/>
              </a:ext>
            </a:extLst>
          </p:cNvPr>
          <p:cNvSpPr>
            <a:spLocks noGrp="1"/>
          </p:cNvSpPr>
          <p:nvPr>
            <p:ph type="title"/>
          </p:nvPr>
        </p:nvSpPr>
        <p:spPr/>
        <p:txBody>
          <a:bodyPr/>
          <a:lstStyle/>
          <a:p>
            <a:r>
              <a:rPr lang="en-GB" dirty="0"/>
              <a:t>The problem with Leftmost BFS and DFS</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32BC507-A889-BED7-C3DA-AD9D02A9CD71}"/>
                  </a:ext>
                </a:extLst>
              </p:cNvPr>
              <p:cNvSpPr>
                <a:spLocks noGrp="1"/>
              </p:cNvSpPr>
              <p:nvPr>
                <p:ph idx="1"/>
              </p:nvPr>
            </p:nvSpPr>
            <p:spPr/>
            <p:txBody>
              <a:bodyPr/>
              <a:lstStyle/>
              <a:p>
                <a:pPr marL="0" indent="0">
                  <a:buNone/>
                </a:pPr>
                <a:r>
                  <a:rPr lang="en-GB" dirty="0"/>
                  <a:t>Both Leftmost BFS and Leftmost DFS have a problem that follows from having a CFG that contains a </a:t>
                </a:r>
                <a:r>
                  <a:rPr lang="en-GB" b="1" dirty="0"/>
                  <a:t>left-recursive non-terminal symbol.</a:t>
                </a:r>
              </a:p>
              <a:p>
                <a:pPr marL="0" indent="0">
                  <a:buNone/>
                </a:pPr>
                <a:endParaRPr lang="en-GB" b="1" dirty="0"/>
              </a:p>
              <a:p>
                <a:pPr marL="0" indent="0">
                  <a:buNone/>
                </a:pPr>
                <a:r>
                  <a:rPr lang="en-GB" b="1" dirty="0"/>
                  <a:t>Definition (</a:t>
                </a:r>
                <a:r>
                  <a:rPr lang="en-GB" b="1" dirty="0">
                    <a:solidFill>
                      <a:srgbClr val="00B050"/>
                    </a:solidFill>
                  </a:rPr>
                  <a:t>Left-recursive non-terminal symbol </a:t>
                </a:r>
                <a:r>
                  <a:rPr lang="en-GB" b="1" dirty="0"/>
                  <a:t>in a CFG):</a:t>
                </a:r>
              </a:p>
              <a:p>
                <a:pPr marL="0" indent="0">
                  <a:buNone/>
                </a:pPr>
                <a:r>
                  <a:rPr lang="en-GB" dirty="0"/>
                  <a:t>In a CFG, a non-terminal symbol A is said to be </a:t>
                </a:r>
                <a:r>
                  <a:rPr lang="en-GB" b="1" dirty="0">
                    <a:solidFill>
                      <a:srgbClr val="00B050"/>
                    </a:solidFill>
                  </a:rPr>
                  <a:t>left-recursive</a:t>
                </a:r>
                <a:r>
                  <a:rPr lang="en-GB" dirty="0"/>
                  <a:t>, if and only if </a:t>
                </a:r>
                <a:r>
                  <a:rPr lang="en-GB" b="1" dirty="0"/>
                  <a:t>there exists a left-recursive production rule, typically written as </a:t>
                </a: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𝐴</m:t>
                      </m:r>
                      <m:r>
                        <a:rPr lang="en-GB" b="0" i="1" smtClean="0">
                          <a:latin typeface="Cambria Math" panose="02040503050406030204" pitchFamily="18" charset="0"/>
                        </a:rPr>
                        <m:t>𝛼</m:t>
                      </m:r>
                    </m:oMath>
                  </m:oMathPara>
                </a14:m>
                <a:endParaRPr lang="en-SG" dirty="0"/>
              </a:p>
              <a:p>
                <a:pPr marL="0" indent="0">
                  <a:buNone/>
                </a:pPr>
                <a:r>
                  <a:rPr lang="en-SG" dirty="0"/>
                  <a:t>With </a:t>
                </a:r>
                <a14:m>
                  <m:oMath xmlns:m="http://schemas.openxmlformats.org/officeDocument/2006/math">
                    <m:r>
                      <a:rPr lang="en-GB" b="0" i="1" smtClean="0">
                        <a:latin typeface="Cambria Math" panose="02040503050406030204" pitchFamily="18" charset="0"/>
                      </a:rPr>
                      <m:t>𝛼</m:t>
                    </m:r>
                  </m:oMath>
                </a14:m>
                <a:r>
                  <a:rPr lang="en-SG" dirty="0"/>
                  <a:t> being a string of terminal and non-terminal symbols.</a:t>
                </a:r>
              </a:p>
              <a:p>
                <a:pPr marL="0" indent="0">
                  <a:buNone/>
                </a:pPr>
                <a:r>
                  <a:rPr lang="en-SG" dirty="0"/>
                  <a:t>Similarly, we can define </a:t>
                </a:r>
                <a:r>
                  <a:rPr lang="en-SG" b="1" dirty="0">
                    <a:solidFill>
                      <a:srgbClr val="00B050"/>
                    </a:solidFill>
                  </a:rPr>
                  <a:t>right-recursive</a:t>
                </a:r>
                <a:r>
                  <a:rPr lang="en-SG" dirty="0"/>
                  <a:t>.</a:t>
                </a:r>
              </a:p>
            </p:txBody>
          </p:sp>
        </mc:Choice>
        <mc:Fallback xmlns="">
          <p:sp>
            <p:nvSpPr>
              <p:cNvPr id="3" name="Content Placeholder 2">
                <a:extLst>
                  <a:ext uri="{FF2B5EF4-FFF2-40B4-BE49-F238E27FC236}">
                    <a16:creationId xmlns:a16="http://schemas.microsoft.com/office/drawing/2014/main" id="{D32BC507-A889-BED7-C3DA-AD9D02A9CD71}"/>
                  </a:ext>
                </a:extLst>
              </p:cNvPr>
              <p:cNvSpPr>
                <a:spLocks noGrp="1" noRot="1" noChangeAspect="1" noMove="1" noResize="1" noEditPoints="1" noAdjustHandles="1" noChangeArrowheads="1" noChangeShapeType="1" noTextEdit="1"/>
              </p:cNvSpPr>
              <p:nvPr>
                <p:ph idx="1"/>
              </p:nvPr>
            </p:nvSpPr>
            <p:spPr>
              <a:blipFill>
                <a:blip r:embed="rId2"/>
                <a:stretch>
                  <a:fillRect l="-1217" t="-2241" r="-1681" b="-140"/>
                </a:stretch>
              </a:blipFill>
            </p:spPr>
            <p:txBody>
              <a:bodyPr/>
              <a:lstStyle/>
              <a:p>
                <a:r>
                  <a:rPr lang="en-SG">
                    <a:noFill/>
                  </a:rPr>
                  <a:t> </a:t>
                </a:r>
              </a:p>
            </p:txBody>
          </p:sp>
        </mc:Fallback>
      </mc:AlternateContent>
    </p:spTree>
    <p:extLst>
      <p:ext uri="{BB962C8B-B14F-4D97-AF65-F5344CB8AC3E}">
        <p14:creationId xmlns:p14="http://schemas.microsoft.com/office/powerpoint/2010/main" val="73234688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DEF828-CD5E-5447-BB7F-E319C7CE1AED}"/>
              </a:ext>
            </a:extLst>
          </p:cNvPr>
          <p:cNvSpPr>
            <a:spLocks noGrp="1"/>
          </p:cNvSpPr>
          <p:nvPr>
            <p:ph type="title"/>
          </p:nvPr>
        </p:nvSpPr>
        <p:spPr/>
        <p:txBody>
          <a:bodyPr/>
          <a:lstStyle/>
          <a:p>
            <a:r>
              <a:rPr lang="en-GB" dirty="0"/>
              <a:t>The problem with Leftmost BFS and DFS</a:t>
            </a:r>
            <a:endParaRPr lang="en-SG" dirty="0"/>
          </a:p>
        </p:txBody>
      </p:sp>
      <p:sp>
        <p:nvSpPr>
          <p:cNvPr id="3" name="Content Placeholder 2">
            <a:extLst>
              <a:ext uri="{FF2B5EF4-FFF2-40B4-BE49-F238E27FC236}">
                <a16:creationId xmlns:a16="http://schemas.microsoft.com/office/drawing/2014/main" id="{D32BC507-A889-BED7-C3DA-AD9D02A9CD71}"/>
              </a:ext>
            </a:extLst>
          </p:cNvPr>
          <p:cNvSpPr>
            <a:spLocks noGrp="1"/>
          </p:cNvSpPr>
          <p:nvPr>
            <p:ph idx="1"/>
          </p:nvPr>
        </p:nvSpPr>
        <p:spPr>
          <a:xfrm>
            <a:off x="838200" y="1825624"/>
            <a:ext cx="10515600" cy="5032375"/>
          </a:xfrm>
        </p:spPr>
        <p:txBody>
          <a:bodyPr/>
          <a:lstStyle/>
          <a:p>
            <a:pPr marL="0" indent="0">
              <a:buNone/>
            </a:pPr>
            <a:r>
              <a:rPr lang="en-GB" dirty="0"/>
              <a:t>Both Leftmost BFS and Leftmost DFS have a problem that follows from having a CFG that contains a </a:t>
            </a:r>
            <a:r>
              <a:rPr lang="en-GB" b="1" dirty="0"/>
              <a:t>left-recursive non-terminal symbol.</a:t>
            </a:r>
          </a:p>
          <a:p>
            <a:r>
              <a:rPr lang="en-GB" b="1" dirty="0"/>
              <a:t>Leftmost BFS:</a:t>
            </a:r>
            <a:r>
              <a:rPr lang="en-GB" dirty="0"/>
              <a:t> Takes exponential time and memory usage in presence of a left-recursive production rule.</a:t>
            </a:r>
          </a:p>
          <a:p>
            <a:r>
              <a:rPr lang="en-GB" b="1" dirty="0"/>
              <a:t>Leftmost DFS:</a:t>
            </a:r>
            <a:r>
              <a:rPr lang="en-GB" dirty="0"/>
              <a:t> Fails, plain and simple.</a:t>
            </a:r>
          </a:p>
          <a:p>
            <a:r>
              <a:rPr lang="en-GB" b="1" dirty="0"/>
              <a:t>Rightmost BFS and DFS will have the same problems in presence of a right-recursive production rule.</a:t>
            </a:r>
          </a:p>
          <a:p>
            <a:endParaRPr lang="en-GB" b="1" dirty="0"/>
          </a:p>
          <a:p>
            <a:pPr marL="0" indent="0">
              <a:buNone/>
            </a:pPr>
            <a:r>
              <a:rPr lang="en-GB" b="1" dirty="0">
                <a:solidFill>
                  <a:srgbClr val="C00000"/>
                </a:solidFill>
              </a:rPr>
              <a:t>Serious issue: </a:t>
            </a:r>
            <a:r>
              <a:rPr lang="en-GB" dirty="0">
                <a:solidFill>
                  <a:srgbClr val="C00000"/>
                </a:solidFill>
              </a:rPr>
              <a:t>It might not always be easy or even possible to remove left- or right-recursive production rules from a given CFG, as it often serves for defining left- and right-associativity in certain operators!</a:t>
            </a:r>
          </a:p>
          <a:p>
            <a:pPr marL="0" indent="0">
              <a:buNone/>
            </a:pPr>
            <a:endParaRPr lang="en-GB" dirty="0"/>
          </a:p>
          <a:p>
            <a:endParaRPr lang="en-GB" b="1" dirty="0"/>
          </a:p>
        </p:txBody>
      </p:sp>
    </p:spTree>
    <p:extLst>
      <p:ext uri="{BB962C8B-B14F-4D97-AF65-F5344CB8AC3E}">
        <p14:creationId xmlns:p14="http://schemas.microsoft.com/office/powerpoint/2010/main" val="417158358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DEF828-CD5E-5447-BB7F-E319C7CE1AED}"/>
              </a:ext>
            </a:extLst>
          </p:cNvPr>
          <p:cNvSpPr>
            <a:spLocks noGrp="1"/>
          </p:cNvSpPr>
          <p:nvPr>
            <p:ph type="title"/>
          </p:nvPr>
        </p:nvSpPr>
        <p:spPr/>
        <p:txBody>
          <a:bodyPr/>
          <a:lstStyle/>
          <a:p>
            <a:r>
              <a:rPr lang="en-GB" dirty="0"/>
              <a:t>The problem with Leftmost BFS and DFS</a:t>
            </a:r>
            <a:endParaRPr lang="en-SG" dirty="0"/>
          </a:p>
        </p:txBody>
      </p:sp>
      <p:sp>
        <p:nvSpPr>
          <p:cNvPr id="3" name="Content Placeholder 2">
            <a:extLst>
              <a:ext uri="{FF2B5EF4-FFF2-40B4-BE49-F238E27FC236}">
                <a16:creationId xmlns:a16="http://schemas.microsoft.com/office/drawing/2014/main" id="{D32BC507-A889-BED7-C3DA-AD9D02A9CD71}"/>
              </a:ext>
            </a:extLst>
          </p:cNvPr>
          <p:cNvSpPr>
            <a:spLocks noGrp="1"/>
          </p:cNvSpPr>
          <p:nvPr>
            <p:ph idx="1"/>
          </p:nvPr>
        </p:nvSpPr>
        <p:spPr>
          <a:xfrm>
            <a:off x="838200" y="1825624"/>
            <a:ext cx="10515600" cy="5032375"/>
          </a:xfrm>
        </p:spPr>
        <p:txBody>
          <a:bodyPr>
            <a:normAutofit/>
          </a:bodyPr>
          <a:lstStyle/>
          <a:p>
            <a:pPr marL="0" indent="0">
              <a:buNone/>
            </a:pPr>
            <a:r>
              <a:rPr lang="en-GB" dirty="0"/>
              <a:t>Both Leftmost BFS and Leftmost DFS have a problem that follows from having a CFG that contains a </a:t>
            </a:r>
            <a:r>
              <a:rPr lang="en-GB" b="1" dirty="0"/>
              <a:t>left-recursive non-terminal symbol.</a:t>
            </a:r>
          </a:p>
          <a:p>
            <a:r>
              <a:rPr lang="en-GB" b="1" dirty="0"/>
              <a:t>Leftmost BFS:</a:t>
            </a:r>
            <a:r>
              <a:rPr lang="en-GB" dirty="0"/>
              <a:t> Takes exponential time and memory usage in presence of a left-recursive production rule.</a:t>
            </a:r>
          </a:p>
          <a:p>
            <a:r>
              <a:rPr lang="en-GB" b="1" dirty="0"/>
              <a:t>Leftmost DFS:</a:t>
            </a:r>
            <a:r>
              <a:rPr lang="en-GB" dirty="0"/>
              <a:t> Fails, plain and simple.</a:t>
            </a:r>
          </a:p>
          <a:p>
            <a:r>
              <a:rPr lang="en-GB" b="1" dirty="0"/>
              <a:t>Rightmost BFS and DFS will have the same problems in presence of a right-recursive production rule.</a:t>
            </a:r>
          </a:p>
          <a:p>
            <a:endParaRPr lang="en-GB" b="1" dirty="0"/>
          </a:p>
          <a:p>
            <a:pPr marL="0" indent="0">
              <a:buNone/>
            </a:pPr>
            <a:r>
              <a:rPr lang="en-GB" b="1" dirty="0">
                <a:solidFill>
                  <a:srgbClr val="C00000"/>
                </a:solidFill>
              </a:rPr>
              <a:t>Conclusion: </a:t>
            </a:r>
            <a:r>
              <a:rPr lang="en-GB" dirty="0">
                <a:solidFill>
                  <a:srgbClr val="C00000"/>
                </a:solidFill>
              </a:rPr>
              <a:t>Using Leftmost/Rightmost BFS/DFS is not going to help with our parsing problem. Need more sophisticated algorithms.</a:t>
            </a:r>
          </a:p>
          <a:p>
            <a:pPr marL="0" indent="0">
              <a:buNone/>
            </a:pPr>
            <a:endParaRPr lang="en-GB" dirty="0"/>
          </a:p>
          <a:p>
            <a:endParaRPr lang="en-GB" b="1" dirty="0"/>
          </a:p>
        </p:txBody>
      </p:sp>
    </p:spTree>
    <p:extLst>
      <p:ext uri="{BB962C8B-B14F-4D97-AF65-F5344CB8AC3E}">
        <p14:creationId xmlns:p14="http://schemas.microsoft.com/office/powerpoint/2010/main" val="1924113904"/>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897497-F51F-0CD4-FF4B-EAC140DB925D}"/>
              </a:ext>
            </a:extLst>
          </p:cNvPr>
          <p:cNvSpPr>
            <a:spLocks noGrp="1"/>
          </p:cNvSpPr>
          <p:nvPr>
            <p:ph type="title"/>
          </p:nvPr>
        </p:nvSpPr>
        <p:spPr/>
        <p:txBody>
          <a:bodyPr/>
          <a:lstStyle/>
          <a:p>
            <a:r>
              <a:rPr lang="en-GB" dirty="0"/>
              <a:t>Quiz time!</a:t>
            </a:r>
            <a:endParaRPr lang="en-SG" dirty="0"/>
          </a:p>
        </p:txBody>
      </p:sp>
      <p:sp>
        <p:nvSpPr>
          <p:cNvPr id="3" name="Content Placeholder 2">
            <a:extLst>
              <a:ext uri="{FF2B5EF4-FFF2-40B4-BE49-F238E27FC236}">
                <a16:creationId xmlns:a16="http://schemas.microsoft.com/office/drawing/2014/main" id="{7E99B649-33D4-272E-D9C1-C050DE368000}"/>
              </a:ext>
            </a:extLst>
          </p:cNvPr>
          <p:cNvSpPr>
            <a:spLocks noGrp="1"/>
          </p:cNvSpPr>
          <p:nvPr>
            <p:ph idx="1"/>
          </p:nvPr>
        </p:nvSpPr>
        <p:spPr>
          <a:xfrm>
            <a:off x="838200" y="1825624"/>
            <a:ext cx="10515600" cy="5032375"/>
          </a:xfrm>
        </p:spPr>
        <p:txBody>
          <a:bodyPr>
            <a:normAutofit/>
          </a:bodyPr>
          <a:lstStyle/>
          <a:p>
            <a:pPr marL="0" indent="0">
              <a:buNone/>
            </a:pPr>
            <a:r>
              <a:rPr lang="en-GB" b="1" dirty="0"/>
              <a:t>What is the difference between leftmost and rightmost derivations?</a:t>
            </a:r>
          </a:p>
          <a:p>
            <a:pPr marL="514350" indent="-514350">
              <a:buFont typeface="+mj-lt"/>
              <a:buAutoNum type="alphaUcPeriod"/>
            </a:pPr>
            <a:r>
              <a:rPr lang="en-GB" dirty="0"/>
              <a:t>Leftmost derivations start with the rightmost non-terminal and work towards the leftmost non-terminal, while rightmost derivations do the opposite.</a:t>
            </a:r>
          </a:p>
          <a:p>
            <a:pPr marL="514350" indent="-514350">
              <a:buFont typeface="+mj-lt"/>
              <a:buAutoNum type="alphaUcPeriod"/>
            </a:pPr>
            <a:r>
              <a:rPr lang="en-GB" dirty="0"/>
              <a:t>Leftmost derivations start with the leftmost non-terminal and work towards the rightmost non-terminal, while rightmost derivations do the opposite.</a:t>
            </a:r>
          </a:p>
          <a:p>
            <a:pPr marL="514350" indent="-514350">
              <a:buFont typeface="+mj-lt"/>
              <a:buAutoNum type="alphaUcPeriod"/>
            </a:pPr>
            <a:r>
              <a:rPr lang="en-GB" dirty="0"/>
              <a:t>Leftmost derivations and rightmost derivations are the same thing, what matters is whether BFS or DFS is used only. </a:t>
            </a:r>
          </a:p>
          <a:p>
            <a:pPr marL="514350" indent="-514350">
              <a:buFont typeface="+mj-lt"/>
              <a:buAutoNum type="alphaUcPeriod"/>
            </a:pPr>
            <a:r>
              <a:rPr lang="en-GB" dirty="0"/>
              <a:t>Leftmost derivations are used to describe languages that read from left to right (e.g. English), rightmost do the opposite (e.g. Arabic).</a:t>
            </a:r>
            <a:endParaRPr lang="en-SG" dirty="0"/>
          </a:p>
        </p:txBody>
      </p:sp>
    </p:spTree>
    <p:extLst>
      <p:ext uri="{BB962C8B-B14F-4D97-AF65-F5344CB8AC3E}">
        <p14:creationId xmlns:p14="http://schemas.microsoft.com/office/powerpoint/2010/main" val="226476072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897497-F51F-0CD4-FF4B-EAC140DB925D}"/>
              </a:ext>
            </a:extLst>
          </p:cNvPr>
          <p:cNvSpPr>
            <a:spLocks noGrp="1"/>
          </p:cNvSpPr>
          <p:nvPr>
            <p:ph type="title"/>
          </p:nvPr>
        </p:nvSpPr>
        <p:spPr/>
        <p:txBody>
          <a:bodyPr/>
          <a:lstStyle/>
          <a:p>
            <a:r>
              <a:rPr lang="en-GB" dirty="0"/>
              <a:t>Quiz time!</a:t>
            </a:r>
            <a:endParaRPr lang="en-SG" dirty="0"/>
          </a:p>
        </p:txBody>
      </p:sp>
      <p:sp>
        <p:nvSpPr>
          <p:cNvPr id="3" name="Content Placeholder 2">
            <a:extLst>
              <a:ext uri="{FF2B5EF4-FFF2-40B4-BE49-F238E27FC236}">
                <a16:creationId xmlns:a16="http://schemas.microsoft.com/office/drawing/2014/main" id="{7E99B649-33D4-272E-D9C1-C050DE368000}"/>
              </a:ext>
            </a:extLst>
          </p:cNvPr>
          <p:cNvSpPr>
            <a:spLocks noGrp="1"/>
          </p:cNvSpPr>
          <p:nvPr>
            <p:ph idx="1"/>
          </p:nvPr>
        </p:nvSpPr>
        <p:spPr>
          <a:xfrm>
            <a:off x="838200" y="1825624"/>
            <a:ext cx="10515600" cy="5032375"/>
          </a:xfrm>
        </p:spPr>
        <p:txBody>
          <a:bodyPr>
            <a:normAutofit/>
          </a:bodyPr>
          <a:lstStyle/>
          <a:p>
            <a:pPr marL="0" indent="0">
              <a:buNone/>
            </a:pPr>
            <a:r>
              <a:rPr lang="en-GB" b="1" dirty="0"/>
              <a:t>What is the difference between leftmost and rightmost derivations?</a:t>
            </a:r>
          </a:p>
          <a:p>
            <a:pPr marL="514350" indent="-514350">
              <a:buFont typeface="+mj-lt"/>
              <a:buAutoNum type="alphaUcPeriod"/>
            </a:pPr>
            <a:r>
              <a:rPr lang="en-GB" dirty="0"/>
              <a:t>Leftmost derivations start with the rightmost non-terminal and work towards the leftmost non-terminal, while rightmost derivations do the opposite.</a:t>
            </a:r>
          </a:p>
          <a:p>
            <a:pPr marL="514350" indent="-514350">
              <a:buFont typeface="+mj-lt"/>
              <a:buAutoNum type="alphaUcPeriod"/>
            </a:pPr>
            <a:r>
              <a:rPr lang="en-GB" b="1" dirty="0">
                <a:solidFill>
                  <a:srgbClr val="00B050"/>
                </a:solidFill>
              </a:rPr>
              <a:t>Leftmost derivations start with the leftmost non-terminal and work towards the rightmost non-terminal, while rightmost derivations do the opposite.</a:t>
            </a:r>
          </a:p>
          <a:p>
            <a:pPr marL="514350" indent="-514350">
              <a:buFont typeface="+mj-lt"/>
              <a:buAutoNum type="alphaUcPeriod"/>
            </a:pPr>
            <a:r>
              <a:rPr lang="en-GB" dirty="0"/>
              <a:t>Leftmost derivations and rightmost derivations are the same thing, what matters is whether BFS or DFS is used only. </a:t>
            </a:r>
          </a:p>
          <a:p>
            <a:pPr marL="514350" indent="-514350">
              <a:buFont typeface="+mj-lt"/>
              <a:buAutoNum type="alphaUcPeriod"/>
            </a:pPr>
            <a:r>
              <a:rPr lang="en-GB" dirty="0"/>
              <a:t>Leftmost derivations are used to describe languages that read from left to right (e.g. English), rightmost do the opposite (e.g. Arabic).</a:t>
            </a:r>
            <a:endParaRPr lang="en-SG" dirty="0"/>
          </a:p>
        </p:txBody>
      </p:sp>
    </p:spTree>
    <p:extLst>
      <p:ext uri="{BB962C8B-B14F-4D97-AF65-F5344CB8AC3E}">
        <p14:creationId xmlns:p14="http://schemas.microsoft.com/office/powerpoint/2010/main" val="1420927921"/>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D6AE61-51BF-2010-73B9-BA47FABA0948}"/>
              </a:ext>
            </a:extLst>
          </p:cNvPr>
          <p:cNvSpPr>
            <a:spLocks noGrp="1"/>
          </p:cNvSpPr>
          <p:nvPr>
            <p:ph type="title"/>
          </p:nvPr>
        </p:nvSpPr>
        <p:spPr/>
        <p:txBody>
          <a:bodyPr/>
          <a:lstStyle/>
          <a:p>
            <a:r>
              <a:rPr lang="en-GB" dirty="0"/>
              <a:t>Quiz time!</a:t>
            </a:r>
            <a:endParaRPr lang="en-SG" dirty="0"/>
          </a:p>
        </p:txBody>
      </p:sp>
      <p:sp>
        <p:nvSpPr>
          <p:cNvPr id="3" name="Content Placeholder 2">
            <a:extLst>
              <a:ext uri="{FF2B5EF4-FFF2-40B4-BE49-F238E27FC236}">
                <a16:creationId xmlns:a16="http://schemas.microsoft.com/office/drawing/2014/main" id="{4D28EC35-4998-27CB-4F58-A6F714C808D8}"/>
              </a:ext>
            </a:extLst>
          </p:cNvPr>
          <p:cNvSpPr>
            <a:spLocks noGrp="1"/>
          </p:cNvSpPr>
          <p:nvPr>
            <p:ph idx="1"/>
          </p:nvPr>
        </p:nvSpPr>
        <p:spPr/>
        <p:txBody>
          <a:bodyPr/>
          <a:lstStyle/>
          <a:p>
            <a:pPr marL="0" indent="0">
              <a:buNone/>
            </a:pPr>
            <a:r>
              <a:rPr lang="en-GB" b="1" dirty="0"/>
              <a:t>When parsing, which algorithm is the best?</a:t>
            </a:r>
          </a:p>
          <a:p>
            <a:pPr marL="514350" indent="-514350">
              <a:buFont typeface="+mj-lt"/>
              <a:buAutoNum type="alphaUcPeriod"/>
            </a:pPr>
            <a:r>
              <a:rPr lang="en-GB" dirty="0"/>
              <a:t>BFS, always because it is guaranteed to converge.</a:t>
            </a:r>
          </a:p>
          <a:p>
            <a:pPr marL="514350" indent="-514350">
              <a:buFont typeface="+mj-lt"/>
              <a:buAutoNum type="alphaUcPeriod"/>
            </a:pPr>
            <a:r>
              <a:rPr lang="en-GB" dirty="0"/>
              <a:t>DFS, because it is guaranteed to converge, it is also faster and more efficient than BFS.</a:t>
            </a:r>
          </a:p>
          <a:p>
            <a:pPr marL="514350" indent="-514350">
              <a:buFont typeface="+mj-lt"/>
              <a:buAutoNum type="alphaUcPeriod"/>
            </a:pPr>
            <a:r>
              <a:rPr lang="en-GB" dirty="0"/>
              <a:t>When doing the graph search, we should in fact use DFS on some branches and BFS on some other branches of the graph.</a:t>
            </a:r>
          </a:p>
          <a:p>
            <a:pPr marL="514350" indent="-514350">
              <a:buFont typeface="+mj-lt"/>
              <a:buAutoNum type="alphaUcPeriod"/>
            </a:pPr>
            <a:r>
              <a:rPr lang="en-GB" dirty="0"/>
              <a:t>Honestly, all these algorithms have problems.</a:t>
            </a:r>
            <a:endParaRPr lang="en-SG" dirty="0"/>
          </a:p>
        </p:txBody>
      </p:sp>
    </p:spTree>
    <p:extLst>
      <p:ext uri="{BB962C8B-B14F-4D97-AF65-F5344CB8AC3E}">
        <p14:creationId xmlns:p14="http://schemas.microsoft.com/office/powerpoint/2010/main" val="393445138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D6AE61-51BF-2010-73B9-BA47FABA0948}"/>
              </a:ext>
            </a:extLst>
          </p:cNvPr>
          <p:cNvSpPr>
            <a:spLocks noGrp="1"/>
          </p:cNvSpPr>
          <p:nvPr>
            <p:ph type="title"/>
          </p:nvPr>
        </p:nvSpPr>
        <p:spPr/>
        <p:txBody>
          <a:bodyPr/>
          <a:lstStyle/>
          <a:p>
            <a:r>
              <a:rPr lang="en-GB" dirty="0"/>
              <a:t>Quiz time!</a:t>
            </a:r>
            <a:endParaRPr lang="en-SG" dirty="0"/>
          </a:p>
        </p:txBody>
      </p:sp>
      <p:sp>
        <p:nvSpPr>
          <p:cNvPr id="3" name="Content Placeholder 2">
            <a:extLst>
              <a:ext uri="{FF2B5EF4-FFF2-40B4-BE49-F238E27FC236}">
                <a16:creationId xmlns:a16="http://schemas.microsoft.com/office/drawing/2014/main" id="{4D28EC35-4998-27CB-4F58-A6F714C808D8}"/>
              </a:ext>
            </a:extLst>
          </p:cNvPr>
          <p:cNvSpPr>
            <a:spLocks noGrp="1"/>
          </p:cNvSpPr>
          <p:nvPr>
            <p:ph idx="1"/>
          </p:nvPr>
        </p:nvSpPr>
        <p:spPr>
          <a:xfrm>
            <a:off x="838200" y="1825624"/>
            <a:ext cx="10515600" cy="5032375"/>
          </a:xfrm>
        </p:spPr>
        <p:txBody>
          <a:bodyPr>
            <a:normAutofit/>
          </a:bodyPr>
          <a:lstStyle/>
          <a:p>
            <a:pPr marL="0" indent="0">
              <a:buNone/>
            </a:pPr>
            <a:r>
              <a:rPr lang="en-GB" b="1" dirty="0"/>
              <a:t>When parsing, which algorithm is the best?</a:t>
            </a:r>
          </a:p>
          <a:p>
            <a:pPr marL="514350" indent="-514350">
              <a:buFont typeface="+mj-lt"/>
              <a:buAutoNum type="alphaUcPeriod"/>
            </a:pPr>
            <a:r>
              <a:rPr lang="en-GB" b="1" dirty="0">
                <a:solidFill>
                  <a:srgbClr val="C00000"/>
                </a:solidFill>
              </a:rPr>
              <a:t>BFS, always because it is guaranteed to converge. (Yes, but it has another problem, its heavy memory and computational cost)</a:t>
            </a:r>
          </a:p>
          <a:p>
            <a:pPr marL="514350" indent="-514350">
              <a:buFont typeface="+mj-lt"/>
              <a:buAutoNum type="alphaUcPeriod"/>
            </a:pPr>
            <a:r>
              <a:rPr lang="en-GB" b="1" dirty="0">
                <a:solidFill>
                  <a:srgbClr val="C00000"/>
                </a:solidFill>
              </a:rPr>
              <a:t>DFS, because it is guaranteed to converge, it is also faster and more efficient than BFS (Incorrect, it will fail miserably with recursive grammars)</a:t>
            </a:r>
          </a:p>
          <a:p>
            <a:pPr marL="514350" indent="-514350">
              <a:buFont typeface="+mj-lt"/>
              <a:buAutoNum type="alphaUcPeriod"/>
            </a:pPr>
            <a:r>
              <a:rPr lang="en-GB" b="1" dirty="0">
                <a:solidFill>
                  <a:srgbClr val="C00000"/>
                </a:solidFill>
              </a:rPr>
              <a:t>When doing the graph search, we should in fact use DFS on some branches and BFS on some other branches of the graph. (And how exactly do you plan to do that?)</a:t>
            </a:r>
          </a:p>
          <a:p>
            <a:pPr marL="514350" indent="-514350">
              <a:buFont typeface="+mj-lt"/>
              <a:buAutoNum type="alphaUcPeriod"/>
            </a:pPr>
            <a:r>
              <a:rPr lang="en-GB" b="1" dirty="0">
                <a:solidFill>
                  <a:srgbClr val="00B050"/>
                </a:solidFill>
              </a:rPr>
              <a:t>Honestly, all these algorithms have problems.</a:t>
            </a:r>
            <a:endParaRPr lang="en-SG" b="1" dirty="0">
              <a:solidFill>
                <a:srgbClr val="00B050"/>
              </a:solidFill>
            </a:endParaRPr>
          </a:p>
        </p:txBody>
      </p:sp>
    </p:spTree>
    <p:extLst>
      <p:ext uri="{BB962C8B-B14F-4D97-AF65-F5344CB8AC3E}">
        <p14:creationId xmlns:p14="http://schemas.microsoft.com/office/powerpoint/2010/main" val="386819031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49E531-0F63-4627-725E-52AFA85BD149}"/>
              </a:ext>
            </a:extLst>
          </p:cNvPr>
          <p:cNvSpPr>
            <a:spLocks noGrp="1"/>
          </p:cNvSpPr>
          <p:nvPr>
            <p:ph type="title"/>
          </p:nvPr>
        </p:nvSpPr>
        <p:spPr/>
        <p:txBody>
          <a:bodyPr/>
          <a:lstStyle/>
          <a:p>
            <a:r>
              <a:rPr lang="en-GB" dirty="0"/>
              <a:t>Quiz time!</a:t>
            </a:r>
            <a:endParaRPr lang="en-SG" dirty="0"/>
          </a:p>
        </p:txBody>
      </p:sp>
      <p:sp>
        <p:nvSpPr>
          <p:cNvPr id="3" name="Content Placeholder 2">
            <a:extLst>
              <a:ext uri="{FF2B5EF4-FFF2-40B4-BE49-F238E27FC236}">
                <a16:creationId xmlns:a16="http://schemas.microsoft.com/office/drawing/2014/main" id="{98A6B28A-864B-BEA7-3AE6-B62D5E408011}"/>
              </a:ext>
            </a:extLst>
          </p:cNvPr>
          <p:cNvSpPr>
            <a:spLocks noGrp="1"/>
          </p:cNvSpPr>
          <p:nvPr>
            <p:ph idx="1"/>
          </p:nvPr>
        </p:nvSpPr>
        <p:spPr/>
        <p:txBody>
          <a:bodyPr/>
          <a:lstStyle/>
          <a:p>
            <a:pPr marL="0" indent="0">
              <a:buNone/>
            </a:pPr>
            <a:r>
              <a:rPr lang="en-SG" b="1" dirty="0"/>
              <a:t>Which of the following is a left-recursive grammar?</a:t>
            </a:r>
          </a:p>
          <a:p>
            <a:pPr marL="514350" indent="-514350">
              <a:buFont typeface="+mj-lt"/>
              <a:buAutoNum type="alphaUcPeriod"/>
            </a:pPr>
            <a:r>
              <a:rPr lang="en-SG" dirty="0"/>
              <a:t>S → </a:t>
            </a:r>
            <a:r>
              <a:rPr lang="en-SG" dirty="0" err="1"/>
              <a:t>aS</a:t>
            </a:r>
            <a:r>
              <a:rPr lang="en-SG" dirty="0"/>
              <a:t> | b</a:t>
            </a:r>
          </a:p>
          <a:p>
            <a:pPr marL="514350" indent="-514350">
              <a:buFont typeface="+mj-lt"/>
              <a:buAutoNum type="alphaUcPeriod"/>
            </a:pPr>
            <a:r>
              <a:rPr lang="en-SG" dirty="0"/>
              <a:t>S → AB, A → </a:t>
            </a:r>
            <a:r>
              <a:rPr lang="en-SG" dirty="0" err="1"/>
              <a:t>aAa</a:t>
            </a:r>
            <a:r>
              <a:rPr lang="en-SG" dirty="0"/>
              <a:t> | a, B → </a:t>
            </a:r>
            <a:r>
              <a:rPr lang="en-SG" dirty="0" err="1"/>
              <a:t>bBb</a:t>
            </a:r>
            <a:r>
              <a:rPr lang="en-SG" dirty="0"/>
              <a:t> | b</a:t>
            </a:r>
          </a:p>
          <a:p>
            <a:pPr marL="514350" indent="-514350">
              <a:buFont typeface="+mj-lt"/>
              <a:buAutoNum type="alphaUcPeriod"/>
            </a:pPr>
            <a:r>
              <a:rPr lang="en-SG" dirty="0"/>
              <a:t>S → Sb | </a:t>
            </a:r>
            <a:r>
              <a:rPr lang="en-GB" dirty="0"/>
              <a:t>a | b</a:t>
            </a:r>
          </a:p>
          <a:p>
            <a:pPr marL="514350" indent="-514350">
              <a:buFont typeface="+mj-lt"/>
              <a:buAutoNum type="alphaUcPeriod"/>
            </a:pPr>
            <a:r>
              <a:rPr lang="en-SG" dirty="0"/>
              <a:t>S → Aa | </a:t>
            </a:r>
            <a:r>
              <a:rPr lang="en-SG" dirty="0" err="1"/>
              <a:t>bB</a:t>
            </a:r>
            <a:r>
              <a:rPr lang="en-SG" dirty="0"/>
              <a:t>, A → SA | a, B → SB | b, S → </a:t>
            </a:r>
            <a:r>
              <a:rPr lang="en-GB" dirty="0"/>
              <a:t>a | b</a:t>
            </a:r>
            <a:endParaRPr lang="el-GR" dirty="0"/>
          </a:p>
        </p:txBody>
      </p:sp>
    </p:spTree>
    <p:extLst>
      <p:ext uri="{BB962C8B-B14F-4D97-AF65-F5344CB8AC3E}">
        <p14:creationId xmlns:p14="http://schemas.microsoft.com/office/powerpoint/2010/main" val="1753605779"/>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49E531-0F63-4627-725E-52AFA85BD149}"/>
              </a:ext>
            </a:extLst>
          </p:cNvPr>
          <p:cNvSpPr>
            <a:spLocks noGrp="1"/>
          </p:cNvSpPr>
          <p:nvPr>
            <p:ph type="title"/>
          </p:nvPr>
        </p:nvSpPr>
        <p:spPr/>
        <p:txBody>
          <a:bodyPr/>
          <a:lstStyle/>
          <a:p>
            <a:r>
              <a:rPr lang="en-GB" dirty="0"/>
              <a:t>Quiz time!</a:t>
            </a:r>
            <a:endParaRPr lang="en-SG" dirty="0"/>
          </a:p>
        </p:txBody>
      </p:sp>
      <p:sp>
        <p:nvSpPr>
          <p:cNvPr id="3" name="Content Placeholder 2">
            <a:extLst>
              <a:ext uri="{FF2B5EF4-FFF2-40B4-BE49-F238E27FC236}">
                <a16:creationId xmlns:a16="http://schemas.microsoft.com/office/drawing/2014/main" id="{98A6B28A-864B-BEA7-3AE6-B62D5E408011}"/>
              </a:ext>
            </a:extLst>
          </p:cNvPr>
          <p:cNvSpPr>
            <a:spLocks noGrp="1"/>
          </p:cNvSpPr>
          <p:nvPr>
            <p:ph idx="1"/>
          </p:nvPr>
        </p:nvSpPr>
        <p:spPr/>
        <p:txBody>
          <a:bodyPr/>
          <a:lstStyle/>
          <a:p>
            <a:pPr marL="0" indent="0">
              <a:buNone/>
            </a:pPr>
            <a:r>
              <a:rPr lang="en-SG" b="1" dirty="0"/>
              <a:t>Which of the following is a left-recursive grammar?</a:t>
            </a:r>
          </a:p>
          <a:p>
            <a:pPr marL="514350" indent="-514350">
              <a:buFont typeface="+mj-lt"/>
              <a:buAutoNum type="alphaUcPeriod"/>
            </a:pPr>
            <a:r>
              <a:rPr lang="en-SG" dirty="0"/>
              <a:t>S → </a:t>
            </a:r>
            <a:r>
              <a:rPr lang="en-SG" dirty="0" err="1"/>
              <a:t>aS</a:t>
            </a:r>
            <a:r>
              <a:rPr lang="en-SG" dirty="0"/>
              <a:t> | b</a:t>
            </a:r>
          </a:p>
          <a:p>
            <a:pPr marL="514350" indent="-514350">
              <a:buFont typeface="+mj-lt"/>
              <a:buAutoNum type="alphaUcPeriod"/>
            </a:pPr>
            <a:r>
              <a:rPr lang="en-SG" dirty="0"/>
              <a:t>S → AB, A → </a:t>
            </a:r>
            <a:r>
              <a:rPr lang="en-SG" dirty="0" err="1"/>
              <a:t>aAa</a:t>
            </a:r>
            <a:r>
              <a:rPr lang="en-SG" dirty="0"/>
              <a:t> | a, B → </a:t>
            </a:r>
            <a:r>
              <a:rPr lang="en-SG" dirty="0" err="1"/>
              <a:t>bBb</a:t>
            </a:r>
            <a:r>
              <a:rPr lang="en-SG" dirty="0"/>
              <a:t> | b</a:t>
            </a:r>
          </a:p>
          <a:p>
            <a:pPr marL="514350" indent="-514350">
              <a:buFont typeface="+mj-lt"/>
              <a:buAutoNum type="alphaUcPeriod"/>
            </a:pPr>
            <a:r>
              <a:rPr lang="en-SG" b="1" dirty="0">
                <a:solidFill>
                  <a:srgbClr val="00B050"/>
                </a:solidFill>
              </a:rPr>
              <a:t>S → Sb | </a:t>
            </a:r>
            <a:r>
              <a:rPr lang="en-GB" b="1" dirty="0">
                <a:solidFill>
                  <a:srgbClr val="00B050"/>
                </a:solidFill>
              </a:rPr>
              <a:t>a | b</a:t>
            </a:r>
          </a:p>
          <a:p>
            <a:pPr marL="514350" indent="-514350">
              <a:buFont typeface="+mj-lt"/>
              <a:buAutoNum type="alphaUcPeriod"/>
            </a:pPr>
            <a:r>
              <a:rPr lang="en-SG" b="1" dirty="0">
                <a:solidFill>
                  <a:schemeClr val="accent2"/>
                </a:solidFill>
              </a:rPr>
              <a:t>S → Aa | </a:t>
            </a:r>
            <a:r>
              <a:rPr lang="en-SG" b="1" dirty="0" err="1">
                <a:solidFill>
                  <a:schemeClr val="accent2"/>
                </a:solidFill>
              </a:rPr>
              <a:t>bB</a:t>
            </a:r>
            <a:r>
              <a:rPr lang="en-SG" b="1" dirty="0">
                <a:solidFill>
                  <a:schemeClr val="accent2"/>
                </a:solidFill>
              </a:rPr>
              <a:t>, A → SA | a, B → SB | b, S → </a:t>
            </a:r>
            <a:r>
              <a:rPr lang="en-GB" b="1" dirty="0">
                <a:solidFill>
                  <a:schemeClr val="accent2"/>
                </a:solidFill>
              </a:rPr>
              <a:t>a | b</a:t>
            </a:r>
          </a:p>
          <a:p>
            <a:pPr marL="0" indent="0">
              <a:buNone/>
            </a:pPr>
            <a:r>
              <a:rPr lang="en-GB" b="1" dirty="0">
                <a:solidFill>
                  <a:schemeClr val="accent2"/>
                </a:solidFill>
              </a:rPr>
              <a:t>(S could be seen as a recursive symbol </a:t>
            </a:r>
            <a:r>
              <a:rPr lang="en-GB" b="1">
                <a:solidFill>
                  <a:schemeClr val="accent2"/>
                </a:solidFill>
              </a:rPr>
              <a:t>but we need </a:t>
            </a:r>
            <a:r>
              <a:rPr lang="en-GB" b="1" dirty="0">
                <a:solidFill>
                  <a:schemeClr val="accent2"/>
                </a:solidFill>
              </a:rPr>
              <a:t>to use two production rules in a row, being S </a:t>
            </a:r>
            <a:r>
              <a:rPr lang="en-GB" b="1" dirty="0">
                <a:solidFill>
                  <a:schemeClr val="accent2"/>
                </a:solidFill>
                <a:sym typeface="Wingdings" panose="05000000000000000000" pitchFamily="2" charset="2"/>
              </a:rPr>
              <a:t> Aa and A  SA?)</a:t>
            </a:r>
            <a:endParaRPr lang="el-GR" b="1" dirty="0">
              <a:solidFill>
                <a:schemeClr val="accent2"/>
              </a:solidFill>
            </a:endParaRPr>
          </a:p>
        </p:txBody>
      </p:sp>
    </p:spTree>
    <p:extLst>
      <p:ext uri="{BB962C8B-B14F-4D97-AF65-F5344CB8AC3E}">
        <p14:creationId xmlns:p14="http://schemas.microsoft.com/office/powerpoint/2010/main" val="1356398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92CC6-12AE-724B-217D-8173D0DB94F3}"/>
              </a:ext>
            </a:extLst>
          </p:cNvPr>
          <p:cNvSpPr>
            <a:spLocks noGrp="1"/>
          </p:cNvSpPr>
          <p:nvPr>
            <p:ph type="title"/>
          </p:nvPr>
        </p:nvSpPr>
        <p:spPr/>
        <p:txBody>
          <a:bodyPr/>
          <a:lstStyle/>
          <a:p>
            <a:r>
              <a:rPr lang="en-GB" dirty="0"/>
              <a:t>Predictive Parsing to the rescue?</a:t>
            </a:r>
            <a:endParaRPr lang="en-SG" dirty="0"/>
          </a:p>
        </p:txBody>
      </p:sp>
      <p:sp>
        <p:nvSpPr>
          <p:cNvPr id="3" name="Content Placeholder 2">
            <a:extLst>
              <a:ext uri="{FF2B5EF4-FFF2-40B4-BE49-F238E27FC236}">
                <a16:creationId xmlns:a16="http://schemas.microsoft.com/office/drawing/2014/main" id="{ECAEE9B4-3241-18D6-ED74-5720ED47B244}"/>
              </a:ext>
            </a:extLst>
          </p:cNvPr>
          <p:cNvSpPr>
            <a:spLocks noGrp="1"/>
          </p:cNvSpPr>
          <p:nvPr>
            <p:ph idx="1"/>
          </p:nvPr>
        </p:nvSpPr>
        <p:spPr>
          <a:xfrm>
            <a:off x="838200" y="1825624"/>
            <a:ext cx="10515600" cy="5032375"/>
          </a:xfrm>
        </p:spPr>
        <p:txBody>
          <a:bodyPr>
            <a:normAutofit/>
          </a:bodyPr>
          <a:lstStyle/>
          <a:p>
            <a:pPr marL="0" indent="0">
              <a:buNone/>
            </a:pPr>
            <a:r>
              <a:rPr lang="en-GB" dirty="0"/>
              <a:t>The Leftmost/Rightmost BFS/DFS algorithms are backtracking algorithms.</a:t>
            </a:r>
          </a:p>
          <a:p>
            <a:r>
              <a:rPr lang="en-SG" dirty="0"/>
              <a:t>Try productions and backtrack if they do not work.</a:t>
            </a:r>
          </a:p>
          <a:p>
            <a:r>
              <a:rPr lang="en-SG" dirty="0"/>
              <a:t>Try to match prefix by sheer dumb luck, really.</a:t>
            </a:r>
          </a:p>
          <a:p>
            <a:endParaRPr lang="en-SG" dirty="0"/>
          </a:p>
          <a:p>
            <a:pPr marL="0" indent="0">
              <a:buNone/>
            </a:pPr>
            <a:r>
              <a:rPr lang="en-SG" b="1" dirty="0"/>
              <a:t>Can we do better?</a:t>
            </a:r>
          </a:p>
          <a:p>
            <a:pPr marL="0" indent="0">
              <a:buNone/>
            </a:pPr>
            <a:r>
              <a:rPr lang="en-SG" dirty="0"/>
              <a:t>Yes! With another class of parsing algorithms called </a:t>
            </a:r>
            <a:r>
              <a:rPr lang="en-SG" b="1" dirty="0"/>
              <a:t>predictive parsers</a:t>
            </a:r>
            <a:r>
              <a:rPr lang="en-SG" dirty="0"/>
              <a:t>.</a:t>
            </a:r>
          </a:p>
          <a:p>
            <a:pPr marL="0" indent="0">
              <a:buNone/>
            </a:pPr>
            <a:r>
              <a:rPr lang="en-SG" b="1" dirty="0"/>
              <a:t>Core idea for predictive parsers: At any given time, use the remaining input to predict, without backtracking, which production rule should be used.</a:t>
            </a:r>
          </a:p>
        </p:txBody>
      </p:sp>
    </p:spTree>
    <p:extLst>
      <p:ext uri="{BB962C8B-B14F-4D97-AF65-F5344CB8AC3E}">
        <p14:creationId xmlns:p14="http://schemas.microsoft.com/office/powerpoint/2010/main" val="76382150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D3AFC3-A59B-9F22-0F43-07FFE77BC9BD}"/>
              </a:ext>
            </a:extLst>
          </p:cNvPr>
          <p:cNvSpPr>
            <a:spLocks noGrp="1"/>
          </p:cNvSpPr>
          <p:nvPr>
            <p:ph type="title"/>
          </p:nvPr>
        </p:nvSpPr>
        <p:spPr/>
        <p:txBody>
          <a:bodyPr/>
          <a:lstStyle/>
          <a:p>
            <a:r>
              <a:rPr lang="en-GB" dirty="0"/>
              <a:t>Predictive Parsing to the rescue?</a:t>
            </a:r>
            <a:endParaRPr lang="en-SG" dirty="0"/>
          </a:p>
        </p:txBody>
      </p:sp>
      <p:sp>
        <p:nvSpPr>
          <p:cNvPr id="3" name="Content Placeholder 2">
            <a:extLst>
              <a:ext uri="{FF2B5EF4-FFF2-40B4-BE49-F238E27FC236}">
                <a16:creationId xmlns:a16="http://schemas.microsoft.com/office/drawing/2014/main" id="{BC6C6CE4-754D-2A65-C992-4FDEE0E828EA}"/>
              </a:ext>
            </a:extLst>
          </p:cNvPr>
          <p:cNvSpPr>
            <a:spLocks noGrp="1"/>
          </p:cNvSpPr>
          <p:nvPr>
            <p:ph idx="1"/>
          </p:nvPr>
        </p:nvSpPr>
        <p:spPr>
          <a:xfrm>
            <a:off x="838200" y="1825624"/>
            <a:ext cx="10515600" cy="5032375"/>
          </a:xfrm>
        </p:spPr>
        <p:txBody>
          <a:bodyPr>
            <a:normAutofit/>
          </a:bodyPr>
          <a:lstStyle/>
          <a:p>
            <a:pPr marL="0" indent="0">
              <a:buNone/>
            </a:pPr>
            <a:r>
              <a:rPr lang="en-GB" b="1" dirty="0">
                <a:solidFill>
                  <a:srgbClr val="00B050"/>
                </a:solidFill>
              </a:rPr>
              <a:t>Predictive parsers are fast.</a:t>
            </a:r>
          </a:p>
          <a:p>
            <a:r>
              <a:rPr lang="en-GB" dirty="0"/>
              <a:t>Many predictive parsing algorithms can be made to run in linear time.</a:t>
            </a:r>
          </a:p>
          <a:p>
            <a:r>
              <a:rPr lang="en-GB" dirty="0"/>
              <a:t>As will be seen later, can be table-driven for extra performance.</a:t>
            </a:r>
          </a:p>
          <a:p>
            <a:pPr marL="0" indent="0">
              <a:buNone/>
            </a:pPr>
            <a:endParaRPr lang="en-GB" dirty="0"/>
          </a:p>
          <a:p>
            <a:pPr marL="0" indent="0">
              <a:buNone/>
            </a:pPr>
            <a:r>
              <a:rPr lang="en-GB" b="1" dirty="0">
                <a:solidFill>
                  <a:srgbClr val="C00000"/>
                </a:solidFill>
              </a:rPr>
              <a:t>Predictive parsers are weak.</a:t>
            </a:r>
          </a:p>
          <a:p>
            <a:r>
              <a:rPr lang="en-GB" dirty="0"/>
              <a:t>Not all grammars can be accepted by predictive parsers, and these grammars will have to be readjusted manually.</a:t>
            </a:r>
            <a:br>
              <a:rPr lang="en-GB" dirty="0"/>
            </a:br>
            <a:r>
              <a:rPr lang="en-GB" i="1" dirty="0"/>
              <a:t>(Remember, designing a good CFG is not algorithmically possible!)</a:t>
            </a:r>
          </a:p>
          <a:p>
            <a:r>
              <a:rPr lang="en-GB" dirty="0"/>
              <a:t>Will often trade expressiveness for speed.</a:t>
            </a:r>
            <a:endParaRPr lang="en-SG" dirty="0"/>
          </a:p>
        </p:txBody>
      </p:sp>
    </p:spTree>
    <p:extLst>
      <p:ext uri="{BB962C8B-B14F-4D97-AF65-F5344CB8AC3E}">
        <p14:creationId xmlns:p14="http://schemas.microsoft.com/office/powerpoint/2010/main" val="238513236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D3AFC3-A59B-9F22-0F43-07FFE77BC9BD}"/>
              </a:ext>
            </a:extLst>
          </p:cNvPr>
          <p:cNvSpPr>
            <a:spLocks noGrp="1"/>
          </p:cNvSpPr>
          <p:nvPr>
            <p:ph type="title"/>
          </p:nvPr>
        </p:nvSpPr>
        <p:spPr/>
        <p:txBody>
          <a:bodyPr/>
          <a:lstStyle/>
          <a:p>
            <a:r>
              <a:rPr lang="en-GB" dirty="0"/>
              <a:t>Predictive Parsing to the rescue?</a:t>
            </a:r>
            <a:endParaRPr lang="en-SG" dirty="0"/>
          </a:p>
        </p:txBody>
      </p:sp>
      <p:sp>
        <p:nvSpPr>
          <p:cNvPr id="3" name="Content Placeholder 2">
            <a:extLst>
              <a:ext uri="{FF2B5EF4-FFF2-40B4-BE49-F238E27FC236}">
                <a16:creationId xmlns:a16="http://schemas.microsoft.com/office/drawing/2014/main" id="{BC6C6CE4-754D-2A65-C992-4FDEE0E828EA}"/>
              </a:ext>
            </a:extLst>
          </p:cNvPr>
          <p:cNvSpPr>
            <a:spLocks noGrp="1"/>
          </p:cNvSpPr>
          <p:nvPr>
            <p:ph idx="1"/>
          </p:nvPr>
        </p:nvSpPr>
        <p:spPr>
          <a:xfrm>
            <a:off x="838200" y="1825624"/>
            <a:ext cx="10515600" cy="5032375"/>
          </a:xfrm>
        </p:spPr>
        <p:txBody>
          <a:bodyPr>
            <a:normAutofit/>
          </a:bodyPr>
          <a:lstStyle/>
          <a:p>
            <a:pPr marL="0" indent="0">
              <a:buNone/>
            </a:pPr>
            <a:r>
              <a:rPr lang="en-GB" b="1" dirty="0"/>
              <a:t>Central question for predictive parsers: Given just the start symbol, how do you know which productions to use to get to the input string?</a:t>
            </a:r>
          </a:p>
          <a:p>
            <a:pPr marL="0" indent="0">
              <a:buNone/>
            </a:pPr>
            <a:endParaRPr lang="en-GB" dirty="0"/>
          </a:p>
          <a:p>
            <a:pPr marL="0" indent="0">
              <a:buNone/>
            </a:pPr>
            <a:r>
              <a:rPr lang="en-GB" b="1" dirty="0"/>
              <a:t>Idea: </a:t>
            </a:r>
            <a:r>
              <a:rPr lang="en-GB" dirty="0"/>
              <a:t>Use a lookahead predictive procedure.</a:t>
            </a:r>
          </a:p>
          <a:p>
            <a:r>
              <a:rPr lang="en-GB" dirty="0"/>
              <a:t>When trying to decide which production rule to use to replace the leftmost non-terminal symbol, </a:t>
            </a:r>
            <a:r>
              <a:rPr lang="en-GB" b="1" dirty="0"/>
              <a:t>look at the next </a:t>
            </a:r>
            <a:r>
              <a:rPr lang="en-GB" b="1" i="1" dirty="0"/>
              <a:t>k</a:t>
            </a:r>
            <a:r>
              <a:rPr lang="en-GB" b="1" dirty="0"/>
              <a:t> symbols of the input to help make the decision of which production rules to use or eliminate.</a:t>
            </a:r>
          </a:p>
          <a:p>
            <a:r>
              <a:rPr lang="en-GB" b="1" dirty="0">
                <a:solidFill>
                  <a:srgbClr val="7030A0"/>
                </a:solidFill>
              </a:rPr>
              <a:t>Corollary: Predictive parsing is only possible if the CFG allows to predict which production to use given some lookahead symbols.</a:t>
            </a:r>
            <a:br>
              <a:rPr lang="en-GB" b="1" dirty="0">
                <a:solidFill>
                  <a:srgbClr val="7030A0"/>
                </a:solidFill>
              </a:rPr>
            </a:br>
            <a:r>
              <a:rPr lang="en-GB" b="1" i="1" dirty="0">
                <a:solidFill>
                  <a:srgbClr val="7030A0"/>
                </a:solidFill>
              </a:rPr>
              <a:t>(This might not be possible with all CFGs!)</a:t>
            </a:r>
            <a:endParaRPr lang="en-SG" b="1" i="1" dirty="0">
              <a:solidFill>
                <a:srgbClr val="7030A0"/>
              </a:solidFill>
            </a:endParaRPr>
          </a:p>
        </p:txBody>
      </p:sp>
    </p:spTree>
    <p:extLst>
      <p:ext uri="{BB962C8B-B14F-4D97-AF65-F5344CB8AC3E}">
        <p14:creationId xmlns:p14="http://schemas.microsoft.com/office/powerpoint/2010/main" val="230806382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Graphical user interface&#10;&#10;Description automatically generated with medium confidence">
            <a:extLst>
              <a:ext uri="{FF2B5EF4-FFF2-40B4-BE49-F238E27FC236}">
                <a16:creationId xmlns:a16="http://schemas.microsoft.com/office/drawing/2014/main" id="{09F2AE70-9E7F-BEF4-6603-966DB2948A9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8039" y="0"/>
            <a:ext cx="9155922" cy="6858000"/>
          </a:xfrm>
          <a:prstGeom prst="rect">
            <a:avLst/>
          </a:prstGeom>
        </p:spPr>
      </p:pic>
      <p:sp>
        <p:nvSpPr>
          <p:cNvPr id="9" name="Title 5">
            <a:extLst>
              <a:ext uri="{FF2B5EF4-FFF2-40B4-BE49-F238E27FC236}">
                <a16:creationId xmlns:a16="http://schemas.microsoft.com/office/drawing/2014/main" id="{613CBB0B-1B14-155D-C45F-AB4A248DF88E}"/>
              </a:ext>
            </a:extLst>
          </p:cNvPr>
          <p:cNvSpPr txBox="1">
            <a:spLocks/>
          </p:cNvSpPr>
          <p:nvPr/>
        </p:nvSpPr>
        <p:spPr>
          <a:xfrm>
            <a:off x="838200" y="365126"/>
            <a:ext cx="10515600" cy="801202"/>
          </a:xfrm>
          <a:prstGeom prst="rect">
            <a:avLst/>
          </a:prstGeom>
          <a:solidFill>
            <a:schemeClr val="bg1"/>
          </a:solid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t>An illustrated Predictive Parser at play</a:t>
            </a:r>
            <a:endParaRPr lang="en-SG" dirty="0"/>
          </a:p>
        </p:txBody>
      </p:sp>
    </p:spTree>
    <p:extLst>
      <p:ext uri="{BB962C8B-B14F-4D97-AF65-F5344CB8AC3E}">
        <p14:creationId xmlns:p14="http://schemas.microsoft.com/office/powerpoint/2010/main" val="13227455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Graphical user interface&#10;&#10;Description automatically generated with medium confidence">
            <a:extLst>
              <a:ext uri="{FF2B5EF4-FFF2-40B4-BE49-F238E27FC236}">
                <a16:creationId xmlns:a16="http://schemas.microsoft.com/office/drawing/2014/main" id="{26418270-5AED-FEC2-B279-CDB64F13203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8039" y="0"/>
            <a:ext cx="9155922" cy="6858000"/>
          </a:xfrm>
          <a:prstGeom prst="rect">
            <a:avLst/>
          </a:prstGeom>
        </p:spPr>
      </p:pic>
      <p:sp>
        <p:nvSpPr>
          <p:cNvPr id="6" name="Title 5">
            <a:extLst>
              <a:ext uri="{FF2B5EF4-FFF2-40B4-BE49-F238E27FC236}">
                <a16:creationId xmlns:a16="http://schemas.microsoft.com/office/drawing/2014/main" id="{3401B948-4EB5-E799-6350-207229DA07D1}"/>
              </a:ext>
            </a:extLst>
          </p:cNvPr>
          <p:cNvSpPr txBox="1">
            <a:spLocks/>
          </p:cNvSpPr>
          <p:nvPr/>
        </p:nvSpPr>
        <p:spPr>
          <a:xfrm>
            <a:off x="838200" y="365126"/>
            <a:ext cx="10515600" cy="801202"/>
          </a:xfrm>
          <a:prstGeom prst="rect">
            <a:avLst/>
          </a:prstGeom>
          <a:solidFill>
            <a:schemeClr val="bg1"/>
          </a:solid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t>An illustrated Predictive Parser at play</a:t>
            </a:r>
            <a:endParaRPr lang="en-SG" dirty="0"/>
          </a:p>
        </p:txBody>
      </p:sp>
    </p:spTree>
    <p:extLst>
      <p:ext uri="{BB962C8B-B14F-4D97-AF65-F5344CB8AC3E}">
        <p14:creationId xmlns:p14="http://schemas.microsoft.com/office/powerpoint/2010/main" val="147974364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271B721D-77B2-E28D-8A79-DD4BF91757D2}"/>
              </a:ext>
            </a:extLst>
          </p:cNvPr>
          <p:cNvPicPr>
            <a:picLocks noChangeAspect="1"/>
          </p:cNvPicPr>
          <p:nvPr/>
        </p:nvPicPr>
        <p:blipFill>
          <a:blip r:embed="rId2"/>
          <a:stretch>
            <a:fillRect/>
          </a:stretch>
        </p:blipFill>
        <p:spPr>
          <a:xfrm>
            <a:off x="1518039" y="0"/>
            <a:ext cx="9155922" cy="6858000"/>
          </a:xfrm>
          <a:prstGeom prst="rect">
            <a:avLst/>
          </a:prstGeom>
        </p:spPr>
      </p:pic>
      <p:sp>
        <p:nvSpPr>
          <p:cNvPr id="5" name="Title 5">
            <a:extLst>
              <a:ext uri="{FF2B5EF4-FFF2-40B4-BE49-F238E27FC236}">
                <a16:creationId xmlns:a16="http://schemas.microsoft.com/office/drawing/2014/main" id="{935C20F0-00A4-C293-C026-767EDF93AA41}"/>
              </a:ext>
            </a:extLst>
          </p:cNvPr>
          <p:cNvSpPr txBox="1">
            <a:spLocks/>
          </p:cNvSpPr>
          <p:nvPr/>
        </p:nvSpPr>
        <p:spPr>
          <a:xfrm>
            <a:off x="838200" y="365126"/>
            <a:ext cx="10515600" cy="801202"/>
          </a:xfrm>
          <a:prstGeom prst="rect">
            <a:avLst/>
          </a:prstGeom>
          <a:solidFill>
            <a:schemeClr val="bg1"/>
          </a:solid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t>An illustrated Predictive Parser at play</a:t>
            </a:r>
            <a:endParaRPr lang="en-SG" dirty="0"/>
          </a:p>
        </p:txBody>
      </p:sp>
    </p:spTree>
    <p:extLst>
      <p:ext uri="{BB962C8B-B14F-4D97-AF65-F5344CB8AC3E}">
        <p14:creationId xmlns:p14="http://schemas.microsoft.com/office/powerpoint/2010/main" val="15415877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Graphical user interface&#10;&#10;Description automatically generated with low confidence">
            <a:extLst>
              <a:ext uri="{FF2B5EF4-FFF2-40B4-BE49-F238E27FC236}">
                <a16:creationId xmlns:a16="http://schemas.microsoft.com/office/drawing/2014/main" id="{D4F084AC-3D5C-0DA0-2E90-B40EF55563F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8039" y="0"/>
            <a:ext cx="9155922" cy="6858000"/>
          </a:xfrm>
          <a:prstGeom prst="rect">
            <a:avLst/>
          </a:prstGeom>
        </p:spPr>
      </p:pic>
      <p:sp>
        <p:nvSpPr>
          <p:cNvPr id="4" name="Title 5">
            <a:extLst>
              <a:ext uri="{FF2B5EF4-FFF2-40B4-BE49-F238E27FC236}">
                <a16:creationId xmlns:a16="http://schemas.microsoft.com/office/drawing/2014/main" id="{B8CF459F-701F-0B62-D88E-1ECB64A24D99}"/>
              </a:ext>
            </a:extLst>
          </p:cNvPr>
          <p:cNvSpPr txBox="1">
            <a:spLocks/>
          </p:cNvSpPr>
          <p:nvPr/>
        </p:nvSpPr>
        <p:spPr>
          <a:xfrm>
            <a:off x="838200" y="365126"/>
            <a:ext cx="10515600" cy="801202"/>
          </a:xfrm>
          <a:prstGeom prst="rect">
            <a:avLst/>
          </a:prstGeom>
          <a:solidFill>
            <a:schemeClr val="bg1"/>
          </a:solid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t>An illustrated Predictive Parser at play</a:t>
            </a:r>
            <a:endParaRPr lang="en-SG" dirty="0"/>
          </a:p>
        </p:txBody>
      </p:sp>
    </p:spTree>
    <p:extLst>
      <p:ext uri="{BB962C8B-B14F-4D97-AF65-F5344CB8AC3E}">
        <p14:creationId xmlns:p14="http://schemas.microsoft.com/office/powerpoint/2010/main" val="389749270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Graphical user interface, table&#10;&#10;Description automatically generated">
            <a:extLst>
              <a:ext uri="{FF2B5EF4-FFF2-40B4-BE49-F238E27FC236}">
                <a16:creationId xmlns:a16="http://schemas.microsoft.com/office/drawing/2014/main" id="{8786E6D0-60FF-4498-C2C9-E081CE99099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8039" y="0"/>
            <a:ext cx="9155922" cy="6858000"/>
          </a:xfrm>
          <a:prstGeom prst="rect">
            <a:avLst/>
          </a:prstGeom>
        </p:spPr>
      </p:pic>
      <p:sp>
        <p:nvSpPr>
          <p:cNvPr id="4" name="Title 5">
            <a:extLst>
              <a:ext uri="{FF2B5EF4-FFF2-40B4-BE49-F238E27FC236}">
                <a16:creationId xmlns:a16="http://schemas.microsoft.com/office/drawing/2014/main" id="{1DFE59AE-C46C-C6BD-3C8F-9ECDDECEA606}"/>
              </a:ext>
            </a:extLst>
          </p:cNvPr>
          <p:cNvSpPr txBox="1">
            <a:spLocks/>
          </p:cNvSpPr>
          <p:nvPr/>
        </p:nvSpPr>
        <p:spPr>
          <a:xfrm>
            <a:off x="838200" y="365126"/>
            <a:ext cx="10515600" cy="801202"/>
          </a:xfrm>
          <a:prstGeom prst="rect">
            <a:avLst/>
          </a:prstGeom>
          <a:solidFill>
            <a:schemeClr val="bg1"/>
          </a:solid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t>An illustrated Predictive Parser at play</a:t>
            </a:r>
            <a:endParaRPr lang="en-SG" dirty="0"/>
          </a:p>
        </p:txBody>
      </p:sp>
    </p:spTree>
    <p:extLst>
      <p:ext uri="{BB962C8B-B14F-4D97-AF65-F5344CB8AC3E}">
        <p14:creationId xmlns:p14="http://schemas.microsoft.com/office/powerpoint/2010/main" val="423833397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Graphical user interface, table&#10;&#10;Description automatically generated">
            <a:extLst>
              <a:ext uri="{FF2B5EF4-FFF2-40B4-BE49-F238E27FC236}">
                <a16:creationId xmlns:a16="http://schemas.microsoft.com/office/drawing/2014/main" id="{C4C56426-1C41-976E-D19C-FFBF2C70A7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8039" y="0"/>
            <a:ext cx="9155922" cy="6858000"/>
          </a:xfrm>
          <a:prstGeom prst="rect">
            <a:avLst/>
          </a:prstGeom>
        </p:spPr>
      </p:pic>
      <p:sp>
        <p:nvSpPr>
          <p:cNvPr id="4" name="Title 5">
            <a:extLst>
              <a:ext uri="{FF2B5EF4-FFF2-40B4-BE49-F238E27FC236}">
                <a16:creationId xmlns:a16="http://schemas.microsoft.com/office/drawing/2014/main" id="{6C265F7A-E841-3ADC-6FC2-D8C815E51EC4}"/>
              </a:ext>
            </a:extLst>
          </p:cNvPr>
          <p:cNvSpPr txBox="1">
            <a:spLocks/>
          </p:cNvSpPr>
          <p:nvPr/>
        </p:nvSpPr>
        <p:spPr>
          <a:xfrm>
            <a:off x="838200" y="365126"/>
            <a:ext cx="10515600" cy="801202"/>
          </a:xfrm>
          <a:prstGeom prst="rect">
            <a:avLst/>
          </a:prstGeom>
          <a:solidFill>
            <a:schemeClr val="bg1"/>
          </a:solid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t>An illustrated Predictive Parser at play</a:t>
            </a:r>
            <a:endParaRPr lang="en-SG" dirty="0"/>
          </a:p>
        </p:txBody>
      </p:sp>
    </p:spTree>
    <p:extLst>
      <p:ext uri="{BB962C8B-B14F-4D97-AF65-F5344CB8AC3E}">
        <p14:creationId xmlns:p14="http://schemas.microsoft.com/office/powerpoint/2010/main" val="400368787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Table&#10;&#10;Description automatically generated">
            <a:extLst>
              <a:ext uri="{FF2B5EF4-FFF2-40B4-BE49-F238E27FC236}">
                <a16:creationId xmlns:a16="http://schemas.microsoft.com/office/drawing/2014/main" id="{04A59D31-8456-4722-352C-51D1FDC5608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8039" y="0"/>
            <a:ext cx="9155922" cy="6858000"/>
          </a:xfrm>
          <a:prstGeom prst="rect">
            <a:avLst/>
          </a:prstGeom>
        </p:spPr>
      </p:pic>
      <p:sp>
        <p:nvSpPr>
          <p:cNvPr id="4" name="Title 5">
            <a:extLst>
              <a:ext uri="{FF2B5EF4-FFF2-40B4-BE49-F238E27FC236}">
                <a16:creationId xmlns:a16="http://schemas.microsoft.com/office/drawing/2014/main" id="{DD5E8BBD-A10F-80AC-1513-19D332F6CDFD}"/>
              </a:ext>
            </a:extLst>
          </p:cNvPr>
          <p:cNvSpPr txBox="1">
            <a:spLocks/>
          </p:cNvSpPr>
          <p:nvPr/>
        </p:nvSpPr>
        <p:spPr>
          <a:xfrm>
            <a:off x="838200" y="365126"/>
            <a:ext cx="10515600" cy="801202"/>
          </a:xfrm>
          <a:prstGeom prst="rect">
            <a:avLst/>
          </a:prstGeom>
          <a:solidFill>
            <a:schemeClr val="bg1"/>
          </a:solid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t>An illustrated Predictive Parser at play</a:t>
            </a:r>
            <a:endParaRPr lang="en-SG" dirty="0"/>
          </a:p>
        </p:txBody>
      </p:sp>
    </p:spTree>
    <p:extLst>
      <p:ext uri="{BB962C8B-B14F-4D97-AF65-F5344CB8AC3E}">
        <p14:creationId xmlns:p14="http://schemas.microsoft.com/office/powerpoint/2010/main" val="1767885670"/>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Table&#10;&#10;Description automatically generated">
            <a:extLst>
              <a:ext uri="{FF2B5EF4-FFF2-40B4-BE49-F238E27FC236}">
                <a16:creationId xmlns:a16="http://schemas.microsoft.com/office/drawing/2014/main" id="{12D573B5-C7D3-E80C-4887-60631EF44F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8039" y="0"/>
            <a:ext cx="9155922" cy="6858000"/>
          </a:xfrm>
          <a:prstGeom prst="rect">
            <a:avLst/>
          </a:prstGeom>
        </p:spPr>
      </p:pic>
      <p:sp>
        <p:nvSpPr>
          <p:cNvPr id="4" name="Title 5">
            <a:extLst>
              <a:ext uri="{FF2B5EF4-FFF2-40B4-BE49-F238E27FC236}">
                <a16:creationId xmlns:a16="http://schemas.microsoft.com/office/drawing/2014/main" id="{B1421E35-05D7-61BE-4233-FF128E503A8C}"/>
              </a:ext>
            </a:extLst>
          </p:cNvPr>
          <p:cNvSpPr txBox="1">
            <a:spLocks/>
          </p:cNvSpPr>
          <p:nvPr/>
        </p:nvSpPr>
        <p:spPr>
          <a:xfrm>
            <a:off x="838200" y="365126"/>
            <a:ext cx="10515600" cy="801202"/>
          </a:xfrm>
          <a:prstGeom prst="rect">
            <a:avLst/>
          </a:prstGeom>
          <a:solidFill>
            <a:schemeClr val="bg1"/>
          </a:solid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t>An illustrated Predictive Parser at play</a:t>
            </a:r>
            <a:endParaRPr lang="en-SG" dirty="0"/>
          </a:p>
        </p:txBody>
      </p:sp>
    </p:spTree>
    <p:extLst>
      <p:ext uri="{BB962C8B-B14F-4D97-AF65-F5344CB8AC3E}">
        <p14:creationId xmlns:p14="http://schemas.microsoft.com/office/powerpoint/2010/main" val="404731104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Table&#10;&#10;Description automatically generated">
            <a:extLst>
              <a:ext uri="{FF2B5EF4-FFF2-40B4-BE49-F238E27FC236}">
                <a16:creationId xmlns:a16="http://schemas.microsoft.com/office/drawing/2014/main" id="{4B738F39-D4D7-0C73-AC32-A590F1246C4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8039" y="0"/>
            <a:ext cx="9155922" cy="6858000"/>
          </a:xfrm>
          <a:prstGeom prst="rect">
            <a:avLst/>
          </a:prstGeom>
        </p:spPr>
      </p:pic>
      <p:sp>
        <p:nvSpPr>
          <p:cNvPr id="4" name="Title 5">
            <a:extLst>
              <a:ext uri="{FF2B5EF4-FFF2-40B4-BE49-F238E27FC236}">
                <a16:creationId xmlns:a16="http://schemas.microsoft.com/office/drawing/2014/main" id="{85541523-9312-ED52-A5C1-80CC8C7C8542}"/>
              </a:ext>
            </a:extLst>
          </p:cNvPr>
          <p:cNvSpPr txBox="1">
            <a:spLocks/>
          </p:cNvSpPr>
          <p:nvPr/>
        </p:nvSpPr>
        <p:spPr>
          <a:xfrm>
            <a:off x="838200" y="365126"/>
            <a:ext cx="10515600" cy="801202"/>
          </a:xfrm>
          <a:prstGeom prst="rect">
            <a:avLst/>
          </a:prstGeom>
          <a:solidFill>
            <a:schemeClr val="bg1"/>
          </a:solid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t>An illustrated Predictive Parser at play</a:t>
            </a:r>
            <a:endParaRPr lang="en-SG" dirty="0"/>
          </a:p>
        </p:txBody>
      </p:sp>
    </p:spTree>
    <p:extLst>
      <p:ext uri="{BB962C8B-B14F-4D97-AF65-F5344CB8AC3E}">
        <p14:creationId xmlns:p14="http://schemas.microsoft.com/office/powerpoint/2010/main" val="280634727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Table&#10;&#10;Description automatically generated">
            <a:extLst>
              <a:ext uri="{FF2B5EF4-FFF2-40B4-BE49-F238E27FC236}">
                <a16:creationId xmlns:a16="http://schemas.microsoft.com/office/drawing/2014/main" id="{E52DFA0A-ECFF-343C-BEEE-28EB2779D59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8039" y="0"/>
            <a:ext cx="9155922" cy="6858000"/>
          </a:xfrm>
          <a:prstGeom prst="rect">
            <a:avLst/>
          </a:prstGeom>
        </p:spPr>
      </p:pic>
      <p:sp>
        <p:nvSpPr>
          <p:cNvPr id="4" name="Title 5">
            <a:extLst>
              <a:ext uri="{FF2B5EF4-FFF2-40B4-BE49-F238E27FC236}">
                <a16:creationId xmlns:a16="http://schemas.microsoft.com/office/drawing/2014/main" id="{D71B9D25-D3D3-E77C-E90A-588508C5DDE1}"/>
              </a:ext>
            </a:extLst>
          </p:cNvPr>
          <p:cNvSpPr txBox="1">
            <a:spLocks/>
          </p:cNvSpPr>
          <p:nvPr/>
        </p:nvSpPr>
        <p:spPr>
          <a:xfrm>
            <a:off x="838200" y="365126"/>
            <a:ext cx="10515600" cy="801202"/>
          </a:xfrm>
          <a:prstGeom prst="rect">
            <a:avLst/>
          </a:prstGeom>
          <a:solidFill>
            <a:schemeClr val="bg1"/>
          </a:solid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t>An illustrated Predictive Parser at play</a:t>
            </a:r>
            <a:endParaRPr lang="en-SG" dirty="0"/>
          </a:p>
        </p:txBody>
      </p:sp>
    </p:spTree>
    <p:extLst>
      <p:ext uri="{BB962C8B-B14F-4D97-AF65-F5344CB8AC3E}">
        <p14:creationId xmlns:p14="http://schemas.microsoft.com/office/powerpoint/2010/main" val="118703193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C3DC3B-55EE-60CE-2B13-560C8EF2541F}"/>
              </a:ext>
            </a:extLst>
          </p:cNvPr>
          <p:cNvSpPr>
            <a:spLocks noGrp="1"/>
          </p:cNvSpPr>
          <p:nvPr>
            <p:ph type="title"/>
          </p:nvPr>
        </p:nvSpPr>
        <p:spPr/>
        <p:txBody>
          <a:bodyPr/>
          <a:lstStyle/>
          <a:p>
            <a:r>
              <a:rPr lang="en-GB" dirty="0"/>
              <a:t>Naming convention for predictive parsers</a:t>
            </a:r>
            <a:endParaRPr lang="en-SG" dirty="0"/>
          </a:p>
        </p:txBody>
      </p:sp>
      <p:sp>
        <p:nvSpPr>
          <p:cNvPr id="3" name="Content Placeholder 2">
            <a:extLst>
              <a:ext uri="{FF2B5EF4-FFF2-40B4-BE49-F238E27FC236}">
                <a16:creationId xmlns:a16="http://schemas.microsoft.com/office/drawing/2014/main" id="{8A108208-D009-5BCF-84E6-17118B25B097}"/>
              </a:ext>
            </a:extLst>
          </p:cNvPr>
          <p:cNvSpPr>
            <a:spLocks noGrp="1"/>
          </p:cNvSpPr>
          <p:nvPr>
            <p:ph idx="1"/>
          </p:nvPr>
        </p:nvSpPr>
        <p:spPr>
          <a:xfrm>
            <a:off x="838199" y="1825624"/>
            <a:ext cx="10758443" cy="5032375"/>
          </a:xfrm>
        </p:spPr>
        <p:txBody>
          <a:bodyPr>
            <a:normAutofit/>
          </a:bodyPr>
          <a:lstStyle/>
          <a:p>
            <a:pPr marL="0" indent="0">
              <a:buNone/>
            </a:pPr>
            <a:r>
              <a:rPr lang="en-GB" dirty="0"/>
              <a:t>Top-down predictive parsing has a </a:t>
            </a:r>
            <a:r>
              <a:rPr lang="en-GB" b="1" dirty="0"/>
              <a:t>naming</a:t>
            </a:r>
            <a:r>
              <a:rPr lang="en-GB" dirty="0"/>
              <a:t> </a:t>
            </a:r>
            <a:r>
              <a:rPr lang="en-GB" b="1" dirty="0"/>
              <a:t>convention</a:t>
            </a:r>
            <a:r>
              <a:rPr lang="en-GB" dirty="0"/>
              <a:t>:</a:t>
            </a:r>
          </a:p>
          <a:p>
            <a:r>
              <a:rPr lang="en-GB" dirty="0"/>
              <a:t>First letter: L, if Left-to-right scan of the symbols (R, if right-to-left).</a:t>
            </a:r>
          </a:p>
          <a:p>
            <a:r>
              <a:rPr lang="en-GB" dirty="0"/>
              <a:t>Second letter: L, if Leftmost derivation (R, if rightmost instead).</a:t>
            </a:r>
          </a:p>
          <a:p>
            <a:r>
              <a:rPr lang="en-GB" dirty="0"/>
              <a:t>Number: (1), if one symbol of lookahead (could be another number </a:t>
            </a:r>
            <a:r>
              <a:rPr lang="en-GB" i="1" dirty="0"/>
              <a:t>k</a:t>
            </a:r>
            <a:r>
              <a:rPr lang="en-GB" dirty="0"/>
              <a:t>).</a:t>
            </a:r>
          </a:p>
          <a:p>
            <a:pPr marL="0" indent="0">
              <a:buNone/>
            </a:pPr>
            <a:r>
              <a:rPr lang="en-GB" b="1" dirty="0"/>
              <a:t>LL(1):</a:t>
            </a:r>
            <a:r>
              <a:rPr lang="en-GB" dirty="0"/>
              <a:t> Construct a leftmost derivation (.L), scanning symbols from left to right (L.), for the sequence of symbols.</a:t>
            </a:r>
          </a:p>
          <a:p>
            <a:r>
              <a:rPr lang="en-GB" dirty="0"/>
              <a:t>When replacing a non-terminal, we predict the production rule to use by looking at the next symbol (1) of the input.</a:t>
            </a:r>
          </a:p>
          <a:p>
            <a:r>
              <a:rPr lang="en-GB" b="1" dirty="0"/>
              <a:t>The decision on which production rule to use is then forced.</a:t>
            </a:r>
          </a:p>
          <a:p>
            <a:r>
              <a:rPr lang="en-GB" dirty="0"/>
              <a:t>Our previous demo was technically LL(2), two yellow blocks needed.</a:t>
            </a:r>
            <a:endParaRPr lang="en-SG" dirty="0"/>
          </a:p>
        </p:txBody>
      </p:sp>
    </p:spTree>
    <p:extLst>
      <p:ext uri="{BB962C8B-B14F-4D97-AF65-F5344CB8AC3E}">
        <p14:creationId xmlns:p14="http://schemas.microsoft.com/office/powerpoint/2010/main" val="2671406794"/>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351084-6F02-FC45-C23D-331E9997593B}"/>
              </a:ext>
            </a:extLst>
          </p:cNvPr>
          <p:cNvSpPr>
            <a:spLocks noGrp="1"/>
          </p:cNvSpPr>
          <p:nvPr>
            <p:ph type="title"/>
          </p:nvPr>
        </p:nvSpPr>
        <p:spPr/>
        <p:txBody>
          <a:bodyPr/>
          <a:lstStyle/>
          <a:p>
            <a:r>
              <a:rPr lang="en-GB" dirty="0"/>
              <a:t>LL(1) will often define some parse tables</a:t>
            </a:r>
            <a:endParaRPr lang="en-SG" dirty="0"/>
          </a:p>
        </p:txBody>
      </p:sp>
      <p:pic>
        <p:nvPicPr>
          <p:cNvPr id="5" name="Picture 4" descr="A picture containing table&#10;&#10;Description automatically generated">
            <a:extLst>
              <a:ext uri="{FF2B5EF4-FFF2-40B4-BE49-F238E27FC236}">
                <a16:creationId xmlns:a16="http://schemas.microsoft.com/office/drawing/2014/main" id="{1208E86A-BE71-3570-FE1F-B0B5FAA079F3}"/>
              </a:ext>
            </a:extLst>
          </p:cNvPr>
          <p:cNvPicPr>
            <a:picLocks noChangeAspect="1"/>
          </p:cNvPicPr>
          <p:nvPr/>
        </p:nvPicPr>
        <p:blipFill rotWithShape="1">
          <a:blip r:embed="rId2">
            <a:extLst>
              <a:ext uri="{28A0092B-C50C-407E-A947-70E740481C1C}">
                <a14:useLocalDpi xmlns:a14="http://schemas.microsoft.com/office/drawing/2010/main" val="0"/>
              </a:ext>
            </a:extLst>
          </a:blip>
          <a:srcRect l="9198" t="20968" r="12954" b="16810"/>
          <a:stretch/>
        </p:blipFill>
        <p:spPr>
          <a:xfrm>
            <a:off x="4884615" y="1854979"/>
            <a:ext cx="7127632" cy="4267201"/>
          </a:xfrm>
          <a:prstGeom prst="rect">
            <a:avLst/>
          </a:prstGeom>
        </p:spPr>
      </p:pic>
      <p:sp>
        <p:nvSpPr>
          <p:cNvPr id="6" name="TextBox 5">
            <a:extLst>
              <a:ext uri="{FF2B5EF4-FFF2-40B4-BE49-F238E27FC236}">
                <a16:creationId xmlns:a16="http://schemas.microsoft.com/office/drawing/2014/main" id="{8C059B95-1816-956D-AB91-0F5005F50448}"/>
              </a:ext>
            </a:extLst>
          </p:cNvPr>
          <p:cNvSpPr txBox="1"/>
          <p:nvPr/>
        </p:nvSpPr>
        <p:spPr>
          <a:xfrm>
            <a:off x="236416" y="1854979"/>
            <a:ext cx="4491892" cy="4832092"/>
          </a:xfrm>
          <a:prstGeom prst="rect">
            <a:avLst/>
          </a:prstGeom>
          <a:noFill/>
        </p:spPr>
        <p:txBody>
          <a:bodyPr wrap="square" rtlCol="0">
            <a:spAutoFit/>
          </a:bodyPr>
          <a:lstStyle/>
          <a:p>
            <a:r>
              <a:rPr lang="en-GB" sz="2800" b="1" dirty="0"/>
              <a:t>How to read the LL(1) table.</a:t>
            </a:r>
          </a:p>
          <a:p>
            <a:pPr marL="285750" indent="-285750">
              <a:buFont typeface="Arial" panose="020B0604020202020204" pitchFamily="34" charset="0"/>
              <a:buChar char="•"/>
            </a:pPr>
            <a:r>
              <a:rPr lang="en-GB" sz="2800" b="1" dirty="0"/>
              <a:t>Line</a:t>
            </a:r>
            <a:r>
              <a:rPr lang="en-GB" sz="2800" dirty="0"/>
              <a:t> = Which non-terminal symbol is about to be replaced.</a:t>
            </a:r>
          </a:p>
          <a:p>
            <a:pPr marL="285750" indent="-285750">
              <a:buFont typeface="Arial" panose="020B0604020202020204" pitchFamily="34" charset="0"/>
              <a:buChar char="•"/>
            </a:pPr>
            <a:r>
              <a:rPr lang="en-GB" sz="2800" b="1" dirty="0"/>
              <a:t>Column </a:t>
            </a:r>
            <a:r>
              <a:rPr lang="en-GB" sz="2800" dirty="0"/>
              <a:t>= What is the next terminal symbol in x that must match this non-terminal.</a:t>
            </a:r>
          </a:p>
          <a:p>
            <a:pPr marL="285750" indent="-285750">
              <a:buFont typeface="Arial" panose="020B0604020202020204" pitchFamily="34" charset="0"/>
              <a:buChar char="•"/>
            </a:pPr>
            <a:r>
              <a:rPr lang="en-GB" sz="2800" b="1" dirty="0"/>
              <a:t>In the cell </a:t>
            </a:r>
            <a:r>
              <a:rPr lang="en-GB" sz="2800" dirty="0"/>
              <a:t>= What to replace the non-terminal symbol (line) with.</a:t>
            </a:r>
          </a:p>
        </p:txBody>
      </p:sp>
    </p:spTree>
    <p:extLst>
      <p:ext uri="{BB962C8B-B14F-4D97-AF65-F5344CB8AC3E}">
        <p14:creationId xmlns:p14="http://schemas.microsoft.com/office/powerpoint/2010/main" val="4234435855"/>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picture containing calendar&#10;&#10;Description automatically generated">
            <a:extLst>
              <a:ext uri="{FF2B5EF4-FFF2-40B4-BE49-F238E27FC236}">
                <a16:creationId xmlns:a16="http://schemas.microsoft.com/office/drawing/2014/main" id="{D047CDF8-3033-BF34-0D47-FA0E8110DD6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8039" y="0"/>
            <a:ext cx="9155922" cy="6858000"/>
          </a:xfrm>
          <a:prstGeom prst="rect">
            <a:avLst/>
          </a:prstGeom>
        </p:spPr>
      </p:pic>
      <p:sp>
        <p:nvSpPr>
          <p:cNvPr id="6" name="TextBox 5">
            <a:extLst>
              <a:ext uri="{FF2B5EF4-FFF2-40B4-BE49-F238E27FC236}">
                <a16:creationId xmlns:a16="http://schemas.microsoft.com/office/drawing/2014/main" id="{CDE819E8-C674-67DB-5086-BE125158B644}"/>
              </a:ext>
            </a:extLst>
          </p:cNvPr>
          <p:cNvSpPr txBox="1"/>
          <p:nvPr/>
        </p:nvSpPr>
        <p:spPr>
          <a:xfrm>
            <a:off x="4902080" y="2438719"/>
            <a:ext cx="6125427" cy="3970318"/>
          </a:xfrm>
          <a:prstGeom prst="rect">
            <a:avLst/>
          </a:prstGeom>
          <a:solidFill>
            <a:schemeClr val="bg1"/>
          </a:solidFill>
          <a:ln>
            <a:solidFill>
              <a:schemeClr val="tx1"/>
            </a:solidFill>
          </a:ln>
        </p:spPr>
        <p:txBody>
          <a:bodyPr wrap="square" rtlCol="0">
            <a:spAutoFit/>
          </a:bodyPr>
          <a:lstStyle/>
          <a:p>
            <a:r>
              <a:rPr lang="en-GB" sz="2800" dirty="0"/>
              <a:t>Notes</a:t>
            </a:r>
          </a:p>
          <a:p>
            <a:pPr marL="457200" indent="-457200">
              <a:buFont typeface="Arial" panose="020B0604020202020204" pitchFamily="34" charset="0"/>
              <a:buChar char="•"/>
            </a:pPr>
            <a:r>
              <a:rPr lang="en-GB" sz="2800" dirty="0"/>
              <a:t>The Table on the left now contains the index of the production rule to use to make the replacement (equivalent to previous table)</a:t>
            </a:r>
          </a:p>
          <a:p>
            <a:pPr marL="457200" indent="-457200">
              <a:buFont typeface="Arial" panose="020B0604020202020204" pitchFamily="34" charset="0"/>
              <a:buChar char="•"/>
            </a:pPr>
            <a:r>
              <a:rPr lang="en-GB" sz="2800" dirty="0"/>
              <a:t>Additional symbol: using the $ symbol to indicate the end of the two strings (current string being parsed and target string to match).</a:t>
            </a:r>
            <a:endParaRPr lang="en-SG" sz="2800" dirty="0"/>
          </a:p>
        </p:txBody>
      </p:sp>
      <p:sp>
        <p:nvSpPr>
          <p:cNvPr id="7" name="Title 5">
            <a:extLst>
              <a:ext uri="{FF2B5EF4-FFF2-40B4-BE49-F238E27FC236}">
                <a16:creationId xmlns:a16="http://schemas.microsoft.com/office/drawing/2014/main" id="{6EBEC116-C366-56A7-E0D8-3E519A78374C}"/>
              </a:ext>
            </a:extLst>
          </p:cNvPr>
          <p:cNvSpPr txBox="1">
            <a:spLocks/>
          </p:cNvSpPr>
          <p:nvPr/>
        </p:nvSpPr>
        <p:spPr>
          <a:xfrm>
            <a:off x="838200" y="365126"/>
            <a:ext cx="10515600" cy="603982"/>
          </a:xfrm>
          <a:prstGeom prst="rect">
            <a:avLst/>
          </a:prstGeom>
          <a:solidFill>
            <a:schemeClr val="bg1"/>
          </a:solid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t>LL(1) at work!</a:t>
            </a:r>
            <a:endParaRPr lang="en-SG" dirty="0"/>
          </a:p>
        </p:txBody>
      </p:sp>
    </p:spTree>
    <p:extLst>
      <p:ext uri="{BB962C8B-B14F-4D97-AF65-F5344CB8AC3E}">
        <p14:creationId xmlns:p14="http://schemas.microsoft.com/office/powerpoint/2010/main" val="1377068990"/>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picture containing graphical user interface&#10;&#10;Description automatically generated">
            <a:extLst>
              <a:ext uri="{FF2B5EF4-FFF2-40B4-BE49-F238E27FC236}">
                <a16:creationId xmlns:a16="http://schemas.microsoft.com/office/drawing/2014/main" id="{71525969-5D17-A703-E8E8-6BAE9F26401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8039" y="0"/>
            <a:ext cx="9155922" cy="6858000"/>
          </a:xfrm>
          <a:prstGeom prst="rect">
            <a:avLst/>
          </a:prstGeom>
        </p:spPr>
      </p:pic>
      <p:sp>
        <p:nvSpPr>
          <p:cNvPr id="4" name="Title 5">
            <a:extLst>
              <a:ext uri="{FF2B5EF4-FFF2-40B4-BE49-F238E27FC236}">
                <a16:creationId xmlns:a16="http://schemas.microsoft.com/office/drawing/2014/main" id="{EC14A4C6-8186-2649-66B5-BA185E1FE306}"/>
              </a:ext>
            </a:extLst>
          </p:cNvPr>
          <p:cNvSpPr txBox="1">
            <a:spLocks/>
          </p:cNvSpPr>
          <p:nvPr/>
        </p:nvSpPr>
        <p:spPr>
          <a:xfrm>
            <a:off x="838200" y="365126"/>
            <a:ext cx="10515600" cy="603982"/>
          </a:xfrm>
          <a:prstGeom prst="rect">
            <a:avLst/>
          </a:prstGeom>
          <a:solidFill>
            <a:schemeClr val="bg1"/>
          </a:solid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t>LL(1) at work!</a:t>
            </a:r>
            <a:endParaRPr lang="en-SG" dirty="0"/>
          </a:p>
        </p:txBody>
      </p:sp>
    </p:spTree>
    <p:extLst>
      <p:ext uri="{BB962C8B-B14F-4D97-AF65-F5344CB8AC3E}">
        <p14:creationId xmlns:p14="http://schemas.microsoft.com/office/powerpoint/2010/main" val="60573614"/>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Table&#10;&#10;Description automatically generated">
            <a:extLst>
              <a:ext uri="{FF2B5EF4-FFF2-40B4-BE49-F238E27FC236}">
                <a16:creationId xmlns:a16="http://schemas.microsoft.com/office/drawing/2014/main" id="{78EFE6E6-1123-38A9-DEED-A8F364A5103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8039" y="0"/>
            <a:ext cx="9155922" cy="6858000"/>
          </a:xfrm>
          <a:prstGeom prst="rect">
            <a:avLst/>
          </a:prstGeom>
        </p:spPr>
      </p:pic>
      <p:sp>
        <p:nvSpPr>
          <p:cNvPr id="4" name="Title 5">
            <a:extLst>
              <a:ext uri="{FF2B5EF4-FFF2-40B4-BE49-F238E27FC236}">
                <a16:creationId xmlns:a16="http://schemas.microsoft.com/office/drawing/2014/main" id="{CBA7F9CE-4206-7A3C-692B-8014ED217856}"/>
              </a:ext>
            </a:extLst>
          </p:cNvPr>
          <p:cNvSpPr txBox="1">
            <a:spLocks/>
          </p:cNvSpPr>
          <p:nvPr/>
        </p:nvSpPr>
        <p:spPr>
          <a:xfrm>
            <a:off x="838200" y="365126"/>
            <a:ext cx="10515600" cy="603982"/>
          </a:xfrm>
          <a:prstGeom prst="rect">
            <a:avLst/>
          </a:prstGeom>
          <a:solidFill>
            <a:schemeClr val="bg1"/>
          </a:solid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t>LL(1) at work!</a:t>
            </a:r>
            <a:endParaRPr lang="en-SG" dirty="0"/>
          </a:p>
        </p:txBody>
      </p:sp>
    </p:spTree>
    <p:extLst>
      <p:ext uri="{BB962C8B-B14F-4D97-AF65-F5344CB8AC3E}">
        <p14:creationId xmlns:p14="http://schemas.microsoft.com/office/powerpoint/2010/main" val="3331442616"/>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Table&#10;&#10;Description automatically generated">
            <a:extLst>
              <a:ext uri="{FF2B5EF4-FFF2-40B4-BE49-F238E27FC236}">
                <a16:creationId xmlns:a16="http://schemas.microsoft.com/office/drawing/2014/main" id="{3E4CD723-D88C-91C5-9652-4C576B37176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8039" y="0"/>
            <a:ext cx="9155922" cy="6858000"/>
          </a:xfrm>
          <a:prstGeom prst="rect">
            <a:avLst/>
          </a:prstGeom>
        </p:spPr>
      </p:pic>
      <p:sp>
        <p:nvSpPr>
          <p:cNvPr id="4" name="Title 5">
            <a:extLst>
              <a:ext uri="{FF2B5EF4-FFF2-40B4-BE49-F238E27FC236}">
                <a16:creationId xmlns:a16="http://schemas.microsoft.com/office/drawing/2014/main" id="{0192B971-7FD7-084A-3DB4-B175DA042B30}"/>
              </a:ext>
            </a:extLst>
          </p:cNvPr>
          <p:cNvSpPr txBox="1">
            <a:spLocks/>
          </p:cNvSpPr>
          <p:nvPr/>
        </p:nvSpPr>
        <p:spPr>
          <a:xfrm>
            <a:off x="838200" y="365126"/>
            <a:ext cx="10515600" cy="603982"/>
          </a:xfrm>
          <a:prstGeom prst="rect">
            <a:avLst/>
          </a:prstGeom>
          <a:solidFill>
            <a:schemeClr val="bg1"/>
          </a:solid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t>LL(1) at work!</a:t>
            </a:r>
            <a:endParaRPr lang="en-SG" dirty="0"/>
          </a:p>
        </p:txBody>
      </p:sp>
    </p:spTree>
    <p:extLst>
      <p:ext uri="{BB962C8B-B14F-4D97-AF65-F5344CB8AC3E}">
        <p14:creationId xmlns:p14="http://schemas.microsoft.com/office/powerpoint/2010/main" val="276118798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Table&#10;&#10;Description automatically generated">
            <a:extLst>
              <a:ext uri="{FF2B5EF4-FFF2-40B4-BE49-F238E27FC236}">
                <a16:creationId xmlns:a16="http://schemas.microsoft.com/office/drawing/2014/main" id="{D1B74D28-D576-409A-5BB4-8D0454B0AB2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8039" y="0"/>
            <a:ext cx="9155922" cy="6858000"/>
          </a:xfrm>
          <a:prstGeom prst="rect">
            <a:avLst/>
          </a:prstGeom>
        </p:spPr>
      </p:pic>
      <p:sp>
        <p:nvSpPr>
          <p:cNvPr id="4" name="Title 5">
            <a:extLst>
              <a:ext uri="{FF2B5EF4-FFF2-40B4-BE49-F238E27FC236}">
                <a16:creationId xmlns:a16="http://schemas.microsoft.com/office/drawing/2014/main" id="{91594180-0B49-BD79-2A61-65DB1949A014}"/>
              </a:ext>
            </a:extLst>
          </p:cNvPr>
          <p:cNvSpPr txBox="1">
            <a:spLocks/>
          </p:cNvSpPr>
          <p:nvPr/>
        </p:nvSpPr>
        <p:spPr>
          <a:xfrm>
            <a:off x="838200" y="365126"/>
            <a:ext cx="10515600" cy="603982"/>
          </a:xfrm>
          <a:prstGeom prst="rect">
            <a:avLst/>
          </a:prstGeom>
          <a:solidFill>
            <a:schemeClr val="bg1"/>
          </a:solid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t>LL(1) at work!</a:t>
            </a:r>
            <a:endParaRPr lang="en-SG" dirty="0"/>
          </a:p>
        </p:txBody>
      </p:sp>
    </p:spTree>
    <p:extLst>
      <p:ext uri="{BB962C8B-B14F-4D97-AF65-F5344CB8AC3E}">
        <p14:creationId xmlns:p14="http://schemas.microsoft.com/office/powerpoint/2010/main" val="3053134168"/>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Table&#10;&#10;Description automatically generated">
            <a:extLst>
              <a:ext uri="{FF2B5EF4-FFF2-40B4-BE49-F238E27FC236}">
                <a16:creationId xmlns:a16="http://schemas.microsoft.com/office/drawing/2014/main" id="{B3B02706-43E7-7EF1-DCAF-5889F55C03A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8039" y="0"/>
            <a:ext cx="9155922" cy="6858000"/>
          </a:xfrm>
          <a:prstGeom prst="rect">
            <a:avLst/>
          </a:prstGeom>
        </p:spPr>
      </p:pic>
      <p:sp>
        <p:nvSpPr>
          <p:cNvPr id="4" name="Title 5">
            <a:extLst>
              <a:ext uri="{FF2B5EF4-FFF2-40B4-BE49-F238E27FC236}">
                <a16:creationId xmlns:a16="http://schemas.microsoft.com/office/drawing/2014/main" id="{F6F79F47-AEBC-BADE-2979-8EB7BFBCD906}"/>
              </a:ext>
            </a:extLst>
          </p:cNvPr>
          <p:cNvSpPr txBox="1">
            <a:spLocks/>
          </p:cNvSpPr>
          <p:nvPr/>
        </p:nvSpPr>
        <p:spPr>
          <a:xfrm>
            <a:off x="838200" y="365126"/>
            <a:ext cx="10515600" cy="603982"/>
          </a:xfrm>
          <a:prstGeom prst="rect">
            <a:avLst/>
          </a:prstGeom>
          <a:solidFill>
            <a:schemeClr val="bg1"/>
          </a:solid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t>LL(1) at work!</a:t>
            </a:r>
            <a:endParaRPr lang="en-SG" dirty="0"/>
          </a:p>
        </p:txBody>
      </p:sp>
    </p:spTree>
    <p:extLst>
      <p:ext uri="{BB962C8B-B14F-4D97-AF65-F5344CB8AC3E}">
        <p14:creationId xmlns:p14="http://schemas.microsoft.com/office/powerpoint/2010/main" val="4282496083"/>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Table&#10;&#10;Description automatically generated">
            <a:extLst>
              <a:ext uri="{FF2B5EF4-FFF2-40B4-BE49-F238E27FC236}">
                <a16:creationId xmlns:a16="http://schemas.microsoft.com/office/drawing/2014/main" id="{1B77130E-4B2D-B103-78EC-274902324A6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8039" y="0"/>
            <a:ext cx="9155922" cy="6858000"/>
          </a:xfrm>
          <a:prstGeom prst="rect">
            <a:avLst/>
          </a:prstGeom>
        </p:spPr>
      </p:pic>
      <p:sp>
        <p:nvSpPr>
          <p:cNvPr id="4" name="Title 5">
            <a:extLst>
              <a:ext uri="{FF2B5EF4-FFF2-40B4-BE49-F238E27FC236}">
                <a16:creationId xmlns:a16="http://schemas.microsoft.com/office/drawing/2014/main" id="{FFC3C52A-405D-F908-BDC6-D47DD4A92900}"/>
              </a:ext>
            </a:extLst>
          </p:cNvPr>
          <p:cNvSpPr txBox="1">
            <a:spLocks/>
          </p:cNvSpPr>
          <p:nvPr/>
        </p:nvSpPr>
        <p:spPr>
          <a:xfrm>
            <a:off x="838200" y="365126"/>
            <a:ext cx="10515600" cy="603982"/>
          </a:xfrm>
          <a:prstGeom prst="rect">
            <a:avLst/>
          </a:prstGeom>
          <a:solidFill>
            <a:schemeClr val="bg1"/>
          </a:solid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t>LL(1) at work!</a:t>
            </a:r>
            <a:endParaRPr lang="en-SG" dirty="0"/>
          </a:p>
        </p:txBody>
      </p:sp>
    </p:spTree>
    <p:extLst>
      <p:ext uri="{BB962C8B-B14F-4D97-AF65-F5344CB8AC3E}">
        <p14:creationId xmlns:p14="http://schemas.microsoft.com/office/powerpoint/2010/main" val="2575400282"/>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Table&#10;&#10;Description automatically generated">
            <a:extLst>
              <a:ext uri="{FF2B5EF4-FFF2-40B4-BE49-F238E27FC236}">
                <a16:creationId xmlns:a16="http://schemas.microsoft.com/office/drawing/2014/main" id="{DCA07F46-DBDF-9901-320A-26BD2BA733B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8039" y="0"/>
            <a:ext cx="9155922" cy="6858000"/>
          </a:xfrm>
          <a:prstGeom prst="rect">
            <a:avLst/>
          </a:prstGeom>
        </p:spPr>
      </p:pic>
      <p:sp>
        <p:nvSpPr>
          <p:cNvPr id="6" name="Title 5">
            <a:extLst>
              <a:ext uri="{FF2B5EF4-FFF2-40B4-BE49-F238E27FC236}">
                <a16:creationId xmlns:a16="http://schemas.microsoft.com/office/drawing/2014/main" id="{9EF63EDA-06ED-1E55-26AA-44F1F9BE6D11}"/>
              </a:ext>
            </a:extLst>
          </p:cNvPr>
          <p:cNvSpPr txBox="1">
            <a:spLocks/>
          </p:cNvSpPr>
          <p:nvPr/>
        </p:nvSpPr>
        <p:spPr>
          <a:xfrm>
            <a:off x="838200" y="365126"/>
            <a:ext cx="10515600" cy="603982"/>
          </a:xfrm>
          <a:prstGeom prst="rect">
            <a:avLst/>
          </a:prstGeom>
          <a:solidFill>
            <a:schemeClr val="bg1"/>
          </a:solid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t>LL(1) at work!</a:t>
            </a:r>
            <a:endParaRPr lang="en-SG" dirty="0"/>
          </a:p>
        </p:txBody>
      </p:sp>
    </p:spTree>
    <p:extLst>
      <p:ext uri="{BB962C8B-B14F-4D97-AF65-F5344CB8AC3E}">
        <p14:creationId xmlns:p14="http://schemas.microsoft.com/office/powerpoint/2010/main" val="733165226"/>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Table&#10;&#10;Description automatically generated">
            <a:extLst>
              <a:ext uri="{FF2B5EF4-FFF2-40B4-BE49-F238E27FC236}">
                <a16:creationId xmlns:a16="http://schemas.microsoft.com/office/drawing/2014/main" id="{1D91F832-EDEB-3F67-AE0A-A6518D545FE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8039" y="0"/>
            <a:ext cx="9155922" cy="6858000"/>
          </a:xfrm>
          <a:prstGeom prst="rect">
            <a:avLst/>
          </a:prstGeom>
        </p:spPr>
      </p:pic>
      <p:sp>
        <p:nvSpPr>
          <p:cNvPr id="4" name="Title 5">
            <a:extLst>
              <a:ext uri="{FF2B5EF4-FFF2-40B4-BE49-F238E27FC236}">
                <a16:creationId xmlns:a16="http://schemas.microsoft.com/office/drawing/2014/main" id="{DBDA6889-30DF-92BB-0AE1-B1BD573226ED}"/>
              </a:ext>
            </a:extLst>
          </p:cNvPr>
          <p:cNvSpPr txBox="1">
            <a:spLocks/>
          </p:cNvSpPr>
          <p:nvPr/>
        </p:nvSpPr>
        <p:spPr>
          <a:xfrm>
            <a:off x="838200" y="365126"/>
            <a:ext cx="10515600" cy="603982"/>
          </a:xfrm>
          <a:prstGeom prst="rect">
            <a:avLst/>
          </a:prstGeom>
          <a:solidFill>
            <a:schemeClr val="bg1"/>
          </a:solid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t>LL(1) at work!</a:t>
            </a:r>
            <a:endParaRPr lang="en-SG" dirty="0"/>
          </a:p>
        </p:txBody>
      </p:sp>
    </p:spTree>
    <p:extLst>
      <p:ext uri="{BB962C8B-B14F-4D97-AF65-F5344CB8AC3E}">
        <p14:creationId xmlns:p14="http://schemas.microsoft.com/office/powerpoint/2010/main" val="3965378786"/>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351084-6F02-FC45-C23D-331E9997593B}"/>
              </a:ext>
            </a:extLst>
          </p:cNvPr>
          <p:cNvSpPr>
            <a:spLocks noGrp="1"/>
          </p:cNvSpPr>
          <p:nvPr>
            <p:ph type="title"/>
          </p:nvPr>
        </p:nvSpPr>
        <p:spPr/>
        <p:txBody>
          <a:bodyPr/>
          <a:lstStyle/>
          <a:p>
            <a:r>
              <a:rPr lang="en-GB" dirty="0"/>
              <a:t>LL(1) will often define some parse tables</a:t>
            </a:r>
            <a:endParaRPr lang="en-SG" dirty="0"/>
          </a:p>
        </p:txBody>
      </p:sp>
      <p:pic>
        <p:nvPicPr>
          <p:cNvPr id="5" name="Picture 4" descr="A picture containing table&#10;&#10;Description automatically generated">
            <a:extLst>
              <a:ext uri="{FF2B5EF4-FFF2-40B4-BE49-F238E27FC236}">
                <a16:creationId xmlns:a16="http://schemas.microsoft.com/office/drawing/2014/main" id="{1208E86A-BE71-3570-FE1F-B0B5FAA079F3}"/>
              </a:ext>
            </a:extLst>
          </p:cNvPr>
          <p:cNvPicPr>
            <a:picLocks noChangeAspect="1"/>
          </p:cNvPicPr>
          <p:nvPr/>
        </p:nvPicPr>
        <p:blipFill rotWithShape="1">
          <a:blip r:embed="rId2">
            <a:extLst>
              <a:ext uri="{28A0092B-C50C-407E-A947-70E740481C1C}">
                <a14:useLocalDpi xmlns:a14="http://schemas.microsoft.com/office/drawing/2010/main" val="0"/>
              </a:ext>
            </a:extLst>
          </a:blip>
          <a:srcRect l="9198" t="20968" r="12954" b="16810"/>
          <a:stretch/>
        </p:blipFill>
        <p:spPr>
          <a:xfrm>
            <a:off x="4884615" y="1854979"/>
            <a:ext cx="7127632" cy="4267201"/>
          </a:xfrm>
          <a:prstGeom prst="rect">
            <a:avLst/>
          </a:prstGeom>
        </p:spPr>
      </p:pic>
      <p:sp>
        <p:nvSpPr>
          <p:cNvPr id="6" name="TextBox 5">
            <a:extLst>
              <a:ext uri="{FF2B5EF4-FFF2-40B4-BE49-F238E27FC236}">
                <a16:creationId xmlns:a16="http://schemas.microsoft.com/office/drawing/2014/main" id="{8C059B95-1816-956D-AB91-0F5005F50448}"/>
              </a:ext>
            </a:extLst>
          </p:cNvPr>
          <p:cNvSpPr txBox="1"/>
          <p:nvPr/>
        </p:nvSpPr>
        <p:spPr>
          <a:xfrm>
            <a:off x="236416" y="1854979"/>
            <a:ext cx="4491892" cy="4832092"/>
          </a:xfrm>
          <a:prstGeom prst="rect">
            <a:avLst/>
          </a:prstGeom>
          <a:noFill/>
        </p:spPr>
        <p:txBody>
          <a:bodyPr wrap="square" rtlCol="0">
            <a:spAutoFit/>
          </a:bodyPr>
          <a:lstStyle/>
          <a:p>
            <a:r>
              <a:rPr lang="en-GB" sz="2800" b="1" dirty="0"/>
              <a:t>How to read the LL(1) table.</a:t>
            </a:r>
          </a:p>
          <a:p>
            <a:pPr marL="285750" indent="-285750">
              <a:buFont typeface="Arial" panose="020B0604020202020204" pitchFamily="34" charset="0"/>
              <a:buChar char="•"/>
            </a:pPr>
            <a:r>
              <a:rPr lang="en-GB" sz="2800" b="1" dirty="0"/>
              <a:t>Line</a:t>
            </a:r>
            <a:r>
              <a:rPr lang="en-GB" sz="2800" dirty="0"/>
              <a:t> = Which non-terminal symbol is about to be replaced</a:t>
            </a:r>
          </a:p>
          <a:p>
            <a:pPr marL="285750" indent="-285750">
              <a:buFont typeface="Arial" panose="020B0604020202020204" pitchFamily="34" charset="0"/>
              <a:buChar char="•"/>
            </a:pPr>
            <a:r>
              <a:rPr lang="en-GB" sz="2800" b="1" dirty="0"/>
              <a:t>Column </a:t>
            </a:r>
            <a:r>
              <a:rPr lang="en-GB" sz="2800" dirty="0"/>
              <a:t>= What is the next terminal symbol in x that must match this non-terminal</a:t>
            </a:r>
          </a:p>
          <a:p>
            <a:pPr marL="285750" indent="-285750">
              <a:buFont typeface="Arial" panose="020B0604020202020204" pitchFamily="34" charset="0"/>
              <a:buChar char="•"/>
            </a:pPr>
            <a:r>
              <a:rPr lang="en-GB" sz="2800" b="1" dirty="0"/>
              <a:t>In the cell </a:t>
            </a:r>
            <a:r>
              <a:rPr lang="en-GB" sz="2800" dirty="0"/>
              <a:t>= What to replace the non-terminal symbol (line) with.</a:t>
            </a:r>
          </a:p>
        </p:txBody>
      </p:sp>
      <p:sp>
        <p:nvSpPr>
          <p:cNvPr id="3" name="TextBox 2">
            <a:extLst>
              <a:ext uri="{FF2B5EF4-FFF2-40B4-BE49-F238E27FC236}">
                <a16:creationId xmlns:a16="http://schemas.microsoft.com/office/drawing/2014/main" id="{C5B95E2A-E02F-01D7-94B2-633940683499}"/>
              </a:ext>
            </a:extLst>
          </p:cNvPr>
          <p:cNvSpPr txBox="1"/>
          <p:nvPr/>
        </p:nvSpPr>
        <p:spPr>
          <a:xfrm>
            <a:off x="6940062" y="6163851"/>
            <a:ext cx="4491892" cy="523220"/>
          </a:xfrm>
          <a:prstGeom prst="rect">
            <a:avLst/>
          </a:prstGeom>
          <a:noFill/>
        </p:spPr>
        <p:txBody>
          <a:bodyPr wrap="square" rtlCol="0">
            <a:spAutoFit/>
          </a:bodyPr>
          <a:lstStyle/>
          <a:p>
            <a:r>
              <a:rPr lang="en-GB" sz="2800" b="1" dirty="0">
                <a:solidFill>
                  <a:srgbClr val="C00000"/>
                </a:solidFill>
              </a:rPr>
              <a:t>Empty cell? </a:t>
            </a:r>
            <a:r>
              <a:rPr lang="en-GB" sz="2800" dirty="0">
                <a:solidFill>
                  <a:srgbClr val="C00000"/>
                </a:solidFill>
              </a:rPr>
              <a:t>= Invalid syntax</a:t>
            </a:r>
            <a:endParaRPr lang="en-SG" sz="2800" dirty="0">
              <a:solidFill>
                <a:srgbClr val="C00000"/>
              </a:solidFill>
            </a:endParaRPr>
          </a:p>
        </p:txBody>
      </p:sp>
    </p:spTree>
    <p:extLst>
      <p:ext uri="{BB962C8B-B14F-4D97-AF65-F5344CB8AC3E}">
        <p14:creationId xmlns:p14="http://schemas.microsoft.com/office/powerpoint/2010/main" val="3199792851"/>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Chart&#10;&#10;Description automatically generated">
            <a:extLst>
              <a:ext uri="{FF2B5EF4-FFF2-40B4-BE49-F238E27FC236}">
                <a16:creationId xmlns:a16="http://schemas.microsoft.com/office/drawing/2014/main" id="{858BE2B3-71CF-11E1-2BCC-4579295B822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8039" y="0"/>
            <a:ext cx="9155922" cy="6858000"/>
          </a:xfrm>
          <a:prstGeom prst="rect">
            <a:avLst/>
          </a:prstGeom>
        </p:spPr>
      </p:pic>
      <p:sp>
        <p:nvSpPr>
          <p:cNvPr id="6" name="Title 5">
            <a:extLst>
              <a:ext uri="{FF2B5EF4-FFF2-40B4-BE49-F238E27FC236}">
                <a16:creationId xmlns:a16="http://schemas.microsoft.com/office/drawing/2014/main" id="{CA208FF0-0F12-8F16-95DF-8885912C5E56}"/>
              </a:ext>
            </a:extLst>
          </p:cNvPr>
          <p:cNvSpPr txBox="1">
            <a:spLocks/>
          </p:cNvSpPr>
          <p:nvPr/>
        </p:nvSpPr>
        <p:spPr>
          <a:xfrm>
            <a:off x="838200" y="365126"/>
            <a:ext cx="10515600" cy="603982"/>
          </a:xfrm>
          <a:prstGeom prst="rect">
            <a:avLst/>
          </a:prstGeom>
          <a:solidFill>
            <a:schemeClr val="bg1"/>
          </a:solid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t>Detecting syntax errors with LL(1): mismatch</a:t>
            </a:r>
            <a:endParaRPr lang="en-SG" dirty="0"/>
          </a:p>
        </p:txBody>
      </p:sp>
      <p:sp>
        <p:nvSpPr>
          <p:cNvPr id="7" name="TextBox 6">
            <a:extLst>
              <a:ext uri="{FF2B5EF4-FFF2-40B4-BE49-F238E27FC236}">
                <a16:creationId xmlns:a16="http://schemas.microsoft.com/office/drawing/2014/main" id="{D4A36597-11B0-988E-6C28-48F335B752DB}"/>
              </a:ext>
            </a:extLst>
          </p:cNvPr>
          <p:cNvSpPr txBox="1"/>
          <p:nvPr/>
        </p:nvSpPr>
        <p:spPr>
          <a:xfrm>
            <a:off x="5042757" y="3571950"/>
            <a:ext cx="6125427" cy="3108543"/>
          </a:xfrm>
          <a:prstGeom prst="rect">
            <a:avLst/>
          </a:prstGeom>
          <a:solidFill>
            <a:schemeClr val="bg1"/>
          </a:solidFill>
          <a:ln>
            <a:solidFill>
              <a:schemeClr val="tx1"/>
            </a:solidFill>
          </a:ln>
        </p:spPr>
        <p:txBody>
          <a:bodyPr wrap="square" rtlCol="0">
            <a:spAutoFit/>
          </a:bodyPr>
          <a:lstStyle/>
          <a:p>
            <a:r>
              <a:rPr lang="en-GB" sz="2800" dirty="0"/>
              <a:t>Here “int + int” is invalid according to our CFG (it says we should use parentheses with addition, always).</a:t>
            </a:r>
          </a:p>
          <a:p>
            <a:r>
              <a:rPr lang="en-GB" sz="2800" dirty="0"/>
              <a:t>The parsed string produced by LL(1) eventually runs out of non-terminal symbols before the input string </a:t>
            </a:r>
            <a:r>
              <a:rPr lang="en-GB" sz="2800" i="1" dirty="0"/>
              <a:t>x</a:t>
            </a:r>
            <a:r>
              <a:rPr lang="en-GB" sz="2800" dirty="0"/>
              <a:t> does.</a:t>
            </a:r>
          </a:p>
          <a:p>
            <a:r>
              <a:rPr lang="en-GB" sz="2800" dirty="0"/>
              <a:t>That is a </a:t>
            </a:r>
            <a:r>
              <a:rPr lang="en-GB" sz="2800" b="1" dirty="0"/>
              <a:t>mismatch (syntax) error</a:t>
            </a:r>
            <a:r>
              <a:rPr lang="en-GB" sz="2800" dirty="0"/>
              <a:t>.</a:t>
            </a:r>
            <a:endParaRPr lang="en-SG" sz="2800" dirty="0"/>
          </a:p>
        </p:txBody>
      </p:sp>
    </p:spTree>
    <p:extLst>
      <p:ext uri="{BB962C8B-B14F-4D97-AF65-F5344CB8AC3E}">
        <p14:creationId xmlns:p14="http://schemas.microsoft.com/office/powerpoint/2010/main" val="3599244984"/>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Table&#10;&#10;Description automatically generated">
            <a:extLst>
              <a:ext uri="{FF2B5EF4-FFF2-40B4-BE49-F238E27FC236}">
                <a16:creationId xmlns:a16="http://schemas.microsoft.com/office/drawing/2014/main" id="{368B0BB0-D326-1DB9-7B45-AF6173B104E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8039" y="0"/>
            <a:ext cx="9155922" cy="6858000"/>
          </a:xfrm>
          <a:prstGeom prst="rect">
            <a:avLst/>
          </a:prstGeom>
        </p:spPr>
      </p:pic>
      <p:sp>
        <p:nvSpPr>
          <p:cNvPr id="4" name="Title 5">
            <a:extLst>
              <a:ext uri="{FF2B5EF4-FFF2-40B4-BE49-F238E27FC236}">
                <a16:creationId xmlns:a16="http://schemas.microsoft.com/office/drawing/2014/main" id="{F63640F2-7939-B9C6-3375-33996EF95E59}"/>
              </a:ext>
            </a:extLst>
          </p:cNvPr>
          <p:cNvSpPr txBox="1">
            <a:spLocks/>
          </p:cNvSpPr>
          <p:nvPr/>
        </p:nvSpPr>
        <p:spPr>
          <a:xfrm>
            <a:off x="838199" y="365126"/>
            <a:ext cx="11142785" cy="603982"/>
          </a:xfrm>
          <a:prstGeom prst="rect">
            <a:avLst/>
          </a:prstGeom>
          <a:solidFill>
            <a:schemeClr val="bg1"/>
          </a:solid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t>Detecting syntax errors with LL(1): no prediction</a:t>
            </a:r>
            <a:endParaRPr lang="en-SG" dirty="0"/>
          </a:p>
        </p:txBody>
      </p:sp>
      <p:sp>
        <p:nvSpPr>
          <p:cNvPr id="5" name="TextBox 4">
            <a:extLst>
              <a:ext uri="{FF2B5EF4-FFF2-40B4-BE49-F238E27FC236}">
                <a16:creationId xmlns:a16="http://schemas.microsoft.com/office/drawing/2014/main" id="{BF11ECAA-795E-6467-C88D-97CA7E2175E5}"/>
              </a:ext>
            </a:extLst>
          </p:cNvPr>
          <p:cNvSpPr txBox="1"/>
          <p:nvPr/>
        </p:nvSpPr>
        <p:spPr>
          <a:xfrm>
            <a:off x="5042757" y="3571950"/>
            <a:ext cx="6125427" cy="3108543"/>
          </a:xfrm>
          <a:prstGeom prst="rect">
            <a:avLst/>
          </a:prstGeom>
          <a:solidFill>
            <a:schemeClr val="bg1"/>
          </a:solidFill>
          <a:ln>
            <a:solidFill>
              <a:schemeClr val="tx1"/>
            </a:solidFill>
          </a:ln>
        </p:spPr>
        <p:txBody>
          <a:bodyPr wrap="square" rtlCol="0">
            <a:spAutoFit/>
          </a:bodyPr>
          <a:lstStyle/>
          <a:p>
            <a:r>
              <a:rPr lang="en-GB" sz="2800" dirty="0"/>
              <a:t>Here “(int (int))” is invalid according to our CFG (can only use parentheses with plus symbols, not without).</a:t>
            </a:r>
          </a:p>
          <a:p>
            <a:r>
              <a:rPr lang="en-GB" sz="2800" dirty="0"/>
              <a:t>The LL(1) eventually refers to an empty cell in the table, which indicates that there is no way to parse the string further. </a:t>
            </a:r>
            <a:r>
              <a:rPr lang="en-GB" sz="2800" b="1" dirty="0"/>
              <a:t>Syntax error!</a:t>
            </a:r>
            <a:endParaRPr lang="en-SG" sz="2800" b="1" dirty="0"/>
          </a:p>
        </p:txBody>
      </p:sp>
    </p:spTree>
    <p:extLst>
      <p:ext uri="{BB962C8B-B14F-4D97-AF65-F5344CB8AC3E}">
        <p14:creationId xmlns:p14="http://schemas.microsoft.com/office/powerpoint/2010/main" val="1737988399"/>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6A1515-CB87-98C8-BB41-426875284084}"/>
              </a:ext>
            </a:extLst>
          </p:cNvPr>
          <p:cNvSpPr>
            <a:spLocks noGrp="1"/>
          </p:cNvSpPr>
          <p:nvPr>
            <p:ph type="title"/>
          </p:nvPr>
        </p:nvSpPr>
        <p:spPr/>
        <p:txBody>
          <a:bodyPr/>
          <a:lstStyle/>
          <a:p>
            <a:r>
              <a:rPr lang="en-GB" dirty="0"/>
              <a:t>The LL(1) algorithm, detailed</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22F532F-CFEB-5805-118A-E3E8F8EEA307}"/>
                  </a:ext>
                </a:extLst>
              </p:cNvPr>
              <p:cNvSpPr>
                <a:spLocks noGrp="1"/>
              </p:cNvSpPr>
              <p:nvPr>
                <p:ph idx="1"/>
              </p:nvPr>
            </p:nvSpPr>
            <p:spPr/>
            <p:txBody>
              <a:bodyPr>
                <a:normAutofit/>
              </a:bodyPr>
              <a:lstStyle/>
              <a:p>
                <a:pPr marL="0" indent="0">
                  <a:buNone/>
                </a:pPr>
                <a:r>
                  <a:rPr lang="en-GB" dirty="0"/>
                  <a:t>Suppose our CFG has start symbol S and we have manually defined a LL(1) parsing table T. </a:t>
                </a:r>
              </a:p>
              <a:p>
                <a:pPr marL="0" indent="0">
                  <a:buNone/>
                </a:pPr>
                <a:r>
                  <a:rPr lang="en-GB" dirty="0"/>
                  <a:t>We want to parse string </a:t>
                </a:r>
                <a14:m>
                  <m:oMath xmlns:m="http://schemas.openxmlformats.org/officeDocument/2006/math">
                    <m:r>
                      <a:rPr lang="en-GB" i="1" dirty="0" smtClean="0">
                        <a:latin typeface="Cambria Math" panose="02040503050406030204" pitchFamily="18" charset="0"/>
                      </a:rPr>
                      <m:t>𝜔</m:t>
                    </m:r>
                  </m:oMath>
                </a14:m>
                <a:r>
                  <a:rPr lang="en-GB" dirty="0"/>
                  <a:t>.</a:t>
                </a:r>
              </a:p>
              <a:p>
                <a:pPr marL="0" indent="0">
                  <a:buNone/>
                </a:pPr>
                <a:r>
                  <a:rPr lang="en-GB" dirty="0"/>
                  <a:t>The LL(1) algorithm steps are as follows</a:t>
                </a:r>
              </a:p>
              <a:p>
                <a:pPr marL="514350" indent="-514350">
                  <a:buFont typeface="+mj-lt"/>
                  <a:buAutoNum type="arabicPeriod"/>
                </a:pPr>
                <a:r>
                  <a:rPr lang="en-GB" dirty="0"/>
                  <a:t>Initialize a stack #1 with “S$”</a:t>
                </a:r>
              </a:p>
              <a:p>
                <a:pPr marL="514350" indent="-514350">
                  <a:buFont typeface="+mj-lt"/>
                  <a:buAutoNum type="arabicPeriod"/>
                </a:pPr>
                <a:r>
                  <a:rPr lang="en-GB" dirty="0"/>
                  <a:t>Initialize a stack #2 containing the characters in the string </a:t>
                </a:r>
                <a14:m>
                  <m:oMath xmlns:m="http://schemas.openxmlformats.org/officeDocument/2006/math">
                    <m:r>
                      <a:rPr lang="en-GB" i="1" dirty="0" smtClean="0">
                        <a:latin typeface="Cambria Math" panose="02040503050406030204" pitchFamily="18" charset="0"/>
                      </a:rPr>
                      <m:t>𝜔</m:t>
                    </m:r>
                  </m:oMath>
                </a14:m>
                <a:r>
                  <a:rPr lang="en-GB" dirty="0"/>
                  <a:t>, terminate with $.</a:t>
                </a:r>
              </a:p>
              <a:p>
                <a:pPr marL="514350" indent="-514350">
                  <a:buFont typeface="+mj-lt"/>
                  <a:buAutoNum type="arabicPeriod"/>
                </a:pPr>
                <a:r>
                  <a:rPr lang="en-GB" dirty="0"/>
                  <a:t>Repeat 4, 5, 6 (next slide) until one of the stacks becomes empty (only $ left). </a:t>
                </a:r>
                <a:r>
                  <a:rPr lang="en-GB" b="1" dirty="0"/>
                  <a:t>If both are empty at the same time, success!</a:t>
                </a:r>
              </a:p>
            </p:txBody>
          </p:sp>
        </mc:Choice>
        <mc:Fallback xmlns="">
          <p:sp>
            <p:nvSpPr>
              <p:cNvPr id="3" name="Content Placeholder 2">
                <a:extLst>
                  <a:ext uri="{FF2B5EF4-FFF2-40B4-BE49-F238E27FC236}">
                    <a16:creationId xmlns:a16="http://schemas.microsoft.com/office/drawing/2014/main" id="{122F532F-CFEB-5805-118A-E3E8F8EEA307}"/>
                  </a:ext>
                </a:extLst>
              </p:cNvPr>
              <p:cNvSpPr>
                <a:spLocks noGrp="1" noRot="1" noChangeAspect="1" noMove="1" noResize="1" noEditPoints="1" noAdjustHandles="1" noChangeArrowheads="1" noChangeShapeType="1" noTextEdit="1"/>
              </p:cNvSpPr>
              <p:nvPr>
                <p:ph idx="1"/>
              </p:nvPr>
            </p:nvSpPr>
            <p:spPr>
              <a:blipFill>
                <a:blip r:embed="rId3"/>
                <a:stretch>
                  <a:fillRect l="-1217" t="-2241" b="-140"/>
                </a:stretch>
              </a:blipFill>
            </p:spPr>
            <p:txBody>
              <a:bodyPr/>
              <a:lstStyle/>
              <a:p>
                <a:r>
                  <a:rPr lang="en-GB">
                    <a:noFill/>
                  </a:rPr>
                  <a:t> </a:t>
                </a:r>
              </a:p>
            </p:txBody>
          </p:sp>
        </mc:Fallback>
      </mc:AlternateContent>
    </p:spTree>
    <p:extLst>
      <p:ext uri="{BB962C8B-B14F-4D97-AF65-F5344CB8AC3E}">
        <p14:creationId xmlns:p14="http://schemas.microsoft.com/office/powerpoint/2010/main" val="682403283"/>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6A1515-CB87-98C8-BB41-426875284084}"/>
              </a:ext>
            </a:extLst>
          </p:cNvPr>
          <p:cNvSpPr>
            <a:spLocks noGrp="1"/>
          </p:cNvSpPr>
          <p:nvPr>
            <p:ph type="title"/>
          </p:nvPr>
        </p:nvSpPr>
        <p:spPr/>
        <p:txBody>
          <a:bodyPr/>
          <a:lstStyle/>
          <a:p>
            <a:r>
              <a:rPr lang="en-GB" dirty="0"/>
              <a:t>The LL(1) algorithm, detailed</a:t>
            </a:r>
            <a:endParaRPr lang="en-SG" dirty="0"/>
          </a:p>
        </p:txBody>
      </p:sp>
      <p:sp>
        <p:nvSpPr>
          <p:cNvPr id="3" name="Content Placeholder 2">
            <a:extLst>
              <a:ext uri="{FF2B5EF4-FFF2-40B4-BE49-F238E27FC236}">
                <a16:creationId xmlns:a16="http://schemas.microsoft.com/office/drawing/2014/main" id="{122F532F-CFEB-5805-118A-E3E8F8EEA307}"/>
              </a:ext>
            </a:extLst>
          </p:cNvPr>
          <p:cNvSpPr>
            <a:spLocks noGrp="1"/>
          </p:cNvSpPr>
          <p:nvPr>
            <p:ph idx="1"/>
          </p:nvPr>
        </p:nvSpPr>
        <p:spPr/>
        <p:txBody>
          <a:bodyPr>
            <a:normAutofit/>
          </a:bodyPr>
          <a:lstStyle/>
          <a:p>
            <a:pPr marL="514350" indent="-514350">
              <a:buFont typeface="+mj-lt"/>
              <a:buAutoNum type="arabicPeriod" startAt="4"/>
            </a:pPr>
            <a:r>
              <a:rPr lang="en-GB" dirty="0"/>
              <a:t>Draw character </a:t>
            </a:r>
            <a:r>
              <a:rPr lang="en-GB" i="1" dirty="0"/>
              <a:t>t </a:t>
            </a:r>
            <a:r>
              <a:rPr lang="en-GB" dirty="0"/>
              <a:t>from the top of stack #2.</a:t>
            </a:r>
          </a:p>
          <a:p>
            <a:pPr marL="514350" indent="-514350">
              <a:buFont typeface="+mj-lt"/>
              <a:buAutoNum type="arabicPeriod" startAt="4"/>
            </a:pPr>
            <a:r>
              <a:rPr lang="en-GB" dirty="0"/>
              <a:t>If the top of the stack #1 is a terminal symbol </a:t>
            </a:r>
            <a:r>
              <a:rPr lang="en-GB" i="1" dirty="0"/>
              <a:t>r</a:t>
            </a:r>
            <a:r>
              <a:rPr lang="en-GB" dirty="0"/>
              <a:t>:</a:t>
            </a:r>
          </a:p>
          <a:p>
            <a:pPr lvl="1"/>
            <a:r>
              <a:rPr lang="en-GB" sz="2800" dirty="0"/>
              <a:t>If </a:t>
            </a:r>
            <a:r>
              <a:rPr lang="en-GB" sz="2800" i="1" dirty="0"/>
              <a:t>r</a:t>
            </a:r>
            <a:r>
              <a:rPr lang="en-GB" sz="2800" dirty="0"/>
              <a:t> and </a:t>
            </a:r>
            <a:r>
              <a:rPr lang="en-GB" sz="2800" i="1" dirty="0"/>
              <a:t>t</a:t>
            </a:r>
            <a:r>
              <a:rPr lang="en-GB" sz="2800" dirty="0"/>
              <a:t> do not match, </a:t>
            </a:r>
            <a:r>
              <a:rPr lang="en-GB" sz="2800" b="1" dirty="0"/>
              <a:t>report a syntax error, end the derivation.</a:t>
            </a:r>
          </a:p>
          <a:p>
            <a:pPr lvl="1"/>
            <a:r>
              <a:rPr lang="en-GB" sz="2800" dirty="0"/>
              <a:t>Otherwise remove the character </a:t>
            </a:r>
            <a:r>
              <a:rPr lang="en-GB" sz="2800" i="1" dirty="0"/>
              <a:t>t</a:t>
            </a:r>
            <a:r>
              <a:rPr lang="en-GB" sz="2800" dirty="0"/>
              <a:t> and pop </a:t>
            </a:r>
            <a:r>
              <a:rPr lang="en-GB" sz="2800" i="1" dirty="0"/>
              <a:t>r</a:t>
            </a:r>
            <a:r>
              <a:rPr lang="en-GB" sz="2800" dirty="0"/>
              <a:t> from the stack.</a:t>
            </a:r>
          </a:p>
          <a:p>
            <a:pPr marL="514350" indent="-514350">
              <a:buFont typeface="+mj-lt"/>
              <a:buAutoNum type="arabicPeriod" startAt="4"/>
            </a:pPr>
            <a:r>
              <a:rPr lang="en-GB" dirty="0"/>
              <a:t>Otherwise, the top of the stack #1 is a non-terminal symbol A:</a:t>
            </a:r>
          </a:p>
          <a:p>
            <a:pPr lvl="1"/>
            <a:r>
              <a:rPr lang="en-GB" sz="2800" dirty="0"/>
              <a:t>If T[A, t] is empty, no prediction can be made, </a:t>
            </a:r>
            <a:r>
              <a:rPr lang="en-GB" sz="2800" b="1" dirty="0"/>
              <a:t>report a syntax error, end the derivation</a:t>
            </a:r>
            <a:r>
              <a:rPr lang="en-GB" sz="2800" dirty="0"/>
              <a:t>.</a:t>
            </a:r>
          </a:p>
          <a:p>
            <a:pPr lvl="1"/>
            <a:r>
              <a:rPr lang="en-GB" sz="2800" dirty="0"/>
              <a:t>Otherwise, simply replace the symbol A at the top of the stack #1 with the production that is in T[A, t].</a:t>
            </a:r>
            <a:endParaRPr lang="en-SG" sz="2800" dirty="0"/>
          </a:p>
        </p:txBody>
      </p:sp>
    </p:spTree>
    <p:extLst>
      <p:ext uri="{BB962C8B-B14F-4D97-AF65-F5344CB8AC3E}">
        <p14:creationId xmlns:p14="http://schemas.microsoft.com/office/powerpoint/2010/main" val="678239866"/>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CC64A30D-9F5B-A752-4686-FAD4112D512E}"/>
              </a:ext>
            </a:extLst>
          </p:cNvPr>
          <p:cNvSpPr>
            <a:spLocks noGrp="1"/>
          </p:cNvSpPr>
          <p:nvPr>
            <p:ph type="title"/>
          </p:nvPr>
        </p:nvSpPr>
        <p:spPr/>
        <p:txBody>
          <a:bodyPr/>
          <a:lstStyle/>
          <a:p>
            <a:r>
              <a:rPr lang="en-GB" dirty="0"/>
              <a:t>Building a LL(1) parsing table</a:t>
            </a:r>
            <a:endParaRPr lang="en-SG" dirty="0"/>
          </a:p>
        </p:txBody>
      </p:sp>
      <p:sp>
        <p:nvSpPr>
          <p:cNvPr id="6" name="Content Placeholder 5">
            <a:extLst>
              <a:ext uri="{FF2B5EF4-FFF2-40B4-BE49-F238E27FC236}">
                <a16:creationId xmlns:a16="http://schemas.microsoft.com/office/drawing/2014/main" id="{70463EE8-3E47-12C5-EB0A-1EF6F8A14306}"/>
              </a:ext>
            </a:extLst>
          </p:cNvPr>
          <p:cNvSpPr>
            <a:spLocks noGrp="1"/>
          </p:cNvSpPr>
          <p:nvPr>
            <p:ph idx="1"/>
          </p:nvPr>
        </p:nvSpPr>
        <p:spPr>
          <a:xfrm>
            <a:off x="838200" y="1825625"/>
            <a:ext cx="7046167" cy="4351338"/>
          </a:xfrm>
        </p:spPr>
        <p:txBody>
          <a:bodyPr/>
          <a:lstStyle/>
          <a:p>
            <a:pPr marL="0" indent="0">
              <a:buNone/>
            </a:pPr>
            <a:r>
              <a:rPr lang="en-GB" b="1" dirty="0"/>
              <a:t>Question: </a:t>
            </a:r>
            <a:r>
              <a:rPr lang="en-GB" dirty="0"/>
              <a:t>How can we build a LL(1) parsing table for a given CFG?</a:t>
            </a:r>
          </a:p>
          <a:p>
            <a:pPr marL="0" indent="0">
              <a:buNone/>
            </a:pPr>
            <a:endParaRPr lang="en-GB" dirty="0"/>
          </a:p>
          <a:p>
            <a:pPr marL="0" indent="0">
              <a:buNone/>
            </a:pPr>
            <a:r>
              <a:rPr lang="en-GB" b="1" dirty="0"/>
              <a:t>What we want: </a:t>
            </a:r>
            <a:r>
              <a:rPr lang="en-GB" dirty="0"/>
              <a:t>The next character should uniquely identify a production rule to use, so we should pick a production that ultimately starts with that character.</a:t>
            </a:r>
            <a:endParaRPr lang="en-SG" dirty="0"/>
          </a:p>
        </p:txBody>
      </p:sp>
      <p:pic>
        <p:nvPicPr>
          <p:cNvPr id="7" name="Picture 6" descr="A picture containing table&#10;&#10;Description automatically generated">
            <a:extLst>
              <a:ext uri="{FF2B5EF4-FFF2-40B4-BE49-F238E27FC236}">
                <a16:creationId xmlns:a16="http://schemas.microsoft.com/office/drawing/2014/main" id="{35AC6DFD-262D-F746-00BA-4C19D95CFAC1}"/>
              </a:ext>
            </a:extLst>
          </p:cNvPr>
          <p:cNvPicPr>
            <a:picLocks noChangeAspect="1"/>
          </p:cNvPicPr>
          <p:nvPr/>
        </p:nvPicPr>
        <p:blipFill rotWithShape="1">
          <a:blip r:embed="rId2">
            <a:extLst>
              <a:ext uri="{28A0092B-C50C-407E-A947-70E740481C1C}">
                <a14:useLocalDpi xmlns:a14="http://schemas.microsoft.com/office/drawing/2010/main" val="0"/>
              </a:ext>
            </a:extLst>
          </a:blip>
          <a:srcRect l="9198" t="20968" r="12954" b="16810"/>
          <a:stretch/>
        </p:blipFill>
        <p:spPr>
          <a:xfrm>
            <a:off x="7965831" y="2453952"/>
            <a:ext cx="4101075" cy="2455249"/>
          </a:xfrm>
          <a:prstGeom prst="rect">
            <a:avLst/>
          </a:prstGeom>
        </p:spPr>
      </p:pic>
    </p:spTree>
    <p:extLst>
      <p:ext uri="{BB962C8B-B14F-4D97-AF65-F5344CB8AC3E}">
        <p14:creationId xmlns:p14="http://schemas.microsoft.com/office/powerpoint/2010/main" val="4200173890"/>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CC64A30D-9F5B-A752-4686-FAD4112D512E}"/>
              </a:ext>
            </a:extLst>
          </p:cNvPr>
          <p:cNvSpPr>
            <a:spLocks noGrp="1"/>
          </p:cNvSpPr>
          <p:nvPr>
            <p:ph type="title"/>
          </p:nvPr>
        </p:nvSpPr>
        <p:spPr/>
        <p:txBody>
          <a:bodyPr/>
          <a:lstStyle/>
          <a:p>
            <a:r>
              <a:rPr lang="en-GB" dirty="0"/>
              <a:t>Building a LL(1) parsing table</a:t>
            </a:r>
            <a:endParaRPr lang="en-SG" dirty="0"/>
          </a:p>
        </p:txBody>
      </p:sp>
      <mc:AlternateContent xmlns:mc="http://schemas.openxmlformats.org/markup-compatibility/2006" xmlns:a14="http://schemas.microsoft.com/office/drawing/2010/main">
        <mc:Choice Requires="a14">
          <p:sp>
            <p:nvSpPr>
              <p:cNvPr id="6" name="Content Placeholder 5">
                <a:extLst>
                  <a:ext uri="{FF2B5EF4-FFF2-40B4-BE49-F238E27FC236}">
                    <a16:creationId xmlns:a16="http://schemas.microsoft.com/office/drawing/2014/main" id="{70463EE8-3E47-12C5-EB0A-1EF6F8A14306}"/>
                  </a:ext>
                </a:extLst>
              </p:cNvPr>
              <p:cNvSpPr>
                <a:spLocks noGrp="1"/>
              </p:cNvSpPr>
              <p:nvPr>
                <p:ph idx="1"/>
              </p:nvPr>
            </p:nvSpPr>
            <p:spPr>
              <a:xfrm>
                <a:off x="838200" y="1825624"/>
                <a:ext cx="7046167" cy="5032375"/>
              </a:xfrm>
            </p:spPr>
            <p:txBody>
              <a:bodyPr/>
              <a:lstStyle/>
              <a:p>
                <a:pPr marL="0" indent="0">
                  <a:buNone/>
                </a:pPr>
                <a:r>
                  <a:rPr lang="en-GB" b="1" dirty="0"/>
                  <a:t>Property: Deciding for the appropriate production to use in </a:t>
                </a:r>
                <a14:m>
                  <m:oMath xmlns:m="http://schemas.openxmlformats.org/officeDocument/2006/math">
                    <m:r>
                      <a:rPr lang="en-GB" b="1" i="1" dirty="0" smtClean="0">
                        <a:latin typeface="Cambria Math" panose="02040503050406030204" pitchFamily="18" charset="0"/>
                      </a:rPr>
                      <m:t>𝑻</m:t>
                    </m:r>
                    <m:r>
                      <a:rPr lang="en-GB" b="1" i="1" dirty="0" smtClean="0">
                        <a:latin typeface="Cambria Math" panose="02040503050406030204" pitchFamily="18" charset="0"/>
                      </a:rPr>
                      <m:t>[</m:t>
                    </m:r>
                    <m:r>
                      <a:rPr lang="en-GB" b="1" i="1" dirty="0" smtClean="0">
                        <a:latin typeface="Cambria Math" panose="02040503050406030204" pitchFamily="18" charset="0"/>
                      </a:rPr>
                      <m:t>𝑨</m:t>
                    </m:r>
                    <m:r>
                      <a:rPr lang="en-GB" b="1" i="1" dirty="0" smtClean="0">
                        <a:latin typeface="Cambria Math" panose="02040503050406030204" pitchFamily="18" charset="0"/>
                      </a:rPr>
                      <m:t>, </m:t>
                    </m:r>
                    <m:r>
                      <a:rPr lang="en-GB" b="1" i="1" dirty="0" smtClean="0">
                        <a:latin typeface="Cambria Math" panose="02040503050406030204" pitchFamily="18" charset="0"/>
                      </a:rPr>
                      <m:t>𝒕</m:t>
                    </m:r>
                    <m:r>
                      <a:rPr lang="en-GB" b="1" i="1" dirty="0" smtClean="0">
                        <a:latin typeface="Cambria Math" panose="02040503050406030204" pitchFamily="18" charset="0"/>
                      </a:rPr>
                      <m:t>]</m:t>
                    </m:r>
                  </m:oMath>
                </a14:m>
                <a:r>
                  <a:rPr lang="en-GB" b="1" dirty="0"/>
                  <a:t>.</a:t>
                </a:r>
                <a:endParaRPr lang="en-GB" dirty="0"/>
              </a:p>
              <a:p>
                <a:pPr marL="0" indent="0">
                  <a:buNone/>
                </a:pPr>
                <a14:m>
                  <m:oMath xmlns:m="http://schemas.openxmlformats.org/officeDocument/2006/math">
                    <m:r>
                      <a:rPr lang="en-GB" i="1" dirty="0" smtClean="0">
                        <a:latin typeface="Cambria Math" panose="02040503050406030204" pitchFamily="18" charset="0"/>
                      </a:rPr>
                      <m:t>𝑇</m:t>
                    </m:r>
                    <m:r>
                      <a:rPr lang="en-GB" i="1" dirty="0" smtClean="0">
                        <a:latin typeface="Cambria Math" panose="02040503050406030204" pitchFamily="18" charset="0"/>
                      </a:rPr>
                      <m:t>[</m:t>
                    </m:r>
                    <m:r>
                      <a:rPr lang="en-GB" i="1" dirty="0" smtClean="0">
                        <a:latin typeface="Cambria Math" panose="02040503050406030204" pitchFamily="18" charset="0"/>
                      </a:rPr>
                      <m:t>𝐴</m:t>
                    </m:r>
                    <m:r>
                      <a:rPr lang="en-GB" i="1" dirty="0" smtClean="0">
                        <a:latin typeface="Cambria Math" panose="02040503050406030204" pitchFamily="18" charset="0"/>
                      </a:rPr>
                      <m:t>, </m:t>
                    </m:r>
                    <m:r>
                      <a:rPr lang="en-GB" i="1" dirty="0" smtClean="0">
                        <a:latin typeface="Cambria Math" panose="02040503050406030204" pitchFamily="18" charset="0"/>
                      </a:rPr>
                      <m:t>𝑡</m:t>
                    </m:r>
                    <m:r>
                      <a:rPr lang="en-GB" i="1" dirty="0" smtClean="0">
                        <a:latin typeface="Cambria Math" panose="02040503050406030204" pitchFamily="18" charset="0"/>
                      </a:rPr>
                      <m:t>] </m:t>
                    </m:r>
                  </m:oMath>
                </a14:m>
                <a:r>
                  <a:rPr lang="en-GB" dirty="0"/>
                  <a:t>should suggest to use a production rule </a:t>
                </a:r>
                <a14:m>
                  <m:oMath xmlns:m="http://schemas.openxmlformats.org/officeDocument/2006/math">
                    <m:r>
                      <a:rPr lang="en-GB" i="1" dirty="0" smtClean="0">
                        <a:latin typeface="Cambria Math" panose="02040503050406030204" pitchFamily="18" charset="0"/>
                      </a:rPr>
                      <m:t>𝐴</m:t>
                    </m:r>
                    <m:r>
                      <a:rPr lang="en-GB" i="1" dirty="0" smtClean="0">
                        <a:latin typeface="Cambria Math" panose="02040503050406030204" pitchFamily="18" charset="0"/>
                      </a:rPr>
                      <m:t>→</m:t>
                    </m:r>
                    <m:r>
                      <a:rPr lang="en-GB" i="1" dirty="0" smtClean="0">
                        <a:latin typeface="Cambria Math" panose="02040503050406030204" pitchFamily="18" charset="0"/>
                      </a:rPr>
                      <m:t>𝜔</m:t>
                    </m:r>
                    <m:r>
                      <a:rPr lang="en-GB" i="1" dirty="0" smtClean="0">
                        <a:latin typeface="Cambria Math" panose="02040503050406030204" pitchFamily="18" charset="0"/>
                      </a:rPr>
                      <m:t> </m:t>
                    </m:r>
                  </m:oMath>
                </a14:m>
                <a:r>
                  <a:rPr lang="en-GB" dirty="0"/>
                  <a:t>iff. </a:t>
                </a:r>
                <a14:m>
                  <m:oMath xmlns:m="http://schemas.openxmlformats.org/officeDocument/2006/math">
                    <m:r>
                      <a:rPr lang="en-GB" i="1" dirty="0" smtClean="0">
                        <a:latin typeface="Cambria Math" panose="02040503050406030204" pitchFamily="18" charset="0"/>
                      </a:rPr>
                      <m:t>𝜔</m:t>
                    </m:r>
                  </m:oMath>
                </a14:m>
                <a:r>
                  <a:rPr lang="en-GB" dirty="0"/>
                  <a:t> can later be used to derive something starting with </a:t>
                </a:r>
                <a14:m>
                  <m:oMath xmlns:m="http://schemas.openxmlformats.org/officeDocument/2006/math">
                    <m:r>
                      <a:rPr lang="en-GB" i="1" dirty="0" smtClean="0">
                        <a:latin typeface="Cambria Math" panose="02040503050406030204" pitchFamily="18" charset="0"/>
                      </a:rPr>
                      <m:t>𝑡</m:t>
                    </m:r>
                  </m:oMath>
                </a14:m>
                <a:r>
                  <a:rPr lang="en-GB" dirty="0"/>
                  <a:t>.</a:t>
                </a:r>
              </a:p>
              <a:p>
                <a:pPr marL="0" indent="0">
                  <a:buNone/>
                </a:pPr>
                <a:endParaRPr lang="en-GB" dirty="0"/>
              </a:p>
              <a:p>
                <a:pPr marL="0" indent="0">
                  <a:buNone/>
                </a:pPr>
                <a:r>
                  <a:rPr lang="en-GB" dirty="0"/>
                  <a:t>Mathematically, this writes as:</a:t>
                </a:r>
              </a:p>
              <a:p>
                <a:pPr marL="0" indent="0">
                  <a:buNone/>
                </a:pPr>
                <a14:m>
                  <m:oMath xmlns:m="http://schemas.openxmlformats.org/officeDocument/2006/math">
                    <m:r>
                      <a:rPr lang="en-GB" i="1" dirty="0" smtClean="0">
                        <a:latin typeface="Cambria Math" panose="02040503050406030204" pitchFamily="18" charset="0"/>
                      </a:rPr>
                      <m:t>𝑇</m:t>
                    </m:r>
                    <m:d>
                      <m:dPr>
                        <m:begChr m:val="["/>
                        <m:endChr m:val="]"/>
                        <m:ctrlPr>
                          <a:rPr lang="en-GB" i="1" dirty="0" smtClean="0">
                            <a:latin typeface="Cambria Math" panose="02040503050406030204" pitchFamily="18" charset="0"/>
                          </a:rPr>
                        </m:ctrlPr>
                      </m:dPr>
                      <m:e>
                        <m:r>
                          <a:rPr lang="en-GB" i="1" dirty="0" smtClean="0">
                            <a:latin typeface="Cambria Math" panose="02040503050406030204" pitchFamily="18" charset="0"/>
                          </a:rPr>
                          <m:t>𝐴</m:t>
                        </m:r>
                        <m:r>
                          <a:rPr lang="en-GB" i="1" dirty="0" smtClean="0">
                            <a:latin typeface="Cambria Math" panose="02040503050406030204" pitchFamily="18" charset="0"/>
                          </a:rPr>
                          <m:t>, </m:t>
                        </m:r>
                        <m:r>
                          <a:rPr lang="en-GB" i="1" dirty="0" smtClean="0">
                            <a:latin typeface="Cambria Math" panose="02040503050406030204" pitchFamily="18" charset="0"/>
                          </a:rPr>
                          <m:t>𝑡</m:t>
                        </m:r>
                      </m:e>
                    </m:d>
                    <m:r>
                      <a:rPr lang="en-GB" b="0" i="1" dirty="0" smtClean="0">
                        <a:latin typeface="Cambria Math" panose="02040503050406030204" pitchFamily="18" charset="0"/>
                      </a:rPr>
                      <m:t>=</m:t>
                    </m:r>
                    <m:r>
                      <a:rPr lang="en-GB" i="1" dirty="0" smtClean="0">
                        <a:latin typeface="Cambria Math" panose="02040503050406030204" pitchFamily="18" charset="0"/>
                      </a:rPr>
                      <m:t>𝜔</m:t>
                    </m:r>
                  </m:oMath>
                </a14:m>
                <a:r>
                  <a:rPr lang="en-GB" dirty="0"/>
                  <a:t> iff. </a:t>
                </a:r>
                <a14:m>
                  <m:oMath xmlns:m="http://schemas.openxmlformats.org/officeDocument/2006/math">
                    <m:r>
                      <a:rPr lang="en-GB" i="1" dirty="0">
                        <a:latin typeface="Cambria Math" panose="02040503050406030204" pitchFamily="18" charset="0"/>
                      </a:rPr>
                      <m:t>𝐴</m:t>
                    </m:r>
                    <m:r>
                      <a:rPr lang="en-GB" i="1" dirty="0">
                        <a:latin typeface="Cambria Math" panose="02040503050406030204" pitchFamily="18" charset="0"/>
                      </a:rPr>
                      <m:t>→</m:t>
                    </m:r>
                    <m:r>
                      <a:rPr lang="en-GB" i="1" dirty="0">
                        <a:latin typeface="Cambria Math" panose="02040503050406030204" pitchFamily="18" charset="0"/>
                      </a:rPr>
                      <m:t>𝜔</m:t>
                    </m:r>
                    <m:r>
                      <a:rPr lang="en-GB" i="1" dirty="0">
                        <a:latin typeface="Cambria Math" panose="02040503050406030204" pitchFamily="18" charset="0"/>
                      </a:rPr>
                      <m:t> </m:t>
                    </m:r>
                  </m:oMath>
                </a14:m>
                <a:r>
                  <a:rPr lang="en-GB" dirty="0"/>
                  <a:t>exists and </a:t>
                </a:r>
                <a14:m>
                  <m:oMath xmlns:m="http://schemas.openxmlformats.org/officeDocument/2006/math">
                    <m:r>
                      <a:rPr lang="en-GB" i="1" dirty="0" smtClean="0">
                        <a:latin typeface="Cambria Math" panose="02040503050406030204" pitchFamily="18" charset="0"/>
                      </a:rPr>
                      <m:t>𝜔</m:t>
                    </m:r>
                  </m:oMath>
                </a14:m>
                <a:r>
                  <a:rPr lang="en-GB" dirty="0"/>
                  <a:t> ⇒* </a:t>
                </a:r>
                <a14:m>
                  <m:oMath xmlns:m="http://schemas.openxmlformats.org/officeDocument/2006/math">
                    <m:r>
                      <a:rPr lang="en-GB" i="1" dirty="0" smtClean="0">
                        <a:latin typeface="Cambria Math" panose="02040503050406030204" pitchFamily="18" charset="0"/>
                      </a:rPr>
                      <m:t>𝑡</m:t>
                    </m:r>
                    <m:r>
                      <a:rPr lang="en-GB" i="1" dirty="0" smtClean="0">
                        <a:latin typeface="Cambria Math" panose="02040503050406030204" pitchFamily="18" charset="0"/>
                      </a:rPr>
                      <m:t>𝜔</m:t>
                    </m:r>
                    <m:r>
                      <a:rPr lang="en-GB" i="1" dirty="0" smtClean="0">
                        <a:latin typeface="Cambria Math" panose="02040503050406030204" pitchFamily="18" charset="0"/>
                      </a:rPr>
                      <m:t>′</m:t>
                    </m:r>
                  </m:oMath>
                </a14:m>
                <a:endParaRPr lang="en-SG" dirty="0"/>
              </a:p>
              <a:p>
                <a:pPr marL="0" indent="0">
                  <a:buNone/>
                </a:pPr>
                <a:endParaRPr lang="en-SG" dirty="0"/>
              </a:p>
              <a:p>
                <a:pPr marL="0" indent="0">
                  <a:buNone/>
                </a:pPr>
                <a:r>
                  <a:rPr lang="en-SG" dirty="0"/>
                  <a:t>Could be figured out manually (tedious).</a:t>
                </a:r>
              </a:p>
            </p:txBody>
          </p:sp>
        </mc:Choice>
        <mc:Fallback xmlns="">
          <p:sp>
            <p:nvSpPr>
              <p:cNvPr id="6" name="Content Placeholder 5">
                <a:extLst>
                  <a:ext uri="{FF2B5EF4-FFF2-40B4-BE49-F238E27FC236}">
                    <a16:creationId xmlns:a16="http://schemas.microsoft.com/office/drawing/2014/main" id="{70463EE8-3E47-12C5-EB0A-1EF6F8A14306}"/>
                  </a:ext>
                </a:extLst>
              </p:cNvPr>
              <p:cNvSpPr>
                <a:spLocks noGrp="1" noRot="1" noChangeAspect="1" noMove="1" noResize="1" noEditPoints="1" noAdjustHandles="1" noChangeArrowheads="1" noChangeShapeType="1" noTextEdit="1"/>
              </p:cNvSpPr>
              <p:nvPr>
                <p:ph idx="1"/>
              </p:nvPr>
            </p:nvSpPr>
            <p:spPr>
              <a:xfrm>
                <a:off x="838200" y="1825624"/>
                <a:ext cx="7046167" cy="5032375"/>
              </a:xfrm>
              <a:blipFill>
                <a:blip r:embed="rId2"/>
                <a:stretch>
                  <a:fillRect l="-1818" t="-1937" r="-1212"/>
                </a:stretch>
              </a:blipFill>
            </p:spPr>
            <p:txBody>
              <a:bodyPr/>
              <a:lstStyle/>
              <a:p>
                <a:r>
                  <a:rPr lang="en-SG">
                    <a:noFill/>
                  </a:rPr>
                  <a:t> </a:t>
                </a:r>
              </a:p>
            </p:txBody>
          </p:sp>
        </mc:Fallback>
      </mc:AlternateContent>
      <p:pic>
        <p:nvPicPr>
          <p:cNvPr id="7" name="Picture 6" descr="A picture containing table&#10;&#10;Description automatically generated">
            <a:extLst>
              <a:ext uri="{FF2B5EF4-FFF2-40B4-BE49-F238E27FC236}">
                <a16:creationId xmlns:a16="http://schemas.microsoft.com/office/drawing/2014/main" id="{35AC6DFD-262D-F746-00BA-4C19D95CFAC1}"/>
              </a:ext>
            </a:extLst>
          </p:cNvPr>
          <p:cNvPicPr>
            <a:picLocks noChangeAspect="1"/>
          </p:cNvPicPr>
          <p:nvPr/>
        </p:nvPicPr>
        <p:blipFill rotWithShape="1">
          <a:blip r:embed="rId3">
            <a:extLst>
              <a:ext uri="{28A0092B-C50C-407E-A947-70E740481C1C}">
                <a14:useLocalDpi xmlns:a14="http://schemas.microsoft.com/office/drawing/2010/main" val="0"/>
              </a:ext>
            </a:extLst>
          </a:blip>
          <a:srcRect l="9198" t="20968" r="12954" b="16810"/>
          <a:stretch/>
        </p:blipFill>
        <p:spPr>
          <a:xfrm>
            <a:off x="7965831" y="2453952"/>
            <a:ext cx="4101075" cy="2455249"/>
          </a:xfrm>
          <a:prstGeom prst="rect">
            <a:avLst/>
          </a:prstGeom>
        </p:spPr>
      </p:pic>
    </p:spTree>
    <p:extLst>
      <p:ext uri="{BB962C8B-B14F-4D97-AF65-F5344CB8AC3E}">
        <p14:creationId xmlns:p14="http://schemas.microsoft.com/office/powerpoint/2010/main" val="1122429417"/>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DD6C6A-1154-FC8E-1C53-965F0CF3E3C7}"/>
              </a:ext>
            </a:extLst>
          </p:cNvPr>
          <p:cNvSpPr>
            <a:spLocks noGrp="1"/>
          </p:cNvSpPr>
          <p:nvPr>
            <p:ph type="title"/>
          </p:nvPr>
        </p:nvSpPr>
        <p:spPr/>
        <p:txBody>
          <a:bodyPr/>
          <a:lstStyle/>
          <a:p>
            <a:r>
              <a:rPr lang="en-GB" dirty="0"/>
              <a:t>Definition: FIRST Sets F</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DE790B0-6C09-28B5-E4FA-99CCB209CAAB}"/>
                  </a:ext>
                </a:extLst>
              </p:cNvPr>
              <p:cNvSpPr>
                <a:spLocks noGrp="1"/>
              </p:cNvSpPr>
              <p:nvPr>
                <p:ph idx="1"/>
              </p:nvPr>
            </p:nvSpPr>
            <p:spPr>
              <a:xfrm>
                <a:off x="838200" y="1825624"/>
                <a:ext cx="10515600" cy="5032375"/>
              </a:xfrm>
            </p:spPr>
            <p:txBody>
              <a:bodyPr/>
              <a:lstStyle/>
              <a:p>
                <a:pPr marL="0" indent="0">
                  <a:buNone/>
                </a:pPr>
                <a:r>
                  <a:rPr lang="en-GB" b="1" dirty="0"/>
                  <a:t>Definition (</a:t>
                </a:r>
                <a:r>
                  <a:rPr lang="en-GB" b="1" dirty="0">
                    <a:solidFill>
                      <a:srgbClr val="00B050"/>
                    </a:solidFill>
                  </a:rPr>
                  <a:t>FIRST Set </a:t>
                </a:r>
                <a14:m>
                  <m:oMath xmlns:m="http://schemas.openxmlformats.org/officeDocument/2006/math">
                    <m:r>
                      <a:rPr lang="en-GB" b="1" i="1" dirty="0" smtClean="0">
                        <a:solidFill>
                          <a:srgbClr val="00B050"/>
                        </a:solidFill>
                        <a:latin typeface="Cambria Math" panose="02040503050406030204" pitchFamily="18" charset="0"/>
                      </a:rPr>
                      <m:t>𝑭</m:t>
                    </m:r>
                  </m:oMath>
                </a14:m>
                <a:r>
                  <a:rPr lang="en-GB" b="1" dirty="0"/>
                  <a:t> for a given non-terminal symbol):</a:t>
                </a:r>
              </a:p>
              <a:p>
                <a:pPr marL="0" indent="0">
                  <a:buNone/>
                </a:pPr>
                <a:r>
                  <a:rPr lang="en-GB" dirty="0"/>
                  <a:t>The </a:t>
                </a:r>
                <a:r>
                  <a:rPr lang="en-GB" b="1" dirty="0">
                    <a:solidFill>
                      <a:srgbClr val="00B050"/>
                    </a:solidFill>
                  </a:rPr>
                  <a:t>FIRST Set </a:t>
                </a:r>
                <a:r>
                  <a:rPr lang="en-GB" b="1" dirty="0"/>
                  <a:t>of a non-terminal symbol </a:t>
                </a:r>
                <a14:m>
                  <m:oMath xmlns:m="http://schemas.openxmlformats.org/officeDocument/2006/math">
                    <m:r>
                      <a:rPr lang="en-GB" b="1" i="1" dirty="0" smtClean="0">
                        <a:latin typeface="Cambria Math" panose="02040503050406030204" pitchFamily="18" charset="0"/>
                      </a:rPr>
                      <m:t>𝑨</m:t>
                    </m:r>
                  </m:oMath>
                </a14:m>
                <a:r>
                  <a:rPr lang="en-GB" dirty="0"/>
                  <a:t>, denoted </a:t>
                </a:r>
                <a14:m>
                  <m:oMath xmlns:m="http://schemas.openxmlformats.org/officeDocument/2006/math">
                    <m:r>
                      <a:rPr lang="en-GB" b="1" i="1" dirty="0" smtClean="0">
                        <a:solidFill>
                          <a:srgbClr val="00B050"/>
                        </a:solidFill>
                        <a:latin typeface="Cambria Math" panose="02040503050406030204" pitchFamily="18" charset="0"/>
                      </a:rPr>
                      <m:t>𝑭</m:t>
                    </m:r>
                    <m:r>
                      <a:rPr lang="en-GB" b="1" i="1" dirty="0" smtClean="0">
                        <a:solidFill>
                          <a:srgbClr val="00B050"/>
                        </a:solidFill>
                        <a:latin typeface="Cambria Math" panose="02040503050406030204" pitchFamily="18" charset="0"/>
                      </a:rPr>
                      <m:t>(</m:t>
                    </m:r>
                    <m:r>
                      <a:rPr lang="en-GB" b="1" i="1" dirty="0" smtClean="0">
                        <a:solidFill>
                          <a:srgbClr val="00B050"/>
                        </a:solidFill>
                        <a:latin typeface="Cambria Math" panose="02040503050406030204" pitchFamily="18" charset="0"/>
                      </a:rPr>
                      <m:t>𝑨</m:t>
                    </m:r>
                    <m:r>
                      <a:rPr lang="en-GB" b="1" i="1" dirty="0" smtClean="0">
                        <a:solidFill>
                          <a:srgbClr val="00B050"/>
                        </a:solidFill>
                        <a:latin typeface="Cambria Math" panose="02040503050406030204" pitchFamily="18" charset="0"/>
                      </a:rPr>
                      <m:t>)</m:t>
                    </m:r>
                  </m:oMath>
                </a14:m>
                <a:r>
                  <a:rPr lang="en-GB" b="1" dirty="0">
                    <a:solidFill>
                      <a:srgbClr val="00B050"/>
                    </a:solidFill>
                  </a:rPr>
                  <a:t> </a:t>
                </a:r>
                <a:r>
                  <a:rPr lang="en-GB" dirty="0"/>
                  <a:t>in a context-free grammar is </a:t>
                </a:r>
                <a:r>
                  <a:rPr lang="en-GB" b="1" dirty="0"/>
                  <a:t>the set of terminal symbols that can appear as the first symbol in any string derived from that non-terminal</a:t>
                </a:r>
                <a:r>
                  <a:rPr lang="en-GB" dirty="0"/>
                  <a:t>.</a:t>
                </a:r>
              </a:p>
              <a:p>
                <a:pPr marL="0" indent="0">
                  <a:buNone/>
                </a:pPr>
                <a:r>
                  <a:rPr lang="en-GB" dirty="0"/>
                  <a:t>In other words, the FIRST set of a non-terminal represents all possible prefix terminal symbols that can be generated by applying the production rules of the grammar, starting from that non-terminal.</a:t>
                </a:r>
              </a:p>
              <a:p>
                <a:pPr marL="0" indent="0">
                  <a:buNone/>
                </a:pPr>
                <a:r>
                  <a:rPr lang="en-GB" b="1" dirty="0"/>
                  <a:t>Mathematically: </a:t>
                </a:r>
                <a14:m>
                  <m:oMath xmlns:m="http://schemas.openxmlformats.org/officeDocument/2006/math">
                    <m:r>
                      <a:rPr lang="en-GB" b="0" i="1" smtClean="0">
                        <a:latin typeface="Cambria Math" panose="02040503050406030204" pitchFamily="18" charset="0"/>
                      </a:rPr>
                      <m:t>𝐹</m:t>
                    </m:r>
                    <m:d>
                      <m:dPr>
                        <m:ctrlPr>
                          <a:rPr lang="en-GB" b="0" i="1" smtClean="0">
                            <a:latin typeface="Cambria Math" panose="02040503050406030204" pitchFamily="18" charset="0"/>
                          </a:rPr>
                        </m:ctrlPr>
                      </m:dPr>
                      <m:e>
                        <m:r>
                          <a:rPr lang="en-GB" b="0" i="1" smtClean="0">
                            <a:latin typeface="Cambria Math" panose="02040503050406030204" pitchFamily="18" charset="0"/>
                          </a:rPr>
                          <m:t>𝐴</m:t>
                        </m:r>
                      </m:e>
                    </m:d>
                    <m:r>
                      <a:rPr lang="en-GB" b="0" i="1" smtClean="0">
                        <a:latin typeface="Cambria Math" panose="02040503050406030204" pitchFamily="18" charset="0"/>
                      </a:rPr>
                      <m:t>=</m:t>
                    </m:r>
                    <m:d>
                      <m:dPr>
                        <m:begChr m:val="{"/>
                        <m:endChr m:val="|"/>
                        <m:ctrlPr>
                          <a:rPr lang="en-GB" b="0" i="1" smtClean="0">
                            <a:latin typeface="Cambria Math" panose="02040503050406030204" pitchFamily="18" charset="0"/>
                          </a:rPr>
                        </m:ctrlPr>
                      </m:dPr>
                      <m:e>
                        <m:r>
                          <a:rPr lang="en-GB" b="0" i="1" smtClean="0">
                            <a:latin typeface="Cambria Math" panose="02040503050406030204" pitchFamily="18" charset="0"/>
                          </a:rPr>
                          <m:t>𝑡</m:t>
                        </m:r>
                        <m:r>
                          <a:rPr lang="en-GB" b="0" i="1" smtClean="0">
                            <a:latin typeface="Cambria Math" panose="02040503050406030204" pitchFamily="18" charset="0"/>
                          </a:rPr>
                          <m:t> </m:t>
                        </m:r>
                      </m:e>
                    </m:d>
                    <m:r>
                      <a:rPr lang="en-GB" b="0" i="1" smtClean="0">
                        <a:latin typeface="Cambria Math" panose="02040503050406030204" pitchFamily="18" charset="0"/>
                      </a:rPr>
                      <m:t> </m:t>
                    </m:r>
                    <m:r>
                      <a:rPr lang="en-GB" b="0" i="1" smtClean="0">
                        <a:latin typeface="Cambria Math" panose="02040503050406030204" pitchFamily="18" charset="0"/>
                      </a:rPr>
                      <m:t>𝐴</m:t>
                    </m:r>
                    <m:r>
                      <m:rPr>
                        <m:nor/>
                      </m:rPr>
                      <a:rPr lang="en-GB" b="0" i="0" smtClean="0">
                        <a:latin typeface="Cambria Math" panose="02040503050406030204" pitchFamily="18" charset="0"/>
                      </a:rPr>
                      <m:t> </m:t>
                    </m:r>
                    <m:r>
                      <m:rPr>
                        <m:nor/>
                      </m:rPr>
                      <a:rPr lang="en-GB" dirty="0"/>
                      <m:t>⇒∗</m:t>
                    </m:r>
                    <m:r>
                      <a:rPr lang="en-GB" b="0" i="1" dirty="0" smtClean="0">
                        <a:latin typeface="Cambria Math" panose="02040503050406030204" pitchFamily="18" charset="0"/>
                      </a:rPr>
                      <m:t>  </m:t>
                    </m:r>
                    <m:r>
                      <a:rPr lang="en-GB" b="0" i="1" smtClean="0">
                        <a:latin typeface="Cambria Math" panose="02040503050406030204" pitchFamily="18" charset="0"/>
                      </a:rPr>
                      <m:t>𝑡</m:t>
                    </m:r>
                    <m:r>
                      <a:rPr lang="en-GB" b="0" i="1" smtClean="0">
                        <a:latin typeface="Cambria Math" panose="02040503050406030204" pitchFamily="18" charset="0"/>
                      </a:rPr>
                      <m:t>𝜔</m:t>
                    </m:r>
                    <m:r>
                      <a:rPr lang="en-GB" b="0" i="1" smtClean="0">
                        <a:latin typeface="Cambria Math" panose="02040503050406030204" pitchFamily="18" charset="0"/>
                      </a:rPr>
                      <m:t>    </m:t>
                    </m:r>
                    <m:r>
                      <m:rPr>
                        <m:sty m:val="p"/>
                      </m:rPr>
                      <a:rPr lang="en-GB" b="0" i="0" smtClean="0">
                        <a:latin typeface="Cambria Math" panose="02040503050406030204" pitchFamily="18" charset="0"/>
                      </a:rPr>
                      <m:t>for</m:t>
                    </m:r>
                    <m:r>
                      <a:rPr lang="en-GB" b="0" i="0" smtClean="0">
                        <a:latin typeface="Cambria Math" panose="02040503050406030204" pitchFamily="18" charset="0"/>
                      </a:rPr>
                      <m:t> </m:t>
                    </m:r>
                    <m:r>
                      <m:rPr>
                        <m:sty m:val="p"/>
                      </m:rPr>
                      <a:rPr lang="en-GB" b="0" i="0" smtClean="0">
                        <a:latin typeface="Cambria Math" panose="02040503050406030204" pitchFamily="18" charset="0"/>
                      </a:rPr>
                      <m:t>some</m:t>
                    </m:r>
                    <m:r>
                      <a:rPr lang="en-GB" b="0" i="0" smtClean="0">
                        <a:latin typeface="Cambria Math" panose="02040503050406030204" pitchFamily="18" charset="0"/>
                      </a:rPr>
                      <m:t> </m:t>
                    </m:r>
                    <m:r>
                      <a:rPr lang="en-GB" b="0" i="1" smtClean="0">
                        <a:latin typeface="Cambria Math" panose="02040503050406030204" pitchFamily="18" charset="0"/>
                      </a:rPr>
                      <m:t>𝜔</m:t>
                    </m:r>
                    <m:r>
                      <a:rPr lang="en-GB" b="0" i="1" smtClean="0">
                        <a:latin typeface="Cambria Math" panose="02040503050406030204" pitchFamily="18" charset="0"/>
                      </a:rPr>
                      <m:t>}</m:t>
                    </m:r>
                  </m:oMath>
                </a14:m>
                <a:endParaRPr lang="en-SG" dirty="0"/>
              </a:p>
              <a:p>
                <a:pPr marL="0" indent="0">
                  <a:buNone/>
                </a:pPr>
                <a:r>
                  <a:rPr lang="en-SG" b="1" dirty="0"/>
                  <a:t>Property #1: </a:t>
                </a:r>
                <a:r>
                  <a:rPr lang="en-SG" dirty="0"/>
                  <a:t>if </a:t>
                </a:r>
                <a14:m>
                  <m:oMath xmlns:m="http://schemas.openxmlformats.org/officeDocument/2006/math">
                    <m:r>
                      <a:rPr lang="en-SG" i="1" dirty="0" smtClean="0">
                        <a:latin typeface="Cambria Math" panose="02040503050406030204" pitchFamily="18" charset="0"/>
                      </a:rPr>
                      <m:t>𝐴</m:t>
                    </m:r>
                  </m:oMath>
                </a14:m>
                <a:r>
                  <a:rPr lang="en-SG" dirty="0"/>
                  <a:t> is a terminal symbol, then, </a:t>
                </a:r>
                <a14:m>
                  <m:oMath xmlns:m="http://schemas.openxmlformats.org/officeDocument/2006/math">
                    <m:r>
                      <a:rPr lang="en-SG" i="1" dirty="0" smtClean="0">
                        <a:latin typeface="Cambria Math" panose="02040503050406030204" pitchFamily="18" charset="0"/>
                      </a:rPr>
                      <m:t>𝐹</m:t>
                    </m:r>
                    <m:r>
                      <a:rPr lang="en-SG" i="1" dirty="0" smtClean="0">
                        <a:latin typeface="Cambria Math" panose="02040503050406030204" pitchFamily="18" charset="0"/>
                      </a:rPr>
                      <m:t>(</m:t>
                    </m:r>
                    <m:r>
                      <a:rPr lang="en-SG" i="1" dirty="0" smtClean="0">
                        <a:latin typeface="Cambria Math" panose="02040503050406030204" pitchFamily="18" charset="0"/>
                      </a:rPr>
                      <m:t>𝐴</m:t>
                    </m:r>
                    <m:r>
                      <a:rPr lang="en-SG" i="1" dirty="0" smtClean="0">
                        <a:latin typeface="Cambria Math" panose="02040503050406030204" pitchFamily="18" charset="0"/>
                      </a:rPr>
                      <m:t>) = {</m:t>
                    </m:r>
                    <m:r>
                      <a:rPr lang="en-SG" i="1" dirty="0" smtClean="0">
                        <a:latin typeface="Cambria Math" panose="02040503050406030204" pitchFamily="18" charset="0"/>
                      </a:rPr>
                      <m:t>𝐴</m:t>
                    </m:r>
                    <m:r>
                      <a:rPr lang="en-SG" i="1" dirty="0" smtClean="0">
                        <a:latin typeface="Cambria Math" panose="02040503050406030204" pitchFamily="18" charset="0"/>
                      </a:rPr>
                      <m:t>}</m:t>
                    </m:r>
                  </m:oMath>
                </a14:m>
                <a:r>
                  <a:rPr lang="en-SG" dirty="0"/>
                  <a:t>.</a:t>
                </a:r>
              </a:p>
              <a:p>
                <a:pPr marL="0" indent="0">
                  <a:buNone/>
                </a:pPr>
                <a:r>
                  <a:rPr lang="en-SG" b="1" dirty="0"/>
                  <a:t>Property #2: </a:t>
                </a:r>
                <a:r>
                  <a:rPr lang="en-SG" dirty="0"/>
                  <a:t>if </a:t>
                </a:r>
                <a14:m>
                  <m:oMath xmlns:m="http://schemas.openxmlformats.org/officeDocument/2006/math">
                    <m:r>
                      <a:rPr lang="en-SG" i="1" dirty="0" smtClean="0">
                        <a:latin typeface="Cambria Math" panose="02040503050406030204" pitchFamily="18" charset="0"/>
                      </a:rPr>
                      <m:t>𝐴</m:t>
                    </m:r>
                  </m:oMath>
                </a14:m>
                <a:r>
                  <a:rPr lang="en-SG" dirty="0"/>
                  <a:t> </a:t>
                </a:r>
                <a:r>
                  <a:rPr lang="en-SG" dirty="0">
                    <a:sym typeface="Wingdings" panose="05000000000000000000" pitchFamily="2" charset="2"/>
                  </a:rPr>
                  <a:t> </a:t>
                </a:r>
                <a14:m>
                  <m:oMath xmlns:m="http://schemas.openxmlformats.org/officeDocument/2006/math">
                    <m:r>
                      <a:rPr lang="en-SG" i="1" dirty="0" smtClean="0">
                        <a:latin typeface="Cambria Math" panose="02040503050406030204" pitchFamily="18" charset="0"/>
                        <a:sym typeface="Wingdings" panose="05000000000000000000" pitchFamily="2" charset="2"/>
                      </a:rPr>
                      <m:t>𝐵</m:t>
                    </m:r>
                    <m:r>
                      <a:rPr lang="en-GB" b="0" i="1" dirty="0" smtClean="0">
                        <a:latin typeface="Cambria Math" panose="02040503050406030204" pitchFamily="18" charset="0"/>
                        <a:sym typeface="Wingdings" panose="05000000000000000000" pitchFamily="2" charset="2"/>
                      </a:rPr>
                      <m:t>𝜔</m:t>
                    </m:r>
                  </m:oMath>
                </a14:m>
                <a:r>
                  <a:rPr lang="en-SG" dirty="0">
                    <a:sym typeface="Wingdings" panose="05000000000000000000" pitchFamily="2" charset="2"/>
                  </a:rPr>
                  <a:t> and </a:t>
                </a:r>
                <a14:m>
                  <m:oMath xmlns:m="http://schemas.openxmlformats.org/officeDocument/2006/math">
                    <m:r>
                      <a:rPr lang="en-SG" i="1" dirty="0" smtClean="0">
                        <a:latin typeface="Cambria Math" panose="02040503050406030204" pitchFamily="18" charset="0"/>
                        <a:sym typeface="Wingdings" panose="05000000000000000000" pitchFamily="2" charset="2"/>
                      </a:rPr>
                      <m:t>𝐵</m:t>
                    </m:r>
                  </m:oMath>
                </a14:m>
                <a:r>
                  <a:rPr lang="en-SG" dirty="0">
                    <a:sym typeface="Wingdings" panose="05000000000000000000" pitchFamily="2" charset="2"/>
                  </a:rPr>
                  <a:t>  </a:t>
                </a:r>
                <a14:m>
                  <m:oMath xmlns:m="http://schemas.openxmlformats.org/officeDocument/2006/math">
                    <m:r>
                      <a:rPr lang="en-SG" i="1" dirty="0" smtClean="0">
                        <a:latin typeface="Cambria Math" panose="02040503050406030204" pitchFamily="18" charset="0"/>
                        <a:sym typeface="Wingdings" panose="05000000000000000000" pitchFamily="2" charset="2"/>
                      </a:rPr>
                      <m:t>𝑐</m:t>
                    </m:r>
                  </m:oMath>
                </a14:m>
                <a:r>
                  <a:rPr lang="en-SG" dirty="0">
                    <a:sym typeface="Wingdings" panose="05000000000000000000" pitchFamily="2" charset="2"/>
                  </a:rPr>
                  <a:t>, then </a:t>
                </a:r>
                <a14:m>
                  <m:oMath xmlns:m="http://schemas.openxmlformats.org/officeDocument/2006/math">
                    <m:r>
                      <a:rPr lang="en-SG" i="1" dirty="0" smtClean="0">
                        <a:latin typeface="Cambria Math" panose="02040503050406030204" pitchFamily="18" charset="0"/>
                        <a:sym typeface="Wingdings" panose="05000000000000000000" pitchFamily="2" charset="2"/>
                      </a:rPr>
                      <m:t>𝑐</m:t>
                    </m:r>
                    <m:r>
                      <a:rPr lang="en-SG" i="1" dirty="0" smtClean="0">
                        <a:latin typeface="Cambria Math" panose="02040503050406030204" pitchFamily="18" charset="0"/>
                        <a:sym typeface="Wingdings" panose="05000000000000000000" pitchFamily="2" charset="2"/>
                      </a:rPr>
                      <m:t>∈ </m:t>
                    </m:r>
                    <m:r>
                      <a:rPr lang="en-SG" i="1" dirty="0" smtClean="0">
                        <a:latin typeface="Cambria Math" panose="02040503050406030204" pitchFamily="18" charset="0"/>
                        <a:sym typeface="Wingdings" panose="05000000000000000000" pitchFamily="2" charset="2"/>
                      </a:rPr>
                      <m:t>𝐹</m:t>
                    </m:r>
                    <m:r>
                      <a:rPr lang="en-SG" i="1" dirty="0" smtClean="0">
                        <a:latin typeface="Cambria Math" panose="02040503050406030204" pitchFamily="18" charset="0"/>
                        <a:sym typeface="Wingdings" panose="05000000000000000000" pitchFamily="2" charset="2"/>
                      </a:rPr>
                      <m:t>(</m:t>
                    </m:r>
                    <m:r>
                      <a:rPr lang="en-SG" i="1" dirty="0" smtClean="0">
                        <a:latin typeface="Cambria Math" panose="02040503050406030204" pitchFamily="18" charset="0"/>
                        <a:sym typeface="Wingdings" panose="05000000000000000000" pitchFamily="2" charset="2"/>
                      </a:rPr>
                      <m:t>𝐴</m:t>
                    </m:r>
                    <m:r>
                      <a:rPr lang="en-SG" i="1" dirty="0" smtClean="0">
                        <a:latin typeface="Cambria Math" panose="02040503050406030204" pitchFamily="18" charset="0"/>
                        <a:sym typeface="Wingdings" panose="05000000000000000000" pitchFamily="2" charset="2"/>
                      </a:rPr>
                      <m:t>)</m:t>
                    </m:r>
                  </m:oMath>
                </a14:m>
                <a:r>
                  <a:rPr lang="en-SG" dirty="0"/>
                  <a:t>.</a:t>
                </a:r>
              </a:p>
            </p:txBody>
          </p:sp>
        </mc:Choice>
        <mc:Fallback xmlns="">
          <p:sp>
            <p:nvSpPr>
              <p:cNvPr id="3" name="Content Placeholder 2">
                <a:extLst>
                  <a:ext uri="{FF2B5EF4-FFF2-40B4-BE49-F238E27FC236}">
                    <a16:creationId xmlns:a16="http://schemas.microsoft.com/office/drawing/2014/main" id="{9DE790B0-6C09-28B5-E4FA-99CCB209CAAB}"/>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a:stretch>
              </a:blipFill>
            </p:spPr>
            <p:txBody>
              <a:bodyPr/>
              <a:lstStyle/>
              <a:p>
                <a:r>
                  <a:rPr lang="en-SG">
                    <a:noFill/>
                  </a:rPr>
                  <a:t> </a:t>
                </a:r>
              </a:p>
            </p:txBody>
          </p:sp>
        </mc:Fallback>
      </mc:AlternateContent>
    </p:spTree>
    <p:extLst>
      <p:ext uri="{BB962C8B-B14F-4D97-AF65-F5344CB8AC3E}">
        <p14:creationId xmlns:p14="http://schemas.microsoft.com/office/powerpoint/2010/main" val="1070470882"/>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DD6C6A-1154-FC8E-1C53-965F0CF3E3C7}"/>
              </a:ext>
            </a:extLst>
          </p:cNvPr>
          <p:cNvSpPr>
            <a:spLocks noGrp="1"/>
          </p:cNvSpPr>
          <p:nvPr>
            <p:ph type="title"/>
          </p:nvPr>
        </p:nvSpPr>
        <p:spPr/>
        <p:txBody>
          <a:bodyPr/>
          <a:lstStyle/>
          <a:p>
            <a:r>
              <a:rPr lang="en-GB" dirty="0"/>
              <a:t>Computing a FIRST Sets F</a:t>
            </a:r>
            <a:endParaRPr lang="en-SG" dirty="0"/>
          </a:p>
        </p:txBody>
      </p:sp>
      <p:sp>
        <p:nvSpPr>
          <p:cNvPr id="3" name="Content Placeholder 2">
            <a:extLst>
              <a:ext uri="{FF2B5EF4-FFF2-40B4-BE49-F238E27FC236}">
                <a16:creationId xmlns:a16="http://schemas.microsoft.com/office/drawing/2014/main" id="{9DE790B0-6C09-28B5-E4FA-99CCB209CAAB}"/>
              </a:ext>
            </a:extLst>
          </p:cNvPr>
          <p:cNvSpPr>
            <a:spLocks noGrp="1"/>
          </p:cNvSpPr>
          <p:nvPr>
            <p:ph sz="half" idx="1"/>
          </p:nvPr>
        </p:nvSpPr>
        <p:spPr/>
        <p:txBody>
          <a:bodyPr>
            <a:normAutofit/>
          </a:bodyPr>
          <a:lstStyle/>
          <a:p>
            <a:pPr marL="0" indent="0">
              <a:buNone/>
            </a:pPr>
            <a:r>
              <a:rPr lang="en-GB" dirty="0"/>
              <a:t>Consider the CFG below.</a:t>
            </a:r>
          </a:p>
          <a:p>
            <a:pPr marL="0" indent="0">
              <a:buNone/>
            </a:pPr>
            <a:r>
              <a:rPr lang="en-SG" dirty="0"/>
              <a:t>S </a:t>
            </a:r>
            <a:r>
              <a:rPr lang="en-SG" dirty="0">
                <a:sym typeface="Wingdings" panose="05000000000000000000" pitchFamily="2" charset="2"/>
              </a:rPr>
              <a:t></a:t>
            </a:r>
            <a:r>
              <a:rPr lang="en-SG" dirty="0"/>
              <a:t> AB</a:t>
            </a:r>
          </a:p>
          <a:p>
            <a:pPr marL="0" indent="0">
              <a:buNone/>
            </a:pPr>
            <a:r>
              <a:rPr lang="en-SG" dirty="0"/>
              <a:t>A </a:t>
            </a:r>
            <a:r>
              <a:rPr lang="en-SG" dirty="0">
                <a:sym typeface="Wingdings" panose="05000000000000000000" pitchFamily="2" charset="2"/>
              </a:rPr>
              <a:t></a:t>
            </a:r>
            <a:r>
              <a:rPr lang="en-SG" dirty="0"/>
              <a:t> a | c</a:t>
            </a:r>
            <a:endParaRPr lang="el-GR" dirty="0"/>
          </a:p>
          <a:p>
            <a:pPr marL="0" indent="0">
              <a:buNone/>
            </a:pPr>
            <a:r>
              <a:rPr lang="en-SG" dirty="0"/>
              <a:t>B </a:t>
            </a:r>
            <a:r>
              <a:rPr lang="en-SG" dirty="0">
                <a:sym typeface="Wingdings" panose="05000000000000000000" pitchFamily="2" charset="2"/>
              </a:rPr>
              <a:t></a:t>
            </a:r>
            <a:r>
              <a:rPr lang="en-SG" dirty="0"/>
              <a:t> b</a:t>
            </a:r>
          </a:p>
          <a:p>
            <a:pPr marL="0" indent="0">
              <a:buNone/>
            </a:pPr>
            <a:r>
              <a:rPr lang="en-GB" dirty="0"/>
              <a:t>In our CFG above, S, A, and B are non-terminal symbols, and a, b and c are terminal symbols.</a:t>
            </a:r>
            <a:endParaRPr lang="en-SG" dirty="0"/>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75720A82-8B88-6667-93A9-47ACBCA8C5F1}"/>
                  </a:ext>
                </a:extLst>
              </p:cNvPr>
              <p:cNvSpPr>
                <a:spLocks noGrp="1"/>
              </p:cNvSpPr>
              <p:nvPr>
                <p:ph sz="half" idx="2"/>
              </p:nvPr>
            </p:nvSpPr>
            <p:spPr>
              <a:xfrm>
                <a:off x="6172200" y="1825624"/>
                <a:ext cx="5181600" cy="5032375"/>
              </a:xfrm>
            </p:spPr>
            <p:txBody>
              <a:bodyPr>
                <a:normAutofit/>
              </a:bodyPr>
              <a:lstStyle/>
              <a:p>
                <a:pPr marL="0" indent="0">
                  <a:buNone/>
                </a:pPr>
                <a:r>
                  <a:rPr lang="en-GB" b="1" dirty="0"/>
                  <a:t>What is F(A) here?</a:t>
                </a: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𝐹</m:t>
                      </m:r>
                      <m:d>
                        <m:dPr>
                          <m:ctrlPr>
                            <a:rPr lang="en-GB" b="0" i="1" smtClean="0">
                              <a:latin typeface="Cambria Math" panose="02040503050406030204" pitchFamily="18" charset="0"/>
                            </a:rPr>
                          </m:ctrlPr>
                        </m:dPr>
                        <m:e>
                          <m:r>
                            <a:rPr lang="en-GB" b="0" i="1" smtClean="0">
                              <a:latin typeface="Cambria Math" panose="02040503050406030204" pitchFamily="18" charset="0"/>
                            </a:rPr>
                            <m:t>𝐴</m:t>
                          </m:r>
                        </m:e>
                      </m:d>
                      <m:r>
                        <a:rPr lang="en-GB" b="0" i="1" smtClean="0">
                          <a:latin typeface="Cambria Math" panose="02040503050406030204" pitchFamily="18" charset="0"/>
                        </a:rPr>
                        <m:t>={</m:t>
                      </m:r>
                      <m:r>
                        <a:rPr lang="en-GB" b="0" i="1" smtClean="0">
                          <a:latin typeface="Cambria Math" panose="02040503050406030204" pitchFamily="18" charset="0"/>
                        </a:rPr>
                        <m:t>𝑎</m:t>
                      </m:r>
                      <m:r>
                        <a:rPr lang="en-GB" b="0" i="1" smtClean="0">
                          <a:latin typeface="Cambria Math" panose="02040503050406030204" pitchFamily="18" charset="0"/>
                        </a:rPr>
                        <m:t>, </m:t>
                      </m:r>
                      <m:r>
                        <a:rPr lang="en-GB" b="0" i="1" smtClean="0">
                          <a:latin typeface="Cambria Math" panose="02040503050406030204" pitchFamily="18" charset="0"/>
                        </a:rPr>
                        <m:t>𝑐</m:t>
                      </m:r>
                      <m:r>
                        <a:rPr lang="en-GB" b="0" i="1" smtClean="0">
                          <a:latin typeface="Cambria Math" panose="02040503050406030204" pitchFamily="18" charset="0"/>
                        </a:rPr>
                        <m:t>}</m:t>
                      </m:r>
                    </m:oMath>
                  </m:oMathPara>
                </a14:m>
                <a:endParaRPr lang="en-GB" dirty="0"/>
              </a:p>
              <a:p>
                <a:pPr marL="0" indent="0">
                  <a:buNone/>
                </a:pPr>
                <a:endParaRPr lang="en-GB" dirty="0"/>
              </a:p>
              <a:p>
                <a:pPr marL="0" indent="0">
                  <a:buNone/>
                </a:pPr>
                <a:r>
                  <a:rPr lang="en-GB" b="1" dirty="0"/>
                  <a:t>What is F(B) here?</a:t>
                </a: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𝐹</m:t>
                      </m:r>
                      <m:d>
                        <m:dPr>
                          <m:ctrlPr>
                            <a:rPr lang="en-GB" b="0" i="1" smtClean="0">
                              <a:latin typeface="Cambria Math" panose="02040503050406030204" pitchFamily="18" charset="0"/>
                            </a:rPr>
                          </m:ctrlPr>
                        </m:dPr>
                        <m:e>
                          <m:r>
                            <a:rPr lang="en-GB" b="0" i="1" smtClean="0">
                              <a:latin typeface="Cambria Math" panose="02040503050406030204" pitchFamily="18" charset="0"/>
                            </a:rPr>
                            <m:t>𝐵</m:t>
                          </m:r>
                        </m:e>
                      </m:d>
                      <m:r>
                        <a:rPr lang="en-GB" b="0" i="1" smtClean="0">
                          <a:latin typeface="Cambria Math" panose="02040503050406030204" pitchFamily="18" charset="0"/>
                        </a:rPr>
                        <m:t>={</m:t>
                      </m:r>
                      <m:r>
                        <a:rPr lang="en-GB" b="0" i="1" smtClean="0">
                          <a:latin typeface="Cambria Math" panose="02040503050406030204" pitchFamily="18" charset="0"/>
                        </a:rPr>
                        <m:t>𝑏</m:t>
                      </m:r>
                      <m:r>
                        <a:rPr lang="en-GB" b="0" i="1" smtClean="0">
                          <a:latin typeface="Cambria Math" panose="02040503050406030204" pitchFamily="18" charset="0"/>
                        </a:rPr>
                        <m:t>}</m:t>
                      </m:r>
                    </m:oMath>
                  </m:oMathPara>
                </a14:m>
                <a:endParaRPr lang="en-GB" dirty="0"/>
              </a:p>
              <a:p>
                <a:pPr marL="0" indent="0">
                  <a:buNone/>
                </a:pPr>
                <a:endParaRPr lang="en-GB" dirty="0"/>
              </a:p>
              <a:p>
                <a:pPr marL="0" indent="0">
                  <a:buNone/>
                </a:pPr>
                <a:r>
                  <a:rPr lang="en-GB" b="1" dirty="0"/>
                  <a:t>What is F(S) here?</a:t>
                </a:r>
              </a:p>
              <a:p>
                <a:pPr marL="0" indent="0">
                  <a:buNone/>
                </a:pPr>
                <a:r>
                  <a:rPr lang="en-GB" dirty="0"/>
                  <a:t>According to Property #2, that would be the same as </a:t>
                </a:r>
                <a14:m>
                  <m:oMath xmlns:m="http://schemas.openxmlformats.org/officeDocument/2006/math">
                    <m:r>
                      <a:rPr lang="en-GB" i="1" dirty="0" smtClean="0">
                        <a:latin typeface="Cambria Math" panose="02040503050406030204" pitchFamily="18" charset="0"/>
                      </a:rPr>
                      <m:t>𝐹</m:t>
                    </m:r>
                    <m:r>
                      <a:rPr lang="en-GB" i="1" dirty="0" smtClean="0">
                        <a:latin typeface="Cambria Math" panose="02040503050406030204" pitchFamily="18" charset="0"/>
                      </a:rPr>
                      <m:t>(</m:t>
                    </m:r>
                    <m:r>
                      <a:rPr lang="en-GB" i="1" dirty="0" smtClean="0">
                        <a:latin typeface="Cambria Math" panose="02040503050406030204" pitchFamily="18" charset="0"/>
                      </a:rPr>
                      <m:t>𝐴</m:t>
                    </m:r>
                    <m:r>
                      <a:rPr lang="en-GB" i="1" dirty="0" smtClean="0">
                        <a:latin typeface="Cambria Math" panose="02040503050406030204" pitchFamily="18" charset="0"/>
                      </a:rPr>
                      <m:t>)</m:t>
                    </m:r>
                  </m:oMath>
                </a14:m>
                <a:r>
                  <a:rPr lang="en-GB" dirty="0"/>
                  <a:t>.</a:t>
                </a:r>
                <a:endParaRPr lang="en-GB"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𝐹</m:t>
                      </m:r>
                      <m:d>
                        <m:dPr>
                          <m:ctrlPr>
                            <a:rPr lang="en-GB" b="0" i="1" smtClean="0">
                              <a:latin typeface="Cambria Math" panose="02040503050406030204" pitchFamily="18" charset="0"/>
                            </a:rPr>
                          </m:ctrlPr>
                        </m:dPr>
                        <m:e>
                          <m:r>
                            <a:rPr lang="en-GB" b="0" i="1" smtClean="0">
                              <a:latin typeface="Cambria Math" panose="02040503050406030204" pitchFamily="18" charset="0"/>
                            </a:rPr>
                            <m:t>𝑆</m:t>
                          </m:r>
                        </m:e>
                      </m:d>
                      <m:r>
                        <a:rPr lang="en-GB" b="0" i="1" smtClean="0">
                          <a:latin typeface="Cambria Math" panose="02040503050406030204" pitchFamily="18" charset="0"/>
                        </a:rPr>
                        <m:t>={</m:t>
                      </m:r>
                      <m:r>
                        <a:rPr lang="en-GB" b="0" i="1" smtClean="0">
                          <a:latin typeface="Cambria Math" panose="02040503050406030204" pitchFamily="18" charset="0"/>
                        </a:rPr>
                        <m:t>𝑎</m:t>
                      </m:r>
                      <m:r>
                        <a:rPr lang="en-GB" b="0" i="1" smtClean="0">
                          <a:latin typeface="Cambria Math" panose="02040503050406030204" pitchFamily="18" charset="0"/>
                        </a:rPr>
                        <m:t>, </m:t>
                      </m:r>
                      <m:r>
                        <a:rPr lang="en-GB" b="0" i="1" smtClean="0">
                          <a:latin typeface="Cambria Math" panose="02040503050406030204" pitchFamily="18" charset="0"/>
                        </a:rPr>
                        <m:t>𝑐</m:t>
                      </m:r>
                      <m:r>
                        <a:rPr lang="en-GB" b="0" i="1" smtClean="0">
                          <a:latin typeface="Cambria Math" panose="02040503050406030204" pitchFamily="18" charset="0"/>
                        </a:rPr>
                        <m:t>}</m:t>
                      </m:r>
                    </m:oMath>
                  </m:oMathPara>
                </a14:m>
                <a:endParaRPr lang="en-GB" dirty="0"/>
              </a:p>
              <a:p>
                <a:pPr marL="0" indent="0">
                  <a:buNone/>
                </a:pPr>
                <a:endParaRPr lang="en-GB" dirty="0"/>
              </a:p>
              <a:p>
                <a:endParaRPr lang="en-SG" dirty="0"/>
              </a:p>
            </p:txBody>
          </p:sp>
        </mc:Choice>
        <mc:Fallback xmlns="">
          <p:sp>
            <p:nvSpPr>
              <p:cNvPr id="5" name="Content Placeholder 4">
                <a:extLst>
                  <a:ext uri="{FF2B5EF4-FFF2-40B4-BE49-F238E27FC236}">
                    <a16:creationId xmlns:a16="http://schemas.microsoft.com/office/drawing/2014/main" id="{75720A82-8B88-6667-93A9-47ACBCA8C5F1}"/>
                  </a:ext>
                </a:extLst>
              </p:cNvPr>
              <p:cNvSpPr>
                <a:spLocks noGrp="1" noRot="1" noChangeAspect="1" noMove="1" noResize="1" noEditPoints="1" noAdjustHandles="1" noChangeArrowheads="1" noChangeShapeType="1" noTextEdit="1"/>
              </p:cNvSpPr>
              <p:nvPr>
                <p:ph sz="half" idx="2"/>
              </p:nvPr>
            </p:nvSpPr>
            <p:spPr>
              <a:xfrm>
                <a:off x="6172200" y="1825624"/>
                <a:ext cx="5181600" cy="5032375"/>
              </a:xfrm>
              <a:blipFill>
                <a:blip r:embed="rId2"/>
                <a:stretch>
                  <a:fillRect l="-2471" t="-1937"/>
                </a:stretch>
              </a:blipFill>
            </p:spPr>
            <p:txBody>
              <a:bodyPr/>
              <a:lstStyle/>
              <a:p>
                <a:r>
                  <a:rPr lang="en-SG">
                    <a:noFill/>
                  </a:rPr>
                  <a:t> </a:t>
                </a:r>
              </a:p>
            </p:txBody>
          </p:sp>
        </mc:Fallback>
      </mc:AlternateContent>
    </p:spTree>
    <p:extLst>
      <p:ext uri="{BB962C8B-B14F-4D97-AF65-F5344CB8AC3E}">
        <p14:creationId xmlns:p14="http://schemas.microsoft.com/office/powerpoint/2010/main" val="2343460148"/>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DD6C6A-1154-FC8E-1C53-965F0CF3E3C7}"/>
              </a:ext>
            </a:extLst>
          </p:cNvPr>
          <p:cNvSpPr>
            <a:spLocks noGrp="1"/>
          </p:cNvSpPr>
          <p:nvPr>
            <p:ph type="title"/>
          </p:nvPr>
        </p:nvSpPr>
        <p:spPr/>
        <p:txBody>
          <a:bodyPr/>
          <a:lstStyle/>
          <a:p>
            <a:r>
              <a:rPr lang="en-GB" dirty="0"/>
              <a:t>Practice 3: computing FIRST sets for a CFG</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DE790B0-6C09-28B5-E4FA-99CCB209CAAB}"/>
                  </a:ext>
                </a:extLst>
              </p:cNvPr>
              <p:cNvSpPr>
                <a:spLocks noGrp="1"/>
              </p:cNvSpPr>
              <p:nvPr>
                <p:ph sz="half" idx="1"/>
              </p:nvPr>
            </p:nvSpPr>
            <p:spPr>
              <a:xfrm>
                <a:off x="838200" y="1825624"/>
                <a:ext cx="5181600" cy="5032375"/>
              </a:xfrm>
            </p:spPr>
            <p:txBody>
              <a:bodyPr>
                <a:normAutofit/>
              </a:bodyPr>
              <a:lstStyle/>
              <a:p>
                <a:pPr marL="0" indent="0">
                  <a:buNone/>
                </a:pPr>
                <a:r>
                  <a:rPr lang="en-GB" dirty="0"/>
                  <a:t>Consider the second CFG below.</a:t>
                </a:r>
              </a:p>
              <a:p>
                <a:pPr marL="0" indent="0">
                  <a:buNone/>
                </a:pPr>
                <a:r>
                  <a:rPr lang="en-SG" dirty="0"/>
                  <a:t>S </a:t>
                </a:r>
                <a:r>
                  <a:rPr lang="en-SG" dirty="0">
                    <a:sym typeface="Wingdings" panose="05000000000000000000" pitchFamily="2" charset="2"/>
                  </a:rPr>
                  <a:t></a:t>
                </a:r>
                <a:r>
                  <a:rPr lang="en-SG" dirty="0"/>
                  <a:t> ACB</a:t>
                </a:r>
              </a:p>
              <a:p>
                <a:pPr marL="0" indent="0">
                  <a:buNone/>
                </a:pPr>
                <a:r>
                  <a:rPr lang="en-SG" dirty="0"/>
                  <a:t>A </a:t>
                </a:r>
                <a:r>
                  <a:rPr lang="en-SG" dirty="0">
                    <a:sym typeface="Wingdings" panose="05000000000000000000" pitchFamily="2" charset="2"/>
                  </a:rPr>
                  <a:t></a:t>
                </a:r>
                <a:r>
                  <a:rPr lang="en-SG" dirty="0"/>
                  <a:t> a | </a:t>
                </a:r>
                <a:r>
                  <a:rPr lang="en-GB" dirty="0"/>
                  <a:t>B | </a:t>
                </a:r>
                <a14:m>
                  <m:oMath xmlns:m="http://schemas.openxmlformats.org/officeDocument/2006/math">
                    <m:r>
                      <a:rPr lang="en-GB" b="0" i="1" smtClean="0">
                        <a:latin typeface="Cambria Math" panose="02040503050406030204" pitchFamily="18" charset="0"/>
                      </a:rPr>
                      <m:t>𝜖</m:t>
                    </m:r>
                  </m:oMath>
                </a14:m>
                <a:endParaRPr lang="el-GR" dirty="0"/>
              </a:p>
              <a:p>
                <a:pPr marL="0" indent="0">
                  <a:buNone/>
                </a:pPr>
                <a:r>
                  <a:rPr lang="en-SG" dirty="0"/>
                  <a:t>B </a:t>
                </a:r>
                <a:r>
                  <a:rPr lang="en-SG" dirty="0">
                    <a:sym typeface="Wingdings" panose="05000000000000000000" pitchFamily="2" charset="2"/>
                  </a:rPr>
                  <a:t></a:t>
                </a:r>
                <a:r>
                  <a:rPr lang="en-SG" dirty="0"/>
                  <a:t> b</a:t>
                </a:r>
              </a:p>
              <a:p>
                <a:pPr marL="0" indent="0">
                  <a:buNone/>
                </a:pPr>
                <a:r>
                  <a:rPr lang="en-SG" dirty="0"/>
                  <a:t>C </a:t>
                </a:r>
                <a:r>
                  <a:rPr lang="en-SG" dirty="0">
                    <a:sym typeface="Wingdings" panose="05000000000000000000" pitchFamily="2" charset="2"/>
                  </a:rPr>
                  <a:t> c | d</a:t>
                </a:r>
                <a:endParaRPr lang="en-GB" b="1" dirty="0"/>
              </a:p>
              <a:p>
                <a:pPr marL="0" indent="0">
                  <a:buNone/>
                </a:pPr>
                <a:r>
                  <a:rPr lang="en-GB" b="1" dirty="0"/>
                  <a:t>Note: </a:t>
                </a:r>
                <a:r>
                  <a:rPr lang="en-GB" dirty="0"/>
                  <a:t>here </a:t>
                </a:r>
                <a14:m>
                  <m:oMath xmlns:m="http://schemas.openxmlformats.org/officeDocument/2006/math">
                    <m:r>
                      <a:rPr lang="en-GB" b="0" i="1" smtClean="0">
                        <a:latin typeface="Cambria Math" panose="02040503050406030204" pitchFamily="18" charset="0"/>
                      </a:rPr>
                      <m:t>𝜖</m:t>
                    </m:r>
                  </m:oMath>
                </a14:m>
                <a:r>
                  <a:rPr lang="en-SG" dirty="0"/>
                  <a:t> denotes the empty string, meaning that A could be replaced with nothing.</a:t>
                </a:r>
              </a:p>
              <a:p>
                <a:pPr marL="0" indent="0">
                  <a:buNone/>
                </a:pPr>
                <a:r>
                  <a:rPr lang="en-SG" b="1" dirty="0">
                    <a:solidFill>
                      <a:srgbClr val="C00000"/>
                    </a:solidFill>
                  </a:rPr>
                  <a:t>In general, using </a:t>
                </a:r>
                <a14:m>
                  <m:oMath xmlns:m="http://schemas.openxmlformats.org/officeDocument/2006/math">
                    <m:r>
                      <a:rPr lang="en-GB" b="1" i="1">
                        <a:solidFill>
                          <a:srgbClr val="C00000"/>
                        </a:solidFill>
                        <a:latin typeface="Cambria Math" panose="02040503050406030204" pitchFamily="18" charset="0"/>
                      </a:rPr>
                      <m:t>𝝐</m:t>
                    </m:r>
                  </m:oMath>
                </a14:m>
                <a:r>
                  <a:rPr lang="en-SG" b="1" dirty="0">
                    <a:solidFill>
                      <a:srgbClr val="C00000"/>
                    </a:solidFill>
                  </a:rPr>
                  <a:t> in a CFG makes things much more difficult.</a:t>
                </a:r>
              </a:p>
            </p:txBody>
          </p:sp>
        </mc:Choice>
        <mc:Fallback xmlns="">
          <p:sp>
            <p:nvSpPr>
              <p:cNvPr id="3" name="Content Placeholder 2">
                <a:extLst>
                  <a:ext uri="{FF2B5EF4-FFF2-40B4-BE49-F238E27FC236}">
                    <a16:creationId xmlns:a16="http://schemas.microsoft.com/office/drawing/2014/main" id="{9DE790B0-6C09-28B5-E4FA-99CCB209CAAB}"/>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3"/>
                <a:stretch>
                  <a:fillRect l="-2471" t="-1937" r="-3412"/>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75720A82-8B88-6667-93A9-47ACBCA8C5F1}"/>
                  </a:ext>
                </a:extLst>
              </p:cNvPr>
              <p:cNvSpPr>
                <a:spLocks noGrp="1"/>
              </p:cNvSpPr>
              <p:nvPr>
                <p:ph sz="half" idx="2"/>
              </p:nvPr>
            </p:nvSpPr>
            <p:spPr>
              <a:xfrm>
                <a:off x="6172200" y="1825624"/>
                <a:ext cx="5181600" cy="5032375"/>
              </a:xfrm>
            </p:spPr>
            <p:txBody>
              <a:bodyPr>
                <a:normAutofit/>
              </a:bodyPr>
              <a:lstStyle/>
              <a:p>
                <a:pPr marL="0" indent="0">
                  <a:buNone/>
                </a:pPr>
                <a:r>
                  <a:rPr lang="en-GB" b="1" dirty="0"/>
                  <a:t>Question: </a:t>
                </a:r>
                <a:r>
                  <a:rPr lang="en-GB" dirty="0"/>
                  <a:t>Looking at the CFG on the left, what are </a:t>
                </a:r>
                <a14:m>
                  <m:oMath xmlns:m="http://schemas.openxmlformats.org/officeDocument/2006/math">
                    <m:r>
                      <a:rPr lang="en-GB" i="1" dirty="0">
                        <a:latin typeface="Cambria Math" panose="02040503050406030204" pitchFamily="18" charset="0"/>
                      </a:rPr>
                      <m:t>𝐹</m:t>
                    </m:r>
                    <m:r>
                      <a:rPr lang="en-GB" i="1" dirty="0">
                        <a:latin typeface="Cambria Math" panose="02040503050406030204" pitchFamily="18" charset="0"/>
                      </a:rPr>
                      <m:t>(</m:t>
                    </m:r>
                    <m:r>
                      <a:rPr lang="en-GB" i="1" dirty="0">
                        <a:latin typeface="Cambria Math" panose="02040503050406030204" pitchFamily="18" charset="0"/>
                      </a:rPr>
                      <m:t>𝐴</m:t>
                    </m:r>
                    <m:r>
                      <a:rPr lang="en-GB" i="1" dirty="0">
                        <a:latin typeface="Cambria Math" panose="02040503050406030204" pitchFamily="18" charset="0"/>
                      </a:rPr>
                      <m:t>) </m:t>
                    </m:r>
                  </m:oMath>
                </a14:m>
                <a:r>
                  <a:rPr lang="en-GB" dirty="0"/>
                  <a:t>and </a:t>
                </a:r>
                <a14:m>
                  <m:oMath xmlns:m="http://schemas.openxmlformats.org/officeDocument/2006/math">
                    <m:r>
                      <a:rPr lang="en-GB" i="1" dirty="0">
                        <a:latin typeface="Cambria Math" panose="02040503050406030204" pitchFamily="18" charset="0"/>
                      </a:rPr>
                      <m:t>𝐹</m:t>
                    </m:r>
                    <m:r>
                      <a:rPr lang="en-GB" i="1" dirty="0">
                        <a:latin typeface="Cambria Math" panose="02040503050406030204" pitchFamily="18" charset="0"/>
                      </a:rPr>
                      <m:t>(</m:t>
                    </m:r>
                    <m:r>
                      <a:rPr lang="en-GB" i="1" dirty="0">
                        <a:latin typeface="Cambria Math" panose="02040503050406030204" pitchFamily="18" charset="0"/>
                      </a:rPr>
                      <m:t>𝑆</m:t>
                    </m:r>
                    <m:r>
                      <a:rPr lang="en-GB" i="1" dirty="0">
                        <a:latin typeface="Cambria Math" panose="02040503050406030204" pitchFamily="18" charset="0"/>
                      </a:rPr>
                      <m:t>)</m:t>
                    </m:r>
                  </m:oMath>
                </a14:m>
                <a:r>
                  <a:rPr lang="en-GB" dirty="0"/>
                  <a:t>?</a:t>
                </a:r>
              </a:p>
              <a:p>
                <a:pPr marL="0" indent="0">
                  <a:buNone/>
                </a:pPr>
                <a:endParaRPr lang="en-GB" dirty="0"/>
              </a:p>
              <a:p>
                <a:endParaRPr lang="en-SG" dirty="0"/>
              </a:p>
            </p:txBody>
          </p:sp>
        </mc:Choice>
        <mc:Fallback xmlns="">
          <p:sp>
            <p:nvSpPr>
              <p:cNvPr id="5" name="Content Placeholder 4">
                <a:extLst>
                  <a:ext uri="{FF2B5EF4-FFF2-40B4-BE49-F238E27FC236}">
                    <a16:creationId xmlns:a16="http://schemas.microsoft.com/office/drawing/2014/main" id="{75720A82-8B88-6667-93A9-47ACBCA8C5F1}"/>
                  </a:ext>
                </a:extLst>
              </p:cNvPr>
              <p:cNvSpPr>
                <a:spLocks noGrp="1" noRot="1" noChangeAspect="1" noMove="1" noResize="1" noEditPoints="1" noAdjustHandles="1" noChangeArrowheads="1" noChangeShapeType="1" noTextEdit="1"/>
              </p:cNvSpPr>
              <p:nvPr>
                <p:ph sz="half" idx="2"/>
              </p:nvPr>
            </p:nvSpPr>
            <p:spPr>
              <a:xfrm>
                <a:off x="6172200" y="1825624"/>
                <a:ext cx="5181600" cy="5032375"/>
              </a:xfrm>
              <a:blipFill>
                <a:blip r:embed="rId4"/>
                <a:stretch>
                  <a:fillRect l="-2471" t="-1937" r="-824"/>
                </a:stretch>
              </a:blipFill>
            </p:spPr>
            <p:txBody>
              <a:bodyPr/>
              <a:lstStyle/>
              <a:p>
                <a:r>
                  <a:rPr lang="en-GB">
                    <a:noFill/>
                  </a:rPr>
                  <a:t> </a:t>
                </a:r>
              </a:p>
            </p:txBody>
          </p:sp>
        </mc:Fallback>
      </mc:AlternateContent>
    </p:spTree>
    <p:extLst>
      <p:ext uri="{BB962C8B-B14F-4D97-AF65-F5344CB8AC3E}">
        <p14:creationId xmlns:p14="http://schemas.microsoft.com/office/powerpoint/2010/main" val="2482912705"/>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DD6C6A-1154-FC8E-1C53-965F0CF3E3C7}"/>
              </a:ext>
            </a:extLst>
          </p:cNvPr>
          <p:cNvSpPr>
            <a:spLocks noGrp="1"/>
          </p:cNvSpPr>
          <p:nvPr>
            <p:ph type="title"/>
          </p:nvPr>
        </p:nvSpPr>
        <p:spPr/>
        <p:txBody>
          <a:bodyPr/>
          <a:lstStyle/>
          <a:p>
            <a:r>
              <a:rPr lang="en-GB" dirty="0"/>
              <a:t>Practice 3: computing FIRST sets for a CFG</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DE790B0-6C09-28B5-E4FA-99CCB209CAAB}"/>
                  </a:ext>
                </a:extLst>
              </p:cNvPr>
              <p:cNvSpPr>
                <a:spLocks noGrp="1"/>
              </p:cNvSpPr>
              <p:nvPr>
                <p:ph sz="half" idx="1"/>
              </p:nvPr>
            </p:nvSpPr>
            <p:spPr>
              <a:xfrm>
                <a:off x="838200" y="1825624"/>
                <a:ext cx="5181600" cy="5032375"/>
              </a:xfrm>
            </p:spPr>
            <p:txBody>
              <a:bodyPr>
                <a:normAutofit/>
              </a:bodyPr>
              <a:lstStyle/>
              <a:p>
                <a:pPr marL="0" indent="0">
                  <a:buNone/>
                </a:pPr>
                <a:r>
                  <a:rPr lang="en-GB" dirty="0"/>
                  <a:t>Consider the second CFG below.</a:t>
                </a:r>
              </a:p>
              <a:p>
                <a:pPr marL="0" indent="0">
                  <a:buNone/>
                </a:pPr>
                <a:r>
                  <a:rPr lang="en-SG" dirty="0"/>
                  <a:t>S </a:t>
                </a:r>
                <a:r>
                  <a:rPr lang="en-SG" dirty="0">
                    <a:sym typeface="Wingdings" panose="05000000000000000000" pitchFamily="2" charset="2"/>
                  </a:rPr>
                  <a:t></a:t>
                </a:r>
                <a:r>
                  <a:rPr lang="en-SG" dirty="0"/>
                  <a:t> ACB</a:t>
                </a:r>
              </a:p>
              <a:p>
                <a:pPr marL="0" indent="0">
                  <a:buNone/>
                </a:pPr>
                <a:r>
                  <a:rPr lang="en-SG" dirty="0"/>
                  <a:t>A </a:t>
                </a:r>
                <a:r>
                  <a:rPr lang="en-SG" dirty="0">
                    <a:sym typeface="Wingdings" panose="05000000000000000000" pitchFamily="2" charset="2"/>
                  </a:rPr>
                  <a:t></a:t>
                </a:r>
                <a:r>
                  <a:rPr lang="en-SG" dirty="0"/>
                  <a:t> a | </a:t>
                </a:r>
                <a:r>
                  <a:rPr lang="en-GB" dirty="0"/>
                  <a:t>B | </a:t>
                </a:r>
                <a14:m>
                  <m:oMath xmlns:m="http://schemas.openxmlformats.org/officeDocument/2006/math">
                    <m:r>
                      <a:rPr lang="en-GB" b="0" i="1" smtClean="0">
                        <a:latin typeface="Cambria Math" panose="02040503050406030204" pitchFamily="18" charset="0"/>
                      </a:rPr>
                      <m:t>𝜖</m:t>
                    </m:r>
                  </m:oMath>
                </a14:m>
                <a:endParaRPr lang="el-GR" dirty="0"/>
              </a:p>
              <a:p>
                <a:pPr marL="0" indent="0">
                  <a:buNone/>
                </a:pPr>
                <a:r>
                  <a:rPr lang="en-SG" dirty="0"/>
                  <a:t>B </a:t>
                </a:r>
                <a:r>
                  <a:rPr lang="en-SG" dirty="0">
                    <a:sym typeface="Wingdings" panose="05000000000000000000" pitchFamily="2" charset="2"/>
                  </a:rPr>
                  <a:t></a:t>
                </a:r>
                <a:r>
                  <a:rPr lang="en-SG" dirty="0"/>
                  <a:t> b</a:t>
                </a:r>
              </a:p>
              <a:p>
                <a:pPr marL="0" indent="0">
                  <a:buNone/>
                </a:pPr>
                <a:r>
                  <a:rPr lang="en-SG" dirty="0"/>
                  <a:t>C </a:t>
                </a:r>
                <a:r>
                  <a:rPr lang="en-SG" dirty="0">
                    <a:sym typeface="Wingdings" panose="05000000000000000000" pitchFamily="2" charset="2"/>
                  </a:rPr>
                  <a:t> c | d</a:t>
                </a:r>
                <a:endParaRPr lang="en-GB" b="1" dirty="0"/>
              </a:p>
              <a:p>
                <a:pPr marL="0" indent="0">
                  <a:buNone/>
                </a:pPr>
                <a:r>
                  <a:rPr lang="en-GB" b="1" dirty="0"/>
                  <a:t>Note: </a:t>
                </a:r>
                <a:r>
                  <a:rPr lang="en-GB" dirty="0"/>
                  <a:t>here </a:t>
                </a:r>
                <a14:m>
                  <m:oMath xmlns:m="http://schemas.openxmlformats.org/officeDocument/2006/math">
                    <m:r>
                      <a:rPr lang="en-GB" b="0" i="1" smtClean="0">
                        <a:latin typeface="Cambria Math" panose="02040503050406030204" pitchFamily="18" charset="0"/>
                      </a:rPr>
                      <m:t>𝜖</m:t>
                    </m:r>
                  </m:oMath>
                </a14:m>
                <a:r>
                  <a:rPr lang="en-SG" dirty="0"/>
                  <a:t> denotes the empty string, meaning that A could be replaced with nothing.</a:t>
                </a:r>
              </a:p>
              <a:p>
                <a:pPr marL="0" indent="0">
                  <a:buNone/>
                </a:pPr>
                <a:r>
                  <a:rPr lang="en-SG" b="1" dirty="0">
                    <a:solidFill>
                      <a:srgbClr val="C00000"/>
                    </a:solidFill>
                  </a:rPr>
                  <a:t>In general, using </a:t>
                </a:r>
                <a14:m>
                  <m:oMath xmlns:m="http://schemas.openxmlformats.org/officeDocument/2006/math">
                    <m:r>
                      <a:rPr lang="en-GB" b="1" i="1" smtClean="0">
                        <a:solidFill>
                          <a:srgbClr val="C00000"/>
                        </a:solidFill>
                        <a:latin typeface="Cambria Math" panose="02040503050406030204" pitchFamily="18" charset="0"/>
                      </a:rPr>
                      <m:t>𝝐</m:t>
                    </m:r>
                  </m:oMath>
                </a14:m>
                <a:r>
                  <a:rPr lang="en-SG" b="1" dirty="0">
                    <a:solidFill>
                      <a:srgbClr val="C00000"/>
                    </a:solidFill>
                  </a:rPr>
                  <a:t> in a CFG makes things much more difficult.</a:t>
                </a:r>
              </a:p>
            </p:txBody>
          </p:sp>
        </mc:Choice>
        <mc:Fallback xmlns="">
          <p:sp>
            <p:nvSpPr>
              <p:cNvPr id="3" name="Content Placeholder 2">
                <a:extLst>
                  <a:ext uri="{FF2B5EF4-FFF2-40B4-BE49-F238E27FC236}">
                    <a16:creationId xmlns:a16="http://schemas.microsoft.com/office/drawing/2014/main" id="{9DE790B0-6C09-28B5-E4FA-99CCB209CAAB}"/>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3"/>
                <a:stretch>
                  <a:fillRect l="-2471" t="-1937" r="-3412"/>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75720A82-8B88-6667-93A9-47ACBCA8C5F1}"/>
                  </a:ext>
                </a:extLst>
              </p:cNvPr>
              <p:cNvSpPr>
                <a:spLocks noGrp="1"/>
              </p:cNvSpPr>
              <p:nvPr>
                <p:ph sz="half" idx="2"/>
              </p:nvPr>
            </p:nvSpPr>
            <p:spPr>
              <a:xfrm>
                <a:off x="6172200" y="1825624"/>
                <a:ext cx="5863492" cy="5032375"/>
              </a:xfrm>
            </p:spPr>
            <p:txBody>
              <a:bodyPr>
                <a:normAutofit/>
              </a:bodyPr>
              <a:lstStyle/>
              <a:p>
                <a:pPr marL="0" indent="0">
                  <a:buNone/>
                </a:pPr>
                <a:r>
                  <a:rPr lang="en-GB" b="1" dirty="0"/>
                  <a:t>Question: </a:t>
                </a:r>
                <a:r>
                  <a:rPr lang="en-GB" dirty="0"/>
                  <a:t>Looking at the CFG on the left, what are </a:t>
                </a:r>
                <a14:m>
                  <m:oMath xmlns:m="http://schemas.openxmlformats.org/officeDocument/2006/math">
                    <m:r>
                      <a:rPr lang="en-GB" i="1" dirty="0" smtClean="0">
                        <a:latin typeface="Cambria Math" panose="02040503050406030204" pitchFamily="18" charset="0"/>
                      </a:rPr>
                      <m:t>𝐹</m:t>
                    </m:r>
                    <m:r>
                      <a:rPr lang="en-GB" i="1" dirty="0" smtClean="0">
                        <a:latin typeface="Cambria Math" panose="02040503050406030204" pitchFamily="18" charset="0"/>
                      </a:rPr>
                      <m:t>(</m:t>
                    </m:r>
                    <m:r>
                      <a:rPr lang="en-GB" i="1" dirty="0" smtClean="0">
                        <a:latin typeface="Cambria Math" panose="02040503050406030204" pitchFamily="18" charset="0"/>
                      </a:rPr>
                      <m:t>𝐴</m:t>
                    </m:r>
                    <m:r>
                      <a:rPr lang="en-GB" i="1" dirty="0" smtClean="0">
                        <a:latin typeface="Cambria Math" panose="02040503050406030204" pitchFamily="18" charset="0"/>
                      </a:rPr>
                      <m:t>) </m:t>
                    </m:r>
                  </m:oMath>
                </a14:m>
                <a:r>
                  <a:rPr lang="en-GB" dirty="0"/>
                  <a:t>and </a:t>
                </a:r>
                <a14:m>
                  <m:oMath xmlns:m="http://schemas.openxmlformats.org/officeDocument/2006/math">
                    <m:r>
                      <a:rPr lang="en-GB" i="1" dirty="0" smtClean="0">
                        <a:latin typeface="Cambria Math" panose="02040503050406030204" pitchFamily="18" charset="0"/>
                      </a:rPr>
                      <m:t>𝐹</m:t>
                    </m:r>
                    <m:r>
                      <a:rPr lang="en-GB" i="1" dirty="0" smtClean="0">
                        <a:latin typeface="Cambria Math" panose="02040503050406030204" pitchFamily="18" charset="0"/>
                      </a:rPr>
                      <m:t>(</m:t>
                    </m:r>
                    <m:r>
                      <a:rPr lang="en-GB" i="1" dirty="0" smtClean="0">
                        <a:latin typeface="Cambria Math" panose="02040503050406030204" pitchFamily="18" charset="0"/>
                      </a:rPr>
                      <m:t>𝑆</m:t>
                    </m:r>
                    <m:r>
                      <a:rPr lang="en-GB" i="1" dirty="0" smtClean="0">
                        <a:latin typeface="Cambria Math" panose="02040503050406030204" pitchFamily="18" charset="0"/>
                      </a:rPr>
                      <m:t>)</m:t>
                    </m:r>
                  </m:oMath>
                </a14:m>
                <a:r>
                  <a:rPr lang="en-GB" dirty="0"/>
                  <a:t>?</a:t>
                </a:r>
              </a:p>
              <a:p>
                <a:pPr marL="0" indent="0">
                  <a:buNone/>
                </a:pPr>
                <a:r>
                  <a:rPr lang="en-GB" b="1" dirty="0"/>
                  <a:t>Answer: </a:t>
                </a:r>
                <a:r>
                  <a:rPr lang="en-GB" dirty="0"/>
                  <a:t>The </a:t>
                </a:r>
                <a14:m>
                  <m:oMath xmlns:m="http://schemas.openxmlformats.org/officeDocument/2006/math">
                    <m:r>
                      <a:rPr lang="en-GB" b="0" i="1" smtClean="0">
                        <a:latin typeface="Cambria Math" panose="02040503050406030204" pitchFamily="18" charset="0"/>
                      </a:rPr>
                      <m:t>𝜖</m:t>
                    </m:r>
                    <m:r>
                      <a:rPr lang="en-GB" b="0" i="1" smtClean="0">
                        <a:latin typeface="Cambria Math" panose="02040503050406030204" pitchFamily="18" charset="0"/>
                      </a:rPr>
                      <m:t> </m:t>
                    </m:r>
                  </m:oMath>
                </a14:m>
                <a:r>
                  <a:rPr lang="en-GB" dirty="0"/>
                  <a:t>makes it trickier.</a:t>
                </a:r>
              </a:p>
              <a:p>
                <a:pPr marL="0" indent="0">
                  <a:buNone/>
                </a:pPr>
                <a:r>
                  <a:rPr lang="en-GB" dirty="0"/>
                  <a:t>We have</a:t>
                </a: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𝐹</m:t>
                      </m:r>
                      <m:d>
                        <m:dPr>
                          <m:ctrlPr>
                            <a:rPr lang="en-GB" b="0" i="1" smtClean="0">
                              <a:latin typeface="Cambria Math" panose="02040503050406030204" pitchFamily="18" charset="0"/>
                            </a:rPr>
                          </m:ctrlPr>
                        </m:dPr>
                        <m:e>
                          <m:r>
                            <a:rPr lang="en-GB" b="0" i="1" smtClean="0">
                              <a:latin typeface="Cambria Math" panose="02040503050406030204" pitchFamily="18" charset="0"/>
                            </a:rPr>
                            <m:t>𝐴</m:t>
                          </m:r>
                        </m:e>
                      </m:d>
                      <m:r>
                        <a:rPr lang="en-GB" b="0" i="1" smtClean="0">
                          <a:latin typeface="Cambria Math" panose="02040503050406030204" pitchFamily="18" charset="0"/>
                        </a:rPr>
                        <m:t>=</m:t>
                      </m:r>
                      <m:d>
                        <m:dPr>
                          <m:begChr m:val="{"/>
                          <m:endChr m:val="}"/>
                          <m:ctrlPr>
                            <a:rPr lang="en-GB" b="0" i="1" smtClean="0">
                              <a:latin typeface="Cambria Math" panose="02040503050406030204" pitchFamily="18" charset="0"/>
                            </a:rPr>
                          </m:ctrlPr>
                        </m:dPr>
                        <m:e>
                          <m:r>
                            <a:rPr lang="en-GB" b="0" i="1" smtClean="0">
                              <a:latin typeface="Cambria Math" panose="02040503050406030204" pitchFamily="18" charset="0"/>
                            </a:rPr>
                            <m:t>𝑎</m:t>
                          </m:r>
                          <m:r>
                            <a:rPr lang="en-GB" b="0" i="1" smtClean="0">
                              <a:latin typeface="Cambria Math" panose="02040503050406030204" pitchFamily="18" charset="0"/>
                            </a:rPr>
                            <m:t>, </m:t>
                          </m:r>
                          <m:r>
                            <a:rPr lang="en-GB" b="0" i="1" smtClean="0">
                              <a:latin typeface="Cambria Math" panose="02040503050406030204" pitchFamily="18" charset="0"/>
                            </a:rPr>
                            <m:t>𝜖</m:t>
                          </m:r>
                        </m:e>
                      </m:d>
                      <m:r>
                        <a:rPr lang="en-GB" b="0" i="1" smtClean="0">
                          <a:latin typeface="Cambria Math" panose="02040503050406030204" pitchFamily="18" charset="0"/>
                        </a:rPr>
                        <m:t> </m:t>
                      </m:r>
                      <m:r>
                        <a:rPr lang="en-GB" b="0" i="1" smtClean="0">
                          <a:latin typeface="Cambria Math" panose="02040503050406030204" pitchFamily="18" charset="0"/>
                          <a:ea typeface="Cambria Math" panose="02040503050406030204" pitchFamily="18" charset="0"/>
                        </a:rPr>
                        <m:t>∪</m:t>
                      </m:r>
                      <m:r>
                        <a:rPr lang="en-GB" b="0" i="1" smtClean="0">
                          <a:latin typeface="Cambria Math" panose="02040503050406030204" pitchFamily="18" charset="0"/>
                          <a:ea typeface="Cambria Math" panose="02040503050406030204" pitchFamily="18" charset="0"/>
                        </a:rPr>
                        <m:t>𝐹</m:t>
                      </m:r>
                      <m:d>
                        <m:dPr>
                          <m:ctrlPr>
                            <a:rPr lang="en-GB" b="0" i="1" smtClean="0">
                              <a:latin typeface="Cambria Math" panose="02040503050406030204" pitchFamily="18" charset="0"/>
                              <a:ea typeface="Cambria Math" panose="02040503050406030204" pitchFamily="18" charset="0"/>
                            </a:rPr>
                          </m:ctrlPr>
                        </m:dPr>
                        <m:e>
                          <m:r>
                            <a:rPr lang="en-GB" b="0" i="1" smtClean="0">
                              <a:latin typeface="Cambria Math" panose="02040503050406030204" pitchFamily="18" charset="0"/>
                              <a:ea typeface="Cambria Math" panose="02040503050406030204" pitchFamily="18" charset="0"/>
                            </a:rPr>
                            <m:t>𝐵</m:t>
                          </m:r>
                        </m:e>
                      </m:d>
                      <m:r>
                        <a:rPr lang="en-GB" b="0" i="1" smtClean="0">
                          <a:latin typeface="Cambria Math" panose="02040503050406030204" pitchFamily="18" charset="0"/>
                        </a:rPr>
                        <m:t>={</m:t>
                      </m:r>
                      <m:r>
                        <a:rPr lang="en-GB" b="0" i="1" smtClean="0">
                          <a:latin typeface="Cambria Math" panose="02040503050406030204" pitchFamily="18" charset="0"/>
                        </a:rPr>
                        <m:t>𝑎</m:t>
                      </m:r>
                      <m:r>
                        <a:rPr lang="en-GB" b="0" i="1" smtClean="0">
                          <a:latin typeface="Cambria Math" panose="02040503050406030204" pitchFamily="18" charset="0"/>
                        </a:rPr>
                        <m:t>,</m:t>
                      </m:r>
                      <m:r>
                        <a:rPr lang="en-GB" b="0" i="1" smtClean="0">
                          <a:latin typeface="Cambria Math" panose="02040503050406030204" pitchFamily="18" charset="0"/>
                        </a:rPr>
                        <m:t>𝑏</m:t>
                      </m:r>
                      <m:r>
                        <a:rPr lang="en-GB" b="0" i="1" smtClean="0">
                          <a:latin typeface="Cambria Math" panose="02040503050406030204" pitchFamily="18" charset="0"/>
                        </a:rPr>
                        <m:t>,</m:t>
                      </m:r>
                      <m:r>
                        <a:rPr lang="en-GB" b="0" i="1" smtClean="0">
                          <a:latin typeface="Cambria Math" panose="02040503050406030204" pitchFamily="18" charset="0"/>
                        </a:rPr>
                        <m:t>𝜖</m:t>
                      </m:r>
                      <m:r>
                        <a:rPr lang="en-GB" b="0" i="1" smtClean="0">
                          <a:latin typeface="Cambria Math" panose="02040503050406030204" pitchFamily="18" charset="0"/>
                        </a:rPr>
                        <m:t>}</m:t>
                      </m:r>
                    </m:oMath>
                  </m:oMathPara>
                </a14:m>
                <a:endParaRPr lang="en-GB" dirty="0"/>
              </a:p>
              <a:p>
                <a:pPr marL="0" indent="0">
                  <a:buNone/>
                </a:pPr>
                <a:r>
                  <a:rPr lang="en-GB" dirty="0"/>
                  <a:t>The FIRST set for </a:t>
                </a:r>
                <a14:m>
                  <m:oMath xmlns:m="http://schemas.openxmlformats.org/officeDocument/2006/math">
                    <m:r>
                      <a:rPr lang="en-GB" i="1" dirty="0" smtClean="0">
                        <a:latin typeface="Cambria Math" panose="02040503050406030204" pitchFamily="18" charset="0"/>
                      </a:rPr>
                      <m:t>𝑆</m:t>
                    </m:r>
                  </m:oMath>
                </a14:m>
                <a:r>
                  <a:rPr lang="en-GB" dirty="0"/>
                  <a:t> is a bit awkward to build, but could we do… </a:t>
                </a: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𝐹</m:t>
                      </m:r>
                      <m:d>
                        <m:dPr>
                          <m:ctrlPr>
                            <a:rPr lang="en-GB" b="0" i="1" smtClean="0">
                              <a:latin typeface="Cambria Math" panose="02040503050406030204" pitchFamily="18" charset="0"/>
                            </a:rPr>
                          </m:ctrlPr>
                        </m:dPr>
                        <m:e>
                          <m:r>
                            <a:rPr lang="en-GB" b="0" i="1" smtClean="0">
                              <a:latin typeface="Cambria Math" panose="02040503050406030204" pitchFamily="18" charset="0"/>
                            </a:rPr>
                            <m:t>𝑆</m:t>
                          </m:r>
                        </m:e>
                      </m:d>
                      <m:r>
                        <a:rPr lang="en-GB" b="0" i="1" smtClean="0">
                          <a:solidFill>
                            <a:srgbClr val="FF0000"/>
                          </a:solidFill>
                          <a:latin typeface="Cambria Math" panose="02040503050406030204" pitchFamily="18" charset="0"/>
                        </a:rPr>
                        <m:t>=</m:t>
                      </m:r>
                      <m:r>
                        <a:rPr lang="en-GB" b="0" i="1" smtClean="0">
                          <a:latin typeface="Cambria Math" panose="02040503050406030204" pitchFamily="18" charset="0"/>
                        </a:rPr>
                        <m:t>𝐹</m:t>
                      </m:r>
                      <m:d>
                        <m:dPr>
                          <m:ctrlPr>
                            <a:rPr lang="en-GB" b="0" i="1" smtClean="0">
                              <a:latin typeface="Cambria Math" panose="02040503050406030204" pitchFamily="18" charset="0"/>
                            </a:rPr>
                          </m:ctrlPr>
                        </m:dPr>
                        <m:e>
                          <m:r>
                            <a:rPr lang="en-GB" b="0" i="1" smtClean="0">
                              <a:latin typeface="Cambria Math" panose="02040503050406030204" pitchFamily="18" charset="0"/>
                            </a:rPr>
                            <m:t>𝐴</m:t>
                          </m:r>
                        </m:e>
                      </m:d>
                      <m:r>
                        <a:rPr lang="en-GB" i="1">
                          <a:latin typeface="Cambria Math" panose="02040503050406030204" pitchFamily="18" charset="0"/>
                          <a:ea typeface="Cambria Math" panose="02040503050406030204" pitchFamily="18" charset="0"/>
                        </a:rPr>
                        <m:t>∪</m:t>
                      </m:r>
                      <m:r>
                        <a:rPr lang="en-GB" b="0" i="1" smtClean="0">
                          <a:latin typeface="Cambria Math" panose="02040503050406030204" pitchFamily="18" charset="0"/>
                          <a:ea typeface="Cambria Math" panose="02040503050406030204" pitchFamily="18" charset="0"/>
                        </a:rPr>
                        <m:t>𝐹</m:t>
                      </m:r>
                      <m:d>
                        <m:dPr>
                          <m:ctrlPr>
                            <a:rPr lang="en-GB" b="0" i="1" smtClean="0">
                              <a:latin typeface="Cambria Math" panose="02040503050406030204" pitchFamily="18" charset="0"/>
                              <a:ea typeface="Cambria Math" panose="02040503050406030204" pitchFamily="18" charset="0"/>
                            </a:rPr>
                          </m:ctrlPr>
                        </m:dPr>
                        <m:e>
                          <m:r>
                            <a:rPr lang="en-GB" b="0" i="1" smtClean="0">
                              <a:latin typeface="Cambria Math" panose="02040503050406030204" pitchFamily="18" charset="0"/>
                              <a:ea typeface="Cambria Math" panose="02040503050406030204" pitchFamily="18" charset="0"/>
                            </a:rPr>
                            <m:t>𝐵</m:t>
                          </m:r>
                        </m:e>
                      </m:d>
                      <m:r>
                        <a:rPr lang="en-GB" b="0" i="1" smtClean="0">
                          <a:latin typeface="Cambria Math" panose="02040503050406030204" pitchFamily="18" charset="0"/>
                          <a:ea typeface="Cambria Math" panose="02040503050406030204" pitchFamily="18" charset="0"/>
                        </a:rPr>
                        <m:t>∪</m:t>
                      </m:r>
                      <m:r>
                        <a:rPr lang="en-GB" i="1">
                          <a:latin typeface="Cambria Math" panose="02040503050406030204" pitchFamily="18" charset="0"/>
                          <a:ea typeface="Cambria Math" panose="02040503050406030204" pitchFamily="18" charset="0"/>
                        </a:rPr>
                        <m:t>𝐹</m:t>
                      </m:r>
                      <m:d>
                        <m:dPr>
                          <m:ctrlPr>
                            <a:rPr lang="en-GB" i="1">
                              <a:latin typeface="Cambria Math" panose="02040503050406030204" pitchFamily="18" charset="0"/>
                              <a:ea typeface="Cambria Math" panose="02040503050406030204" pitchFamily="18" charset="0"/>
                            </a:rPr>
                          </m:ctrlPr>
                        </m:dPr>
                        <m:e>
                          <m:r>
                            <a:rPr lang="en-GB" b="0" i="1" smtClean="0">
                              <a:latin typeface="Cambria Math" panose="02040503050406030204" pitchFamily="18" charset="0"/>
                              <a:ea typeface="Cambria Math" panose="02040503050406030204" pitchFamily="18" charset="0"/>
                            </a:rPr>
                            <m:t>𝐶</m:t>
                          </m:r>
                        </m:e>
                      </m:d>
                      <m:r>
                        <a:rPr lang="en-GB" b="0" i="1" smtClean="0">
                          <a:latin typeface="Cambria Math" panose="02040503050406030204" pitchFamily="18" charset="0"/>
                          <a:ea typeface="Cambria Math" panose="02040503050406030204" pitchFamily="18" charset="0"/>
                        </a:rPr>
                        <m:t>−{</m:t>
                      </m:r>
                      <m:r>
                        <a:rPr lang="en-GB" i="1">
                          <a:latin typeface="Cambria Math" panose="02040503050406030204" pitchFamily="18" charset="0"/>
                        </a:rPr>
                        <m:t>𝜖</m:t>
                      </m:r>
                      <m:r>
                        <a:rPr lang="en-GB" b="0" i="1" smtClean="0">
                          <a:latin typeface="Cambria Math" panose="02040503050406030204" pitchFamily="18" charset="0"/>
                          <a:ea typeface="Cambria Math" panose="02040503050406030204" pitchFamily="18" charset="0"/>
                        </a:rPr>
                        <m:t>}</m:t>
                      </m:r>
                    </m:oMath>
                  </m:oMathPara>
                </a14:m>
                <a:endParaRPr lang="en-GB" i="1" dirty="0">
                  <a:latin typeface="Cambria Math" panose="02040503050406030204" pitchFamily="18" charset="0"/>
                  <a:ea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ea typeface="Cambria Math" panose="02040503050406030204" pitchFamily="18" charset="0"/>
                        </a:rPr>
                        <m:t>=</m:t>
                      </m:r>
                      <m:d>
                        <m:dPr>
                          <m:begChr m:val="{"/>
                          <m:endChr m:val="}"/>
                          <m:ctrlPr>
                            <a:rPr lang="en-GB" b="0" i="1" smtClean="0">
                              <a:latin typeface="Cambria Math" panose="02040503050406030204" pitchFamily="18" charset="0"/>
                              <a:ea typeface="Cambria Math" panose="02040503050406030204" pitchFamily="18" charset="0"/>
                            </a:rPr>
                          </m:ctrlPr>
                        </m:dPr>
                        <m:e>
                          <m:r>
                            <a:rPr lang="en-GB" b="0" i="1" smtClean="0">
                              <a:latin typeface="Cambria Math" panose="02040503050406030204" pitchFamily="18" charset="0"/>
                              <a:ea typeface="Cambria Math" panose="02040503050406030204" pitchFamily="18" charset="0"/>
                            </a:rPr>
                            <m:t>𝑎</m:t>
                          </m:r>
                          <m:r>
                            <a:rPr lang="en-GB" b="0" i="1" smtClean="0">
                              <a:latin typeface="Cambria Math" panose="02040503050406030204" pitchFamily="18" charset="0"/>
                              <a:ea typeface="Cambria Math" panose="02040503050406030204" pitchFamily="18" charset="0"/>
                            </a:rPr>
                            <m:t>,</m:t>
                          </m:r>
                          <m:r>
                            <a:rPr lang="en-GB" b="0" i="1" smtClean="0">
                              <a:latin typeface="Cambria Math" panose="02040503050406030204" pitchFamily="18" charset="0"/>
                              <a:ea typeface="Cambria Math" panose="02040503050406030204" pitchFamily="18" charset="0"/>
                            </a:rPr>
                            <m:t>𝑏</m:t>
                          </m:r>
                          <m:r>
                            <a:rPr lang="en-GB" b="0" i="1" smtClean="0">
                              <a:latin typeface="Cambria Math" panose="02040503050406030204" pitchFamily="18" charset="0"/>
                              <a:ea typeface="Cambria Math" panose="02040503050406030204" pitchFamily="18" charset="0"/>
                            </a:rPr>
                            <m:t>,</m:t>
                          </m:r>
                          <m:r>
                            <a:rPr lang="en-GB" b="0" i="1" smtClean="0">
                              <a:latin typeface="Cambria Math" panose="02040503050406030204" pitchFamily="18" charset="0"/>
                              <a:ea typeface="Cambria Math" panose="02040503050406030204" pitchFamily="18" charset="0"/>
                            </a:rPr>
                            <m:t>𝑐</m:t>
                          </m:r>
                          <m:r>
                            <a:rPr lang="en-GB" b="0" i="1" smtClean="0">
                              <a:latin typeface="Cambria Math" panose="02040503050406030204" pitchFamily="18" charset="0"/>
                              <a:ea typeface="Cambria Math" panose="02040503050406030204" pitchFamily="18" charset="0"/>
                            </a:rPr>
                            <m:t>,</m:t>
                          </m:r>
                          <m:r>
                            <a:rPr lang="en-GB" b="0" i="1" smtClean="0">
                              <a:latin typeface="Cambria Math" panose="02040503050406030204" pitchFamily="18" charset="0"/>
                              <a:ea typeface="Cambria Math" panose="02040503050406030204" pitchFamily="18" charset="0"/>
                            </a:rPr>
                            <m:t>𝑑</m:t>
                          </m:r>
                        </m:e>
                      </m:d>
                      <m:r>
                        <a:rPr lang="en-GB" b="0" i="1" smtClean="0">
                          <a:latin typeface="Cambria Math" panose="02040503050406030204" pitchFamily="18" charset="0"/>
                          <a:ea typeface="Cambria Math" panose="02040503050406030204" pitchFamily="18" charset="0"/>
                        </a:rPr>
                        <m:t>?</m:t>
                      </m:r>
                    </m:oMath>
                  </m:oMathPara>
                </a14:m>
                <a:endParaRPr lang="en-GB" dirty="0"/>
              </a:p>
              <a:p>
                <a:pPr marL="0" indent="0">
                  <a:buNone/>
                </a:pPr>
                <a:r>
                  <a:rPr lang="en-GB" dirty="0"/>
                  <a:t>But is this </a:t>
                </a:r>
                <a14:m>
                  <m:oMath xmlns:m="http://schemas.openxmlformats.org/officeDocument/2006/math">
                    <m:r>
                      <a:rPr lang="en-GB" b="0" i="1" smtClean="0">
                        <a:solidFill>
                          <a:srgbClr val="FF0000"/>
                        </a:solidFill>
                        <a:latin typeface="Cambria Math" panose="02040503050406030204" pitchFamily="18" charset="0"/>
                      </a:rPr>
                      <m:t>= </m:t>
                    </m:r>
                  </m:oMath>
                </a14:m>
                <a:r>
                  <a:rPr lang="en-GB" dirty="0"/>
                  <a:t>correct mathematically speaking? (Unproven at the moment)</a:t>
                </a:r>
              </a:p>
              <a:p>
                <a:pPr marL="0" indent="0">
                  <a:buNone/>
                </a:pPr>
                <a:endParaRPr lang="en-SG" dirty="0"/>
              </a:p>
            </p:txBody>
          </p:sp>
        </mc:Choice>
        <mc:Fallback xmlns="">
          <p:sp>
            <p:nvSpPr>
              <p:cNvPr id="5" name="Content Placeholder 4">
                <a:extLst>
                  <a:ext uri="{FF2B5EF4-FFF2-40B4-BE49-F238E27FC236}">
                    <a16:creationId xmlns:a16="http://schemas.microsoft.com/office/drawing/2014/main" id="{75720A82-8B88-6667-93A9-47ACBCA8C5F1}"/>
                  </a:ext>
                </a:extLst>
              </p:cNvPr>
              <p:cNvSpPr>
                <a:spLocks noGrp="1" noRot="1" noChangeAspect="1" noMove="1" noResize="1" noEditPoints="1" noAdjustHandles="1" noChangeArrowheads="1" noChangeShapeType="1" noTextEdit="1"/>
              </p:cNvSpPr>
              <p:nvPr>
                <p:ph sz="half" idx="2"/>
              </p:nvPr>
            </p:nvSpPr>
            <p:spPr>
              <a:xfrm>
                <a:off x="6172200" y="1825624"/>
                <a:ext cx="5863492" cy="5032375"/>
              </a:xfrm>
              <a:blipFill>
                <a:blip r:embed="rId4"/>
                <a:stretch>
                  <a:fillRect l="-2185" t="-1937"/>
                </a:stretch>
              </a:blipFill>
            </p:spPr>
            <p:txBody>
              <a:bodyPr/>
              <a:lstStyle/>
              <a:p>
                <a:r>
                  <a:rPr lang="en-GB">
                    <a:noFill/>
                  </a:rPr>
                  <a:t> </a:t>
                </a:r>
              </a:p>
            </p:txBody>
          </p:sp>
        </mc:Fallback>
      </mc:AlternateContent>
    </p:spTree>
    <p:extLst>
      <p:ext uri="{BB962C8B-B14F-4D97-AF65-F5344CB8AC3E}">
        <p14:creationId xmlns:p14="http://schemas.microsoft.com/office/powerpoint/2010/main" val="2167996698"/>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F4C7B-AE98-5B6C-42EC-4FD9A466C76E}"/>
              </a:ext>
            </a:extLst>
          </p:cNvPr>
          <p:cNvSpPr>
            <a:spLocks noGrp="1"/>
          </p:cNvSpPr>
          <p:nvPr>
            <p:ph type="title"/>
          </p:nvPr>
        </p:nvSpPr>
        <p:spPr/>
        <p:txBody>
          <a:bodyPr/>
          <a:lstStyle/>
          <a:p>
            <a:r>
              <a:rPr lang="en-GB" dirty="0"/>
              <a:t>Building a LL(1) table using FIRST sets.</a:t>
            </a:r>
            <a:endParaRPr lang="en-SG" dirty="0"/>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6DA360FE-82CA-ED6E-6D95-BFE33D32ED6F}"/>
                  </a:ext>
                </a:extLst>
              </p:cNvPr>
              <p:cNvSpPr>
                <a:spLocks noGrp="1"/>
              </p:cNvSpPr>
              <p:nvPr>
                <p:ph idx="1"/>
              </p:nvPr>
            </p:nvSpPr>
            <p:spPr>
              <a:xfrm>
                <a:off x="838199" y="1825625"/>
                <a:ext cx="10752015" cy="4351338"/>
              </a:xfrm>
            </p:spPr>
            <p:txBody>
              <a:bodyPr/>
              <a:lstStyle/>
              <a:p>
                <a:pPr marL="0" indent="0">
                  <a:buNone/>
                </a:pPr>
                <a:r>
                  <a:rPr lang="en-GB" dirty="0"/>
                  <a:t>The following algorithm constructs an LL(1) parse table for a CFG with no </a:t>
                </a:r>
                <a14:m>
                  <m:oMath xmlns:m="http://schemas.openxmlformats.org/officeDocument/2006/math">
                    <m:r>
                      <a:rPr lang="en-GB" i="1">
                        <a:latin typeface="Cambria Math" panose="02040503050406030204" pitchFamily="18" charset="0"/>
                      </a:rPr>
                      <m:t>𝜖</m:t>
                    </m:r>
                  </m:oMath>
                </a14:m>
                <a:r>
                  <a:rPr lang="en-GB" dirty="0"/>
                  <a:t>-productions.</a:t>
                </a:r>
              </a:p>
              <a:p>
                <a:r>
                  <a:rPr lang="en-GB" dirty="0"/>
                  <a:t>Compute the FIRST sets for all non-terminal symbols in the grammar.</a:t>
                </a:r>
              </a:p>
              <a:p>
                <a:r>
                  <a:rPr lang="en-GB" dirty="0"/>
                  <a:t>For each production </a:t>
                </a:r>
                <a14:m>
                  <m:oMath xmlns:m="http://schemas.openxmlformats.org/officeDocument/2006/math">
                    <m:r>
                      <a:rPr lang="en-GB" i="1" dirty="0" smtClean="0">
                        <a:latin typeface="Cambria Math" panose="02040503050406030204" pitchFamily="18" charset="0"/>
                      </a:rPr>
                      <m:t>𝐴</m:t>
                    </m:r>
                    <m:r>
                      <a:rPr lang="en-GB" i="1" dirty="0" smtClean="0">
                        <a:latin typeface="Cambria Math" panose="02040503050406030204" pitchFamily="18" charset="0"/>
                      </a:rPr>
                      <m:t> → </m:t>
                    </m:r>
                    <m:r>
                      <a:rPr lang="en-GB" i="1" dirty="0" err="1" smtClean="0">
                        <a:latin typeface="Cambria Math" panose="02040503050406030204" pitchFamily="18" charset="0"/>
                      </a:rPr>
                      <m:t>𝑡</m:t>
                    </m:r>
                    <m:r>
                      <a:rPr lang="en-GB" i="1" dirty="0" err="1" smtClean="0">
                        <a:latin typeface="Cambria Math" panose="02040503050406030204" pitchFamily="18" charset="0"/>
                      </a:rPr>
                      <m:t>𝜔</m:t>
                    </m:r>
                  </m:oMath>
                </a14:m>
                <a:r>
                  <a:rPr lang="en-GB" dirty="0"/>
                  <a:t>, set </a:t>
                </a:r>
                <a14:m>
                  <m:oMath xmlns:m="http://schemas.openxmlformats.org/officeDocument/2006/math">
                    <m:r>
                      <a:rPr lang="en-GB" i="1" dirty="0" smtClean="0">
                        <a:latin typeface="Cambria Math" panose="02040503050406030204" pitchFamily="18" charset="0"/>
                      </a:rPr>
                      <m:t>𝑇</m:t>
                    </m:r>
                    <m:r>
                      <a:rPr lang="en-GB" i="1" dirty="0" smtClean="0">
                        <a:latin typeface="Cambria Math" panose="02040503050406030204" pitchFamily="18" charset="0"/>
                      </a:rPr>
                      <m:t>[</m:t>
                    </m:r>
                    <m:r>
                      <a:rPr lang="en-GB" i="1" dirty="0" smtClean="0">
                        <a:latin typeface="Cambria Math" panose="02040503050406030204" pitchFamily="18" charset="0"/>
                      </a:rPr>
                      <m:t>𝐴</m:t>
                    </m:r>
                    <m:r>
                      <a:rPr lang="en-GB" i="1" dirty="0" smtClean="0">
                        <a:latin typeface="Cambria Math" panose="02040503050406030204" pitchFamily="18" charset="0"/>
                      </a:rPr>
                      <m:t>, </m:t>
                    </m:r>
                    <m:r>
                      <a:rPr lang="en-GB" i="1" dirty="0" smtClean="0">
                        <a:latin typeface="Cambria Math" panose="02040503050406030204" pitchFamily="18" charset="0"/>
                      </a:rPr>
                      <m:t>𝑡</m:t>
                    </m:r>
                    <m:r>
                      <a:rPr lang="en-GB" i="1" dirty="0" smtClean="0">
                        <a:latin typeface="Cambria Math" panose="02040503050406030204" pitchFamily="18" charset="0"/>
                      </a:rPr>
                      <m:t>] = </m:t>
                    </m:r>
                    <m:r>
                      <a:rPr lang="en-GB" i="1" dirty="0" err="1" smtClean="0">
                        <a:latin typeface="Cambria Math" panose="02040503050406030204" pitchFamily="18" charset="0"/>
                      </a:rPr>
                      <m:t>𝑡</m:t>
                    </m:r>
                    <m:r>
                      <a:rPr lang="en-GB" i="1" dirty="0" err="1" smtClean="0">
                        <a:latin typeface="Cambria Math" panose="02040503050406030204" pitchFamily="18" charset="0"/>
                      </a:rPr>
                      <m:t>𝜔</m:t>
                    </m:r>
                  </m:oMath>
                </a14:m>
                <a:r>
                  <a:rPr lang="en-GB" dirty="0"/>
                  <a:t>.</a:t>
                </a:r>
              </a:p>
              <a:p>
                <a:r>
                  <a:rPr lang="en-GB" dirty="0"/>
                  <a:t>For each production </a:t>
                </a:r>
                <a14:m>
                  <m:oMath xmlns:m="http://schemas.openxmlformats.org/officeDocument/2006/math">
                    <m:r>
                      <a:rPr lang="en-GB" i="1" dirty="0" smtClean="0">
                        <a:latin typeface="Cambria Math" panose="02040503050406030204" pitchFamily="18" charset="0"/>
                      </a:rPr>
                      <m:t>𝐴</m:t>
                    </m:r>
                    <m:r>
                      <a:rPr lang="en-GB" i="1" dirty="0" smtClean="0">
                        <a:latin typeface="Cambria Math" panose="02040503050406030204" pitchFamily="18" charset="0"/>
                      </a:rPr>
                      <m:t> → </m:t>
                    </m:r>
                    <m:r>
                      <a:rPr lang="en-GB" i="1" dirty="0" err="1" smtClean="0">
                        <a:latin typeface="Cambria Math" panose="02040503050406030204" pitchFamily="18" charset="0"/>
                      </a:rPr>
                      <m:t>𝐵</m:t>
                    </m:r>
                    <m:r>
                      <a:rPr lang="en-GB" i="1" dirty="0" err="1" smtClean="0">
                        <a:latin typeface="Cambria Math" panose="02040503050406030204" pitchFamily="18" charset="0"/>
                      </a:rPr>
                      <m:t>𝜔</m:t>
                    </m:r>
                  </m:oMath>
                </a14:m>
                <a:r>
                  <a:rPr lang="en-GB" dirty="0"/>
                  <a:t>, set </a:t>
                </a:r>
                <a14:m>
                  <m:oMath xmlns:m="http://schemas.openxmlformats.org/officeDocument/2006/math">
                    <m:r>
                      <a:rPr lang="en-GB" i="1" dirty="0" smtClean="0">
                        <a:latin typeface="Cambria Math" panose="02040503050406030204" pitchFamily="18" charset="0"/>
                      </a:rPr>
                      <m:t>𝑇</m:t>
                    </m:r>
                    <m:r>
                      <a:rPr lang="en-GB" i="1" dirty="0" smtClean="0">
                        <a:latin typeface="Cambria Math" panose="02040503050406030204" pitchFamily="18" charset="0"/>
                      </a:rPr>
                      <m:t>[</m:t>
                    </m:r>
                    <m:r>
                      <a:rPr lang="en-GB" i="1" dirty="0" smtClean="0">
                        <a:latin typeface="Cambria Math" panose="02040503050406030204" pitchFamily="18" charset="0"/>
                      </a:rPr>
                      <m:t>𝐴</m:t>
                    </m:r>
                    <m:r>
                      <a:rPr lang="en-GB" i="1" dirty="0" smtClean="0">
                        <a:latin typeface="Cambria Math" panose="02040503050406030204" pitchFamily="18" charset="0"/>
                      </a:rPr>
                      <m:t>, </m:t>
                    </m:r>
                    <m:r>
                      <a:rPr lang="en-GB" i="1" dirty="0" smtClean="0">
                        <a:latin typeface="Cambria Math" panose="02040503050406030204" pitchFamily="18" charset="0"/>
                      </a:rPr>
                      <m:t>𝑡</m:t>
                    </m:r>
                    <m:r>
                      <a:rPr lang="en-GB" i="1" dirty="0" smtClean="0">
                        <a:latin typeface="Cambria Math" panose="02040503050406030204" pitchFamily="18" charset="0"/>
                      </a:rPr>
                      <m:t>] = </m:t>
                    </m:r>
                    <m:r>
                      <a:rPr lang="en-GB" i="1" dirty="0" err="1" smtClean="0">
                        <a:latin typeface="Cambria Math" panose="02040503050406030204" pitchFamily="18" charset="0"/>
                      </a:rPr>
                      <m:t>𝐵</m:t>
                    </m:r>
                    <m:r>
                      <a:rPr lang="en-GB" i="1" dirty="0" err="1" smtClean="0">
                        <a:latin typeface="Cambria Math" panose="02040503050406030204" pitchFamily="18" charset="0"/>
                      </a:rPr>
                      <m:t>𝜔</m:t>
                    </m:r>
                  </m:oMath>
                </a14:m>
                <a:r>
                  <a:rPr lang="en-GB" dirty="0"/>
                  <a:t>, for each </a:t>
                </a:r>
                <a14:m>
                  <m:oMath xmlns:m="http://schemas.openxmlformats.org/officeDocument/2006/math">
                    <m:r>
                      <a:rPr lang="en-GB" i="1" dirty="0" smtClean="0">
                        <a:latin typeface="Cambria Math" panose="02040503050406030204" pitchFamily="18" charset="0"/>
                      </a:rPr>
                      <m:t>𝑡</m:t>
                    </m:r>
                    <m:r>
                      <a:rPr lang="en-GB" i="1" dirty="0" smtClean="0">
                        <a:latin typeface="Cambria Math" panose="02040503050406030204" pitchFamily="18" charset="0"/>
                      </a:rPr>
                      <m:t> ∈ </m:t>
                    </m:r>
                    <m:r>
                      <a:rPr lang="en-GB" i="1" dirty="0" smtClean="0">
                        <a:latin typeface="Cambria Math" panose="02040503050406030204" pitchFamily="18" charset="0"/>
                      </a:rPr>
                      <m:t>𝐹</m:t>
                    </m:r>
                    <m:r>
                      <a:rPr lang="en-GB" i="1" dirty="0" smtClean="0">
                        <a:latin typeface="Cambria Math" panose="02040503050406030204" pitchFamily="18" charset="0"/>
                      </a:rPr>
                      <m:t>(</m:t>
                    </m:r>
                    <m:r>
                      <a:rPr lang="en-GB" i="1" dirty="0" smtClean="0">
                        <a:latin typeface="Cambria Math" panose="02040503050406030204" pitchFamily="18" charset="0"/>
                      </a:rPr>
                      <m:t>𝐵</m:t>
                    </m:r>
                    <m:r>
                      <a:rPr lang="en-GB" i="1" dirty="0" smtClean="0">
                        <a:latin typeface="Cambria Math" panose="02040503050406030204" pitchFamily="18" charset="0"/>
                      </a:rPr>
                      <m:t>)</m:t>
                    </m:r>
                  </m:oMath>
                </a14:m>
                <a:r>
                  <a:rPr lang="en-GB" dirty="0"/>
                  <a:t>.</a:t>
                </a:r>
              </a:p>
              <a:p>
                <a:endParaRPr lang="en-GB" dirty="0"/>
              </a:p>
              <a:p>
                <a:pPr marL="0" indent="0">
                  <a:buNone/>
                </a:pPr>
                <a:r>
                  <a:rPr lang="en-GB" dirty="0"/>
                  <a:t>When </a:t>
                </a:r>
                <a14:m>
                  <m:oMath xmlns:m="http://schemas.openxmlformats.org/officeDocument/2006/math">
                    <m:r>
                      <a:rPr lang="en-GB" i="1" smtClean="0">
                        <a:latin typeface="Cambria Math" panose="02040503050406030204" pitchFamily="18" charset="0"/>
                      </a:rPr>
                      <m:t>𝜖</m:t>
                    </m:r>
                  </m:oMath>
                </a14:m>
                <a:r>
                  <a:rPr lang="en-GB" dirty="0"/>
                  <a:t>-productions are present, it might get trickier...</a:t>
                </a:r>
                <a:br>
                  <a:rPr lang="en-GB" dirty="0"/>
                </a:br>
                <a:r>
                  <a:rPr lang="en-GB" i="1" dirty="0"/>
                  <a:t>(</a:t>
                </a:r>
                <a:r>
                  <a:rPr lang="en-GB" i="1"/>
                  <a:t>As hinted and </a:t>
                </a:r>
                <a:r>
                  <a:rPr lang="en-GB" i="1" dirty="0"/>
                  <a:t>discussed in </a:t>
                </a:r>
                <a:r>
                  <a:rPr lang="en-GB" i="1"/>
                  <a:t>Practice 3)</a:t>
                </a:r>
                <a:endParaRPr lang="en-SG" i="1" dirty="0"/>
              </a:p>
            </p:txBody>
          </p:sp>
        </mc:Choice>
        <mc:Fallback xmlns="">
          <p:sp>
            <p:nvSpPr>
              <p:cNvPr id="5" name="Content Placeholder 4">
                <a:extLst>
                  <a:ext uri="{FF2B5EF4-FFF2-40B4-BE49-F238E27FC236}">
                    <a16:creationId xmlns:a16="http://schemas.microsoft.com/office/drawing/2014/main" id="{6DA360FE-82CA-ED6E-6D95-BFE33D32ED6F}"/>
                  </a:ext>
                </a:extLst>
              </p:cNvPr>
              <p:cNvSpPr>
                <a:spLocks noGrp="1" noRot="1" noChangeAspect="1" noMove="1" noResize="1" noEditPoints="1" noAdjustHandles="1" noChangeArrowheads="1" noChangeShapeType="1" noTextEdit="1"/>
              </p:cNvSpPr>
              <p:nvPr>
                <p:ph idx="1"/>
              </p:nvPr>
            </p:nvSpPr>
            <p:spPr>
              <a:xfrm>
                <a:off x="838199" y="1825625"/>
                <a:ext cx="10752015" cy="4351338"/>
              </a:xfrm>
              <a:blipFill>
                <a:blip r:embed="rId2"/>
                <a:stretch>
                  <a:fillRect l="-1134" t="-2241" r="-1020"/>
                </a:stretch>
              </a:blipFill>
            </p:spPr>
            <p:txBody>
              <a:bodyPr/>
              <a:lstStyle/>
              <a:p>
                <a:r>
                  <a:rPr lang="en-GB">
                    <a:noFill/>
                  </a:rPr>
                  <a:t> </a:t>
                </a:r>
              </a:p>
            </p:txBody>
          </p:sp>
        </mc:Fallback>
      </mc:AlternateContent>
    </p:spTree>
    <p:extLst>
      <p:ext uri="{BB962C8B-B14F-4D97-AF65-F5344CB8AC3E}">
        <p14:creationId xmlns:p14="http://schemas.microsoft.com/office/powerpoint/2010/main" val="1858371479"/>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F4C7B-AE98-5B6C-42EC-4FD9A466C76E}"/>
              </a:ext>
            </a:extLst>
          </p:cNvPr>
          <p:cNvSpPr>
            <a:spLocks noGrp="1"/>
          </p:cNvSpPr>
          <p:nvPr>
            <p:ph type="title"/>
          </p:nvPr>
        </p:nvSpPr>
        <p:spPr/>
        <p:txBody>
          <a:bodyPr/>
          <a:lstStyle/>
          <a:p>
            <a:r>
              <a:rPr lang="en-GB" dirty="0"/>
              <a:t>Building a LL(1) table using FIRST sets.</a:t>
            </a:r>
            <a:endParaRPr lang="en-SG" dirty="0"/>
          </a:p>
        </p:txBody>
      </p:sp>
      <p:sp>
        <p:nvSpPr>
          <p:cNvPr id="5" name="Content Placeholder 4">
            <a:extLst>
              <a:ext uri="{FF2B5EF4-FFF2-40B4-BE49-F238E27FC236}">
                <a16:creationId xmlns:a16="http://schemas.microsoft.com/office/drawing/2014/main" id="{6DA360FE-82CA-ED6E-6D95-BFE33D32ED6F}"/>
              </a:ext>
            </a:extLst>
          </p:cNvPr>
          <p:cNvSpPr>
            <a:spLocks noGrp="1"/>
          </p:cNvSpPr>
          <p:nvPr>
            <p:ph sz="half" idx="1"/>
          </p:nvPr>
        </p:nvSpPr>
        <p:spPr/>
        <p:txBody>
          <a:bodyPr/>
          <a:lstStyle/>
          <a:p>
            <a:pPr marL="0" indent="0">
              <a:buNone/>
            </a:pPr>
            <a:r>
              <a:rPr lang="en-GB" dirty="0"/>
              <a:t>To demonstrate how it is done, let us consider the CFG below.</a:t>
            </a:r>
          </a:p>
          <a:p>
            <a:pPr marL="0" indent="0" algn="ctr">
              <a:buNone/>
            </a:pPr>
            <a:r>
              <a:rPr lang="en-SG" dirty="0"/>
              <a:t>S </a:t>
            </a:r>
            <a:r>
              <a:rPr lang="en-SG" dirty="0">
                <a:sym typeface="Wingdings" panose="05000000000000000000" pitchFamily="2" charset="2"/>
              </a:rPr>
              <a:t></a:t>
            </a:r>
            <a:r>
              <a:rPr lang="en-SG" dirty="0"/>
              <a:t> AB</a:t>
            </a:r>
          </a:p>
          <a:p>
            <a:pPr marL="0" indent="0" algn="ctr">
              <a:buNone/>
            </a:pPr>
            <a:r>
              <a:rPr lang="en-SG" dirty="0"/>
              <a:t>A </a:t>
            </a:r>
            <a:r>
              <a:rPr lang="en-SG" dirty="0">
                <a:sym typeface="Wingdings" panose="05000000000000000000" pitchFamily="2" charset="2"/>
              </a:rPr>
              <a:t></a:t>
            </a:r>
            <a:r>
              <a:rPr lang="en-SG" dirty="0"/>
              <a:t> </a:t>
            </a:r>
            <a:r>
              <a:rPr lang="en-SG" dirty="0" err="1"/>
              <a:t>aX</a:t>
            </a:r>
            <a:endParaRPr lang="en-SG" dirty="0"/>
          </a:p>
          <a:p>
            <a:pPr marL="0" indent="0" algn="ctr">
              <a:buNone/>
            </a:pPr>
            <a:r>
              <a:rPr lang="en-SG" dirty="0"/>
              <a:t>B </a:t>
            </a:r>
            <a:r>
              <a:rPr lang="en-SG" dirty="0">
                <a:sym typeface="Wingdings" panose="05000000000000000000" pitchFamily="2" charset="2"/>
              </a:rPr>
              <a:t></a:t>
            </a:r>
            <a:r>
              <a:rPr lang="en-SG" dirty="0"/>
              <a:t> </a:t>
            </a:r>
            <a:r>
              <a:rPr lang="en-SG" dirty="0" err="1"/>
              <a:t>bY</a:t>
            </a:r>
            <a:endParaRPr lang="en-SG" dirty="0"/>
          </a:p>
          <a:p>
            <a:pPr marL="0" indent="0" algn="ctr">
              <a:buNone/>
            </a:pPr>
            <a:r>
              <a:rPr lang="en-SG" dirty="0"/>
              <a:t>X </a:t>
            </a:r>
            <a:r>
              <a:rPr lang="en-SG" dirty="0">
                <a:sym typeface="Wingdings" panose="05000000000000000000" pitchFamily="2" charset="2"/>
              </a:rPr>
              <a:t></a:t>
            </a:r>
            <a:r>
              <a:rPr lang="en-SG" dirty="0"/>
              <a:t> x</a:t>
            </a:r>
          </a:p>
          <a:p>
            <a:pPr marL="0" indent="0" algn="ctr">
              <a:buNone/>
            </a:pPr>
            <a:r>
              <a:rPr lang="en-SG" dirty="0"/>
              <a:t>Y </a:t>
            </a:r>
            <a:r>
              <a:rPr lang="en-SG" dirty="0">
                <a:sym typeface="Wingdings" panose="05000000000000000000" pitchFamily="2" charset="2"/>
              </a:rPr>
              <a:t></a:t>
            </a:r>
            <a:r>
              <a:rPr lang="en-SG" dirty="0"/>
              <a:t> y</a:t>
            </a:r>
          </a:p>
        </p:txBody>
      </p:sp>
      <p:sp>
        <p:nvSpPr>
          <p:cNvPr id="4" name="Content Placeholder 3">
            <a:extLst>
              <a:ext uri="{FF2B5EF4-FFF2-40B4-BE49-F238E27FC236}">
                <a16:creationId xmlns:a16="http://schemas.microsoft.com/office/drawing/2014/main" id="{7626AF1A-F252-0132-2D12-38CB6D09F394}"/>
              </a:ext>
            </a:extLst>
          </p:cNvPr>
          <p:cNvSpPr>
            <a:spLocks noGrp="1"/>
          </p:cNvSpPr>
          <p:nvPr>
            <p:ph sz="half" idx="2"/>
          </p:nvPr>
        </p:nvSpPr>
        <p:spPr/>
        <p:txBody>
          <a:bodyPr/>
          <a:lstStyle/>
          <a:p>
            <a:pPr marL="0" indent="0">
              <a:buNone/>
            </a:pPr>
            <a:r>
              <a:rPr lang="en-GB" b="1" dirty="0"/>
              <a:t>Step 1: </a:t>
            </a:r>
            <a:r>
              <a:rPr lang="en-GB" dirty="0"/>
              <a:t>Initialize an empty table with rows for each non-terminal (S, A, B, X, and Y) and columns for each terminal (a, b, x, y) and the end-of-input marker ($).</a:t>
            </a:r>
          </a:p>
          <a:p>
            <a:pPr marL="0" indent="0">
              <a:buNone/>
            </a:pPr>
            <a:endParaRPr lang="en-GB" dirty="0"/>
          </a:p>
          <a:p>
            <a:pPr marL="0" indent="0">
              <a:buNone/>
            </a:pPr>
            <a:r>
              <a:rPr lang="en-GB" i="1" dirty="0"/>
              <a:t>(Shown later…)</a:t>
            </a:r>
            <a:endParaRPr lang="en-SG" i="1" dirty="0"/>
          </a:p>
        </p:txBody>
      </p:sp>
    </p:spTree>
    <p:extLst>
      <p:ext uri="{BB962C8B-B14F-4D97-AF65-F5344CB8AC3E}">
        <p14:creationId xmlns:p14="http://schemas.microsoft.com/office/powerpoint/2010/main" val="3171051464"/>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F4C7B-AE98-5B6C-42EC-4FD9A466C76E}"/>
              </a:ext>
            </a:extLst>
          </p:cNvPr>
          <p:cNvSpPr>
            <a:spLocks noGrp="1"/>
          </p:cNvSpPr>
          <p:nvPr>
            <p:ph type="title"/>
          </p:nvPr>
        </p:nvSpPr>
        <p:spPr/>
        <p:txBody>
          <a:bodyPr/>
          <a:lstStyle/>
          <a:p>
            <a:r>
              <a:rPr lang="en-GB" dirty="0"/>
              <a:t>Building a LL(1) table using FIRST sets.</a:t>
            </a:r>
            <a:endParaRPr lang="en-SG" dirty="0"/>
          </a:p>
        </p:txBody>
      </p:sp>
      <p:sp>
        <p:nvSpPr>
          <p:cNvPr id="5" name="Content Placeholder 4">
            <a:extLst>
              <a:ext uri="{FF2B5EF4-FFF2-40B4-BE49-F238E27FC236}">
                <a16:creationId xmlns:a16="http://schemas.microsoft.com/office/drawing/2014/main" id="{6DA360FE-82CA-ED6E-6D95-BFE33D32ED6F}"/>
              </a:ext>
            </a:extLst>
          </p:cNvPr>
          <p:cNvSpPr>
            <a:spLocks noGrp="1"/>
          </p:cNvSpPr>
          <p:nvPr>
            <p:ph sz="half" idx="1"/>
          </p:nvPr>
        </p:nvSpPr>
        <p:spPr/>
        <p:txBody>
          <a:bodyPr>
            <a:normAutofit/>
          </a:bodyPr>
          <a:lstStyle/>
          <a:p>
            <a:pPr marL="0" indent="0">
              <a:buNone/>
            </a:pPr>
            <a:r>
              <a:rPr lang="en-GB" dirty="0"/>
              <a:t>To demonstrate how it is done, let us consider the CFG below.</a:t>
            </a:r>
          </a:p>
          <a:p>
            <a:pPr marL="0" indent="0" algn="ctr">
              <a:buNone/>
            </a:pPr>
            <a:r>
              <a:rPr lang="en-SG" dirty="0"/>
              <a:t>S </a:t>
            </a:r>
            <a:r>
              <a:rPr lang="en-SG" dirty="0">
                <a:sym typeface="Wingdings" panose="05000000000000000000" pitchFamily="2" charset="2"/>
              </a:rPr>
              <a:t></a:t>
            </a:r>
            <a:r>
              <a:rPr lang="en-SG" dirty="0"/>
              <a:t> AB</a:t>
            </a:r>
          </a:p>
          <a:p>
            <a:pPr marL="0" indent="0" algn="ctr">
              <a:buNone/>
            </a:pPr>
            <a:r>
              <a:rPr lang="en-SG" dirty="0"/>
              <a:t>A </a:t>
            </a:r>
            <a:r>
              <a:rPr lang="en-SG" dirty="0">
                <a:sym typeface="Wingdings" panose="05000000000000000000" pitchFamily="2" charset="2"/>
              </a:rPr>
              <a:t></a:t>
            </a:r>
            <a:r>
              <a:rPr lang="en-SG" dirty="0"/>
              <a:t> </a:t>
            </a:r>
            <a:r>
              <a:rPr lang="en-SG" dirty="0" err="1"/>
              <a:t>aX</a:t>
            </a:r>
            <a:endParaRPr lang="en-SG" dirty="0"/>
          </a:p>
          <a:p>
            <a:pPr marL="0" indent="0" algn="ctr">
              <a:buNone/>
            </a:pPr>
            <a:r>
              <a:rPr lang="en-SG" dirty="0"/>
              <a:t>B </a:t>
            </a:r>
            <a:r>
              <a:rPr lang="en-SG" dirty="0">
                <a:sym typeface="Wingdings" panose="05000000000000000000" pitchFamily="2" charset="2"/>
              </a:rPr>
              <a:t></a:t>
            </a:r>
            <a:r>
              <a:rPr lang="en-SG" dirty="0"/>
              <a:t> </a:t>
            </a:r>
            <a:r>
              <a:rPr lang="en-SG" dirty="0" err="1"/>
              <a:t>bY</a:t>
            </a:r>
            <a:endParaRPr lang="en-SG" dirty="0"/>
          </a:p>
          <a:p>
            <a:pPr marL="0" indent="0" algn="ctr">
              <a:buNone/>
            </a:pPr>
            <a:r>
              <a:rPr lang="en-SG" dirty="0"/>
              <a:t>X </a:t>
            </a:r>
            <a:r>
              <a:rPr lang="en-SG" dirty="0">
                <a:sym typeface="Wingdings" panose="05000000000000000000" pitchFamily="2" charset="2"/>
              </a:rPr>
              <a:t></a:t>
            </a:r>
            <a:r>
              <a:rPr lang="en-SG" dirty="0"/>
              <a:t> x</a:t>
            </a:r>
          </a:p>
          <a:p>
            <a:pPr marL="0" indent="0" algn="ctr">
              <a:buNone/>
            </a:pPr>
            <a:r>
              <a:rPr lang="en-SG" dirty="0"/>
              <a:t>Y </a:t>
            </a:r>
            <a:r>
              <a:rPr lang="en-SG" dirty="0">
                <a:sym typeface="Wingdings" panose="05000000000000000000" pitchFamily="2" charset="2"/>
              </a:rPr>
              <a:t></a:t>
            </a:r>
            <a:r>
              <a:rPr lang="en-SG" dirty="0"/>
              <a:t> y</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7626AF1A-F252-0132-2D12-38CB6D09F394}"/>
                  </a:ext>
                </a:extLst>
              </p:cNvPr>
              <p:cNvSpPr>
                <a:spLocks noGrp="1"/>
              </p:cNvSpPr>
              <p:nvPr>
                <p:ph sz="half" idx="2"/>
              </p:nvPr>
            </p:nvSpPr>
            <p:spPr>
              <a:xfrm>
                <a:off x="6172200" y="1825624"/>
                <a:ext cx="5181600" cy="5032375"/>
              </a:xfrm>
            </p:spPr>
            <p:txBody>
              <a:bodyPr>
                <a:normAutofit/>
              </a:bodyPr>
              <a:lstStyle/>
              <a:p>
                <a:pPr marL="0" indent="0">
                  <a:buNone/>
                </a:pPr>
                <a:r>
                  <a:rPr lang="en-GB" b="1" dirty="0"/>
                  <a:t>Step 2: </a:t>
                </a:r>
                <a:r>
                  <a:rPr lang="en-GB" dirty="0"/>
                  <a:t>For each non-terminal, compute the first sets:</a:t>
                </a:r>
              </a:p>
              <a:p>
                <a:pPr>
                  <a:buFont typeface="Arial" panose="020B0604020202020204" pitchFamily="34" charset="0"/>
                  <a:buChar char="•"/>
                </a:pPr>
                <a14:m>
                  <m:oMath xmlns:m="http://schemas.openxmlformats.org/officeDocument/2006/math">
                    <m:r>
                      <a:rPr lang="en-GB" i="1" dirty="0" smtClean="0">
                        <a:latin typeface="Cambria Math" panose="02040503050406030204" pitchFamily="18" charset="0"/>
                      </a:rPr>
                      <m:t>𝐹</m:t>
                    </m:r>
                    <m:r>
                      <a:rPr lang="en-GB" i="1" dirty="0" smtClean="0">
                        <a:latin typeface="Cambria Math" panose="02040503050406030204" pitchFamily="18" charset="0"/>
                      </a:rPr>
                      <m:t>(</m:t>
                    </m:r>
                    <m:r>
                      <a:rPr lang="en-GB" i="1" dirty="0" smtClean="0">
                        <a:latin typeface="Cambria Math" panose="02040503050406030204" pitchFamily="18" charset="0"/>
                      </a:rPr>
                      <m:t>𝑌</m:t>
                    </m:r>
                    <m:r>
                      <a:rPr lang="en-GB" i="1" dirty="0" smtClean="0">
                        <a:latin typeface="Cambria Math" panose="02040503050406030204" pitchFamily="18" charset="0"/>
                      </a:rPr>
                      <m:t>) = {</m:t>
                    </m:r>
                    <m:r>
                      <a:rPr lang="en-GB" i="1" dirty="0" smtClean="0">
                        <a:latin typeface="Cambria Math" panose="02040503050406030204" pitchFamily="18" charset="0"/>
                      </a:rPr>
                      <m:t>𝑦</m:t>
                    </m:r>
                    <m:r>
                      <a:rPr lang="en-GB" i="1" dirty="0" smtClean="0">
                        <a:latin typeface="Cambria Math" panose="02040503050406030204" pitchFamily="18" charset="0"/>
                      </a:rPr>
                      <m:t>}</m:t>
                    </m:r>
                  </m:oMath>
                </a14:m>
                <a:endParaRPr lang="en-GB" dirty="0"/>
              </a:p>
              <a:p>
                <a:pPr>
                  <a:buFont typeface="Arial" panose="020B0604020202020204" pitchFamily="34" charset="0"/>
                  <a:buChar char="•"/>
                </a:pPr>
                <a14:m>
                  <m:oMath xmlns:m="http://schemas.openxmlformats.org/officeDocument/2006/math">
                    <m:r>
                      <a:rPr lang="en-GB" i="1" dirty="0" smtClean="0">
                        <a:latin typeface="Cambria Math" panose="02040503050406030204" pitchFamily="18" charset="0"/>
                      </a:rPr>
                      <m:t>𝐹</m:t>
                    </m:r>
                    <m:r>
                      <a:rPr lang="en-GB" i="1" dirty="0" smtClean="0">
                        <a:latin typeface="Cambria Math" panose="02040503050406030204" pitchFamily="18" charset="0"/>
                      </a:rPr>
                      <m:t>(</m:t>
                    </m:r>
                    <m:r>
                      <a:rPr lang="en-GB" b="0" i="1" dirty="0" smtClean="0">
                        <a:latin typeface="Cambria Math" panose="02040503050406030204" pitchFamily="18" charset="0"/>
                      </a:rPr>
                      <m:t>𝑋</m:t>
                    </m:r>
                    <m:r>
                      <a:rPr lang="en-GB" i="1" dirty="0" smtClean="0">
                        <a:latin typeface="Cambria Math" panose="02040503050406030204" pitchFamily="18" charset="0"/>
                      </a:rPr>
                      <m:t>) = {</m:t>
                    </m:r>
                    <m:r>
                      <a:rPr lang="en-GB" b="0" i="1" dirty="0" smtClean="0">
                        <a:latin typeface="Cambria Math" panose="02040503050406030204" pitchFamily="18" charset="0"/>
                      </a:rPr>
                      <m:t>𝑥</m:t>
                    </m:r>
                    <m:r>
                      <a:rPr lang="en-GB" i="1" dirty="0" smtClean="0">
                        <a:latin typeface="Cambria Math" panose="02040503050406030204" pitchFamily="18" charset="0"/>
                      </a:rPr>
                      <m:t>}</m:t>
                    </m:r>
                  </m:oMath>
                </a14:m>
                <a:endParaRPr lang="en-GB" dirty="0"/>
              </a:p>
              <a:p>
                <a:pPr>
                  <a:buFont typeface="Arial" panose="020B0604020202020204" pitchFamily="34" charset="0"/>
                  <a:buChar char="•"/>
                </a:pPr>
                <a14:m>
                  <m:oMath xmlns:m="http://schemas.openxmlformats.org/officeDocument/2006/math">
                    <m:r>
                      <a:rPr lang="en-GB" i="1" dirty="0" smtClean="0">
                        <a:latin typeface="Cambria Math" panose="02040503050406030204" pitchFamily="18" charset="0"/>
                      </a:rPr>
                      <m:t>𝐹</m:t>
                    </m:r>
                    <m:d>
                      <m:dPr>
                        <m:ctrlPr>
                          <a:rPr lang="en-GB" i="1" dirty="0" smtClean="0">
                            <a:latin typeface="Cambria Math" panose="02040503050406030204" pitchFamily="18" charset="0"/>
                          </a:rPr>
                        </m:ctrlPr>
                      </m:dPr>
                      <m:e>
                        <m:r>
                          <a:rPr lang="en-GB" b="0" i="1" dirty="0" smtClean="0">
                            <a:latin typeface="Cambria Math" panose="02040503050406030204" pitchFamily="18" charset="0"/>
                          </a:rPr>
                          <m:t>𝐴</m:t>
                        </m:r>
                      </m:e>
                    </m:d>
                    <m:r>
                      <a:rPr lang="en-GB" i="1" dirty="0" smtClean="0">
                        <a:latin typeface="Cambria Math" panose="02040503050406030204" pitchFamily="18" charset="0"/>
                      </a:rPr>
                      <m:t>= </m:t>
                    </m:r>
                    <m:d>
                      <m:dPr>
                        <m:begChr m:val="{"/>
                        <m:endChr m:val="}"/>
                        <m:ctrlPr>
                          <a:rPr lang="en-GB" i="1" dirty="0" smtClean="0">
                            <a:latin typeface="Cambria Math" panose="02040503050406030204" pitchFamily="18" charset="0"/>
                          </a:rPr>
                        </m:ctrlPr>
                      </m:dPr>
                      <m:e>
                        <m:r>
                          <a:rPr lang="en-GB" b="0" i="1" dirty="0" smtClean="0">
                            <a:latin typeface="Cambria Math" panose="02040503050406030204" pitchFamily="18" charset="0"/>
                          </a:rPr>
                          <m:t>𝑎</m:t>
                        </m:r>
                      </m:e>
                    </m:d>
                  </m:oMath>
                </a14:m>
                <a:endParaRPr lang="en-GB" dirty="0"/>
              </a:p>
              <a:p>
                <a:pPr>
                  <a:buFont typeface="Arial" panose="020B0604020202020204" pitchFamily="34" charset="0"/>
                  <a:buChar char="•"/>
                </a:pPr>
                <a14:m>
                  <m:oMath xmlns:m="http://schemas.openxmlformats.org/officeDocument/2006/math">
                    <m:r>
                      <a:rPr lang="en-GB" i="1" dirty="0" smtClean="0">
                        <a:latin typeface="Cambria Math" panose="02040503050406030204" pitchFamily="18" charset="0"/>
                      </a:rPr>
                      <m:t>𝐹</m:t>
                    </m:r>
                    <m:d>
                      <m:dPr>
                        <m:ctrlPr>
                          <a:rPr lang="en-GB" i="1" dirty="0" smtClean="0">
                            <a:latin typeface="Cambria Math" panose="02040503050406030204" pitchFamily="18" charset="0"/>
                          </a:rPr>
                        </m:ctrlPr>
                      </m:dPr>
                      <m:e>
                        <m:r>
                          <a:rPr lang="en-GB" b="0" i="1" dirty="0" smtClean="0">
                            <a:latin typeface="Cambria Math" panose="02040503050406030204" pitchFamily="18" charset="0"/>
                          </a:rPr>
                          <m:t>𝐵</m:t>
                        </m:r>
                      </m:e>
                    </m:d>
                    <m:r>
                      <a:rPr lang="en-GB" i="1" dirty="0" smtClean="0">
                        <a:latin typeface="Cambria Math" panose="02040503050406030204" pitchFamily="18" charset="0"/>
                      </a:rPr>
                      <m:t>= </m:t>
                    </m:r>
                    <m:d>
                      <m:dPr>
                        <m:begChr m:val="{"/>
                        <m:endChr m:val="}"/>
                        <m:ctrlPr>
                          <a:rPr lang="en-GB" i="1" dirty="0" smtClean="0">
                            <a:latin typeface="Cambria Math" panose="02040503050406030204" pitchFamily="18" charset="0"/>
                          </a:rPr>
                        </m:ctrlPr>
                      </m:dPr>
                      <m:e>
                        <m:r>
                          <a:rPr lang="en-GB" b="0" i="1" dirty="0" smtClean="0">
                            <a:latin typeface="Cambria Math" panose="02040503050406030204" pitchFamily="18" charset="0"/>
                          </a:rPr>
                          <m:t>𝑏</m:t>
                        </m:r>
                      </m:e>
                    </m:d>
                  </m:oMath>
                </a14:m>
                <a:endParaRPr lang="en-GB" dirty="0"/>
              </a:p>
              <a:p>
                <a:pPr>
                  <a:buFont typeface="Arial" panose="020B0604020202020204" pitchFamily="34" charset="0"/>
                  <a:buChar char="•"/>
                </a:pPr>
                <a14:m>
                  <m:oMath xmlns:m="http://schemas.openxmlformats.org/officeDocument/2006/math">
                    <m:r>
                      <a:rPr lang="en-GB" i="1" dirty="0" smtClean="0">
                        <a:latin typeface="Cambria Math" panose="02040503050406030204" pitchFamily="18" charset="0"/>
                      </a:rPr>
                      <m:t>𝐹</m:t>
                    </m:r>
                    <m:d>
                      <m:dPr>
                        <m:ctrlPr>
                          <a:rPr lang="en-GB" i="1" dirty="0" smtClean="0">
                            <a:latin typeface="Cambria Math" panose="02040503050406030204" pitchFamily="18" charset="0"/>
                          </a:rPr>
                        </m:ctrlPr>
                      </m:dPr>
                      <m:e>
                        <m:r>
                          <a:rPr lang="en-GB" b="0" i="1" dirty="0" smtClean="0">
                            <a:latin typeface="Cambria Math" panose="02040503050406030204" pitchFamily="18" charset="0"/>
                          </a:rPr>
                          <m:t>𝑆</m:t>
                        </m:r>
                      </m:e>
                    </m:d>
                    <m:r>
                      <a:rPr lang="en-GB" i="1" dirty="0" smtClean="0">
                        <a:latin typeface="Cambria Math" panose="02040503050406030204" pitchFamily="18" charset="0"/>
                      </a:rPr>
                      <m:t>=</m:t>
                    </m:r>
                    <m:r>
                      <a:rPr lang="en-GB" b="0" i="1" dirty="0" smtClean="0">
                        <a:latin typeface="Cambria Math" panose="02040503050406030204" pitchFamily="18" charset="0"/>
                      </a:rPr>
                      <m:t>𝐹</m:t>
                    </m:r>
                    <m:d>
                      <m:dPr>
                        <m:ctrlPr>
                          <a:rPr lang="en-GB" b="0" i="1" dirty="0" smtClean="0">
                            <a:latin typeface="Cambria Math" panose="02040503050406030204" pitchFamily="18" charset="0"/>
                          </a:rPr>
                        </m:ctrlPr>
                      </m:dPr>
                      <m:e>
                        <m:r>
                          <a:rPr lang="en-GB" b="0" i="1" dirty="0" smtClean="0">
                            <a:latin typeface="Cambria Math" panose="02040503050406030204" pitchFamily="18" charset="0"/>
                          </a:rPr>
                          <m:t>𝐴</m:t>
                        </m:r>
                      </m:e>
                    </m:d>
                    <m:r>
                      <a:rPr lang="en-GB" b="0" i="1" dirty="0" smtClean="0">
                        <a:latin typeface="Cambria Math" panose="02040503050406030204" pitchFamily="18" charset="0"/>
                      </a:rPr>
                      <m:t>={</m:t>
                    </m:r>
                    <m:r>
                      <a:rPr lang="en-GB" b="0" i="1" dirty="0" smtClean="0">
                        <a:latin typeface="Cambria Math" panose="02040503050406030204" pitchFamily="18" charset="0"/>
                      </a:rPr>
                      <m:t>𝑎</m:t>
                    </m:r>
                    <m:r>
                      <a:rPr lang="en-GB" b="0" i="1" dirty="0" smtClean="0">
                        <a:latin typeface="Cambria Math" panose="02040503050406030204" pitchFamily="18" charset="0"/>
                      </a:rPr>
                      <m:t>}</m:t>
                    </m:r>
                  </m:oMath>
                </a14:m>
                <a:endParaRPr lang="en-GB" dirty="0"/>
              </a:p>
            </p:txBody>
          </p:sp>
        </mc:Choice>
        <mc:Fallback xmlns="">
          <p:sp>
            <p:nvSpPr>
              <p:cNvPr id="4" name="Content Placeholder 3">
                <a:extLst>
                  <a:ext uri="{FF2B5EF4-FFF2-40B4-BE49-F238E27FC236}">
                    <a16:creationId xmlns:a16="http://schemas.microsoft.com/office/drawing/2014/main" id="{7626AF1A-F252-0132-2D12-38CB6D09F394}"/>
                  </a:ext>
                </a:extLst>
              </p:cNvPr>
              <p:cNvSpPr>
                <a:spLocks noGrp="1" noRot="1" noChangeAspect="1" noMove="1" noResize="1" noEditPoints="1" noAdjustHandles="1" noChangeArrowheads="1" noChangeShapeType="1" noTextEdit="1"/>
              </p:cNvSpPr>
              <p:nvPr>
                <p:ph sz="half" idx="2"/>
              </p:nvPr>
            </p:nvSpPr>
            <p:spPr>
              <a:xfrm>
                <a:off x="6172200" y="1825624"/>
                <a:ext cx="5181600" cy="5032375"/>
              </a:xfrm>
              <a:blipFill>
                <a:blip r:embed="rId2"/>
                <a:stretch>
                  <a:fillRect l="-2471" t="-1937"/>
                </a:stretch>
              </a:blipFill>
            </p:spPr>
            <p:txBody>
              <a:bodyPr/>
              <a:lstStyle/>
              <a:p>
                <a:r>
                  <a:rPr lang="en-SG">
                    <a:noFill/>
                  </a:rPr>
                  <a:t> </a:t>
                </a:r>
              </a:p>
            </p:txBody>
          </p:sp>
        </mc:Fallback>
      </mc:AlternateContent>
    </p:spTree>
    <p:extLst>
      <p:ext uri="{BB962C8B-B14F-4D97-AF65-F5344CB8AC3E}">
        <p14:creationId xmlns:p14="http://schemas.microsoft.com/office/powerpoint/2010/main" val="494722526"/>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F4C7B-AE98-5B6C-42EC-4FD9A466C76E}"/>
              </a:ext>
            </a:extLst>
          </p:cNvPr>
          <p:cNvSpPr>
            <a:spLocks noGrp="1"/>
          </p:cNvSpPr>
          <p:nvPr>
            <p:ph type="title"/>
          </p:nvPr>
        </p:nvSpPr>
        <p:spPr/>
        <p:txBody>
          <a:bodyPr/>
          <a:lstStyle/>
          <a:p>
            <a:r>
              <a:rPr lang="en-GB" dirty="0"/>
              <a:t>Building a LL(1) table using FIRST sets.</a:t>
            </a:r>
            <a:endParaRPr lang="en-SG" dirty="0"/>
          </a:p>
        </p:txBody>
      </p:sp>
      <p:sp>
        <p:nvSpPr>
          <p:cNvPr id="5" name="Content Placeholder 4">
            <a:extLst>
              <a:ext uri="{FF2B5EF4-FFF2-40B4-BE49-F238E27FC236}">
                <a16:creationId xmlns:a16="http://schemas.microsoft.com/office/drawing/2014/main" id="{6DA360FE-82CA-ED6E-6D95-BFE33D32ED6F}"/>
              </a:ext>
            </a:extLst>
          </p:cNvPr>
          <p:cNvSpPr>
            <a:spLocks noGrp="1"/>
          </p:cNvSpPr>
          <p:nvPr>
            <p:ph sz="half" idx="1"/>
          </p:nvPr>
        </p:nvSpPr>
        <p:spPr/>
        <p:txBody>
          <a:bodyPr>
            <a:normAutofit/>
          </a:bodyPr>
          <a:lstStyle/>
          <a:p>
            <a:pPr marL="0" indent="0">
              <a:buNone/>
            </a:pPr>
            <a:r>
              <a:rPr lang="en-GB" dirty="0"/>
              <a:t>To demonstrate how it is done, let us consider the CFG below.</a:t>
            </a:r>
          </a:p>
          <a:p>
            <a:pPr marL="0" indent="0" algn="ctr">
              <a:buNone/>
            </a:pPr>
            <a:r>
              <a:rPr lang="en-SG" dirty="0"/>
              <a:t>S </a:t>
            </a:r>
            <a:r>
              <a:rPr lang="en-SG" dirty="0">
                <a:sym typeface="Wingdings" panose="05000000000000000000" pitchFamily="2" charset="2"/>
              </a:rPr>
              <a:t></a:t>
            </a:r>
            <a:r>
              <a:rPr lang="en-SG" dirty="0"/>
              <a:t> AB</a:t>
            </a:r>
          </a:p>
          <a:p>
            <a:pPr marL="0" indent="0" algn="ctr">
              <a:buNone/>
            </a:pPr>
            <a:r>
              <a:rPr lang="en-SG" dirty="0"/>
              <a:t>A </a:t>
            </a:r>
            <a:r>
              <a:rPr lang="en-SG" dirty="0">
                <a:sym typeface="Wingdings" panose="05000000000000000000" pitchFamily="2" charset="2"/>
              </a:rPr>
              <a:t></a:t>
            </a:r>
            <a:r>
              <a:rPr lang="en-SG" dirty="0"/>
              <a:t> </a:t>
            </a:r>
            <a:r>
              <a:rPr lang="en-SG" dirty="0" err="1"/>
              <a:t>aX</a:t>
            </a:r>
            <a:endParaRPr lang="en-SG" dirty="0"/>
          </a:p>
          <a:p>
            <a:pPr marL="0" indent="0" algn="ctr">
              <a:buNone/>
            </a:pPr>
            <a:r>
              <a:rPr lang="en-SG" dirty="0"/>
              <a:t>B </a:t>
            </a:r>
            <a:r>
              <a:rPr lang="en-SG" dirty="0">
                <a:sym typeface="Wingdings" panose="05000000000000000000" pitchFamily="2" charset="2"/>
              </a:rPr>
              <a:t></a:t>
            </a:r>
            <a:r>
              <a:rPr lang="en-SG" dirty="0"/>
              <a:t> </a:t>
            </a:r>
            <a:r>
              <a:rPr lang="en-SG" dirty="0" err="1"/>
              <a:t>bY</a:t>
            </a:r>
            <a:endParaRPr lang="en-SG" dirty="0"/>
          </a:p>
          <a:p>
            <a:pPr marL="0" indent="0" algn="ctr">
              <a:buNone/>
            </a:pPr>
            <a:r>
              <a:rPr lang="en-SG" dirty="0"/>
              <a:t>X </a:t>
            </a:r>
            <a:r>
              <a:rPr lang="en-SG" dirty="0">
                <a:sym typeface="Wingdings" panose="05000000000000000000" pitchFamily="2" charset="2"/>
              </a:rPr>
              <a:t></a:t>
            </a:r>
            <a:r>
              <a:rPr lang="en-SG" dirty="0"/>
              <a:t> x</a:t>
            </a:r>
          </a:p>
          <a:p>
            <a:pPr marL="0" indent="0" algn="ctr">
              <a:buNone/>
            </a:pPr>
            <a:r>
              <a:rPr lang="en-SG" dirty="0"/>
              <a:t>Y </a:t>
            </a:r>
            <a:r>
              <a:rPr lang="en-SG" dirty="0">
                <a:sym typeface="Wingdings" panose="05000000000000000000" pitchFamily="2" charset="2"/>
              </a:rPr>
              <a:t></a:t>
            </a:r>
            <a:r>
              <a:rPr lang="en-SG" dirty="0"/>
              <a:t> y</a:t>
            </a:r>
          </a:p>
        </p:txBody>
      </p:sp>
      <p:sp>
        <p:nvSpPr>
          <p:cNvPr id="4" name="Content Placeholder 3">
            <a:extLst>
              <a:ext uri="{FF2B5EF4-FFF2-40B4-BE49-F238E27FC236}">
                <a16:creationId xmlns:a16="http://schemas.microsoft.com/office/drawing/2014/main" id="{7626AF1A-F252-0132-2D12-38CB6D09F394}"/>
              </a:ext>
            </a:extLst>
          </p:cNvPr>
          <p:cNvSpPr>
            <a:spLocks noGrp="1"/>
          </p:cNvSpPr>
          <p:nvPr>
            <p:ph sz="half" idx="2"/>
          </p:nvPr>
        </p:nvSpPr>
        <p:spPr>
          <a:xfrm>
            <a:off x="6172200" y="1825624"/>
            <a:ext cx="5181600" cy="5032375"/>
          </a:xfrm>
        </p:spPr>
        <p:txBody>
          <a:bodyPr>
            <a:normAutofit/>
          </a:bodyPr>
          <a:lstStyle/>
          <a:p>
            <a:pPr marL="0" indent="0">
              <a:buNone/>
            </a:pPr>
            <a:r>
              <a:rPr lang="en-GB" b="1" dirty="0"/>
              <a:t>Step 3: </a:t>
            </a:r>
            <a:r>
              <a:rPr lang="en-GB" dirty="0"/>
              <a:t>Use each first set to populate the table.</a:t>
            </a:r>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r>
              <a:rPr lang="en-GB" b="1" dirty="0"/>
              <a:t>Ready to use LL(1) now!</a:t>
            </a:r>
          </a:p>
        </p:txBody>
      </p:sp>
      <p:graphicFrame>
        <p:nvGraphicFramePr>
          <p:cNvPr id="3" name="Table 5">
            <a:extLst>
              <a:ext uri="{FF2B5EF4-FFF2-40B4-BE49-F238E27FC236}">
                <a16:creationId xmlns:a16="http://schemas.microsoft.com/office/drawing/2014/main" id="{B45CEA6D-384A-C13B-E4C1-BCCAF15F85B1}"/>
              </a:ext>
            </a:extLst>
          </p:cNvPr>
          <p:cNvGraphicFramePr>
            <a:graphicFrameLocks noGrp="1"/>
          </p:cNvGraphicFramePr>
          <p:nvPr>
            <p:extLst>
              <p:ext uri="{D42A27DB-BD31-4B8C-83A1-F6EECF244321}">
                <p14:modId xmlns:p14="http://schemas.microsoft.com/office/powerpoint/2010/main" val="2822647665"/>
              </p:ext>
            </p:extLst>
          </p:nvPr>
        </p:nvGraphicFramePr>
        <p:xfrm>
          <a:off x="6244491" y="2947051"/>
          <a:ext cx="5369170" cy="2554980"/>
        </p:xfrm>
        <a:graphic>
          <a:graphicData uri="http://schemas.openxmlformats.org/drawingml/2006/table">
            <a:tbl>
              <a:tblPr firstRow="1" bandRow="1">
                <a:tableStyleId>{5202B0CA-FC54-4496-8BCA-5EF66A818D29}</a:tableStyleId>
              </a:tblPr>
              <a:tblGrid>
                <a:gridCol w="1073834">
                  <a:extLst>
                    <a:ext uri="{9D8B030D-6E8A-4147-A177-3AD203B41FA5}">
                      <a16:colId xmlns:a16="http://schemas.microsoft.com/office/drawing/2014/main" val="400284428"/>
                    </a:ext>
                  </a:extLst>
                </a:gridCol>
                <a:gridCol w="1073834">
                  <a:extLst>
                    <a:ext uri="{9D8B030D-6E8A-4147-A177-3AD203B41FA5}">
                      <a16:colId xmlns:a16="http://schemas.microsoft.com/office/drawing/2014/main" val="826504428"/>
                    </a:ext>
                  </a:extLst>
                </a:gridCol>
                <a:gridCol w="1073834">
                  <a:extLst>
                    <a:ext uri="{9D8B030D-6E8A-4147-A177-3AD203B41FA5}">
                      <a16:colId xmlns:a16="http://schemas.microsoft.com/office/drawing/2014/main" val="1119854663"/>
                    </a:ext>
                  </a:extLst>
                </a:gridCol>
                <a:gridCol w="1073834">
                  <a:extLst>
                    <a:ext uri="{9D8B030D-6E8A-4147-A177-3AD203B41FA5}">
                      <a16:colId xmlns:a16="http://schemas.microsoft.com/office/drawing/2014/main" val="2541349263"/>
                    </a:ext>
                  </a:extLst>
                </a:gridCol>
                <a:gridCol w="1073834">
                  <a:extLst>
                    <a:ext uri="{9D8B030D-6E8A-4147-A177-3AD203B41FA5}">
                      <a16:colId xmlns:a16="http://schemas.microsoft.com/office/drawing/2014/main" val="2427245816"/>
                    </a:ext>
                  </a:extLst>
                </a:gridCol>
              </a:tblGrid>
              <a:tr h="425830">
                <a:tc>
                  <a:txBody>
                    <a:bodyPr/>
                    <a:lstStyle/>
                    <a:p>
                      <a:endParaRPr lang="en-SG" dirty="0"/>
                    </a:p>
                  </a:txBody>
                  <a:tcPr>
                    <a:solidFill>
                      <a:schemeClr val="bg1"/>
                    </a:solidFill>
                  </a:tcPr>
                </a:tc>
                <a:tc>
                  <a:txBody>
                    <a:bodyPr/>
                    <a:lstStyle/>
                    <a:p>
                      <a:r>
                        <a:rPr lang="en-GB" dirty="0"/>
                        <a:t>a</a:t>
                      </a:r>
                      <a:endParaRPr lang="en-SG" dirty="0"/>
                    </a:p>
                  </a:txBody>
                  <a:tcPr/>
                </a:tc>
                <a:tc>
                  <a:txBody>
                    <a:bodyPr/>
                    <a:lstStyle/>
                    <a:p>
                      <a:r>
                        <a:rPr lang="en-GB" dirty="0"/>
                        <a:t>b</a:t>
                      </a:r>
                      <a:endParaRPr lang="en-SG" dirty="0"/>
                    </a:p>
                  </a:txBody>
                  <a:tcPr/>
                </a:tc>
                <a:tc>
                  <a:txBody>
                    <a:bodyPr/>
                    <a:lstStyle/>
                    <a:p>
                      <a:r>
                        <a:rPr lang="en-GB" dirty="0"/>
                        <a:t>x</a:t>
                      </a:r>
                      <a:endParaRPr lang="en-SG" dirty="0"/>
                    </a:p>
                  </a:txBody>
                  <a:tcPr/>
                </a:tc>
                <a:tc>
                  <a:txBody>
                    <a:bodyPr/>
                    <a:lstStyle/>
                    <a:p>
                      <a:r>
                        <a:rPr lang="en-GB" dirty="0"/>
                        <a:t>y</a:t>
                      </a:r>
                      <a:endParaRPr lang="en-SG" dirty="0"/>
                    </a:p>
                  </a:txBody>
                  <a:tcPr/>
                </a:tc>
                <a:extLst>
                  <a:ext uri="{0D108BD9-81ED-4DB2-BD59-A6C34878D82A}">
                    <a16:rowId xmlns:a16="http://schemas.microsoft.com/office/drawing/2014/main" val="2157632539"/>
                  </a:ext>
                </a:extLst>
              </a:tr>
              <a:tr h="425830">
                <a:tc>
                  <a:txBody>
                    <a:bodyPr/>
                    <a:lstStyle/>
                    <a:p>
                      <a:r>
                        <a:rPr lang="en-GB" b="1" dirty="0">
                          <a:solidFill>
                            <a:schemeClr val="bg1"/>
                          </a:solidFill>
                        </a:rPr>
                        <a:t>S</a:t>
                      </a:r>
                      <a:endParaRPr lang="en-SG" b="1" dirty="0">
                        <a:solidFill>
                          <a:schemeClr val="bg1"/>
                        </a:solidFill>
                      </a:endParaRPr>
                    </a:p>
                  </a:txBody>
                  <a:tcPr>
                    <a:solidFill>
                      <a:schemeClr val="tx1"/>
                    </a:solidFill>
                  </a:tcPr>
                </a:tc>
                <a:tc>
                  <a:txBody>
                    <a:bodyPr/>
                    <a:lstStyle/>
                    <a:p>
                      <a:r>
                        <a:rPr lang="en-GB" dirty="0"/>
                        <a:t>AB</a:t>
                      </a:r>
                      <a:endParaRPr lang="en-SG" dirty="0"/>
                    </a:p>
                  </a:txBody>
                  <a:tcPr/>
                </a:tc>
                <a:tc>
                  <a:txBody>
                    <a:bodyPr/>
                    <a:lstStyle/>
                    <a:p>
                      <a:endParaRPr lang="en-SG"/>
                    </a:p>
                  </a:txBody>
                  <a:tcPr/>
                </a:tc>
                <a:tc>
                  <a:txBody>
                    <a:bodyPr/>
                    <a:lstStyle/>
                    <a:p>
                      <a:endParaRPr lang="en-SG"/>
                    </a:p>
                  </a:txBody>
                  <a:tcPr/>
                </a:tc>
                <a:tc>
                  <a:txBody>
                    <a:bodyPr/>
                    <a:lstStyle/>
                    <a:p>
                      <a:endParaRPr lang="en-SG"/>
                    </a:p>
                  </a:txBody>
                  <a:tcPr/>
                </a:tc>
                <a:extLst>
                  <a:ext uri="{0D108BD9-81ED-4DB2-BD59-A6C34878D82A}">
                    <a16:rowId xmlns:a16="http://schemas.microsoft.com/office/drawing/2014/main" val="3211575938"/>
                  </a:ext>
                </a:extLst>
              </a:tr>
              <a:tr h="425830">
                <a:tc>
                  <a:txBody>
                    <a:bodyPr/>
                    <a:lstStyle/>
                    <a:p>
                      <a:r>
                        <a:rPr lang="en-GB" b="1" dirty="0">
                          <a:solidFill>
                            <a:schemeClr val="bg1"/>
                          </a:solidFill>
                        </a:rPr>
                        <a:t>A</a:t>
                      </a:r>
                      <a:endParaRPr lang="en-SG" b="1" dirty="0">
                        <a:solidFill>
                          <a:schemeClr val="bg1"/>
                        </a:solidFill>
                      </a:endParaRPr>
                    </a:p>
                  </a:txBody>
                  <a:tcPr>
                    <a:solidFill>
                      <a:schemeClr val="tx1"/>
                    </a:solidFill>
                  </a:tcPr>
                </a:tc>
                <a:tc>
                  <a:txBody>
                    <a:bodyPr/>
                    <a:lstStyle/>
                    <a:p>
                      <a:r>
                        <a:rPr lang="en-GB" dirty="0" err="1"/>
                        <a:t>aX</a:t>
                      </a:r>
                      <a:endParaRPr lang="en-SG" dirty="0"/>
                    </a:p>
                  </a:txBody>
                  <a:tcPr/>
                </a:tc>
                <a:tc>
                  <a:txBody>
                    <a:bodyPr/>
                    <a:lstStyle/>
                    <a:p>
                      <a:endParaRPr lang="en-SG" dirty="0"/>
                    </a:p>
                  </a:txBody>
                  <a:tcPr/>
                </a:tc>
                <a:tc>
                  <a:txBody>
                    <a:bodyPr/>
                    <a:lstStyle/>
                    <a:p>
                      <a:endParaRPr lang="en-SG"/>
                    </a:p>
                  </a:txBody>
                  <a:tcPr/>
                </a:tc>
                <a:tc>
                  <a:txBody>
                    <a:bodyPr/>
                    <a:lstStyle/>
                    <a:p>
                      <a:endParaRPr lang="en-SG"/>
                    </a:p>
                  </a:txBody>
                  <a:tcPr/>
                </a:tc>
                <a:extLst>
                  <a:ext uri="{0D108BD9-81ED-4DB2-BD59-A6C34878D82A}">
                    <a16:rowId xmlns:a16="http://schemas.microsoft.com/office/drawing/2014/main" val="2974243030"/>
                  </a:ext>
                </a:extLst>
              </a:tr>
              <a:tr h="425830">
                <a:tc>
                  <a:txBody>
                    <a:bodyPr/>
                    <a:lstStyle/>
                    <a:p>
                      <a:r>
                        <a:rPr lang="en-GB" b="1" dirty="0">
                          <a:solidFill>
                            <a:schemeClr val="bg1"/>
                          </a:solidFill>
                        </a:rPr>
                        <a:t>B</a:t>
                      </a:r>
                      <a:endParaRPr lang="en-SG" b="1" dirty="0">
                        <a:solidFill>
                          <a:schemeClr val="bg1"/>
                        </a:solidFill>
                      </a:endParaRPr>
                    </a:p>
                  </a:txBody>
                  <a:tcPr>
                    <a:solidFill>
                      <a:schemeClr val="tx1"/>
                    </a:solidFill>
                  </a:tcPr>
                </a:tc>
                <a:tc>
                  <a:txBody>
                    <a:bodyPr/>
                    <a:lstStyle/>
                    <a:p>
                      <a:endParaRPr lang="en-SG"/>
                    </a:p>
                  </a:txBody>
                  <a:tcPr/>
                </a:tc>
                <a:tc>
                  <a:txBody>
                    <a:bodyPr/>
                    <a:lstStyle/>
                    <a:p>
                      <a:r>
                        <a:rPr lang="en-GB" dirty="0" err="1"/>
                        <a:t>bY</a:t>
                      </a:r>
                      <a:endParaRPr lang="en-SG" dirty="0"/>
                    </a:p>
                  </a:txBody>
                  <a:tcPr/>
                </a:tc>
                <a:tc>
                  <a:txBody>
                    <a:bodyPr/>
                    <a:lstStyle/>
                    <a:p>
                      <a:endParaRPr lang="en-SG" dirty="0"/>
                    </a:p>
                  </a:txBody>
                  <a:tcPr/>
                </a:tc>
                <a:tc>
                  <a:txBody>
                    <a:bodyPr/>
                    <a:lstStyle/>
                    <a:p>
                      <a:endParaRPr lang="en-SG"/>
                    </a:p>
                  </a:txBody>
                  <a:tcPr/>
                </a:tc>
                <a:extLst>
                  <a:ext uri="{0D108BD9-81ED-4DB2-BD59-A6C34878D82A}">
                    <a16:rowId xmlns:a16="http://schemas.microsoft.com/office/drawing/2014/main" val="1461203491"/>
                  </a:ext>
                </a:extLst>
              </a:tr>
              <a:tr h="425830">
                <a:tc>
                  <a:txBody>
                    <a:bodyPr/>
                    <a:lstStyle/>
                    <a:p>
                      <a:r>
                        <a:rPr lang="en-GB" b="1" dirty="0">
                          <a:solidFill>
                            <a:schemeClr val="bg1"/>
                          </a:solidFill>
                        </a:rPr>
                        <a:t>X</a:t>
                      </a:r>
                      <a:endParaRPr lang="en-SG" b="1" dirty="0">
                        <a:solidFill>
                          <a:schemeClr val="bg1"/>
                        </a:solidFill>
                      </a:endParaRPr>
                    </a:p>
                  </a:txBody>
                  <a:tcPr>
                    <a:solidFill>
                      <a:schemeClr val="tx1"/>
                    </a:solidFill>
                  </a:tcPr>
                </a:tc>
                <a:tc>
                  <a:txBody>
                    <a:bodyPr/>
                    <a:lstStyle/>
                    <a:p>
                      <a:endParaRPr lang="en-SG"/>
                    </a:p>
                  </a:txBody>
                  <a:tcPr/>
                </a:tc>
                <a:tc>
                  <a:txBody>
                    <a:bodyPr/>
                    <a:lstStyle/>
                    <a:p>
                      <a:endParaRPr lang="en-SG"/>
                    </a:p>
                  </a:txBody>
                  <a:tcPr/>
                </a:tc>
                <a:tc>
                  <a:txBody>
                    <a:bodyPr/>
                    <a:lstStyle/>
                    <a:p>
                      <a:r>
                        <a:rPr lang="en-GB" dirty="0"/>
                        <a:t>x</a:t>
                      </a:r>
                      <a:endParaRPr lang="en-SG" dirty="0"/>
                    </a:p>
                  </a:txBody>
                  <a:tcPr/>
                </a:tc>
                <a:tc>
                  <a:txBody>
                    <a:bodyPr/>
                    <a:lstStyle/>
                    <a:p>
                      <a:endParaRPr lang="en-SG" dirty="0"/>
                    </a:p>
                  </a:txBody>
                  <a:tcPr/>
                </a:tc>
                <a:extLst>
                  <a:ext uri="{0D108BD9-81ED-4DB2-BD59-A6C34878D82A}">
                    <a16:rowId xmlns:a16="http://schemas.microsoft.com/office/drawing/2014/main" val="1092304744"/>
                  </a:ext>
                </a:extLst>
              </a:tr>
              <a:tr h="425830">
                <a:tc>
                  <a:txBody>
                    <a:bodyPr/>
                    <a:lstStyle/>
                    <a:p>
                      <a:r>
                        <a:rPr lang="en-GB" b="1" dirty="0">
                          <a:solidFill>
                            <a:schemeClr val="bg1"/>
                          </a:solidFill>
                        </a:rPr>
                        <a:t>Y</a:t>
                      </a:r>
                      <a:endParaRPr lang="en-SG" b="1" dirty="0">
                        <a:solidFill>
                          <a:schemeClr val="bg1"/>
                        </a:solidFill>
                      </a:endParaRPr>
                    </a:p>
                  </a:txBody>
                  <a:tcPr>
                    <a:solidFill>
                      <a:schemeClr val="tx1"/>
                    </a:solidFill>
                  </a:tcPr>
                </a:tc>
                <a:tc>
                  <a:txBody>
                    <a:bodyPr/>
                    <a:lstStyle/>
                    <a:p>
                      <a:endParaRPr lang="en-SG"/>
                    </a:p>
                  </a:txBody>
                  <a:tcPr/>
                </a:tc>
                <a:tc>
                  <a:txBody>
                    <a:bodyPr/>
                    <a:lstStyle/>
                    <a:p>
                      <a:endParaRPr lang="en-SG"/>
                    </a:p>
                  </a:txBody>
                  <a:tcPr/>
                </a:tc>
                <a:tc>
                  <a:txBody>
                    <a:bodyPr/>
                    <a:lstStyle/>
                    <a:p>
                      <a:endParaRPr lang="en-SG" dirty="0"/>
                    </a:p>
                  </a:txBody>
                  <a:tcPr/>
                </a:tc>
                <a:tc>
                  <a:txBody>
                    <a:bodyPr/>
                    <a:lstStyle/>
                    <a:p>
                      <a:r>
                        <a:rPr lang="en-GB" dirty="0"/>
                        <a:t>y</a:t>
                      </a:r>
                      <a:endParaRPr lang="en-SG" dirty="0"/>
                    </a:p>
                  </a:txBody>
                  <a:tcPr/>
                </a:tc>
                <a:extLst>
                  <a:ext uri="{0D108BD9-81ED-4DB2-BD59-A6C34878D82A}">
                    <a16:rowId xmlns:a16="http://schemas.microsoft.com/office/drawing/2014/main" val="3443027309"/>
                  </a:ext>
                </a:extLst>
              </a:tr>
            </a:tbl>
          </a:graphicData>
        </a:graphic>
      </p:graphicFrame>
    </p:spTree>
    <p:extLst>
      <p:ext uri="{BB962C8B-B14F-4D97-AF65-F5344CB8AC3E}">
        <p14:creationId xmlns:p14="http://schemas.microsoft.com/office/powerpoint/2010/main" val="2439782041"/>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DD6C6A-1154-FC8E-1C53-965F0CF3E3C7}"/>
              </a:ext>
            </a:extLst>
          </p:cNvPr>
          <p:cNvSpPr>
            <a:spLocks noGrp="1"/>
          </p:cNvSpPr>
          <p:nvPr>
            <p:ph type="title"/>
          </p:nvPr>
        </p:nvSpPr>
        <p:spPr/>
        <p:txBody>
          <a:bodyPr/>
          <a:lstStyle/>
          <a:p>
            <a:r>
              <a:rPr lang="en-GB" dirty="0"/>
              <a:t>Practice 4: LL(1) table with weird CFGs</a:t>
            </a:r>
            <a:endParaRPr lang="en-SG" dirty="0"/>
          </a:p>
        </p:txBody>
      </p:sp>
      <p:sp>
        <p:nvSpPr>
          <p:cNvPr id="3" name="Content Placeholder 2">
            <a:extLst>
              <a:ext uri="{FF2B5EF4-FFF2-40B4-BE49-F238E27FC236}">
                <a16:creationId xmlns:a16="http://schemas.microsoft.com/office/drawing/2014/main" id="{9DE790B0-6C09-28B5-E4FA-99CCB209CAAB}"/>
              </a:ext>
            </a:extLst>
          </p:cNvPr>
          <p:cNvSpPr>
            <a:spLocks noGrp="1"/>
          </p:cNvSpPr>
          <p:nvPr>
            <p:ph sz="half" idx="1"/>
          </p:nvPr>
        </p:nvSpPr>
        <p:spPr>
          <a:xfrm>
            <a:off x="838200" y="1825624"/>
            <a:ext cx="5181600" cy="5032375"/>
          </a:xfrm>
        </p:spPr>
        <p:txBody>
          <a:bodyPr>
            <a:normAutofit/>
          </a:bodyPr>
          <a:lstStyle/>
          <a:p>
            <a:pPr marL="0" indent="0">
              <a:buNone/>
            </a:pPr>
            <a:r>
              <a:rPr lang="en-GB" dirty="0"/>
              <a:t>Consider the second CFG below.</a:t>
            </a:r>
          </a:p>
          <a:p>
            <a:pPr marL="0" indent="0">
              <a:buNone/>
            </a:pPr>
            <a:r>
              <a:rPr lang="en-SG" dirty="0"/>
              <a:t>S </a:t>
            </a:r>
            <a:r>
              <a:rPr lang="en-SG" dirty="0">
                <a:sym typeface="Wingdings" panose="05000000000000000000" pitchFamily="2" charset="2"/>
              </a:rPr>
              <a:t></a:t>
            </a:r>
            <a:r>
              <a:rPr lang="en-SG" dirty="0"/>
              <a:t> Aa | Ab</a:t>
            </a:r>
          </a:p>
          <a:p>
            <a:pPr marL="0" indent="0">
              <a:buNone/>
            </a:pPr>
            <a:r>
              <a:rPr lang="en-SG" dirty="0"/>
              <a:t>A </a:t>
            </a:r>
            <a:r>
              <a:rPr lang="en-SG" dirty="0">
                <a:sym typeface="Wingdings" panose="05000000000000000000" pitchFamily="2" charset="2"/>
              </a:rPr>
              <a:t></a:t>
            </a:r>
            <a:r>
              <a:rPr lang="en-SG" dirty="0"/>
              <a:t> x | y</a:t>
            </a:r>
          </a:p>
          <a:p>
            <a:pPr marL="0" indent="0">
              <a:buNone/>
            </a:pPr>
            <a:endParaRPr lang="en-GB" b="1" dirty="0"/>
          </a:p>
          <a:p>
            <a:pPr marL="0" indent="0">
              <a:buNone/>
            </a:pPr>
            <a:r>
              <a:rPr lang="en-GB" b="1" dirty="0"/>
              <a:t>Question: </a:t>
            </a:r>
            <a:r>
              <a:rPr lang="en-GB" dirty="0"/>
              <a:t>Can you build the LL(1) parsing table for this CFG?</a:t>
            </a:r>
          </a:p>
          <a:p>
            <a:pPr marL="0" indent="0">
              <a:buNone/>
            </a:pPr>
            <a:r>
              <a:rPr lang="en-SG" dirty="0"/>
              <a:t>What appears in the T[</a:t>
            </a:r>
            <a:r>
              <a:rPr lang="en-SG" dirty="0" err="1"/>
              <a:t>S,x</a:t>
            </a:r>
            <a:r>
              <a:rPr lang="en-SG" dirty="0"/>
              <a:t>] cell?</a:t>
            </a:r>
          </a:p>
          <a:p>
            <a:pPr marL="0" indent="0">
              <a:buNone/>
            </a:pPr>
            <a:r>
              <a:rPr lang="en-SG" dirty="0"/>
              <a:t>Would that be acceptable for the LL(1) parser?</a:t>
            </a:r>
          </a:p>
          <a:p>
            <a:pPr marL="0" indent="0">
              <a:buNone/>
            </a:pPr>
            <a:endParaRPr lang="en-GB" b="1" dirty="0"/>
          </a:p>
        </p:txBody>
      </p:sp>
    </p:spTree>
    <p:extLst>
      <p:ext uri="{BB962C8B-B14F-4D97-AF65-F5344CB8AC3E}">
        <p14:creationId xmlns:p14="http://schemas.microsoft.com/office/powerpoint/2010/main" val="3333123758"/>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DD6C6A-1154-FC8E-1C53-965F0CF3E3C7}"/>
              </a:ext>
            </a:extLst>
          </p:cNvPr>
          <p:cNvSpPr>
            <a:spLocks noGrp="1"/>
          </p:cNvSpPr>
          <p:nvPr>
            <p:ph type="title"/>
          </p:nvPr>
        </p:nvSpPr>
        <p:spPr/>
        <p:txBody>
          <a:bodyPr/>
          <a:lstStyle/>
          <a:p>
            <a:r>
              <a:rPr lang="en-GB" dirty="0"/>
              <a:t>Practice 4: LL(1) table with weird CFGs</a:t>
            </a:r>
            <a:endParaRPr lang="en-SG" dirty="0"/>
          </a:p>
        </p:txBody>
      </p:sp>
      <p:sp>
        <p:nvSpPr>
          <p:cNvPr id="3" name="Content Placeholder 2">
            <a:extLst>
              <a:ext uri="{FF2B5EF4-FFF2-40B4-BE49-F238E27FC236}">
                <a16:creationId xmlns:a16="http://schemas.microsoft.com/office/drawing/2014/main" id="{9DE790B0-6C09-28B5-E4FA-99CCB209CAAB}"/>
              </a:ext>
            </a:extLst>
          </p:cNvPr>
          <p:cNvSpPr>
            <a:spLocks noGrp="1"/>
          </p:cNvSpPr>
          <p:nvPr>
            <p:ph sz="half" idx="1"/>
          </p:nvPr>
        </p:nvSpPr>
        <p:spPr>
          <a:xfrm>
            <a:off x="838200" y="1825624"/>
            <a:ext cx="5181600" cy="5032375"/>
          </a:xfrm>
        </p:spPr>
        <p:txBody>
          <a:bodyPr>
            <a:normAutofit/>
          </a:bodyPr>
          <a:lstStyle/>
          <a:p>
            <a:pPr marL="0" indent="0">
              <a:buNone/>
            </a:pPr>
            <a:r>
              <a:rPr lang="en-GB" dirty="0"/>
              <a:t>Consider the second CFG below.</a:t>
            </a:r>
          </a:p>
          <a:p>
            <a:pPr marL="0" indent="0">
              <a:buNone/>
            </a:pPr>
            <a:r>
              <a:rPr lang="en-SG" dirty="0"/>
              <a:t>S </a:t>
            </a:r>
            <a:r>
              <a:rPr lang="en-SG" dirty="0">
                <a:sym typeface="Wingdings" panose="05000000000000000000" pitchFamily="2" charset="2"/>
              </a:rPr>
              <a:t></a:t>
            </a:r>
            <a:r>
              <a:rPr lang="en-SG" dirty="0"/>
              <a:t> Aa | Ab</a:t>
            </a:r>
          </a:p>
          <a:p>
            <a:pPr marL="0" indent="0">
              <a:buNone/>
            </a:pPr>
            <a:r>
              <a:rPr lang="en-SG" dirty="0"/>
              <a:t>A </a:t>
            </a:r>
            <a:r>
              <a:rPr lang="en-SG" dirty="0">
                <a:sym typeface="Wingdings" panose="05000000000000000000" pitchFamily="2" charset="2"/>
              </a:rPr>
              <a:t></a:t>
            </a:r>
            <a:r>
              <a:rPr lang="en-SG" dirty="0"/>
              <a:t> x | y</a:t>
            </a:r>
          </a:p>
          <a:p>
            <a:pPr marL="0" indent="0">
              <a:buNone/>
            </a:pPr>
            <a:endParaRPr lang="en-GB" b="1" dirty="0"/>
          </a:p>
          <a:p>
            <a:pPr marL="0" indent="0">
              <a:buNone/>
            </a:pPr>
            <a:r>
              <a:rPr lang="en-GB" b="1" dirty="0"/>
              <a:t>Question: </a:t>
            </a:r>
            <a:r>
              <a:rPr lang="en-GB" dirty="0"/>
              <a:t>Can you build the LL(1) parsing table for this CFG?</a:t>
            </a:r>
          </a:p>
          <a:p>
            <a:pPr marL="0" indent="0">
              <a:buNone/>
            </a:pPr>
            <a:r>
              <a:rPr lang="en-SG" dirty="0"/>
              <a:t>What appears in the T[</a:t>
            </a:r>
            <a:r>
              <a:rPr lang="en-SG" dirty="0" err="1"/>
              <a:t>S,x</a:t>
            </a:r>
            <a:r>
              <a:rPr lang="en-SG" dirty="0"/>
              <a:t>] cell?</a:t>
            </a:r>
          </a:p>
          <a:p>
            <a:pPr marL="0" indent="0">
              <a:buNone/>
            </a:pPr>
            <a:r>
              <a:rPr lang="en-SG" dirty="0"/>
              <a:t>Would that be acceptable for the LL(1) parser?</a:t>
            </a:r>
          </a:p>
          <a:p>
            <a:pPr marL="0" indent="0">
              <a:buNone/>
            </a:pPr>
            <a:endParaRPr lang="en-GB" b="1" dirty="0"/>
          </a:p>
        </p:txBody>
      </p:sp>
      <p:sp>
        <p:nvSpPr>
          <p:cNvPr id="5" name="Content Placeholder 4">
            <a:extLst>
              <a:ext uri="{FF2B5EF4-FFF2-40B4-BE49-F238E27FC236}">
                <a16:creationId xmlns:a16="http://schemas.microsoft.com/office/drawing/2014/main" id="{75720A82-8B88-6667-93A9-47ACBCA8C5F1}"/>
              </a:ext>
            </a:extLst>
          </p:cNvPr>
          <p:cNvSpPr>
            <a:spLocks noGrp="1"/>
          </p:cNvSpPr>
          <p:nvPr>
            <p:ph sz="half" idx="2"/>
          </p:nvPr>
        </p:nvSpPr>
        <p:spPr>
          <a:xfrm>
            <a:off x="6172200" y="1825624"/>
            <a:ext cx="5181600" cy="5032375"/>
          </a:xfrm>
        </p:spPr>
        <p:txBody>
          <a:bodyPr>
            <a:normAutofit/>
          </a:bodyPr>
          <a:lstStyle/>
          <a:p>
            <a:pPr marL="0" indent="0">
              <a:buNone/>
            </a:pPr>
            <a:r>
              <a:rPr lang="en-GB" b="1" dirty="0"/>
              <a:t>Answer: </a:t>
            </a:r>
            <a:r>
              <a:rPr lang="en-GB" dirty="0"/>
              <a:t>In this CFG, </a:t>
            </a:r>
            <a:r>
              <a:rPr lang="en-SG" dirty="0"/>
              <a:t>we have the following LL(1) parsing table.</a:t>
            </a:r>
          </a:p>
          <a:p>
            <a:pPr marL="0" indent="0">
              <a:buNone/>
            </a:pPr>
            <a:endParaRPr lang="en-SG" dirty="0"/>
          </a:p>
          <a:p>
            <a:pPr marL="0" indent="0">
              <a:buNone/>
            </a:pPr>
            <a:endParaRPr lang="en-SG" dirty="0"/>
          </a:p>
          <a:p>
            <a:pPr marL="0" indent="0">
              <a:buNone/>
            </a:pPr>
            <a:endParaRPr lang="en-SG" dirty="0"/>
          </a:p>
          <a:p>
            <a:pPr marL="0" indent="0">
              <a:buNone/>
            </a:pPr>
            <a:endParaRPr lang="en-SG" dirty="0"/>
          </a:p>
          <a:p>
            <a:pPr marL="0" indent="0">
              <a:buNone/>
            </a:pPr>
            <a:endParaRPr lang="en-SG" dirty="0"/>
          </a:p>
          <a:p>
            <a:pPr marL="0" indent="0">
              <a:buNone/>
            </a:pPr>
            <a:r>
              <a:rPr lang="en-SG" dirty="0"/>
              <a:t>The table does not tell us much!</a:t>
            </a:r>
          </a:p>
          <a:p>
            <a:pPr marL="0" indent="0">
              <a:buNone/>
            </a:pPr>
            <a:endParaRPr lang="en-SG" dirty="0"/>
          </a:p>
        </p:txBody>
      </p:sp>
      <p:graphicFrame>
        <p:nvGraphicFramePr>
          <p:cNvPr id="4" name="Table 5">
            <a:extLst>
              <a:ext uri="{FF2B5EF4-FFF2-40B4-BE49-F238E27FC236}">
                <a16:creationId xmlns:a16="http://schemas.microsoft.com/office/drawing/2014/main" id="{3ED97B26-814C-DD7E-B54D-9EE01781CA84}"/>
              </a:ext>
            </a:extLst>
          </p:cNvPr>
          <p:cNvGraphicFramePr>
            <a:graphicFrameLocks noGrp="1"/>
          </p:cNvGraphicFramePr>
          <p:nvPr>
            <p:extLst>
              <p:ext uri="{D42A27DB-BD31-4B8C-83A1-F6EECF244321}">
                <p14:modId xmlns:p14="http://schemas.microsoft.com/office/powerpoint/2010/main" val="1575622896"/>
              </p:ext>
            </p:extLst>
          </p:nvPr>
        </p:nvGraphicFramePr>
        <p:xfrm>
          <a:off x="6353908" y="3009574"/>
          <a:ext cx="4126521" cy="1651000"/>
        </p:xfrm>
        <a:graphic>
          <a:graphicData uri="http://schemas.openxmlformats.org/drawingml/2006/table">
            <a:tbl>
              <a:tblPr firstRow="1" bandRow="1">
                <a:tableStyleId>{5202B0CA-FC54-4496-8BCA-5EF66A818D29}</a:tableStyleId>
              </a:tblPr>
              <a:tblGrid>
                <a:gridCol w="1375507">
                  <a:extLst>
                    <a:ext uri="{9D8B030D-6E8A-4147-A177-3AD203B41FA5}">
                      <a16:colId xmlns:a16="http://schemas.microsoft.com/office/drawing/2014/main" val="1051676313"/>
                    </a:ext>
                  </a:extLst>
                </a:gridCol>
                <a:gridCol w="1375507">
                  <a:extLst>
                    <a:ext uri="{9D8B030D-6E8A-4147-A177-3AD203B41FA5}">
                      <a16:colId xmlns:a16="http://schemas.microsoft.com/office/drawing/2014/main" val="600783999"/>
                    </a:ext>
                  </a:extLst>
                </a:gridCol>
                <a:gridCol w="1375507">
                  <a:extLst>
                    <a:ext uri="{9D8B030D-6E8A-4147-A177-3AD203B41FA5}">
                      <a16:colId xmlns:a16="http://schemas.microsoft.com/office/drawing/2014/main" val="73000253"/>
                    </a:ext>
                  </a:extLst>
                </a:gridCol>
              </a:tblGrid>
              <a:tr h="370840">
                <a:tc>
                  <a:txBody>
                    <a:bodyPr/>
                    <a:lstStyle/>
                    <a:p>
                      <a:endParaRPr lang="en-SG" dirty="0"/>
                    </a:p>
                  </a:txBody>
                  <a:tcPr>
                    <a:solidFill>
                      <a:schemeClr val="tx1"/>
                    </a:solidFill>
                  </a:tcPr>
                </a:tc>
                <a:tc>
                  <a:txBody>
                    <a:bodyPr/>
                    <a:lstStyle/>
                    <a:p>
                      <a:r>
                        <a:rPr lang="en-GB" dirty="0"/>
                        <a:t>x</a:t>
                      </a:r>
                      <a:endParaRPr lang="en-SG" dirty="0"/>
                    </a:p>
                  </a:txBody>
                  <a:tcPr/>
                </a:tc>
                <a:tc>
                  <a:txBody>
                    <a:bodyPr/>
                    <a:lstStyle/>
                    <a:p>
                      <a:r>
                        <a:rPr lang="en-GB" dirty="0"/>
                        <a:t>y</a:t>
                      </a:r>
                      <a:endParaRPr lang="en-SG" dirty="0"/>
                    </a:p>
                  </a:txBody>
                  <a:tcPr/>
                </a:tc>
                <a:extLst>
                  <a:ext uri="{0D108BD9-81ED-4DB2-BD59-A6C34878D82A}">
                    <a16:rowId xmlns:a16="http://schemas.microsoft.com/office/drawing/2014/main" val="2274059820"/>
                  </a:ext>
                </a:extLst>
              </a:tr>
              <a:tr h="370840">
                <a:tc>
                  <a:txBody>
                    <a:bodyPr/>
                    <a:lstStyle/>
                    <a:p>
                      <a:r>
                        <a:rPr lang="en-GB" b="1" dirty="0">
                          <a:solidFill>
                            <a:schemeClr val="bg1"/>
                          </a:solidFill>
                        </a:rPr>
                        <a:t>S</a:t>
                      </a:r>
                      <a:endParaRPr lang="en-SG" b="1" dirty="0">
                        <a:solidFill>
                          <a:schemeClr val="bg1"/>
                        </a:solidFill>
                      </a:endParaRPr>
                    </a:p>
                  </a:txBody>
                  <a:tcPr>
                    <a:solidFill>
                      <a:schemeClr val="tx1"/>
                    </a:solidFill>
                  </a:tcPr>
                </a:tc>
                <a:tc>
                  <a:txBody>
                    <a:bodyPr/>
                    <a:lstStyle/>
                    <a:p>
                      <a:r>
                        <a:rPr lang="en-GB" dirty="0">
                          <a:solidFill>
                            <a:schemeClr val="tx1"/>
                          </a:solidFill>
                        </a:rPr>
                        <a:t>Aa</a:t>
                      </a:r>
                    </a:p>
                    <a:p>
                      <a:r>
                        <a:rPr lang="en-GB" dirty="0">
                          <a:solidFill>
                            <a:schemeClr val="tx1"/>
                          </a:solidFill>
                        </a:rPr>
                        <a:t>Ab</a:t>
                      </a:r>
                      <a:endParaRPr lang="en-SG" dirty="0">
                        <a:solidFill>
                          <a:schemeClr val="tx1"/>
                        </a:solidFill>
                      </a:endParaRPr>
                    </a:p>
                  </a:txBody>
                  <a:tcPr/>
                </a:tc>
                <a:tc>
                  <a:txBody>
                    <a:bodyPr/>
                    <a:lstStyle/>
                    <a:p>
                      <a:r>
                        <a:rPr lang="en-GB" dirty="0">
                          <a:solidFill>
                            <a:schemeClr val="tx1"/>
                          </a:solidFill>
                        </a:rPr>
                        <a:t>Aa</a:t>
                      </a:r>
                    </a:p>
                    <a:p>
                      <a:r>
                        <a:rPr lang="en-GB" dirty="0">
                          <a:solidFill>
                            <a:schemeClr val="tx1"/>
                          </a:solidFill>
                        </a:rPr>
                        <a:t>Ab</a:t>
                      </a:r>
                      <a:endParaRPr lang="en-SG" dirty="0"/>
                    </a:p>
                  </a:txBody>
                  <a:tcPr/>
                </a:tc>
                <a:extLst>
                  <a:ext uri="{0D108BD9-81ED-4DB2-BD59-A6C34878D82A}">
                    <a16:rowId xmlns:a16="http://schemas.microsoft.com/office/drawing/2014/main" val="92846333"/>
                  </a:ext>
                </a:extLst>
              </a:tr>
              <a:tr h="370840">
                <a:tc>
                  <a:txBody>
                    <a:bodyPr/>
                    <a:lstStyle/>
                    <a:p>
                      <a:r>
                        <a:rPr lang="en-GB" b="1" dirty="0">
                          <a:solidFill>
                            <a:schemeClr val="bg1"/>
                          </a:solidFill>
                        </a:rPr>
                        <a:t>A</a:t>
                      </a:r>
                      <a:endParaRPr lang="en-SG" b="1" dirty="0">
                        <a:solidFill>
                          <a:schemeClr val="bg1"/>
                        </a:solidFill>
                      </a:endParaRPr>
                    </a:p>
                  </a:txBody>
                  <a:tcPr>
                    <a:solidFill>
                      <a:schemeClr val="tx1"/>
                    </a:solidFill>
                  </a:tcPr>
                </a:tc>
                <a:tc>
                  <a:txBody>
                    <a:bodyPr/>
                    <a:lstStyle/>
                    <a:p>
                      <a:r>
                        <a:rPr lang="en-GB" dirty="0">
                          <a:solidFill>
                            <a:schemeClr val="tx1"/>
                          </a:solidFill>
                        </a:rPr>
                        <a:t>x</a:t>
                      </a:r>
                    </a:p>
                    <a:p>
                      <a:endParaRPr lang="en-SG" dirty="0">
                        <a:solidFill>
                          <a:schemeClr val="tx1"/>
                        </a:solidFill>
                      </a:endParaRPr>
                    </a:p>
                  </a:txBody>
                  <a:tcPr/>
                </a:tc>
                <a:tc>
                  <a:txBody>
                    <a:bodyPr/>
                    <a:lstStyle/>
                    <a:p>
                      <a:r>
                        <a:rPr lang="en-GB">
                          <a:solidFill>
                            <a:schemeClr val="tx1"/>
                          </a:solidFill>
                        </a:rPr>
                        <a:t>y</a:t>
                      </a:r>
                      <a:endParaRPr lang="en-SG" dirty="0">
                        <a:solidFill>
                          <a:schemeClr val="tx1"/>
                        </a:solidFill>
                      </a:endParaRPr>
                    </a:p>
                  </a:txBody>
                  <a:tcPr/>
                </a:tc>
                <a:extLst>
                  <a:ext uri="{0D108BD9-81ED-4DB2-BD59-A6C34878D82A}">
                    <a16:rowId xmlns:a16="http://schemas.microsoft.com/office/drawing/2014/main" val="1286207357"/>
                  </a:ext>
                </a:extLst>
              </a:tr>
            </a:tbl>
          </a:graphicData>
        </a:graphic>
      </p:graphicFrame>
    </p:spTree>
    <p:extLst>
      <p:ext uri="{BB962C8B-B14F-4D97-AF65-F5344CB8AC3E}">
        <p14:creationId xmlns:p14="http://schemas.microsoft.com/office/powerpoint/2010/main" val="2295141318"/>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57839A-EFA0-9761-67A0-1562DA5D9912}"/>
              </a:ext>
            </a:extLst>
          </p:cNvPr>
          <p:cNvSpPr>
            <a:spLocks noGrp="1"/>
          </p:cNvSpPr>
          <p:nvPr>
            <p:ph type="title"/>
          </p:nvPr>
        </p:nvSpPr>
        <p:spPr/>
        <p:txBody>
          <a:bodyPr/>
          <a:lstStyle/>
          <a:p>
            <a:r>
              <a:rPr lang="en-GB" dirty="0"/>
              <a:t>FIRST-FIRST conflicts</a:t>
            </a:r>
            <a:endParaRPr lang="en-SG" dirty="0"/>
          </a:p>
        </p:txBody>
      </p:sp>
      <p:sp>
        <p:nvSpPr>
          <p:cNvPr id="5" name="Content Placeholder 4">
            <a:extLst>
              <a:ext uri="{FF2B5EF4-FFF2-40B4-BE49-F238E27FC236}">
                <a16:creationId xmlns:a16="http://schemas.microsoft.com/office/drawing/2014/main" id="{AD194C39-7C54-D6C2-DD87-233F392AA0AD}"/>
              </a:ext>
            </a:extLst>
          </p:cNvPr>
          <p:cNvSpPr>
            <a:spLocks noGrp="1"/>
          </p:cNvSpPr>
          <p:nvPr>
            <p:ph idx="1"/>
          </p:nvPr>
        </p:nvSpPr>
        <p:spPr>
          <a:xfrm>
            <a:off x="838199" y="1825625"/>
            <a:ext cx="11064631" cy="4351338"/>
          </a:xfrm>
        </p:spPr>
        <p:txBody>
          <a:bodyPr/>
          <a:lstStyle/>
          <a:p>
            <a:pPr marL="0" indent="0">
              <a:buNone/>
            </a:pPr>
            <a:r>
              <a:rPr lang="en-GB" dirty="0"/>
              <a:t>In general, we do not like having a CFG that produces multiple entries in a given LL(1) parsing table, as it would mean branches in the graph search…</a:t>
            </a:r>
          </a:p>
          <a:p>
            <a:pPr marL="0" indent="0">
              <a:buNone/>
            </a:pPr>
            <a:r>
              <a:rPr lang="en-GB" dirty="0"/>
              <a:t>This is commonly referred to as a FIRST-FIRST conflict, as many possible rules could be used for a given non-terminal and terminal pair.</a:t>
            </a:r>
          </a:p>
          <a:p>
            <a:pPr marL="0" indent="0">
              <a:buNone/>
            </a:pPr>
            <a:r>
              <a:rPr lang="en-GB" dirty="0"/>
              <a:t>This unfortunately leads to the LL(1) parser having to explore multiple branches and not being able to prune as much.</a:t>
            </a:r>
          </a:p>
          <a:p>
            <a:pPr marL="0" indent="0">
              <a:buNone/>
            </a:pPr>
            <a:endParaRPr lang="en-GB" dirty="0"/>
          </a:p>
          <a:p>
            <a:pPr marL="0" indent="0">
              <a:buNone/>
            </a:pPr>
            <a:endParaRPr lang="en-GB" dirty="0"/>
          </a:p>
          <a:p>
            <a:pPr marL="0" indent="0">
              <a:buNone/>
            </a:pPr>
            <a:endParaRPr lang="en-GB" dirty="0"/>
          </a:p>
          <a:p>
            <a:pPr marL="0" indent="0">
              <a:buNone/>
            </a:pPr>
            <a:endParaRPr lang="en-SG" dirty="0"/>
          </a:p>
        </p:txBody>
      </p:sp>
      <p:graphicFrame>
        <p:nvGraphicFramePr>
          <p:cNvPr id="6" name="Table 5">
            <a:extLst>
              <a:ext uri="{FF2B5EF4-FFF2-40B4-BE49-F238E27FC236}">
                <a16:creationId xmlns:a16="http://schemas.microsoft.com/office/drawing/2014/main" id="{7379B2F6-88A9-17E9-3F6A-6F480A277AAF}"/>
              </a:ext>
            </a:extLst>
          </p:cNvPr>
          <p:cNvGraphicFramePr>
            <a:graphicFrameLocks noGrp="1"/>
          </p:cNvGraphicFramePr>
          <p:nvPr>
            <p:extLst>
              <p:ext uri="{D42A27DB-BD31-4B8C-83A1-F6EECF244321}">
                <p14:modId xmlns:p14="http://schemas.microsoft.com/office/powerpoint/2010/main" val="1648168006"/>
              </p:ext>
            </p:extLst>
          </p:nvPr>
        </p:nvGraphicFramePr>
        <p:xfrm>
          <a:off x="4032739" y="4660900"/>
          <a:ext cx="4126521" cy="1651000"/>
        </p:xfrm>
        <a:graphic>
          <a:graphicData uri="http://schemas.openxmlformats.org/drawingml/2006/table">
            <a:tbl>
              <a:tblPr firstRow="1" bandRow="1">
                <a:tableStyleId>{5202B0CA-FC54-4496-8BCA-5EF66A818D29}</a:tableStyleId>
              </a:tblPr>
              <a:tblGrid>
                <a:gridCol w="1375507">
                  <a:extLst>
                    <a:ext uri="{9D8B030D-6E8A-4147-A177-3AD203B41FA5}">
                      <a16:colId xmlns:a16="http://schemas.microsoft.com/office/drawing/2014/main" val="1051676313"/>
                    </a:ext>
                  </a:extLst>
                </a:gridCol>
                <a:gridCol w="1375507">
                  <a:extLst>
                    <a:ext uri="{9D8B030D-6E8A-4147-A177-3AD203B41FA5}">
                      <a16:colId xmlns:a16="http://schemas.microsoft.com/office/drawing/2014/main" val="600783999"/>
                    </a:ext>
                  </a:extLst>
                </a:gridCol>
                <a:gridCol w="1375507">
                  <a:extLst>
                    <a:ext uri="{9D8B030D-6E8A-4147-A177-3AD203B41FA5}">
                      <a16:colId xmlns:a16="http://schemas.microsoft.com/office/drawing/2014/main" val="73000253"/>
                    </a:ext>
                  </a:extLst>
                </a:gridCol>
              </a:tblGrid>
              <a:tr h="370840">
                <a:tc>
                  <a:txBody>
                    <a:bodyPr/>
                    <a:lstStyle/>
                    <a:p>
                      <a:endParaRPr lang="en-SG" dirty="0"/>
                    </a:p>
                  </a:txBody>
                  <a:tcPr>
                    <a:solidFill>
                      <a:schemeClr val="tx1"/>
                    </a:solidFill>
                  </a:tcPr>
                </a:tc>
                <a:tc>
                  <a:txBody>
                    <a:bodyPr/>
                    <a:lstStyle/>
                    <a:p>
                      <a:r>
                        <a:rPr lang="en-GB" dirty="0"/>
                        <a:t>x</a:t>
                      </a:r>
                      <a:endParaRPr lang="en-SG" dirty="0"/>
                    </a:p>
                  </a:txBody>
                  <a:tcPr/>
                </a:tc>
                <a:tc>
                  <a:txBody>
                    <a:bodyPr/>
                    <a:lstStyle/>
                    <a:p>
                      <a:r>
                        <a:rPr lang="en-GB" dirty="0"/>
                        <a:t>y</a:t>
                      </a:r>
                      <a:endParaRPr lang="en-SG" dirty="0"/>
                    </a:p>
                  </a:txBody>
                  <a:tcPr/>
                </a:tc>
                <a:extLst>
                  <a:ext uri="{0D108BD9-81ED-4DB2-BD59-A6C34878D82A}">
                    <a16:rowId xmlns:a16="http://schemas.microsoft.com/office/drawing/2014/main" val="2274059820"/>
                  </a:ext>
                </a:extLst>
              </a:tr>
              <a:tr h="370840">
                <a:tc>
                  <a:txBody>
                    <a:bodyPr/>
                    <a:lstStyle/>
                    <a:p>
                      <a:r>
                        <a:rPr lang="en-GB" b="1" dirty="0">
                          <a:solidFill>
                            <a:schemeClr val="bg1"/>
                          </a:solidFill>
                        </a:rPr>
                        <a:t>S</a:t>
                      </a:r>
                      <a:endParaRPr lang="en-SG" b="1" dirty="0">
                        <a:solidFill>
                          <a:schemeClr val="bg1"/>
                        </a:solidFill>
                      </a:endParaRPr>
                    </a:p>
                  </a:txBody>
                  <a:tcPr>
                    <a:solidFill>
                      <a:schemeClr val="tx1"/>
                    </a:solidFill>
                  </a:tcPr>
                </a:tc>
                <a:tc>
                  <a:txBody>
                    <a:bodyPr/>
                    <a:lstStyle/>
                    <a:p>
                      <a:r>
                        <a:rPr lang="en-GB" dirty="0">
                          <a:solidFill>
                            <a:schemeClr val="tx1"/>
                          </a:solidFill>
                        </a:rPr>
                        <a:t>Aa</a:t>
                      </a:r>
                    </a:p>
                    <a:p>
                      <a:r>
                        <a:rPr lang="en-GB" dirty="0">
                          <a:solidFill>
                            <a:schemeClr val="tx1"/>
                          </a:solidFill>
                        </a:rPr>
                        <a:t>Ab</a:t>
                      </a:r>
                      <a:endParaRPr lang="en-SG" dirty="0">
                        <a:solidFill>
                          <a:schemeClr val="tx1"/>
                        </a:solidFill>
                      </a:endParaRPr>
                    </a:p>
                  </a:txBody>
                  <a:tcPr/>
                </a:tc>
                <a:tc>
                  <a:txBody>
                    <a:bodyPr/>
                    <a:lstStyle/>
                    <a:p>
                      <a:r>
                        <a:rPr lang="en-GB" dirty="0">
                          <a:solidFill>
                            <a:schemeClr val="tx1"/>
                          </a:solidFill>
                        </a:rPr>
                        <a:t>Aa</a:t>
                      </a:r>
                    </a:p>
                    <a:p>
                      <a:r>
                        <a:rPr lang="en-GB" dirty="0">
                          <a:solidFill>
                            <a:schemeClr val="tx1"/>
                          </a:solidFill>
                        </a:rPr>
                        <a:t>Ab</a:t>
                      </a:r>
                      <a:endParaRPr lang="en-SG" dirty="0"/>
                    </a:p>
                  </a:txBody>
                  <a:tcPr/>
                </a:tc>
                <a:extLst>
                  <a:ext uri="{0D108BD9-81ED-4DB2-BD59-A6C34878D82A}">
                    <a16:rowId xmlns:a16="http://schemas.microsoft.com/office/drawing/2014/main" val="92846333"/>
                  </a:ext>
                </a:extLst>
              </a:tr>
              <a:tr h="370840">
                <a:tc>
                  <a:txBody>
                    <a:bodyPr/>
                    <a:lstStyle/>
                    <a:p>
                      <a:r>
                        <a:rPr lang="en-GB" b="1" dirty="0">
                          <a:solidFill>
                            <a:schemeClr val="bg1"/>
                          </a:solidFill>
                        </a:rPr>
                        <a:t>A</a:t>
                      </a:r>
                      <a:endParaRPr lang="en-SG" b="1" dirty="0">
                        <a:solidFill>
                          <a:schemeClr val="bg1"/>
                        </a:solidFill>
                      </a:endParaRPr>
                    </a:p>
                  </a:txBody>
                  <a:tcPr>
                    <a:solidFill>
                      <a:schemeClr val="tx1"/>
                    </a:solidFill>
                  </a:tcPr>
                </a:tc>
                <a:tc>
                  <a:txBody>
                    <a:bodyPr/>
                    <a:lstStyle/>
                    <a:p>
                      <a:r>
                        <a:rPr lang="en-GB" dirty="0">
                          <a:solidFill>
                            <a:schemeClr val="tx1"/>
                          </a:solidFill>
                        </a:rPr>
                        <a:t>x</a:t>
                      </a:r>
                    </a:p>
                    <a:p>
                      <a:r>
                        <a:rPr lang="en-GB" dirty="0">
                          <a:solidFill>
                            <a:schemeClr val="tx1"/>
                          </a:solidFill>
                        </a:rPr>
                        <a:t>y</a:t>
                      </a:r>
                      <a:endParaRPr lang="en-SG" dirty="0">
                        <a:solidFill>
                          <a:schemeClr val="tx1"/>
                        </a:solidFill>
                      </a:endParaRPr>
                    </a:p>
                  </a:txBody>
                  <a:tcPr/>
                </a:tc>
                <a:tc>
                  <a:txBody>
                    <a:bodyPr/>
                    <a:lstStyle/>
                    <a:p>
                      <a:r>
                        <a:rPr lang="en-GB" dirty="0">
                          <a:solidFill>
                            <a:schemeClr val="tx1"/>
                          </a:solidFill>
                        </a:rPr>
                        <a:t>x</a:t>
                      </a:r>
                    </a:p>
                    <a:p>
                      <a:r>
                        <a:rPr lang="en-GB" dirty="0">
                          <a:solidFill>
                            <a:schemeClr val="tx1"/>
                          </a:solidFill>
                        </a:rPr>
                        <a:t>y</a:t>
                      </a:r>
                      <a:endParaRPr lang="en-SG" dirty="0">
                        <a:solidFill>
                          <a:schemeClr val="tx1"/>
                        </a:solidFill>
                      </a:endParaRPr>
                    </a:p>
                  </a:txBody>
                  <a:tcPr/>
                </a:tc>
                <a:extLst>
                  <a:ext uri="{0D108BD9-81ED-4DB2-BD59-A6C34878D82A}">
                    <a16:rowId xmlns:a16="http://schemas.microsoft.com/office/drawing/2014/main" val="1286207357"/>
                  </a:ext>
                </a:extLst>
              </a:tr>
            </a:tbl>
          </a:graphicData>
        </a:graphic>
      </p:graphicFrame>
    </p:spTree>
    <p:extLst>
      <p:ext uri="{BB962C8B-B14F-4D97-AF65-F5344CB8AC3E}">
        <p14:creationId xmlns:p14="http://schemas.microsoft.com/office/powerpoint/2010/main" val="1128377279"/>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57839A-EFA0-9761-67A0-1562DA5D9912}"/>
              </a:ext>
            </a:extLst>
          </p:cNvPr>
          <p:cNvSpPr>
            <a:spLocks noGrp="1"/>
          </p:cNvSpPr>
          <p:nvPr>
            <p:ph type="title"/>
          </p:nvPr>
        </p:nvSpPr>
        <p:spPr/>
        <p:txBody>
          <a:bodyPr/>
          <a:lstStyle/>
          <a:p>
            <a:r>
              <a:rPr lang="en-GB" dirty="0"/>
              <a:t>FIRST-FIRST conflicts</a:t>
            </a:r>
            <a:endParaRPr lang="en-SG" dirty="0"/>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AD194C39-7C54-D6C2-DD87-233F392AA0AD}"/>
                  </a:ext>
                </a:extLst>
              </p:cNvPr>
              <p:cNvSpPr>
                <a:spLocks noGrp="1"/>
              </p:cNvSpPr>
              <p:nvPr>
                <p:ph idx="1"/>
              </p:nvPr>
            </p:nvSpPr>
            <p:spPr/>
            <p:txBody>
              <a:bodyPr/>
              <a:lstStyle/>
              <a:p>
                <a:pPr marL="0" indent="0">
                  <a:buNone/>
                </a:pPr>
                <a:r>
                  <a:rPr lang="en-GB" dirty="0"/>
                  <a:t>This might become especially true in the cases of CFGs with</a:t>
                </a:r>
                <a:br>
                  <a:rPr lang="en-GB" dirty="0"/>
                </a:br>
                <a14:m>
                  <m:oMath xmlns:m="http://schemas.openxmlformats.org/officeDocument/2006/math">
                    <m:r>
                      <a:rPr lang="en-GB" b="0" i="1" smtClean="0">
                        <a:latin typeface="Cambria Math" panose="02040503050406030204" pitchFamily="18" charset="0"/>
                      </a:rPr>
                      <m:t>𝜖</m:t>
                    </m:r>
                  </m:oMath>
                </a14:m>
                <a:r>
                  <a:rPr lang="en-GB" dirty="0"/>
                  <a:t>-productions.</a:t>
                </a:r>
              </a:p>
              <a:p>
                <a:pPr marL="0" indent="0">
                  <a:buNone/>
                </a:pPr>
                <a:r>
                  <a:rPr lang="en-GB" dirty="0"/>
                  <a:t>When a production appears, a non-terminal symbol might disappear and let another non-terminal symbol appear in its place, as was the case in Practice 3. This is called a FIRST-FIRST conflict.</a:t>
                </a:r>
              </a:p>
              <a:p>
                <a:pPr marL="0" indent="0">
                  <a:buNone/>
                </a:pPr>
                <a:endParaRPr lang="en-GB" dirty="0"/>
              </a:p>
              <a:p>
                <a:pPr marL="0" indent="0">
                  <a:buNone/>
                </a:pPr>
                <a:endParaRPr lang="en-GB" dirty="0"/>
              </a:p>
              <a:p>
                <a:pPr marL="0" indent="0">
                  <a:buNone/>
                </a:pPr>
                <a:endParaRPr lang="en-GB" dirty="0"/>
              </a:p>
              <a:p>
                <a:pPr marL="0" indent="0">
                  <a:buNone/>
                </a:pPr>
                <a:endParaRPr lang="en-SG" dirty="0"/>
              </a:p>
            </p:txBody>
          </p:sp>
        </mc:Choice>
        <mc:Fallback xmlns="">
          <p:sp>
            <p:nvSpPr>
              <p:cNvPr id="5" name="Content Placeholder 4">
                <a:extLst>
                  <a:ext uri="{FF2B5EF4-FFF2-40B4-BE49-F238E27FC236}">
                    <a16:creationId xmlns:a16="http://schemas.microsoft.com/office/drawing/2014/main" id="{AD194C39-7C54-D6C2-DD87-233F392AA0AD}"/>
                  </a:ext>
                </a:extLst>
              </p:cNvPr>
              <p:cNvSpPr>
                <a:spLocks noGrp="1" noRot="1" noChangeAspect="1" noMove="1" noResize="1" noEditPoints="1" noAdjustHandles="1" noChangeArrowheads="1" noChangeShapeType="1" noTextEdit="1"/>
              </p:cNvSpPr>
              <p:nvPr>
                <p:ph idx="1"/>
              </p:nvPr>
            </p:nvSpPr>
            <p:spPr>
              <a:blipFill>
                <a:blip r:embed="rId2"/>
                <a:stretch>
                  <a:fillRect l="-1217" t="-2241"/>
                </a:stretch>
              </a:blipFill>
            </p:spPr>
            <p:txBody>
              <a:bodyPr/>
              <a:lstStyle/>
              <a:p>
                <a:r>
                  <a:rPr lang="en-GB">
                    <a:noFill/>
                  </a:rPr>
                  <a:t> </a:t>
                </a:r>
              </a:p>
            </p:txBody>
          </p:sp>
        </mc:Fallback>
      </mc:AlternateContent>
    </p:spTree>
    <p:extLst>
      <p:ext uri="{BB962C8B-B14F-4D97-AF65-F5344CB8AC3E}">
        <p14:creationId xmlns:p14="http://schemas.microsoft.com/office/powerpoint/2010/main" val="1541073985"/>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DD6C6A-1154-FC8E-1C53-965F0CF3E3C7}"/>
              </a:ext>
            </a:extLst>
          </p:cNvPr>
          <p:cNvSpPr>
            <a:spLocks noGrp="1"/>
          </p:cNvSpPr>
          <p:nvPr>
            <p:ph type="title"/>
          </p:nvPr>
        </p:nvSpPr>
        <p:spPr/>
        <p:txBody>
          <a:bodyPr/>
          <a:lstStyle/>
          <a:p>
            <a:r>
              <a:rPr lang="en-GB" dirty="0"/>
              <a:t>Practice 3: computing FIRST sets for a CFG</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DE790B0-6C09-28B5-E4FA-99CCB209CAAB}"/>
                  </a:ext>
                </a:extLst>
              </p:cNvPr>
              <p:cNvSpPr>
                <a:spLocks noGrp="1"/>
              </p:cNvSpPr>
              <p:nvPr>
                <p:ph sz="half" idx="1"/>
              </p:nvPr>
            </p:nvSpPr>
            <p:spPr>
              <a:xfrm>
                <a:off x="838200" y="1825624"/>
                <a:ext cx="5181600" cy="5032375"/>
              </a:xfrm>
            </p:spPr>
            <p:txBody>
              <a:bodyPr>
                <a:normAutofit/>
              </a:bodyPr>
              <a:lstStyle/>
              <a:p>
                <a:pPr marL="0" indent="0">
                  <a:buNone/>
                </a:pPr>
                <a:r>
                  <a:rPr lang="en-GB" dirty="0"/>
                  <a:t>Consider the second CFG below.</a:t>
                </a:r>
              </a:p>
              <a:p>
                <a:pPr marL="0" indent="0">
                  <a:buNone/>
                </a:pPr>
                <a:r>
                  <a:rPr lang="en-SG" dirty="0"/>
                  <a:t>S </a:t>
                </a:r>
                <a:r>
                  <a:rPr lang="en-SG" dirty="0">
                    <a:sym typeface="Wingdings" panose="05000000000000000000" pitchFamily="2" charset="2"/>
                  </a:rPr>
                  <a:t></a:t>
                </a:r>
                <a:r>
                  <a:rPr lang="en-SG" dirty="0"/>
                  <a:t> ACB</a:t>
                </a:r>
              </a:p>
              <a:p>
                <a:pPr marL="0" indent="0">
                  <a:buNone/>
                </a:pPr>
                <a:r>
                  <a:rPr lang="en-SG" dirty="0"/>
                  <a:t>A </a:t>
                </a:r>
                <a:r>
                  <a:rPr lang="en-SG" dirty="0">
                    <a:sym typeface="Wingdings" panose="05000000000000000000" pitchFamily="2" charset="2"/>
                  </a:rPr>
                  <a:t></a:t>
                </a:r>
                <a:r>
                  <a:rPr lang="en-SG" dirty="0"/>
                  <a:t> a | </a:t>
                </a:r>
                <a:r>
                  <a:rPr lang="en-GB" dirty="0"/>
                  <a:t>B | </a:t>
                </a:r>
                <a14:m>
                  <m:oMath xmlns:m="http://schemas.openxmlformats.org/officeDocument/2006/math">
                    <m:r>
                      <a:rPr lang="en-GB" b="0" i="1" smtClean="0">
                        <a:latin typeface="Cambria Math" panose="02040503050406030204" pitchFamily="18" charset="0"/>
                      </a:rPr>
                      <m:t>𝜖</m:t>
                    </m:r>
                  </m:oMath>
                </a14:m>
                <a:endParaRPr lang="el-GR" dirty="0"/>
              </a:p>
              <a:p>
                <a:pPr marL="0" indent="0">
                  <a:buNone/>
                </a:pPr>
                <a:r>
                  <a:rPr lang="en-SG" dirty="0"/>
                  <a:t>B </a:t>
                </a:r>
                <a:r>
                  <a:rPr lang="en-SG" dirty="0">
                    <a:sym typeface="Wingdings" panose="05000000000000000000" pitchFamily="2" charset="2"/>
                  </a:rPr>
                  <a:t></a:t>
                </a:r>
                <a:r>
                  <a:rPr lang="en-SG" dirty="0"/>
                  <a:t> b</a:t>
                </a:r>
              </a:p>
              <a:p>
                <a:pPr marL="0" indent="0">
                  <a:buNone/>
                </a:pPr>
                <a:r>
                  <a:rPr lang="en-SG" dirty="0"/>
                  <a:t>C </a:t>
                </a:r>
                <a:r>
                  <a:rPr lang="en-SG" dirty="0">
                    <a:sym typeface="Wingdings" panose="05000000000000000000" pitchFamily="2" charset="2"/>
                  </a:rPr>
                  <a:t> c | d</a:t>
                </a:r>
                <a:endParaRPr lang="en-GB" b="1" dirty="0"/>
              </a:p>
              <a:p>
                <a:pPr marL="0" indent="0">
                  <a:buNone/>
                </a:pPr>
                <a:r>
                  <a:rPr lang="en-GB" b="1" dirty="0"/>
                  <a:t>Note: </a:t>
                </a:r>
                <a:r>
                  <a:rPr lang="en-GB" dirty="0"/>
                  <a:t>here </a:t>
                </a:r>
                <a14:m>
                  <m:oMath xmlns:m="http://schemas.openxmlformats.org/officeDocument/2006/math">
                    <m:r>
                      <a:rPr lang="en-GB" b="0" i="1" smtClean="0">
                        <a:latin typeface="Cambria Math" panose="02040503050406030204" pitchFamily="18" charset="0"/>
                      </a:rPr>
                      <m:t>𝜖</m:t>
                    </m:r>
                  </m:oMath>
                </a14:m>
                <a:r>
                  <a:rPr lang="en-SG" dirty="0"/>
                  <a:t> denotes the empty string, meaning that A could be replaced with nothing.</a:t>
                </a:r>
              </a:p>
              <a:p>
                <a:pPr marL="0" indent="0">
                  <a:buNone/>
                </a:pPr>
                <a:r>
                  <a:rPr lang="en-SG" b="1" dirty="0">
                    <a:solidFill>
                      <a:srgbClr val="C00000"/>
                    </a:solidFill>
                  </a:rPr>
                  <a:t>In general, using </a:t>
                </a:r>
                <a14:m>
                  <m:oMath xmlns:m="http://schemas.openxmlformats.org/officeDocument/2006/math">
                    <m:r>
                      <a:rPr lang="en-GB" b="1" i="1" smtClean="0">
                        <a:solidFill>
                          <a:srgbClr val="C00000"/>
                        </a:solidFill>
                        <a:latin typeface="Cambria Math" panose="02040503050406030204" pitchFamily="18" charset="0"/>
                      </a:rPr>
                      <m:t>𝝐</m:t>
                    </m:r>
                  </m:oMath>
                </a14:m>
                <a:r>
                  <a:rPr lang="en-SG" b="1" dirty="0">
                    <a:solidFill>
                      <a:srgbClr val="C00000"/>
                    </a:solidFill>
                  </a:rPr>
                  <a:t> in a CFG makes things much more difficult.</a:t>
                </a:r>
              </a:p>
            </p:txBody>
          </p:sp>
        </mc:Choice>
        <mc:Fallback xmlns="">
          <p:sp>
            <p:nvSpPr>
              <p:cNvPr id="3" name="Content Placeholder 2">
                <a:extLst>
                  <a:ext uri="{FF2B5EF4-FFF2-40B4-BE49-F238E27FC236}">
                    <a16:creationId xmlns:a16="http://schemas.microsoft.com/office/drawing/2014/main" id="{9DE790B0-6C09-28B5-E4FA-99CCB209CAAB}"/>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3"/>
                <a:stretch>
                  <a:fillRect l="-2471" t="-1937" r="-3412"/>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75720A82-8B88-6667-93A9-47ACBCA8C5F1}"/>
                  </a:ext>
                </a:extLst>
              </p:cNvPr>
              <p:cNvSpPr>
                <a:spLocks noGrp="1"/>
              </p:cNvSpPr>
              <p:nvPr>
                <p:ph sz="half" idx="2"/>
              </p:nvPr>
            </p:nvSpPr>
            <p:spPr>
              <a:xfrm>
                <a:off x="6172200" y="1825624"/>
                <a:ext cx="5863492" cy="5032375"/>
              </a:xfrm>
            </p:spPr>
            <p:txBody>
              <a:bodyPr>
                <a:normAutofit/>
              </a:bodyPr>
              <a:lstStyle/>
              <a:p>
                <a:pPr marL="0" indent="0">
                  <a:buNone/>
                </a:pPr>
                <a:r>
                  <a:rPr lang="en-GB" b="1" dirty="0"/>
                  <a:t>Question: </a:t>
                </a:r>
                <a:r>
                  <a:rPr lang="en-GB" dirty="0"/>
                  <a:t>Looking at the CFG on the left, what are </a:t>
                </a:r>
                <a14:m>
                  <m:oMath xmlns:m="http://schemas.openxmlformats.org/officeDocument/2006/math">
                    <m:r>
                      <a:rPr lang="en-GB" i="1" dirty="0" smtClean="0">
                        <a:latin typeface="Cambria Math" panose="02040503050406030204" pitchFamily="18" charset="0"/>
                      </a:rPr>
                      <m:t>𝐹</m:t>
                    </m:r>
                    <m:r>
                      <a:rPr lang="en-GB" i="1" dirty="0" smtClean="0">
                        <a:latin typeface="Cambria Math" panose="02040503050406030204" pitchFamily="18" charset="0"/>
                      </a:rPr>
                      <m:t>(</m:t>
                    </m:r>
                    <m:r>
                      <a:rPr lang="en-GB" i="1" dirty="0" smtClean="0">
                        <a:latin typeface="Cambria Math" panose="02040503050406030204" pitchFamily="18" charset="0"/>
                      </a:rPr>
                      <m:t>𝐴</m:t>
                    </m:r>
                    <m:r>
                      <a:rPr lang="en-GB" i="1" dirty="0" smtClean="0">
                        <a:latin typeface="Cambria Math" panose="02040503050406030204" pitchFamily="18" charset="0"/>
                      </a:rPr>
                      <m:t>) </m:t>
                    </m:r>
                  </m:oMath>
                </a14:m>
                <a:r>
                  <a:rPr lang="en-GB" dirty="0"/>
                  <a:t>and </a:t>
                </a:r>
                <a14:m>
                  <m:oMath xmlns:m="http://schemas.openxmlformats.org/officeDocument/2006/math">
                    <m:r>
                      <a:rPr lang="en-GB" i="1" dirty="0" smtClean="0">
                        <a:latin typeface="Cambria Math" panose="02040503050406030204" pitchFamily="18" charset="0"/>
                      </a:rPr>
                      <m:t>𝐹</m:t>
                    </m:r>
                    <m:r>
                      <a:rPr lang="en-GB" i="1" dirty="0" smtClean="0">
                        <a:latin typeface="Cambria Math" panose="02040503050406030204" pitchFamily="18" charset="0"/>
                      </a:rPr>
                      <m:t>(</m:t>
                    </m:r>
                    <m:r>
                      <a:rPr lang="en-GB" i="1" dirty="0" smtClean="0">
                        <a:latin typeface="Cambria Math" panose="02040503050406030204" pitchFamily="18" charset="0"/>
                      </a:rPr>
                      <m:t>𝑆</m:t>
                    </m:r>
                    <m:r>
                      <a:rPr lang="en-GB" i="1" dirty="0" smtClean="0">
                        <a:latin typeface="Cambria Math" panose="02040503050406030204" pitchFamily="18" charset="0"/>
                      </a:rPr>
                      <m:t>)</m:t>
                    </m:r>
                  </m:oMath>
                </a14:m>
                <a:r>
                  <a:rPr lang="en-GB" dirty="0"/>
                  <a:t>?</a:t>
                </a:r>
              </a:p>
              <a:p>
                <a:pPr marL="0" indent="0">
                  <a:buNone/>
                </a:pPr>
                <a:r>
                  <a:rPr lang="en-GB" b="1" dirty="0"/>
                  <a:t>Answer: </a:t>
                </a:r>
                <a:r>
                  <a:rPr lang="en-GB" dirty="0"/>
                  <a:t>The </a:t>
                </a:r>
                <a14:m>
                  <m:oMath xmlns:m="http://schemas.openxmlformats.org/officeDocument/2006/math">
                    <m:r>
                      <a:rPr lang="en-GB" b="0" i="1" smtClean="0">
                        <a:latin typeface="Cambria Math" panose="02040503050406030204" pitchFamily="18" charset="0"/>
                      </a:rPr>
                      <m:t>𝜖</m:t>
                    </m:r>
                    <m:r>
                      <a:rPr lang="en-GB" b="0" i="1" smtClean="0">
                        <a:latin typeface="Cambria Math" panose="02040503050406030204" pitchFamily="18" charset="0"/>
                      </a:rPr>
                      <m:t> </m:t>
                    </m:r>
                  </m:oMath>
                </a14:m>
                <a:r>
                  <a:rPr lang="en-GB" dirty="0"/>
                  <a:t>makes it trickier.</a:t>
                </a:r>
              </a:p>
              <a:p>
                <a:pPr marL="0" indent="0">
                  <a:buNone/>
                </a:pPr>
                <a:r>
                  <a:rPr lang="en-GB" dirty="0"/>
                  <a:t>We have</a:t>
                </a: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𝐹</m:t>
                      </m:r>
                      <m:d>
                        <m:dPr>
                          <m:ctrlPr>
                            <a:rPr lang="en-GB" b="0" i="1" smtClean="0">
                              <a:latin typeface="Cambria Math" panose="02040503050406030204" pitchFamily="18" charset="0"/>
                            </a:rPr>
                          </m:ctrlPr>
                        </m:dPr>
                        <m:e>
                          <m:r>
                            <a:rPr lang="en-GB" b="0" i="1" smtClean="0">
                              <a:latin typeface="Cambria Math" panose="02040503050406030204" pitchFamily="18" charset="0"/>
                            </a:rPr>
                            <m:t>𝐴</m:t>
                          </m:r>
                        </m:e>
                      </m:d>
                      <m:r>
                        <a:rPr lang="en-GB" b="0" i="1" smtClean="0">
                          <a:latin typeface="Cambria Math" panose="02040503050406030204" pitchFamily="18" charset="0"/>
                        </a:rPr>
                        <m:t>=</m:t>
                      </m:r>
                      <m:d>
                        <m:dPr>
                          <m:begChr m:val="{"/>
                          <m:endChr m:val="}"/>
                          <m:ctrlPr>
                            <a:rPr lang="en-GB" b="0" i="1" smtClean="0">
                              <a:latin typeface="Cambria Math" panose="02040503050406030204" pitchFamily="18" charset="0"/>
                            </a:rPr>
                          </m:ctrlPr>
                        </m:dPr>
                        <m:e>
                          <m:r>
                            <a:rPr lang="en-GB" b="0" i="1" smtClean="0">
                              <a:latin typeface="Cambria Math" panose="02040503050406030204" pitchFamily="18" charset="0"/>
                            </a:rPr>
                            <m:t>𝑎</m:t>
                          </m:r>
                          <m:r>
                            <a:rPr lang="en-GB" b="0" i="1" smtClean="0">
                              <a:latin typeface="Cambria Math" panose="02040503050406030204" pitchFamily="18" charset="0"/>
                            </a:rPr>
                            <m:t>, </m:t>
                          </m:r>
                          <m:r>
                            <a:rPr lang="en-GB" b="0" i="1" smtClean="0">
                              <a:latin typeface="Cambria Math" panose="02040503050406030204" pitchFamily="18" charset="0"/>
                            </a:rPr>
                            <m:t>𝜖</m:t>
                          </m:r>
                        </m:e>
                      </m:d>
                      <m:r>
                        <a:rPr lang="en-GB" b="0" i="1" smtClean="0">
                          <a:latin typeface="Cambria Math" panose="02040503050406030204" pitchFamily="18" charset="0"/>
                        </a:rPr>
                        <m:t> </m:t>
                      </m:r>
                      <m:r>
                        <a:rPr lang="en-GB" b="0" i="1" smtClean="0">
                          <a:latin typeface="Cambria Math" panose="02040503050406030204" pitchFamily="18" charset="0"/>
                          <a:ea typeface="Cambria Math" panose="02040503050406030204" pitchFamily="18" charset="0"/>
                        </a:rPr>
                        <m:t>∪</m:t>
                      </m:r>
                      <m:r>
                        <a:rPr lang="en-GB" b="0" i="1" smtClean="0">
                          <a:latin typeface="Cambria Math" panose="02040503050406030204" pitchFamily="18" charset="0"/>
                          <a:ea typeface="Cambria Math" panose="02040503050406030204" pitchFamily="18" charset="0"/>
                        </a:rPr>
                        <m:t>𝐹</m:t>
                      </m:r>
                      <m:d>
                        <m:dPr>
                          <m:ctrlPr>
                            <a:rPr lang="en-GB" b="0" i="1" smtClean="0">
                              <a:latin typeface="Cambria Math" panose="02040503050406030204" pitchFamily="18" charset="0"/>
                              <a:ea typeface="Cambria Math" panose="02040503050406030204" pitchFamily="18" charset="0"/>
                            </a:rPr>
                          </m:ctrlPr>
                        </m:dPr>
                        <m:e>
                          <m:r>
                            <a:rPr lang="en-GB" b="0" i="1" smtClean="0">
                              <a:latin typeface="Cambria Math" panose="02040503050406030204" pitchFamily="18" charset="0"/>
                              <a:ea typeface="Cambria Math" panose="02040503050406030204" pitchFamily="18" charset="0"/>
                            </a:rPr>
                            <m:t>𝐵</m:t>
                          </m:r>
                        </m:e>
                      </m:d>
                      <m:r>
                        <a:rPr lang="en-GB" b="0" i="1" smtClean="0">
                          <a:latin typeface="Cambria Math" panose="02040503050406030204" pitchFamily="18" charset="0"/>
                        </a:rPr>
                        <m:t>={</m:t>
                      </m:r>
                      <m:r>
                        <a:rPr lang="en-GB" b="0" i="1" smtClean="0">
                          <a:latin typeface="Cambria Math" panose="02040503050406030204" pitchFamily="18" charset="0"/>
                        </a:rPr>
                        <m:t>𝑎</m:t>
                      </m:r>
                      <m:r>
                        <a:rPr lang="en-GB" b="0" i="1" smtClean="0">
                          <a:latin typeface="Cambria Math" panose="02040503050406030204" pitchFamily="18" charset="0"/>
                        </a:rPr>
                        <m:t>,</m:t>
                      </m:r>
                      <m:r>
                        <a:rPr lang="en-GB" b="0" i="1" smtClean="0">
                          <a:latin typeface="Cambria Math" panose="02040503050406030204" pitchFamily="18" charset="0"/>
                        </a:rPr>
                        <m:t>𝑏</m:t>
                      </m:r>
                      <m:r>
                        <a:rPr lang="en-GB" b="0" i="1" smtClean="0">
                          <a:latin typeface="Cambria Math" panose="02040503050406030204" pitchFamily="18" charset="0"/>
                        </a:rPr>
                        <m:t>,</m:t>
                      </m:r>
                      <m:r>
                        <a:rPr lang="en-GB" b="0" i="1" smtClean="0">
                          <a:latin typeface="Cambria Math" panose="02040503050406030204" pitchFamily="18" charset="0"/>
                        </a:rPr>
                        <m:t>𝜖</m:t>
                      </m:r>
                      <m:r>
                        <a:rPr lang="en-GB" b="0" i="1" smtClean="0">
                          <a:latin typeface="Cambria Math" panose="02040503050406030204" pitchFamily="18" charset="0"/>
                        </a:rPr>
                        <m:t>}</m:t>
                      </m:r>
                    </m:oMath>
                  </m:oMathPara>
                </a14:m>
                <a:endParaRPr lang="en-GB" dirty="0"/>
              </a:p>
              <a:p>
                <a:pPr marL="0" indent="0">
                  <a:buNone/>
                </a:pPr>
                <a:r>
                  <a:rPr lang="en-GB" dirty="0"/>
                  <a:t>The FIRST set for </a:t>
                </a:r>
                <a14:m>
                  <m:oMath xmlns:m="http://schemas.openxmlformats.org/officeDocument/2006/math">
                    <m:r>
                      <a:rPr lang="en-GB" i="1" dirty="0" smtClean="0">
                        <a:latin typeface="Cambria Math" panose="02040503050406030204" pitchFamily="18" charset="0"/>
                      </a:rPr>
                      <m:t>𝑆</m:t>
                    </m:r>
                  </m:oMath>
                </a14:m>
                <a:r>
                  <a:rPr lang="en-GB" dirty="0"/>
                  <a:t> is a bit awkward to build, but could we do… </a:t>
                </a: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𝐹</m:t>
                      </m:r>
                      <m:d>
                        <m:dPr>
                          <m:ctrlPr>
                            <a:rPr lang="en-GB" b="0" i="1" smtClean="0">
                              <a:latin typeface="Cambria Math" panose="02040503050406030204" pitchFamily="18" charset="0"/>
                            </a:rPr>
                          </m:ctrlPr>
                        </m:dPr>
                        <m:e>
                          <m:r>
                            <a:rPr lang="en-GB" b="0" i="1" smtClean="0">
                              <a:latin typeface="Cambria Math" panose="02040503050406030204" pitchFamily="18" charset="0"/>
                            </a:rPr>
                            <m:t>𝑆</m:t>
                          </m:r>
                        </m:e>
                      </m:d>
                      <m:r>
                        <a:rPr lang="en-GB" b="0" i="1" smtClean="0">
                          <a:solidFill>
                            <a:srgbClr val="FF0000"/>
                          </a:solidFill>
                          <a:latin typeface="Cambria Math" panose="02040503050406030204" pitchFamily="18" charset="0"/>
                        </a:rPr>
                        <m:t>=</m:t>
                      </m:r>
                      <m:r>
                        <a:rPr lang="en-GB" b="0" i="1" smtClean="0">
                          <a:latin typeface="Cambria Math" panose="02040503050406030204" pitchFamily="18" charset="0"/>
                        </a:rPr>
                        <m:t>𝐹</m:t>
                      </m:r>
                      <m:d>
                        <m:dPr>
                          <m:ctrlPr>
                            <a:rPr lang="en-GB" b="0" i="1" smtClean="0">
                              <a:latin typeface="Cambria Math" panose="02040503050406030204" pitchFamily="18" charset="0"/>
                            </a:rPr>
                          </m:ctrlPr>
                        </m:dPr>
                        <m:e>
                          <m:r>
                            <a:rPr lang="en-GB" b="0" i="1" smtClean="0">
                              <a:latin typeface="Cambria Math" panose="02040503050406030204" pitchFamily="18" charset="0"/>
                            </a:rPr>
                            <m:t>𝑎</m:t>
                          </m:r>
                        </m:e>
                      </m:d>
                      <m:r>
                        <a:rPr lang="en-GB" i="1">
                          <a:latin typeface="Cambria Math" panose="02040503050406030204" pitchFamily="18" charset="0"/>
                          <a:ea typeface="Cambria Math" panose="02040503050406030204" pitchFamily="18" charset="0"/>
                        </a:rPr>
                        <m:t>∪</m:t>
                      </m:r>
                      <m:r>
                        <a:rPr lang="en-GB" b="0" i="1" smtClean="0">
                          <a:latin typeface="Cambria Math" panose="02040503050406030204" pitchFamily="18" charset="0"/>
                          <a:ea typeface="Cambria Math" panose="02040503050406030204" pitchFamily="18" charset="0"/>
                        </a:rPr>
                        <m:t>𝐹</m:t>
                      </m:r>
                      <m:r>
                        <a:rPr lang="en-GB" b="0" i="1" smtClean="0">
                          <a:latin typeface="Cambria Math" panose="02040503050406030204" pitchFamily="18" charset="0"/>
                          <a:ea typeface="Cambria Math" panose="02040503050406030204" pitchFamily="18" charset="0"/>
                        </a:rPr>
                        <m:t>(</m:t>
                      </m:r>
                      <m:r>
                        <a:rPr lang="en-GB" b="0" i="1" smtClean="0">
                          <a:latin typeface="Cambria Math" panose="02040503050406030204" pitchFamily="18" charset="0"/>
                          <a:ea typeface="Cambria Math" panose="02040503050406030204" pitchFamily="18" charset="0"/>
                        </a:rPr>
                        <m:t>𝐵</m:t>
                      </m:r>
                      <m:r>
                        <a:rPr lang="en-GB" b="0" i="1" smtClean="0">
                          <a:latin typeface="Cambria Math" panose="02040503050406030204" pitchFamily="18" charset="0"/>
                          <a:ea typeface="Cambria Math" panose="02040503050406030204" pitchFamily="18" charset="0"/>
                        </a:rPr>
                        <m:t>)∪</m:t>
                      </m:r>
                      <m:r>
                        <a:rPr lang="en-GB" i="1">
                          <a:latin typeface="Cambria Math" panose="02040503050406030204" pitchFamily="18" charset="0"/>
                          <a:ea typeface="Cambria Math" panose="02040503050406030204" pitchFamily="18" charset="0"/>
                        </a:rPr>
                        <m:t>𝐹</m:t>
                      </m:r>
                      <m:d>
                        <m:dPr>
                          <m:ctrlPr>
                            <a:rPr lang="en-GB" i="1">
                              <a:latin typeface="Cambria Math" panose="02040503050406030204" pitchFamily="18" charset="0"/>
                              <a:ea typeface="Cambria Math" panose="02040503050406030204" pitchFamily="18" charset="0"/>
                            </a:rPr>
                          </m:ctrlPr>
                        </m:dPr>
                        <m:e>
                          <m:r>
                            <a:rPr lang="en-GB" b="0" i="1" smtClean="0">
                              <a:latin typeface="Cambria Math" panose="02040503050406030204" pitchFamily="18" charset="0"/>
                              <a:ea typeface="Cambria Math" panose="02040503050406030204" pitchFamily="18" charset="0"/>
                            </a:rPr>
                            <m:t>𝐶</m:t>
                          </m:r>
                        </m:e>
                      </m:d>
                    </m:oMath>
                  </m:oMathPara>
                </a14:m>
                <a:endParaRPr lang="en-GB" i="1" dirty="0">
                  <a:latin typeface="Cambria Math" panose="02040503050406030204" pitchFamily="18" charset="0"/>
                  <a:ea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ea typeface="Cambria Math" panose="02040503050406030204" pitchFamily="18" charset="0"/>
                        </a:rPr>
                        <m:t>=</m:t>
                      </m:r>
                      <m:d>
                        <m:dPr>
                          <m:begChr m:val="{"/>
                          <m:endChr m:val="}"/>
                          <m:ctrlPr>
                            <a:rPr lang="en-GB" b="0" i="1" smtClean="0">
                              <a:latin typeface="Cambria Math" panose="02040503050406030204" pitchFamily="18" charset="0"/>
                              <a:ea typeface="Cambria Math" panose="02040503050406030204" pitchFamily="18" charset="0"/>
                            </a:rPr>
                          </m:ctrlPr>
                        </m:dPr>
                        <m:e>
                          <m:r>
                            <a:rPr lang="en-GB" b="0" i="1" smtClean="0">
                              <a:latin typeface="Cambria Math" panose="02040503050406030204" pitchFamily="18" charset="0"/>
                              <a:ea typeface="Cambria Math" panose="02040503050406030204" pitchFamily="18" charset="0"/>
                            </a:rPr>
                            <m:t>𝑎</m:t>
                          </m:r>
                          <m:r>
                            <a:rPr lang="en-GB" b="0" i="1" smtClean="0">
                              <a:latin typeface="Cambria Math" panose="02040503050406030204" pitchFamily="18" charset="0"/>
                              <a:ea typeface="Cambria Math" panose="02040503050406030204" pitchFamily="18" charset="0"/>
                            </a:rPr>
                            <m:t>,</m:t>
                          </m:r>
                          <m:r>
                            <a:rPr lang="en-GB" b="0" i="1" smtClean="0">
                              <a:latin typeface="Cambria Math" panose="02040503050406030204" pitchFamily="18" charset="0"/>
                              <a:ea typeface="Cambria Math" panose="02040503050406030204" pitchFamily="18" charset="0"/>
                            </a:rPr>
                            <m:t>𝑏</m:t>
                          </m:r>
                          <m:r>
                            <a:rPr lang="en-GB" b="0" i="1" smtClean="0">
                              <a:latin typeface="Cambria Math" panose="02040503050406030204" pitchFamily="18" charset="0"/>
                              <a:ea typeface="Cambria Math" panose="02040503050406030204" pitchFamily="18" charset="0"/>
                            </a:rPr>
                            <m:t>,</m:t>
                          </m:r>
                          <m:r>
                            <a:rPr lang="en-GB" b="0" i="1" smtClean="0">
                              <a:latin typeface="Cambria Math" panose="02040503050406030204" pitchFamily="18" charset="0"/>
                              <a:ea typeface="Cambria Math" panose="02040503050406030204" pitchFamily="18" charset="0"/>
                            </a:rPr>
                            <m:t>𝑐</m:t>
                          </m:r>
                          <m:r>
                            <a:rPr lang="en-GB" b="0" i="1" smtClean="0">
                              <a:latin typeface="Cambria Math" panose="02040503050406030204" pitchFamily="18" charset="0"/>
                              <a:ea typeface="Cambria Math" panose="02040503050406030204" pitchFamily="18" charset="0"/>
                            </a:rPr>
                            <m:t>,</m:t>
                          </m:r>
                          <m:r>
                            <a:rPr lang="en-GB" b="0" i="1" smtClean="0">
                              <a:latin typeface="Cambria Math" panose="02040503050406030204" pitchFamily="18" charset="0"/>
                              <a:ea typeface="Cambria Math" panose="02040503050406030204" pitchFamily="18" charset="0"/>
                            </a:rPr>
                            <m:t>𝑑</m:t>
                          </m:r>
                        </m:e>
                      </m:d>
                      <m:r>
                        <a:rPr lang="en-GB" b="0" i="1" smtClean="0">
                          <a:latin typeface="Cambria Math" panose="02040503050406030204" pitchFamily="18" charset="0"/>
                          <a:ea typeface="Cambria Math" panose="02040503050406030204" pitchFamily="18" charset="0"/>
                        </a:rPr>
                        <m:t>?</m:t>
                      </m:r>
                    </m:oMath>
                  </m:oMathPara>
                </a14:m>
                <a:endParaRPr lang="en-GB" dirty="0"/>
              </a:p>
              <a:p>
                <a:pPr marL="0" indent="0">
                  <a:buNone/>
                </a:pPr>
                <a:r>
                  <a:rPr lang="en-GB" b="1" dirty="0"/>
                  <a:t>But is this </a:t>
                </a:r>
                <a14:m>
                  <m:oMath xmlns:m="http://schemas.openxmlformats.org/officeDocument/2006/math">
                    <m:r>
                      <a:rPr lang="en-GB" b="1" i="1" smtClean="0">
                        <a:solidFill>
                          <a:srgbClr val="FF0000"/>
                        </a:solidFill>
                        <a:latin typeface="Cambria Math" panose="02040503050406030204" pitchFamily="18" charset="0"/>
                      </a:rPr>
                      <m:t>= </m:t>
                    </m:r>
                  </m:oMath>
                </a14:m>
                <a:r>
                  <a:rPr lang="en-GB" b="1" dirty="0"/>
                  <a:t>correct mathematically speaking? </a:t>
                </a:r>
                <a:r>
                  <a:rPr lang="en-GB" b="1" u="sng" dirty="0">
                    <a:solidFill>
                      <a:srgbClr val="7030A0"/>
                    </a:solidFill>
                  </a:rPr>
                  <a:t>(Unproven at the moment)</a:t>
                </a:r>
              </a:p>
              <a:p>
                <a:pPr marL="0" indent="0">
                  <a:buNone/>
                </a:pPr>
                <a:endParaRPr lang="en-GB" b="1" dirty="0"/>
              </a:p>
              <a:p>
                <a:pPr marL="0" indent="0">
                  <a:buNone/>
                </a:pPr>
                <a:endParaRPr lang="en-SG" dirty="0"/>
              </a:p>
            </p:txBody>
          </p:sp>
        </mc:Choice>
        <mc:Fallback xmlns="">
          <p:sp>
            <p:nvSpPr>
              <p:cNvPr id="5" name="Content Placeholder 4">
                <a:extLst>
                  <a:ext uri="{FF2B5EF4-FFF2-40B4-BE49-F238E27FC236}">
                    <a16:creationId xmlns:a16="http://schemas.microsoft.com/office/drawing/2014/main" id="{75720A82-8B88-6667-93A9-47ACBCA8C5F1}"/>
                  </a:ext>
                </a:extLst>
              </p:cNvPr>
              <p:cNvSpPr>
                <a:spLocks noGrp="1" noRot="1" noChangeAspect="1" noMove="1" noResize="1" noEditPoints="1" noAdjustHandles="1" noChangeArrowheads="1" noChangeShapeType="1" noTextEdit="1"/>
              </p:cNvSpPr>
              <p:nvPr>
                <p:ph sz="half" idx="2"/>
              </p:nvPr>
            </p:nvSpPr>
            <p:spPr>
              <a:xfrm>
                <a:off x="6172200" y="1825624"/>
                <a:ext cx="5863492" cy="5032375"/>
              </a:xfrm>
              <a:blipFill>
                <a:blip r:embed="rId4"/>
                <a:stretch>
                  <a:fillRect l="-2185" t="-1937"/>
                </a:stretch>
              </a:blipFill>
            </p:spPr>
            <p:txBody>
              <a:bodyPr/>
              <a:lstStyle/>
              <a:p>
                <a:r>
                  <a:rPr lang="en-SG">
                    <a:noFill/>
                  </a:rPr>
                  <a:t> </a:t>
                </a:r>
              </a:p>
            </p:txBody>
          </p:sp>
        </mc:Fallback>
      </mc:AlternateContent>
    </p:spTree>
    <p:extLst>
      <p:ext uri="{BB962C8B-B14F-4D97-AF65-F5344CB8AC3E}">
        <p14:creationId xmlns:p14="http://schemas.microsoft.com/office/powerpoint/2010/main" val="3726364795"/>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D220D9-3DA9-01FC-7D5A-CD0A4BB36852}"/>
              </a:ext>
            </a:extLst>
          </p:cNvPr>
          <p:cNvSpPr>
            <a:spLocks noGrp="1"/>
          </p:cNvSpPr>
          <p:nvPr>
            <p:ph type="title"/>
          </p:nvPr>
        </p:nvSpPr>
        <p:spPr/>
        <p:txBody>
          <a:bodyPr/>
          <a:lstStyle/>
          <a:p>
            <a:r>
              <a:rPr lang="en-GB" dirty="0"/>
              <a:t>Main takeaway from Practice 3</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94C6D60-37B9-9E24-E06F-CD4A12AA91AD}"/>
                  </a:ext>
                </a:extLst>
              </p:cNvPr>
              <p:cNvSpPr>
                <a:spLocks noGrp="1"/>
              </p:cNvSpPr>
              <p:nvPr>
                <p:ph idx="1"/>
              </p:nvPr>
            </p:nvSpPr>
            <p:spPr/>
            <p:txBody>
              <a:bodyPr>
                <a:normAutofit/>
              </a:bodyPr>
              <a:lstStyle/>
              <a:p>
                <a:pPr marL="0" indent="0">
                  <a:buNone/>
                </a:pPr>
                <a:endParaRPr lang="en-GB" dirty="0"/>
              </a:p>
              <a:p>
                <a:pPr marL="0" indent="0">
                  <a:buNone/>
                </a:pPr>
                <a:r>
                  <a:rPr lang="en-GB" dirty="0"/>
                  <a:t>The FIRST set for </a:t>
                </a:r>
                <a14:m>
                  <m:oMath xmlns:m="http://schemas.openxmlformats.org/officeDocument/2006/math">
                    <m:r>
                      <a:rPr lang="en-GB" i="1" dirty="0" smtClean="0">
                        <a:latin typeface="Cambria Math" panose="02040503050406030204" pitchFamily="18" charset="0"/>
                      </a:rPr>
                      <m:t>𝑆</m:t>
                    </m:r>
                  </m:oMath>
                </a14:m>
                <a:r>
                  <a:rPr lang="en-GB" dirty="0"/>
                  <a:t> is a bit awkward to build, but could we do… </a:t>
                </a: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𝐹</m:t>
                      </m:r>
                      <m:d>
                        <m:dPr>
                          <m:ctrlPr>
                            <a:rPr lang="en-GB" b="0" i="1" smtClean="0">
                              <a:latin typeface="Cambria Math" panose="02040503050406030204" pitchFamily="18" charset="0"/>
                            </a:rPr>
                          </m:ctrlPr>
                        </m:dPr>
                        <m:e>
                          <m:r>
                            <a:rPr lang="en-GB" b="0" i="1" smtClean="0">
                              <a:latin typeface="Cambria Math" panose="02040503050406030204" pitchFamily="18" charset="0"/>
                            </a:rPr>
                            <m:t>𝑆</m:t>
                          </m:r>
                        </m:e>
                      </m:d>
                      <m:r>
                        <a:rPr lang="en-GB" b="0" i="1" smtClean="0">
                          <a:solidFill>
                            <a:srgbClr val="FF0000"/>
                          </a:solidFill>
                          <a:latin typeface="Cambria Math" panose="02040503050406030204" pitchFamily="18" charset="0"/>
                        </a:rPr>
                        <m:t>=</m:t>
                      </m:r>
                      <m:r>
                        <a:rPr lang="en-GB" b="0" i="1" smtClean="0">
                          <a:latin typeface="Cambria Math" panose="02040503050406030204" pitchFamily="18" charset="0"/>
                        </a:rPr>
                        <m:t>𝐹</m:t>
                      </m:r>
                      <m:d>
                        <m:dPr>
                          <m:ctrlPr>
                            <a:rPr lang="en-GB" b="0" i="1" smtClean="0">
                              <a:latin typeface="Cambria Math" panose="02040503050406030204" pitchFamily="18" charset="0"/>
                            </a:rPr>
                          </m:ctrlPr>
                        </m:dPr>
                        <m:e>
                          <m:r>
                            <a:rPr lang="en-GB" b="0" i="1" smtClean="0">
                              <a:latin typeface="Cambria Math" panose="02040503050406030204" pitchFamily="18" charset="0"/>
                            </a:rPr>
                            <m:t>𝑎</m:t>
                          </m:r>
                        </m:e>
                      </m:d>
                      <m:r>
                        <a:rPr lang="en-GB" i="1">
                          <a:latin typeface="Cambria Math" panose="02040503050406030204" pitchFamily="18" charset="0"/>
                          <a:ea typeface="Cambria Math" panose="02040503050406030204" pitchFamily="18" charset="0"/>
                        </a:rPr>
                        <m:t>∪</m:t>
                      </m:r>
                      <m:r>
                        <a:rPr lang="en-GB" b="0" i="1" smtClean="0">
                          <a:latin typeface="Cambria Math" panose="02040503050406030204" pitchFamily="18" charset="0"/>
                          <a:ea typeface="Cambria Math" panose="02040503050406030204" pitchFamily="18" charset="0"/>
                        </a:rPr>
                        <m:t>𝐹</m:t>
                      </m:r>
                      <m:r>
                        <a:rPr lang="en-GB" b="0" i="1" smtClean="0">
                          <a:latin typeface="Cambria Math" panose="02040503050406030204" pitchFamily="18" charset="0"/>
                          <a:ea typeface="Cambria Math" panose="02040503050406030204" pitchFamily="18" charset="0"/>
                        </a:rPr>
                        <m:t>(</m:t>
                      </m:r>
                      <m:r>
                        <a:rPr lang="en-GB" b="0" i="1" smtClean="0">
                          <a:latin typeface="Cambria Math" panose="02040503050406030204" pitchFamily="18" charset="0"/>
                          <a:ea typeface="Cambria Math" panose="02040503050406030204" pitchFamily="18" charset="0"/>
                        </a:rPr>
                        <m:t>𝐵</m:t>
                      </m:r>
                      <m:r>
                        <a:rPr lang="en-GB" b="0" i="1" smtClean="0">
                          <a:latin typeface="Cambria Math" panose="02040503050406030204" pitchFamily="18" charset="0"/>
                          <a:ea typeface="Cambria Math" panose="02040503050406030204" pitchFamily="18" charset="0"/>
                        </a:rPr>
                        <m:t>)∪</m:t>
                      </m:r>
                      <m:r>
                        <a:rPr lang="en-GB" i="1">
                          <a:latin typeface="Cambria Math" panose="02040503050406030204" pitchFamily="18" charset="0"/>
                          <a:ea typeface="Cambria Math" panose="02040503050406030204" pitchFamily="18" charset="0"/>
                        </a:rPr>
                        <m:t>𝐹</m:t>
                      </m:r>
                      <m:d>
                        <m:dPr>
                          <m:ctrlPr>
                            <a:rPr lang="en-GB" i="1">
                              <a:latin typeface="Cambria Math" panose="02040503050406030204" pitchFamily="18" charset="0"/>
                              <a:ea typeface="Cambria Math" panose="02040503050406030204" pitchFamily="18" charset="0"/>
                            </a:rPr>
                          </m:ctrlPr>
                        </m:dPr>
                        <m:e>
                          <m:r>
                            <a:rPr lang="en-GB" b="0" i="1" smtClean="0">
                              <a:latin typeface="Cambria Math" panose="02040503050406030204" pitchFamily="18" charset="0"/>
                              <a:ea typeface="Cambria Math" panose="02040503050406030204" pitchFamily="18" charset="0"/>
                            </a:rPr>
                            <m:t>𝐶</m:t>
                          </m:r>
                        </m:e>
                      </m:d>
                    </m:oMath>
                  </m:oMathPara>
                </a14:m>
                <a:endParaRPr lang="en-GB" i="1" dirty="0">
                  <a:latin typeface="Cambria Math" panose="02040503050406030204" pitchFamily="18" charset="0"/>
                  <a:ea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ea typeface="Cambria Math" panose="02040503050406030204" pitchFamily="18" charset="0"/>
                        </a:rPr>
                        <m:t>=</m:t>
                      </m:r>
                      <m:d>
                        <m:dPr>
                          <m:begChr m:val="{"/>
                          <m:endChr m:val="}"/>
                          <m:ctrlPr>
                            <a:rPr lang="en-GB" b="0" i="1" smtClean="0">
                              <a:latin typeface="Cambria Math" panose="02040503050406030204" pitchFamily="18" charset="0"/>
                              <a:ea typeface="Cambria Math" panose="02040503050406030204" pitchFamily="18" charset="0"/>
                            </a:rPr>
                          </m:ctrlPr>
                        </m:dPr>
                        <m:e>
                          <m:r>
                            <a:rPr lang="en-GB" b="0" i="1" smtClean="0">
                              <a:latin typeface="Cambria Math" panose="02040503050406030204" pitchFamily="18" charset="0"/>
                              <a:ea typeface="Cambria Math" panose="02040503050406030204" pitchFamily="18" charset="0"/>
                            </a:rPr>
                            <m:t>𝑎</m:t>
                          </m:r>
                          <m:r>
                            <a:rPr lang="en-GB" b="0" i="1" smtClean="0">
                              <a:latin typeface="Cambria Math" panose="02040503050406030204" pitchFamily="18" charset="0"/>
                              <a:ea typeface="Cambria Math" panose="02040503050406030204" pitchFamily="18" charset="0"/>
                            </a:rPr>
                            <m:t>,</m:t>
                          </m:r>
                          <m:r>
                            <a:rPr lang="en-GB" b="0" i="1" smtClean="0">
                              <a:latin typeface="Cambria Math" panose="02040503050406030204" pitchFamily="18" charset="0"/>
                              <a:ea typeface="Cambria Math" panose="02040503050406030204" pitchFamily="18" charset="0"/>
                            </a:rPr>
                            <m:t>𝑏</m:t>
                          </m:r>
                          <m:r>
                            <a:rPr lang="en-GB" b="0" i="1" smtClean="0">
                              <a:latin typeface="Cambria Math" panose="02040503050406030204" pitchFamily="18" charset="0"/>
                              <a:ea typeface="Cambria Math" panose="02040503050406030204" pitchFamily="18" charset="0"/>
                            </a:rPr>
                            <m:t>,</m:t>
                          </m:r>
                          <m:r>
                            <a:rPr lang="en-GB" b="0" i="1" smtClean="0">
                              <a:latin typeface="Cambria Math" panose="02040503050406030204" pitchFamily="18" charset="0"/>
                              <a:ea typeface="Cambria Math" panose="02040503050406030204" pitchFamily="18" charset="0"/>
                            </a:rPr>
                            <m:t>𝑐</m:t>
                          </m:r>
                          <m:r>
                            <a:rPr lang="en-GB" b="0" i="1" smtClean="0">
                              <a:latin typeface="Cambria Math" panose="02040503050406030204" pitchFamily="18" charset="0"/>
                              <a:ea typeface="Cambria Math" panose="02040503050406030204" pitchFamily="18" charset="0"/>
                            </a:rPr>
                            <m:t>,</m:t>
                          </m:r>
                          <m:r>
                            <a:rPr lang="en-GB" b="0" i="1" smtClean="0">
                              <a:latin typeface="Cambria Math" panose="02040503050406030204" pitchFamily="18" charset="0"/>
                              <a:ea typeface="Cambria Math" panose="02040503050406030204" pitchFamily="18" charset="0"/>
                            </a:rPr>
                            <m:t>𝑑</m:t>
                          </m:r>
                        </m:e>
                      </m:d>
                      <m:r>
                        <a:rPr lang="en-GB" b="0" i="1" smtClean="0">
                          <a:latin typeface="Cambria Math" panose="02040503050406030204" pitchFamily="18" charset="0"/>
                          <a:ea typeface="Cambria Math" panose="02040503050406030204" pitchFamily="18" charset="0"/>
                        </a:rPr>
                        <m:t>?</m:t>
                      </m:r>
                    </m:oMath>
                  </m:oMathPara>
                </a14:m>
                <a:endParaRPr lang="en-GB" dirty="0"/>
              </a:p>
              <a:p>
                <a:pPr marL="0" indent="0">
                  <a:buNone/>
                </a:pPr>
                <a:endParaRPr lang="en-GB" dirty="0"/>
              </a:p>
              <a:p>
                <a:pPr marL="0" indent="0">
                  <a:buNone/>
                </a:pPr>
                <a:r>
                  <a:rPr lang="en-GB" b="1" dirty="0"/>
                  <a:t>But is this </a:t>
                </a:r>
                <a14:m>
                  <m:oMath xmlns:m="http://schemas.openxmlformats.org/officeDocument/2006/math">
                    <m:r>
                      <a:rPr lang="en-GB" b="1" i="1" smtClean="0">
                        <a:solidFill>
                          <a:srgbClr val="FF0000"/>
                        </a:solidFill>
                        <a:latin typeface="Cambria Math" panose="02040503050406030204" pitchFamily="18" charset="0"/>
                      </a:rPr>
                      <m:t>= </m:t>
                    </m:r>
                  </m:oMath>
                </a14:m>
                <a:r>
                  <a:rPr lang="en-GB" b="1" dirty="0"/>
                  <a:t>correct mathematically speaking?</a:t>
                </a:r>
                <a:br>
                  <a:rPr lang="en-GB" b="1" dirty="0"/>
                </a:br>
                <a:r>
                  <a:rPr lang="en-GB" b="1" u="sng" dirty="0">
                    <a:solidFill>
                      <a:srgbClr val="7030A0"/>
                    </a:solidFill>
                  </a:rPr>
                  <a:t>(Unproven at the moment)</a:t>
                </a:r>
                <a:endParaRPr lang="en-GB" b="1" dirty="0"/>
              </a:p>
              <a:p>
                <a:pPr marL="0" indent="0">
                  <a:buNone/>
                </a:pPr>
                <a:endParaRPr lang="en-GB" b="1" dirty="0"/>
              </a:p>
              <a:p>
                <a:pPr marL="0" indent="0">
                  <a:buNone/>
                </a:pPr>
                <a:r>
                  <a:rPr lang="en-GB" b="1" dirty="0"/>
                  <a:t>Need a formalism to cover for </a:t>
                </a:r>
                <a14:m>
                  <m:oMath xmlns:m="http://schemas.openxmlformats.org/officeDocument/2006/math">
                    <m:r>
                      <a:rPr lang="en-GB" b="1" i="1" smtClean="0">
                        <a:latin typeface="Cambria Math" panose="02040503050406030204" pitchFamily="18" charset="0"/>
                      </a:rPr>
                      <m:t>𝝐</m:t>
                    </m:r>
                  </m:oMath>
                </a14:m>
                <a:r>
                  <a:rPr lang="en-GB" b="1" dirty="0"/>
                  <a:t>-productions!</a:t>
                </a:r>
              </a:p>
              <a:p>
                <a:endParaRPr lang="en-SG" dirty="0"/>
              </a:p>
            </p:txBody>
          </p:sp>
        </mc:Choice>
        <mc:Fallback xmlns="">
          <p:sp>
            <p:nvSpPr>
              <p:cNvPr id="3" name="Content Placeholder 2">
                <a:extLst>
                  <a:ext uri="{FF2B5EF4-FFF2-40B4-BE49-F238E27FC236}">
                    <a16:creationId xmlns:a16="http://schemas.microsoft.com/office/drawing/2014/main" id="{394C6D60-37B9-9E24-E06F-CD4A12AA91AD}"/>
                  </a:ext>
                </a:extLst>
              </p:cNvPr>
              <p:cNvSpPr>
                <a:spLocks noGrp="1" noRot="1" noChangeAspect="1" noMove="1" noResize="1" noEditPoints="1" noAdjustHandles="1" noChangeArrowheads="1" noChangeShapeType="1" noTextEdit="1"/>
              </p:cNvSpPr>
              <p:nvPr>
                <p:ph idx="1"/>
              </p:nvPr>
            </p:nvSpPr>
            <p:spPr>
              <a:blipFill>
                <a:blip r:embed="rId2"/>
                <a:stretch>
                  <a:fillRect l="-1217" b="-140"/>
                </a:stretch>
              </a:blipFill>
            </p:spPr>
            <p:txBody>
              <a:bodyPr/>
              <a:lstStyle/>
              <a:p>
                <a:r>
                  <a:rPr lang="en-SG">
                    <a:noFill/>
                  </a:rPr>
                  <a:t> </a:t>
                </a:r>
              </a:p>
            </p:txBody>
          </p:sp>
        </mc:Fallback>
      </mc:AlternateContent>
    </p:spTree>
    <p:extLst>
      <p:ext uri="{BB962C8B-B14F-4D97-AF65-F5344CB8AC3E}">
        <p14:creationId xmlns:p14="http://schemas.microsoft.com/office/powerpoint/2010/main" val="1518031897"/>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DD6C6A-1154-FC8E-1C53-965F0CF3E3C7}"/>
              </a:ext>
            </a:extLst>
          </p:cNvPr>
          <p:cNvSpPr>
            <a:spLocks noGrp="1"/>
          </p:cNvSpPr>
          <p:nvPr>
            <p:ph type="title"/>
          </p:nvPr>
        </p:nvSpPr>
        <p:spPr/>
        <p:txBody>
          <a:bodyPr/>
          <a:lstStyle/>
          <a:p>
            <a:r>
              <a:rPr lang="en-GB" dirty="0"/>
              <a:t>Definition: FIRST Sets F</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DE790B0-6C09-28B5-E4FA-99CCB209CAAB}"/>
                  </a:ext>
                </a:extLst>
              </p:cNvPr>
              <p:cNvSpPr>
                <a:spLocks noGrp="1"/>
              </p:cNvSpPr>
              <p:nvPr>
                <p:ph idx="1"/>
              </p:nvPr>
            </p:nvSpPr>
            <p:spPr>
              <a:xfrm>
                <a:off x="838200" y="1825624"/>
                <a:ext cx="10515600" cy="5032375"/>
              </a:xfrm>
            </p:spPr>
            <p:txBody>
              <a:bodyPr/>
              <a:lstStyle/>
              <a:p>
                <a:pPr marL="0" indent="0">
                  <a:buNone/>
                </a:pPr>
                <a:r>
                  <a:rPr lang="en-GB" b="1" dirty="0"/>
                  <a:t>Definition (</a:t>
                </a:r>
                <a:r>
                  <a:rPr lang="en-GB" b="1" dirty="0">
                    <a:solidFill>
                      <a:srgbClr val="00B050"/>
                    </a:solidFill>
                  </a:rPr>
                  <a:t>FIRST Set </a:t>
                </a:r>
                <a14:m>
                  <m:oMath xmlns:m="http://schemas.openxmlformats.org/officeDocument/2006/math">
                    <m:r>
                      <a:rPr lang="en-GB" b="1" i="1" dirty="0" smtClean="0">
                        <a:solidFill>
                          <a:srgbClr val="00B050"/>
                        </a:solidFill>
                        <a:latin typeface="Cambria Math" panose="02040503050406030204" pitchFamily="18" charset="0"/>
                      </a:rPr>
                      <m:t>𝑭</m:t>
                    </m:r>
                  </m:oMath>
                </a14:m>
                <a:r>
                  <a:rPr lang="en-GB" b="1" dirty="0"/>
                  <a:t> for a given non-terminal symbol):</a:t>
                </a:r>
              </a:p>
              <a:p>
                <a:pPr marL="0" indent="0">
                  <a:buNone/>
                </a:pPr>
                <a:r>
                  <a:rPr lang="en-GB" dirty="0"/>
                  <a:t>The </a:t>
                </a:r>
                <a:r>
                  <a:rPr lang="en-GB" b="1" dirty="0">
                    <a:solidFill>
                      <a:srgbClr val="00B050"/>
                    </a:solidFill>
                  </a:rPr>
                  <a:t>FIRST Set </a:t>
                </a:r>
                <a:r>
                  <a:rPr lang="en-GB" b="1" dirty="0"/>
                  <a:t>of a non-terminal symbol </a:t>
                </a:r>
                <a14:m>
                  <m:oMath xmlns:m="http://schemas.openxmlformats.org/officeDocument/2006/math">
                    <m:r>
                      <a:rPr lang="en-GB" b="1" i="1" dirty="0" smtClean="0">
                        <a:latin typeface="Cambria Math" panose="02040503050406030204" pitchFamily="18" charset="0"/>
                      </a:rPr>
                      <m:t>𝑨</m:t>
                    </m:r>
                  </m:oMath>
                </a14:m>
                <a:r>
                  <a:rPr lang="en-GB" dirty="0"/>
                  <a:t>, denoted </a:t>
                </a:r>
                <a14:m>
                  <m:oMath xmlns:m="http://schemas.openxmlformats.org/officeDocument/2006/math">
                    <m:r>
                      <a:rPr lang="en-GB" b="1" i="1" dirty="0" smtClean="0">
                        <a:solidFill>
                          <a:srgbClr val="00B050"/>
                        </a:solidFill>
                        <a:latin typeface="Cambria Math" panose="02040503050406030204" pitchFamily="18" charset="0"/>
                      </a:rPr>
                      <m:t>𝑭</m:t>
                    </m:r>
                    <m:r>
                      <a:rPr lang="en-GB" b="1" i="1" dirty="0" smtClean="0">
                        <a:solidFill>
                          <a:srgbClr val="00B050"/>
                        </a:solidFill>
                        <a:latin typeface="Cambria Math" panose="02040503050406030204" pitchFamily="18" charset="0"/>
                      </a:rPr>
                      <m:t>(</m:t>
                    </m:r>
                    <m:r>
                      <a:rPr lang="en-GB" b="1" i="1" dirty="0" smtClean="0">
                        <a:solidFill>
                          <a:srgbClr val="00B050"/>
                        </a:solidFill>
                        <a:latin typeface="Cambria Math" panose="02040503050406030204" pitchFamily="18" charset="0"/>
                      </a:rPr>
                      <m:t>𝑨</m:t>
                    </m:r>
                    <m:r>
                      <a:rPr lang="en-GB" b="1" i="1" dirty="0" smtClean="0">
                        <a:solidFill>
                          <a:srgbClr val="00B050"/>
                        </a:solidFill>
                        <a:latin typeface="Cambria Math" panose="02040503050406030204" pitchFamily="18" charset="0"/>
                      </a:rPr>
                      <m:t>)</m:t>
                    </m:r>
                  </m:oMath>
                </a14:m>
                <a:r>
                  <a:rPr lang="en-GB" b="1" dirty="0">
                    <a:solidFill>
                      <a:srgbClr val="00B050"/>
                    </a:solidFill>
                  </a:rPr>
                  <a:t> </a:t>
                </a:r>
                <a:r>
                  <a:rPr lang="en-GB" dirty="0"/>
                  <a:t>in a context-free grammar is </a:t>
                </a:r>
                <a:r>
                  <a:rPr lang="en-GB" b="1" dirty="0"/>
                  <a:t>the set of terminal symbols that can appear as the first symbol in any string derived from that non-terminal</a:t>
                </a:r>
                <a:r>
                  <a:rPr lang="en-GB" dirty="0"/>
                  <a:t>.</a:t>
                </a:r>
              </a:p>
              <a:p>
                <a:pPr marL="0" indent="0">
                  <a:buNone/>
                </a:pPr>
                <a:r>
                  <a:rPr lang="en-GB" dirty="0"/>
                  <a:t>In other words, the FIRST set of a non-terminal represents all possible first terminal symbols that can be generated by applying the production rules of the grammar, starting from that non-terminal.</a:t>
                </a:r>
              </a:p>
              <a:p>
                <a:pPr marL="0" indent="0">
                  <a:buNone/>
                </a:pPr>
                <a:r>
                  <a:rPr lang="en-GB" b="1" dirty="0"/>
                  <a:t>Mathematically: </a:t>
                </a:r>
                <a14:m>
                  <m:oMath xmlns:m="http://schemas.openxmlformats.org/officeDocument/2006/math">
                    <m:r>
                      <a:rPr lang="en-GB" b="0" i="1" smtClean="0">
                        <a:latin typeface="Cambria Math" panose="02040503050406030204" pitchFamily="18" charset="0"/>
                      </a:rPr>
                      <m:t>𝐹</m:t>
                    </m:r>
                    <m:d>
                      <m:dPr>
                        <m:ctrlPr>
                          <a:rPr lang="en-GB" b="0" i="1" smtClean="0">
                            <a:latin typeface="Cambria Math" panose="02040503050406030204" pitchFamily="18" charset="0"/>
                          </a:rPr>
                        </m:ctrlPr>
                      </m:dPr>
                      <m:e>
                        <m:r>
                          <a:rPr lang="en-GB" b="0" i="1" smtClean="0">
                            <a:latin typeface="Cambria Math" panose="02040503050406030204" pitchFamily="18" charset="0"/>
                          </a:rPr>
                          <m:t>𝐴</m:t>
                        </m:r>
                      </m:e>
                    </m:d>
                    <m:r>
                      <a:rPr lang="en-GB" b="0" i="1" smtClean="0">
                        <a:latin typeface="Cambria Math" panose="02040503050406030204" pitchFamily="18" charset="0"/>
                      </a:rPr>
                      <m:t>=</m:t>
                    </m:r>
                    <m:d>
                      <m:dPr>
                        <m:begChr m:val="{"/>
                        <m:endChr m:val="|"/>
                        <m:ctrlPr>
                          <a:rPr lang="en-GB" b="0" i="1" smtClean="0">
                            <a:latin typeface="Cambria Math" panose="02040503050406030204" pitchFamily="18" charset="0"/>
                          </a:rPr>
                        </m:ctrlPr>
                      </m:dPr>
                      <m:e>
                        <m:r>
                          <a:rPr lang="en-GB" b="0" i="1" smtClean="0">
                            <a:latin typeface="Cambria Math" panose="02040503050406030204" pitchFamily="18" charset="0"/>
                          </a:rPr>
                          <m:t>𝑡</m:t>
                        </m:r>
                        <m:r>
                          <a:rPr lang="en-GB" b="0" i="1" smtClean="0">
                            <a:latin typeface="Cambria Math" panose="02040503050406030204" pitchFamily="18" charset="0"/>
                          </a:rPr>
                          <m:t> </m:t>
                        </m:r>
                      </m:e>
                    </m:d>
                    <m:r>
                      <a:rPr lang="en-GB" b="0" i="1" smtClean="0">
                        <a:latin typeface="Cambria Math" panose="02040503050406030204" pitchFamily="18" charset="0"/>
                      </a:rPr>
                      <m:t> </m:t>
                    </m:r>
                    <m:r>
                      <a:rPr lang="en-GB" b="0" i="1" smtClean="0">
                        <a:latin typeface="Cambria Math" panose="02040503050406030204" pitchFamily="18" charset="0"/>
                      </a:rPr>
                      <m:t>𝐴</m:t>
                    </m:r>
                    <m:r>
                      <m:rPr>
                        <m:nor/>
                      </m:rPr>
                      <a:rPr lang="en-GB" b="0" i="0" smtClean="0">
                        <a:latin typeface="Cambria Math" panose="02040503050406030204" pitchFamily="18" charset="0"/>
                      </a:rPr>
                      <m:t> </m:t>
                    </m:r>
                    <m:r>
                      <m:rPr>
                        <m:nor/>
                      </m:rPr>
                      <a:rPr lang="en-GB" dirty="0"/>
                      <m:t>⇒∗</m:t>
                    </m:r>
                    <m:r>
                      <a:rPr lang="en-GB" b="0" i="1" dirty="0" smtClean="0">
                        <a:latin typeface="Cambria Math" panose="02040503050406030204" pitchFamily="18" charset="0"/>
                      </a:rPr>
                      <m:t>  </m:t>
                    </m:r>
                    <m:r>
                      <a:rPr lang="en-GB" b="0" i="1" smtClean="0">
                        <a:latin typeface="Cambria Math" panose="02040503050406030204" pitchFamily="18" charset="0"/>
                      </a:rPr>
                      <m:t>𝑡</m:t>
                    </m:r>
                    <m:r>
                      <a:rPr lang="en-GB" b="0" i="1" smtClean="0">
                        <a:latin typeface="Cambria Math" panose="02040503050406030204" pitchFamily="18" charset="0"/>
                      </a:rPr>
                      <m:t>𝜔</m:t>
                    </m:r>
                    <m:r>
                      <a:rPr lang="en-GB" b="0" i="1" smtClean="0">
                        <a:latin typeface="Cambria Math" panose="02040503050406030204" pitchFamily="18" charset="0"/>
                      </a:rPr>
                      <m:t>    </m:t>
                    </m:r>
                    <m:r>
                      <m:rPr>
                        <m:sty m:val="p"/>
                      </m:rPr>
                      <a:rPr lang="en-GB" b="0" i="0" smtClean="0">
                        <a:latin typeface="Cambria Math" panose="02040503050406030204" pitchFamily="18" charset="0"/>
                      </a:rPr>
                      <m:t>for</m:t>
                    </m:r>
                    <m:r>
                      <a:rPr lang="en-GB" b="0" i="0" smtClean="0">
                        <a:latin typeface="Cambria Math" panose="02040503050406030204" pitchFamily="18" charset="0"/>
                      </a:rPr>
                      <m:t> </m:t>
                    </m:r>
                    <m:r>
                      <m:rPr>
                        <m:sty m:val="p"/>
                      </m:rPr>
                      <a:rPr lang="en-GB" b="0" i="0" smtClean="0">
                        <a:latin typeface="Cambria Math" panose="02040503050406030204" pitchFamily="18" charset="0"/>
                      </a:rPr>
                      <m:t>some</m:t>
                    </m:r>
                    <m:r>
                      <a:rPr lang="en-GB" b="0" i="0" smtClean="0">
                        <a:latin typeface="Cambria Math" panose="02040503050406030204" pitchFamily="18" charset="0"/>
                      </a:rPr>
                      <m:t> </m:t>
                    </m:r>
                    <m:r>
                      <a:rPr lang="en-GB" b="0" i="1" smtClean="0">
                        <a:latin typeface="Cambria Math" panose="02040503050406030204" pitchFamily="18" charset="0"/>
                      </a:rPr>
                      <m:t>𝜔</m:t>
                    </m:r>
                    <m:r>
                      <a:rPr lang="en-GB" b="0" i="1" smtClean="0">
                        <a:latin typeface="Cambria Math" panose="02040503050406030204" pitchFamily="18" charset="0"/>
                      </a:rPr>
                      <m:t>}</m:t>
                    </m:r>
                  </m:oMath>
                </a14:m>
                <a:endParaRPr lang="en-SG" dirty="0"/>
              </a:p>
              <a:p>
                <a:pPr marL="0" indent="0">
                  <a:buNone/>
                </a:pPr>
                <a:r>
                  <a:rPr lang="en-SG" b="1" dirty="0"/>
                  <a:t>Property #1: </a:t>
                </a:r>
                <a:r>
                  <a:rPr lang="en-SG" dirty="0"/>
                  <a:t>if </a:t>
                </a:r>
                <a14:m>
                  <m:oMath xmlns:m="http://schemas.openxmlformats.org/officeDocument/2006/math">
                    <m:r>
                      <a:rPr lang="en-SG" i="1" dirty="0" smtClean="0">
                        <a:latin typeface="Cambria Math" panose="02040503050406030204" pitchFamily="18" charset="0"/>
                      </a:rPr>
                      <m:t>𝐴</m:t>
                    </m:r>
                  </m:oMath>
                </a14:m>
                <a:r>
                  <a:rPr lang="en-SG" dirty="0"/>
                  <a:t> is a terminal symbol, then, </a:t>
                </a:r>
                <a14:m>
                  <m:oMath xmlns:m="http://schemas.openxmlformats.org/officeDocument/2006/math">
                    <m:r>
                      <a:rPr lang="en-SG" i="1" dirty="0" smtClean="0">
                        <a:latin typeface="Cambria Math" panose="02040503050406030204" pitchFamily="18" charset="0"/>
                      </a:rPr>
                      <m:t>𝐹</m:t>
                    </m:r>
                    <m:r>
                      <a:rPr lang="en-SG" i="1" dirty="0" smtClean="0">
                        <a:latin typeface="Cambria Math" panose="02040503050406030204" pitchFamily="18" charset="0"/>
                      </a:rPr>
                      <m:t>(</m:t>
                    </m:r>
                    <m:r>
                      <a:rPr lang="en-SG" i="1" dirty="0" smtClean="0">
                        <a:latin typeface="Cambria Math" panose="02040503050406030204" pitchFamily="18" charset="0"/>
                      </a:rPr>
                      <m:t>𝐴</m:t>
                    </m:r>
                    <m:r>
                      <a:rPr lang="en-SG" i="1" dirty="0" smtClean="0">
                        <a:latin typeface="Cambria Math" panose="02040503050406030204" pitchFamily="18" charset="0"/>
                      </a:rPr>
                      <m:t>) = {</m:t>
                    </m:r>
                    <m:r>
                      <a:rPr lang="en-SG" i="1" dirty="0" smtClean="0">
                        <a:latin typeface="Cambria Math" panose="02040503050406030204" pitchFamily="18" charset="0"/>
                      </a:rPr>
                      <m:t>𝐴</m:t>
                    </m:r>
                    <m:r>
                      <a:rPr lang="en-SG" i="1" dirty="0" smtClean="0">
                        <a:latin typeface="Cambria Math" panose="02040503050406030204" pitchFamily="18" charset="0"/>
                      </a:rPr>
                      <m:t>}</m:t>
                    </m:r>
                  </m:oMath>
                </a14:m>
                <a:r>
                  <a:rPr lang="en-SG" dirty="0"/>
                  <a:t>.</a:t>
                </a:r>
              </a:p>
              <a:p>
                <a:pPr marL="0" indent="0">
                  <a:buNone/>
                </a:pPr>
                <a:r>
                  <a:rPr lang="en-SG" b="1" dirty="0"/>
                  <a:t>Property #2: </a:t>
                </a:r>
                <a:r>
                  <a:rPr lang="en-SG" dirty="0"/>
                  <a:t>if </a:t>
                </a:r>
                <a14:m>
                  <m:oMath xmlns:m="http://schemas.openxmlformats.org/officeDocument/2006/math">
                    <m:r>
                      <a:rPr lang="en-SG" i="1" dirty="0" smtClean="0">
                        <a:latin typeface="Cambria Math" panose="02040503050406030204" pitchFamily="18" charset="0"/>
                      </a:rPr>
                      <m:t>𝐴</m:t>
                    </m:r>
                  </m:oMath>
                </a14:m>
                <a:r>
                  <a:rPr lang="en-SG" dirty="0"/>
                  <a:t> </a:t>
                </a:r>
                <a:r>
                  <a:rPr lang="en-SG" dirty="0">
                    <a:sym typeface="Wingdings" panose="05000000000000000000" pitchFamily="2" charset="2"/>
                  </a:rPr>
                  <a:t> </a:t>
                </a:r>
                <a14:m>
                  <m:oMath xmlns:m="http://schemas.openxmlformats.org/officeDocument/2006/math">
                    <m:r>
                      <a:rPr lang="en-SG" i="1" dirty="0" smtClean="0">
                        <a:latin typeface="Cambria Math" panose="02040503050406030204" pitchFamily="18" charset="0"/>
                        <a:sym typeface="Wingdings" panose="05000000000000000000" pitchFamily="2" charset="2"/>
                      </a:rPr>
                      <m:t>𝐵</m:t>
                    </m:r>
                    <m:r>
                      <a:rPr lang="en-GB" b="0" i="1" dirty="0" smtClean="0">
                        <a:latin typeface="Cambria Math" panose="02040503050406030204" pitchFamily="18" charset="0"/>
                        <a:sym typeface="Wingdings" panose="05000000000000000000" pitchFamily="2" charset="2"/>
                      </a:rPr>
                      <m:t>𝜔</m:t>
                    </m:r>
                  </m:oMath>
                </a14:m>
                <a:r>
                  <a:rPr lang="en-SG" dirty="0">
                    <a:sym typeface="Wingdings" panose="05000000000000000000" pitchFamily="2" charset="2"/>
                  </a:rPr>
                  <a:t> and </a:t>
                </a:r>
                <a14:m>
                  <m:oMath xmlns:m="http://schemas.openxmlformats.org/officeDocument/2006/math">
                    <m:r>
                      <a:rPr lang="en-SG" i="1" dirty="0" smtClean="0">
                        <a:latin typeface="Cambria Math" panose="02040503050406030204" pitchFamily="18" charset="0"/>
                        <a:sym typeface="Wingdings" panose="05000000000000000000" pitchFamily="2" charset="2"/>
                      </a:rPr>
                      <m:t>𝐵</m:t>
                    </m:r>
                  </m:oMath>
                </a14:m>
                <a:r>
                  <a:rPr lang="en-SG" dirty="0">
                    <a:sym typeface="Wingdings" panose="05000000000000000000" pitchFamily="2" charset="2"/>
                  </a:rPr>
                  <a:t>  </a:t>
                </a:r>
                <a14:m>
                  <m:oMath xmlns:m="http://schemas.openxmlformats.org/officeDocument/2006/math">
                    <m:r>
                      <a:rPr lang="en-SG" i="1" dirty="0" smtClean="0">
                        <a:latin typeface="Cambria Math" panose="02040503050406030204" pitchFamily="18" charset="0"/>
                        <a:sym typeface="Wingdings" panose="05000000000000000000" pitchFamily="2" charset="2"/>
                      </a:rPr>
                      <m:t>𝑐</m:t>
                    </m:r>
                  </m:oMath>
                </a14:m>
                <a:r>
                  <a:rPr lang="en-SG" dirty="0">
                    <a:sym typeface="Wingdings" panose="05000000000000000000" pitchFamily="2" charset="2"/>
                  </a:rPr>
                  <a:t>, then </a:t>
                </a:r>
                <a14:m>
                  <m:oMath xmlns:m="http://schemas.openxmlformats.org/officeDocument/2006/math">
                    <m:r>
                      <a:rPr lang="en-SG" i="1" dirty="0" smtClean="0">
                        <a:latin typeface="Cambria Math" panose="02040503050406030204" pitchFamily="18" charset="0"/>
                        <a:sym typeface="Wingdings" panose="05000000000000000000" pitchFamily="2" charset="2"/>
                      </a:rPr>
                      <m:t>𝑐</m:t>
                    </m:r>
                    <m:r>
                      <a:rPr lang="en-SG" i="1" dirty="0" smtClean="0">
                        <a:latin typeface="Cambria Math" panose="02040503050406030204" pitchFamily="18" charset="0"/>
                        <a:sym typeface="Wingdings" panose="05000000000000000000" pitchFamily="2" charset="2"/>
                      </a:rPr>
                      <m:t>∈ </m:t>
                    </m:r>
                    <m:r>
                      <a:rPr lang="en-SG" i="1" dirty="0" smtClean="0">
                        <a:latin typeface="Cambria Math" panose="02040503050406030204" pitchFamily="18" charset="0"/>
                        <a:sym typeface="Wingdings" panose="05000000000000000000" pitchFamily="2" charset="2"/>
                      </a:rPr>
                      <m:t>𝐹</m:t>
                    </m:r>
                    <m:r>
                      <a:rPr lang="en-SG" i="1" dirty="0" smtClean="0">
                        <a:latin typeface="Cambria Math" panose="02040503050406030204" pitchFamily="18" charset="0"/>
                        <a:sym typeface="Wingdings" panose="05000000000000000000" pitchFamily="2" charset="2"/>
                      </a:rPr>
                      <m:t>(</m:t>
                    </m:r>
                    <m:r>
                      <a:rPr lang="en-SG" i="1" dirty="0" smtClean="0">
                        <a:latin typeface="Cambria Math" panose="02040503050406030204" pitchFamily="18" charset="0"/>
                        <a:sym typeface="Wingdings" panose="05000000000000000000" pitchFamily="2" charset="2"/>
                      </a:rPr>
                      <m:t>𝐴</m:t>
                    </m:r>
                    <m:r>
                      <a:rPr lang="en-SG" i="1" dirty="0" smtClean="0">
                        <a:latin typeface="Cambria Math" panose="02040503050406030204" pitchFamily="18" charset="0"/>
                        <a:sym typeface="Wingdings" panose="05000000000000000000" pitchFamily="2" charset="2"/>
                      </a:rPr>
                      <m:t>)</m:t>
                    </m:r>
                  </m:oMath>
                </a14:m>
                <a:r>
                  <a:rPr lang="en-SG" dirty="0"/>
                  <a:t>.</a:t>
                </a:r>
              </a:p>
            </p:txBody>
          </p:sp>
        </mc:Choice>
        <mc:Fallback xmlns="">
          <p:sp>
            <p:nvSpPr>
              <p:cNvPr id="3" name="Content Placeholder 2">
                <a:extLst>
                  <a:ext uri="{FF2B5EF4-FFF2-40B4-BE49-F238E27FC236}">
                    <a16:creationId xmlns:a16="http://schemas.microsoft.com/office/drawing/2014/main" id="{9DE790B0-6C09-28B5-E4FA-99CCB209CAAB}"/>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r="-1913"/>
                </a:stretch>
              </a:blipFill>
            </p:spPr>
            <p:txBody>
              <a:bodyPr/>
              <a:lstStyle/>
              <a:p>
                <a:r>
                  <a:rPr lang="en-SG">
                    <a:noFill/>
                  </a:rPr>
                  <a:t> </a:t>
                </a:r>
              </a:p>
            </p:txBody>
          </p:sp>
        </mc:Fallback>
      </mc:AlternateContent>
    </p:spTree>
    <p:extLst>
      <p:ext uri="{BB962C8B-B14F-4D97-AF65-F5344CB8AC3E}">
        <p14:creationId xmlns:p14="http://schemas.microsoft.com/office/powerpoint/2010/main" val="945482794"/>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DD6C6A-1154-FC8E-1C53-965F0CF3E3C7}"/>
              </a:ext>
            </a:extLst>
          </p:cNvPr>
          <p:cNvSpPr>
            <a:spLocks noGrp="1"/>
          </p:cNvSpPr>
          <p:nvPr>
            <p:ph type="title"/>
          </p:nvPr>
        </p:nvSpPr>
        <p:spPr/>
        <p:txBody>
          <a:bodyPr/>
          <a:lstStyle/>
          <a:p>
            <a:r>
              <a:rPr lang="en-GB" dirty="0"/>
              <a:t>Definition: FIRST* Sets F</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DE790B0-6C09-28B5-E4FA-99CCB209CAAB}"/>
                  </a:ext>
                </a:extLst>
              </p:cNvPr>
              <p:cNvSpPr>
                <a:spLocks noGrp="1"/>
              </p:cNvSpPr>
              <p:nvPr>
                <p:ph idx="1"/>
              </p:nvPr>
            </p:nvSpPr>
            <p:spPr>
              <a:xfrm>
                <a:off x="838200" y="1825624"/>
                <a:ext cx="10515600" cy="5032375"/>
              </a:xfrm>
            </p:spPr>
            <p:txBody>
              <a:bodyPr>
                <a:normAutofit/>
              </a:bodyPr>
              <a:lstStyle/>
              <a:p>
                <a:pPr marL="0" indent="0">
                  <a:buNone/>
                </a:pPr>
                <a:r>
                  <a:rPr lang="en-GB" b="1" dirty="0"/>
                  <a:t>Definition (</a:t>
                </a:r>
                <a:r>
                  <a:rPr lang="en-GB" b="1" dirty="0">
                    <a:solidFill>
                      <a:srgbClr val="00B050"/>
                    </a:solidFill>
                  </a:rPr>
                  <a:t>FIRST* Set </a:t>
                </a:r>
                <a14:m>
                  <m:oMath xmlns:m="http://schemas.openxmlformats.org/officeDocument/2006/math">
                    <m:sSup>
                      <m:sSupPr>
                        <m:ctrlPr>
                          <a:rPr lang="en-GB" b="1" i="1" dirty="0" smtClean="0">
                            <a:solidFill>
                              <a:srgbClr val="00B050"/>
                            </a:solidFill>
                            <a:latin typeface="Cambria Math" panose="02040503050406030204" pitchFamily="18" charset="0"/>
                          </a:rPr>
                        </m:ctrlPr>
                      </m:sSupPr>
                      <m:e>
                        <m:r>
                          <a:rPr lang="en-GB" b="1" i="1" dirty="0" smtClean="0">
                            <a:solidFill>
                              <a:srgbClr val="00B050"/>
                            </a:solidFill>
                            <a:latin typeface="Cambria Math" panose="02040503050406030204" pitchFamily="18" charset="0"/>
                          </a:rPr>
                          <m:t>𝑭</m:t>
                        </m:r>
                      </m:e>
                      <m:sup>
                        <m:r>
                          <a:rPr lang="en-GB" b="1" i="1" dirty="0" smtClean="0">
                            <a:solidFill>
                              <a:srgbClr val="00B050"/>
                            </a:solidFill>
                            <a:latin typeface="Cambria Math" panose="02040503050406030204" pitchFamily="18" charset="0"/>
                          </a:rPr>
                          <m:t>∗</m:t>
                        </m:r>
                      </m:sup>
                    </m:sSup>
                  </m:oMath>
                </a14:m>
                <a:r>
                  <a:rPr lang="en-GB" b="1" dirty="0"/>
                  <a:t> for a given non-terminal symbol):</a:t>
                </a:r>
              </a:p>
              <a:p>
                <a:pPr marL="0" indent="0">
                  <a:buNone/>
                </a:pPr>
                <a:r>
                  <a:rPr lang="en-GB" dirty="0"/>
                  <a:t>We can generalize FIRST sets to any string with FIRST* sets.</a:t>
                </a:r>
              </a:p>
              <a:p>
                <a:pPr marL="0" indent="0">
                  <a:buNone/>
                </a:pPr>
                <a:r>
                  <a:rPr lang="en-GB" dirty="0"/>
                  <a:t>We simply have </a:t>
                </a:r>
                <a14:m>
                  <m:oMath xmlns:m="http://schemas.openxmlformats.org/officeDocument/2006/math">
                    <m:sSup>
                      <m:sSupPr>
                        <m:ctrlPr>
                          <a:rPr lang="en-GB" b="0" i="1" smtClean="0">
                            <a:latin typeface="Cambria Math" panose="02040503050406030204" pitchFamily="18" charset="0"/>
                          </a:rPr>
                        </m:ctrlPr>
                      </m:sSupPr>
                      <m:e>
                        <m:r>
                          <a:rPr lang="en-GB" b="0" i="1" smtClean="0">
                            <a:latin typeface="Cambria Math" panose="02040503050406030204" pitchFamily="18" charset="0"/>
                          </a:rPr>
                          <m:t>𝐹</m:t>
                        </m:r>
                      </m:e>
                      <m:sup>
                        <m:r>
                          <a:rPr lang="en-GB" b="0" i="1" smtClean="0">
                            <a:latin typeface="Cambria Math" panose="02040503050406030204" pitchFamily="18" charset="0"/>
                          </a:rPr>
                          <m:t>∗</m:t>
                        </m:r>
                      </m:sup>
                    </m:sSup>
                    <m:r>
                      <a:rPr lang="en-GB" b="0" i="1" smtClean="0">
                        <a:latin typeface="Cambria Math" panose="02040503050406030204" pitchFamily="18" charset="0"/>
                      </a:rPr>
                      <m:t>(</m:t>
                    </m:r>
                    <m:r>
                      <a:rPr lang="en-GB" b="0" i="1" smtClean="0">
                        <a:latin typeface="Cambria Math" panose="02040503050406030204" pitchFamily="18" charset="0"/>
                      </a:rPr>
                      <m:t>𝜔</m:t>
                    </m:r>
                    <m:r>
                      <a:rPr lang="en-GB" b="0" i="1" smtClean="0">
                        <a:latin typeface="Cambria Math" panose="02040503050406030204" pitchFamily="18" charset="0"/>
                      </a:rPr>
                      <m:t>)</m:t>
                    </m:r>
                  </m:oMath>
                </a14:m>
                <a:r>
                  <a:rPr lang="en-GB" dirty="0"/>
                  <a:t> being the set of all terminals (or </a:t>
                </a:r>
                <a14:m>
                  <m:oMath xmlns:m="http://schemas.openxmlformats.org/officeDocument/2006/math">
                    <m:r>
                      <a:rPr lang="en-GB" b="0" i="1" smtClean="0">
                        <a:latin typeface="Cambria Math" panose="02040503050406030204" pitchFamily="18" charset="0"/>
                      </a:rPr>
                      <m:t>𝜖</m:t>
                    </m:r>
                  </m:oMath>
                </a14:m>
                <a:r>
                  <a:rPr lang="en-GB" dirty="0"/>
                  <a:t>) that can appear at the start of a string derived from </a:t>
                </a:r>
                <a14:m>
                  <m:oMath xmlns:m="http://schemas.openxmlformats.org/officeDocument/2006/math">
                    <m:r>
                      <a:rPr lang="en-GB" b="0" i="1" smtClean="0">
                        <a:latin typeface="Cambria Math" panose="02040503050406030204" pitchFamily="18" charset="0"/>
                      </a:rPr>
                      <m:t>𝜔</m:t>
                    </m:r>
                  </m:oMath>
                </a14:m>
                <a:r>
                  <a:rPr lang="en-GB" dirty="0"/>
                  <a:t>.</a:t>
                </a:r>
              </a:p>
              <a:p>
                <a:pPr marL="0" indent="0">
                  <a:buNone/>
                </a:pPr>
                <a:r>
                  <a:rPr lang="en-GB" b="1" dirty="0"/>
                  <a:t>Property #1: </a:t>
                </a:r>
                <a:r>
                  <a:rPr lang="en-GB" dirty="0"/>
                  <a:t>If </a:t>
                </a:r>
                <a14:m>
                  <m:oMath xmlns:m="http://schemas.openxmlformats.org/officeDocument/2006/math">
                    <m:r>
                      <a:rPr lang="en-GB" b="0" i="1" smtClean="0">
                        <a:latin typeface="Cambria Math" panose="02040503050406030204" pitchFamily="18" charset="0"/>
                      </a:rPr>
                      <m:t>𝑆</m:t>
                    </m:r>
                    <m:r>
                      <a:rPr lang="en-GB" i="1" smtClean="0">
                        <a:latin typeface="Cambria Math" panose="02040503050406030204" pitchFamily="18" charset="0"/>
                      </a:rPr>
                      <m:t> →</m:t>
                    </m:r>
                    <m:r>
                      <a:rPr lang="en-GB" b="0" i="1" smtClean="0">
                        <a:latin typeface="Cambria Math" panose="02040503050406030204" pitchFamily="18" charset="0"/>
                      </a:rPr>
                      <m:t>𝐴𝐵</m:t>
                    </m:r>
                    <m:r>
                      <a:rPr lang="en-GB" b="0" i="1" smtClean="0">
                        <a:latin typeface="Cambria Math" panose="02040503050406030204" pitchFamily="18" charset="0"/>
                      </a:rPr>
                      <m:t>𝜔</m:t>
                    </m:r>
                  </m:oMath>
                </a14:m>
                <a:r>
                  <a:rPr lang="en-GB" dirty="0"/>
                  <a:t>, and </a:t>
                </a:r>
                <a14:m>
                  <m:oMath xmlns:m="http://schemas.openxmlformats.org/officeDocument/2006/math">
                    <m:r>
                      <a:rPr lang="en-GB" i="1">
                        <a:latin typeface="Cambria Math" panose="02040503050406030204" pitchFamily="18" charset="0"/>
                      </a:rPr>
                      <m:t>𝐴</m:t>
                    </m:r>
                  </m:oMath>
                </a14:m>
                <a:r>
                  <a:rPr lang="en-GB" dirty="0"/>
                  <a:t> has a production rule that contains </a:t>
                </a:r>
                <a14:m>
                  <m:oMath xmlns:m="http://schemas.openxmlformats.org/officeDocument/2006/math">
                    <m:r>
                      <a:rPr lang="el-GR" i="1" dirty="0">
                        <a:latin typeface="Cambria Math" panose="02040503050406030204" pitchFamily="18" charset="0"/>
                      </a:rPr>
                      <m:t>𝜀</m:t>
                    </m:r>
                  </m:oMath>
                </a14:m>
                <a:r>
                  <a:rPr lang="en-GB" dirty="0"/>
                  <a:t>, but not </a:t>
                </a:r>
                <a14:m>
                  <m:oMath xmlns:m="http://schemas.openxmlformats.org/officeDocument/2006/math">
                    <m:r>
                      <a:rPr lang="en-GB" b="0" i="1" smtClean="0">
                        <a:latin typeface="Cambria Math" panose="02040503050406030204" pitchFamily="18" charset="0"/>
                      </a:rPr>
                      <m:t>𝐵</m:t>
                    </m:r>
                  </m:oMath>
                </a14:m>
                <a:r>
                  <a:rPr lang="en-GB" dirty="0"/>
                  <a:t>, then </a:t>
                </a:r>
                <a14:m>
                  <m:oMath xmlns:m="http://schemas.openxmlformats.org/officeDocument/2006/math">
                    <m:sSup>
                      <m:sSupPr>
                        <m:ctrlPr>
                          <a:rPr lang="en-GB" b="0" i="1" dirty="0" smtClean="0">
                            <a:latin typeface="Cambria Math" panose="02040503050406030204" pitchFamily="18" charset="0"/>
                          </a:rPr>
                        </m:ctrlPr>
                      </m:sSupPr>
                      <m:e>
                        <m:r>
                          <a:rPr lang="en-GB" b="0" i="1" dirty="0" smtClean="0">
                            <a:latin typeface="Cambria Math" panose="02040503050406030204" pitchFamily="18" charset="0"/>
                          </a:rPr>
                          <m:t>𝐹</m:t>
                        </m:r>
                      </m:e>
                      <m:sup>
                        <m:r>
                          <a:rPr lang="en-GB" b="0" i="1" dirty="0" smtClean="0">
                            <a:latin typeface="Cambria Math" panose="02040503050406030204" pitchFamily="18" charset="0"/>
                          </a:rPr>
                          <m:t>∗</m:t>
                        </m:r>
                      </m:sup>
                    </m:sSup>
                    <m:r>
                      <a:rPr lang="en-GB" i="1" dirty="0" smtClean="0">
                        <a:latin typeface="Cambria Math" panose="02040503050406030204" pitchFamily="18" charset="0"/>
                      </a:rPr>
                      <m:t>(</m:t>
                    </m:r>
                    <m:r>
                      <a:rPr lang="en-GB" i="1" dirty="0" smtClean="0">
                        <a:latin typeface="Cambria Math" panose="02040503050406030204" pitchFamily="18" charset="0"/>
                      </a:rPr>
                      <m:t>𝑆</m:t>
                    </m:r>
                    <m:r>
                      <a:rPr lang="en-GB" i="1" dirty="0" smtClean="0">
                        <a:latin typeface="Cambria Math" panose="02040503050406030204" pitchFamily="18" charset="0"/>
                      </a:rPr>
                      <m:t>) = </m:t>
                    </m:r>
                    <m:r>
                      <a:rPr lang="en-SG" i="1" dirty="0" smtClean="0">
                        <a:latin typeface="Cambria Math" panose="02040503050406030204" pitchFamily="18" charset="0"/>
                      </a:rPr>
                      <m:t>𝐹</m:t>
                    </m:r>
                    <m:r>
                      <a:rPr lang="en-SG" i="1" dirty="0" smtClean="0">
                        <a:latin typeface="Cambria Math" panose="02040503050406030204" pitchFamily="18" charset="0"/>
                      </a:rPr>
                      <m:t>(</m:t>
                    </m:r>
                    <m:r>
                      <a:rPr lang="en-SG" i="1" dirty="0">
                        <a:latin typeface="Cambria Math" panose="02040503050406030204" pitchFamily="18" charset="0"/>
                      </a:rPr>
                      <m:t>𝐴</m:t>
                    </m:r>
                    <m:r>
                      <a:rPr lang="en-SG" i="1" dirty="0">
                        <a:latin typeface="Cambria Math" panose="02040503050406030204" pitchFamily="18" charset="0"/>
                      </a:rPr>
                      <m:t>) ∪ </m:t>
                    </m:r>
                    <m:r>
                      <a:rPr lang="en-SG" i="1" dirty="0">
                        <a:latin typeface="Cambria Math" panose="02040503050406030204" pitchFamily="18" charset="0"/>
                      </a:rPr>
                      <m:t>𝐹</m:t>
                    </m:r>
                    <m:r>
                      <a:rPr lang="en-SG" i="1" dirty="0" smtClean="0">
                        <a:latin typeface="Cambria Math" panose="02040503050406030204" pitchFamily="18" charset="0"/>
                      </a:rPr>
                      <m:t>(</m:t>
                    </m:r>
                    <m:r>
                      <a:rPr lang="en-SG" i="1" dirty="0" smtClean="0">
                        <a:latin typeface="Cambria Math" panose="02040503050406030204" pitchFamily="18" charset="0"/>
                      </a:rPr>
                      <m:t>𝐵</m:t>
                    </m:r>
                    <m:r>
                      <a:rPr lang="en-SG" i="1" dirty="0" smtClean="0">
                        <a:latin typeface="Cambria Math" panose="02040503050406030204" pitchFamily="18" charset="0"/>
                      </a:rPr>
                      <m:t>) − {</m:t>
                    </m:r>
                    <m:r>
                      <a:rPr lang="el-GR" i="1" dirty="0">
                        <a:latin typeface="Cambria Math" panose="02040503050406030204" pitchFamily="18" charset="0"/>
                      </a:rPr>
                      <m:t>𝜀</m:t>
                    </m:r>
                    <m:r>
                      <a:rPr lang="el-GR" i="1" dirty="0">
                        <a:latin typeface="Cambria Math" panose="02040503050406030204" pitchFamily="18" charset="0"/>
                      </a:rPr>
                      <m:t>}</m:t>
                    </m:r>
                  </m:oMath>
                </a14:m>
                <a:r>
                  <a:rPr lang="en-GB" dirty="0"/>
                  <a:t>.</a:t>
                </a:r>
              </a:p>
              <a:p>
                <a:pPr marL="0" indent="0">
                  <a:buNone/>
                </a:pPr>
                <a:r>
                  <a:rPr lang="en-GB" b="1" dirty="0"/>
                  <a:t>Property #2: </a:t>
                </a:r>
                <a:r>
                  <a:rPr lang="en-GB" dirty="0"/>
                  <a:t>We can build </a:t>
                </a:r>
                <a14:m>
                  <m:oMath xmlns:m="http://schemas.openxmlformats.org/officeDocument/2006/math">
                    <m:r>
                      <a:rPr lang="en-GB" b="0" i="1" smtClean="0">
                        <a:latin typeface="Cambria Math" panose="02040503050406030204" pitchFamily="18" charset="0"/>
                      </a:rPr>
                      <m:t>𝐹</m:t>
                    </m:r>
                    <m:d>
                      <m:dPr>
                        <m:ctrlPr>
                          <a:rPr lang="en-GB" b="0" i="1" smtClean="0">
                            <a:latin typeface="Cambria Math" panose="02040503050406030204" pitchFamily="18" charset="0"/>
                          </a:rPr>
                        </m:ctrlPr>
                      </m:dPr>
                      <m:e>
                        <m:r>
                          <a:rPr lang="en-GB" b="0" i="1" smtClean="0">
                            <a:latin typeface="Cambria Math" panose="02040503050406030204" pitchFamily="18" charset="0"/>
                          </a:rPr>
                          <m:t>𝐴</m:t>
                        </m:r>
                      </m:e>
                    </m:d>
                  </m:oMath>
                </a14:m>
                <a:r>
                  <a:rPr lang="en-GB" dirty="0"/>
                  <a:t> incrementally, by repeating the following operation, for each production </a:t>
                </a:r>
                <a14:m>
                  <m:oMath xmlns:m="http://schemas.openxmlformats.org/officeDocument/2006/math">
                    <m:r>
                      <a:rPr lang="en-GB" i="1">
                        <a:latin typeface="Cambria Math" panose="02040503050406030204" pitchFamily="18" charset="0"/>
                      </a:rPr>
                      <m:t>𝐴</m:t>
                    </m:r>
                    <m:r>
                      <a:rPr lang="en-GB" i="1">
                        <a:latin typeface="Cambria Math" panose="02040503050406030204" pitchFamily="18" charset="0"/>
                      </a:rPr>
                      <m:t> →</m:t>
                    </m:r>
                    <m:r>
                      <a:rPr lang="en-GB" i="1">
                        <a:latin typeface="Cambria Math" panose="02040503050406030204" pitchFamily="18" charset="0"/>
                      </a:rPr>
                      <m:t>𝛼</m:t>
                    </m:r>
                  </m:oMath>
                </a14:m>
                <a:r>
                  <a:rPr lang="en-SG" dirty="0"/>
                  <a:t>.</a:t>
                </a: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𝐹</m:t>
                      </m:r>
                      <m:d>
                        <m:dPr>
                          <m:ctrlPr>
                            <a:rPr lang="en-GB" b="0" i="1" smtClean="0">
                              <a:latin typeface="Cambria Math" panose="02040503050406030204" pitchFamily="18" charset="0"/>
                            </a:rPr>
                          </m:ctrlPr>
                        </m:dPr>
                        <m:e>
                          <m:r>
                            <a:rPr lang="en-GB" b="0" i="1" smtClean="0">
                              <a:latin typeface="Cambria Math" panose="02040503050406030204" pitchFamily="18" charset="0"/>
                            </a:rPr>
                            <m:t>𝐴</m:t>
                          </m:r>
                        </m:e>
                      </m:d>
                      <m:r>
                        <a:rPr lang="en-GB" b="0" i="1" smtClean="0">
                          <a:latin typeface="Cambria Math" panose="02040503050406030204" pitchFamily="18" charset="0"/>
                        </a:rPr>
                        <m:t>=</m:t>
                      </m:r>
                      <m:r>
                        <a:rPr lang="en-GB" b="0" i="1" smtClean="0">
                          <a:latin typeface="Cambria Math" panose="02040503050406030204" pitchFamily="18" charset="0"/>
                        </a:rPr>
                        <m:t>𝐹</m:t>
                      </m:r>
                      <m:d>
                        <m:dPr>
                          <m:ctrlPr>
                            <a:rPr lang="en-GB" b="0" i="1" smtClean="0">
                              <a:latin typeface="Cambria Math" panose="02040503050406030204" pitchFamily="18" charset="0"/>
                            </a:rPr>
                          </m:ctrlPr>
                        </m:dPr>
                        <m:e>
                          <m:r>
                            <a:rPr lang="en-GB" b="0" i="1" smtClean="0">
                              <a:latin typeface="Cambria Math" panose="02040503050406030204" pitchFamily="18" charset="0"/>
                            </a:rPr>
                            <m:t>𝐴</m:t>
                          </m:r>
                        </m:e>
                      </m:d>
                      <m:r>
                        <a:rPr lang="en-GB" b="0" i="1" smtClean="0">
                          <a:latin typeface="Cambria Math" panose="02040503050406030204" pitchFamily="18" charset="0"/>
                        </a:rPr>
                        <m:t> </m:t>
                      </m:r>
                      <m:r>
                        <a:rPr lang="en-GB" b="0" i="1" smtClean="0">
                          <a:latin typeface="Cambria Math" panose="02040503050406030204" pitchFamily="18" charset="0"/>
                          <a:ea typeface="Cambria Math" panose="02040503050406030204" pitchFamily="18" charset="0"/>
                        </a:rPr>
                        <m:t>∪</m:t>
                      </m:r>
                      <m:sSup>
                        <m:sSupPr>
                          <m:ctrlPr>
                            <a:rPr lang="en-GB" b="0" i="1" smtClean="0">
                              <a:latin typeface="Cambria Math" panose="02040503050406030204" pitchFamily="18" charset="0"/>
                              <a:ea typeface="Cambria Math" panose="02040503050406030204" pitchFamily="18" charset="0"/>
                            </a:rPr>
                          </m:ctrlPr>
                        </m:sSupPr>
                        <m:e>
                          <m:r>
                            <a:rPr lang="en-GB" b="0" i="1" smtClean="0">
                              <a:latin typeface="Cambria Math" panose="02040503050406030204" pitchFamily="18" charset="0"/>
                              <a:ea typeface="Cambria Math" panose="02040503050406030204" pitchFamily="18" charset="0"/>
                            </a:rPr>
                            <m:t>𝐹</m:t>
                          </m:r>
                        </m:e>
                        <m:sup>
                          <m:r>
                            <a:rPr lang="en-GB" b="0" i="1" smtClean="0">
                              <a:latin typeface="Cambria Math" panose="02040503050406030204" pitchFamily="18" charset="0"/>
                              <a:ea typeface="Cambria Math" panose="02040503050406030204" pitchFamily="18" charset="0"/>
                            </a:rPr>
                            <m:t>∗</m:t>
                          </m:r>
                        </m:sup>
                      </m:sSup>
                      <m:r>
                        <a:rPr lang="en-GB" b="0" i="1" smtClean="0">
                          <a:latin typeface="Cambria Math" panose="02040503050406030204" pitchFamily="18" charset="0"/>
                          <a:ea typeface="Cambria Math" panose="02040503050406030204" pitchFamily="18" charset="0"/>
                        </a:rPr>
                        <m:t>(</m:t>
                      </m:r>
                      <m:r>
                        <a:rPr lang="en-GB" b="0" i="1" smtClean="0">
                          <a:latin typeface="Cambria Math" panose="02040503050406030204" pitchFamily="18" charset="0"/>
                          <a:ea typeface="Cambria Math" panose="02040503050406030204" pitchFamily="18" charset="0"/>
                        </a:rPr>
                        <m:t>𝛼</m:t>
                      </m:r>
                      <m:r>
                        <a:rPr lang="en-GB" b="0" i="1" smtClean="0">
                          <a:latin typeface="Cambria Math" panose="02040503050406030204" pitchFamily="18" charset="0"/>
                          <a:ea typeface="Cambria Math" panose="02040503050406030204" pitchFamily="18" charset="0"/>
                        </a:rPr>
                        <m:t>)</m:t>
                      </m:r>
                    </m:oMath>
                  </m:oMathPara>
                </a14:m>
                <a:endParaRPr lang="en-SG" dirty="0"/>
              </a:p>
            </p:txBody>
          </p:sp>
        </mc:Choice>
        <mc:Fallback xmlns="">
          <p:sp>
            <p:nvSpPr>
              <p:cNvPr id="3" name="Content Placeholder 2">
                <a:extLst>
                  <a:ext uri="{FF2B5EF4-FFF2-40B4-BE49-F238E27FC236}">
                    <a16:creationId xmlns:a16="http://schemas.microsoft.com/office/drawing/2014/main" id="{9DE790B0-6C09-28B5-E4FA-99CCB209CAAB}"/>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r="-348"/>
                </a:stretch>
              </a:blipFill>
            </p:spPr>
            <p:txBody>
              <a:bodyPr/>
              <a:lstStyle/>
              <a:p>
                <a:r>
                  <a:rPr lang="en-SG">
                    <a:noFill/>
                  </a:rPr>
                  <a:t> </a:t>
                </a:r>
              </a:p>
            </p:txBody>
          </p:sp>
        </mc:Fallback>
      </mc:AlternateContent>
    </p:spTree>
    <p:extLst>
      <p:ext uri="{BB962C8B-B14F-4D97-AF65-F5344CB8AC3E}">
        <p14:creationId xmlns:p14="http://schemas.microsoft.com/office/powerpoint/2010/main" val="2434593562"/>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DD6C6A-1154-FC8E-1C53-965F0CF3E3C7}"/>
              </a:ext>
            </a:extLst>
          </p:cNvPr>
          <p:cNvSpPr>
            <a:spLocks noGrp="1"/>
          </p:cNvSpPr>
          <p:nvPr>
            <p:ph type="title"/>
          </p:nvPr>
        </p:nvSpPr>
        <p:spPr/>
        <p:txBody>
          <a:bodyPr/>
          <a:lstStyle/>
          <a:p>
            <a:r>
              <a:rPr lang="en-GB" dirty="0"/>
              <a:t>Definition: FIRST* Sets F</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DE790B0-6C09-28B5-E4FA-99CCB209CAAB}"/>
                  </a:ext>
                </a:extLst>
              </p:cNvPr>
              <p:cNvSpPr>
                <a:spLocks noGrp="1"/>
              </p:cNvSpPr>
              <p:nvPr>
                <p:ph sz="half" idx="1"/>
              </p:nvPr>
            </p:nvSpPr>
            <p:spPr/>
            <p:txBody>
              <a:bodyPr>
                <a:normAutofit/>
              </a:bodyPr>
              <a:lstStyle/>
              <a:p>
                <a:pPr marL="0" indent="0">
                  <a:buNone/>
                </a:pPr>
                <a:r>
                  <a:rPr lang="en-GB" b="1" dirty="0"/>
                  <a:t>Going back to our previous CFG</a:t>
                </a:r>
              </a:p>
              <a:p>
                <a:pPr marL="0" indent="0">
                  <a:buNone/>
                </a:pPr>
                <a:r>
                  <a:rPr lang="en-SG" dirty="0"/>
                  <a:t>S </a:t>
                </a:r>
                <a:r>
                  <a:rPr lang="en-SG" dirty="0">
                    <a:sym typeface="Wingdings" panose="05000000000000000000" pitchFamily="2" charset="2"/>
                  </a:rPr>
                  <a:t></a:t>
                </a:r>
                <a:r>
                  <a:rPr lang="en-SG" dirty="0"/>
                  <a:t> ACB</a:t>
                </a:r>
              </a:p>
              <a:p>
                <a:pPr marL="0" indent="0">
                  <a:buNone/>
                </a:pPr>
                <a:r>
                  <a:rPr lang="en-SG" dirty="0"/>
                  <a:t>A </a:t>
                </a:r>
                <a:r>
                  <a:rPr lang="en-SG" dirty="0">
                    <a:sym typeface="Wingdings" panose="05000000000000000000" pitchFamily="2" charset="2"/>
                  </a:rPr>
                  <a:t></a:t>
                </a:r>
                <a:r>
                  <a:rPr lang="en-SG" dirty="0"/>
                  <a:t> a | </a:t>
                </a:r>
                <a:r>
                  <a:rPr lang="en-GB" dirty="0"/>
                  <a:t>B | </a:t>
                </a:r>
                <a14:m>
                  <m:oMath xmlns:m="http://schemas.openxmlformats.org/officeDocument/2006/math">
                    <m:r>
                      <a:rPr lang="en-GB" b="0" i="1" smtClean="0">
                        <a:latin typeface="Cambria Math" panose="02040503050406030204" pitchFamily="18" charset="0"/>
                      </a:rPr>
                      <m:t>𝜖</m:t>
                    </m:r>
                  </m:oMath>
                </a14:m>
                <a:endParaRPr lang="el-GR" dirty="0"/>
              </a:p>
              <a:p>
                <a:pPr marL="0" indent="0">
                  <a:buNone/>
                </a:pPr>
                <a:r>
                  <a:rPr lang="en-SG" dirty="0"/>
                  <a:t>B </a:t>
                </a:r>
                <a:r>
                  <a:rPr lang="en-SG" dirty="0">
                    <a:sym typeface="Wingdings" panose="05000000000000000000" pitchFamily="2" charset="2"/>
                  </a:rPr>
                  <a:t></a:t>
                </a:r>
                <a:r>
                  <a:rPr lang="en-SG" dirty="0"/>
                  <a:t> b</a:t>
                </a:r>
              </a:p>
              <a:p>
                <a:pPr marL="0" indent="0">
                  <a:buNone/>
                </a:pPr>
                <a:r>
                  <a:rPr lang="en-SG" dirty="0"/>
                  <a:t>C </a:t>
                </a:r>
                <a:r>
                  <a:rPr lang="en-SG" dirty="0">
                    <a:sym typeface="Wingdings" panose="05000000000000000000" pitchFamily="2" charset="2"/>
                  </a:rPr>
                  <a:t> c | d</a:t>
                </a:r>
                <a:endParaRPr lang="en-GB" b="1" dirty="0"/>
              </a:p>
              <a:p>
                <a:pPr marL="0" indent="0">
                  <a:buNone/>
                </a:pPr>
                <a:r>
                  <a:rPr lang="en-SG" dirty="0"/>
                  <a:t>We can now correctly establish what </a:t>
                </a:r>
                <a14:m>
                  <m:oMath xmlns:m="http://schemas.openxmlformats.org/officeDocument/2006/math">
                    <m:r>
                      <a:rPr lang="en-SG" i="1" dirty="0" smtClean="0">
                        <a:latin typeface="Cambria Math" panose="02040503050406030204" pitchFamily="18" charset="0"/>
                      </a:rPr>
                      <m:t>𝐹</m:t>
                    </m:r>
                    <m:r>
                      <a:rPr lang="en-SG" i="1" dirty="0" smtClean="0">
                        <a:latin typeface="Cambria Math" panose="02040503050406030204" pitchFamily="18" charset="0"/>
                      </a:rPr>
                      <m:t>(</m:t>
                    </m:r>
                    <m:r>
                      <a:rPr lang="en-SG" i="1" dirty="0" smtClean="0">
                        <a:latin typeface="Cambria Math" panose="02040503050406030204" pitchFamily="18" charset="0"/>
                      </a:rPr>
                      <m:t>𝐴</m:t>
                    </m:r>
                    <m:r>
                      <a:rPr lang="en-SG" i="1" dirty="0" smtClean="0">
                        <a:latin typeface="Cambria Math" panose="02040503050406030204" pitchFamily="18" charset="0"/>
                      </a:rPr>
                      <m:t>) </m:t>
                    </m:r>
                  </m:oMath>
                </a14:m>
                <a:r>
                  <a:rPr lang="en-SG" dirty="0"/>
                  <a:t>is using .</a:t>
                </a:r>
              </a:p>
            </p:txBody>
          </p:sp>
        </mc:Choice>
        <mc:Fallback xmlns="">
          <p:sp>
            <p:nvSpPr>
              <p:cNvPr id="3" name="Content Placeholder 2">
                <a:extLst>
                  <a:ext uri="{FF2B5EF4-FFF2-40B4-BE49-F238E27FC236}">
                    <a16:creationId xmlns:a16="http://schemas.microsoft.com/office/drawing/2014/main" id="{9DE790B0-6C09-28B5-E4FA-99CCB209CAAB}"/>
                  </a:ext>
                </a:extLst>
              </p:cNvPr>
              <p:cNvSpPr>
                <a:spLocks noGrp="1" noRot="1" noChangeAspect="1" noMove="1" noResize="1" noEditPoints="1" noAdjustHandles="1" noChangeArrowheads="1" noChangeShapeType="1" noTextEdit="1"/>
              </p:cNvSpPr>
              <p:nvPr>
                <p:ph sz="half" idx="1"/>
              </p:nvPr>
            </p:nvSpPr>
            <p:spPr>
              <a:blipFill>
                <a:blip r:embed="rId2"/>
                <a:stretch>
                  <a:fillRect l="-2471" t="-2241"/>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25E6A656-8085-A82D-C87F-A9B7A36EF4DA}"/>
                  </a:ext>
                </a:extLst>
              </p:cNvPr>
              <p:cNvSpPr>
                <a:spLocks noGrp="1"/>
              </p:cNvSpPr>
              <p:nvPr>
                <p:ph sz="half" idx="2"/>
              </p:nvPr>
            </p:nvSpPr>
            <p:spPr>
              <a:xfrm>
                <a:off x="6172200" y="1825624"/>
                <a:ext cx="5816600" cy="5032375"/>
              </a:xfrm>
            </p:spPr>
            <p:txBody>
              <a:bodyPr>
                <a:normAutofit/>
              </a:bodyPr>
              <a:lstStyle/>
              <a:p>
                <a:pPr marL="0" indent="0">
                  <a:buNone/>
                </a:pPr>
                <a:r>
                  <a:rPr lang="en-SG" dirty="0"/>
                  <a:t>Using our </a:t>
                </a:r>
                <a14:m>
                  <m:oMath xmlns:m="http://schemas.openxmlformats.org/officeDocument/2006/math">
                    <m:sSup>
                      <m:sSupPr>
                        <m:ctrlPr>
                          <a:rPr lang="en-SG" i="1" dirty="0" smtClean="0">
                            <a:latin typeface="Cambria Math" panose="02040503050406030204" pitchFamily="18" charset="0"/>
                          </a:rPr>
                        </m:ctrlPr>
                      </m:sSupPr>
                      <m:e>
                        <m:r>
                          <m:rPr>
                            <m:sty m:val="p"/>
                          </m:rPr>
                          <a:rPr lang="en-SG" i="0" dirty="0" smtClean="0">
                            <a:latin typeface="Cambria Math" panose="02040503050406030204" pitchFamily="18" charset="0"/>
                          </a:rPr>
                          <m:t>F</m:t>
                        </m:r>
                      </m:e>
                      <m:sup>
                        <m:r>
                          <a:rPr lang="en-SG" i="0" dirty="0" smtClean="0">
                            <a:latin typeface="Cambria Math" panose="02040503050406030204" pitchFamily="18" charset="0"/>
                          </a:rPr>
                          <m:t>∗</m:t>
                        </m:r>
                      </m:sup>
                    </m:sSup>
                    <m:r>
                      <a:rPr lang="en-SG" i="1" dirty="0" smtClean="0">
                        <a:latin typeface="Cambria Math" panose="02040503050406030204" pitchFamily="18" charset="0"/>
                      </a:rPr>
                      <m:t> </m:t>
                    </m:r>
                  </m:oMath>
                </a14:m>
                <a:r>
                  <a:rPr lang="en-SG" dirty="0"/>
                  <a:t> notation and the previous properties, we can now rigorously prove that:</a:t>
                </a:r>
              </a:p>
              <a:p>
                <a:pPr marL="0" indent="0">
                  <a:buNone/>
                </a:pPr>
                <a:r>
                  <a:rPr lang="en-SG" dirty="0"/>
                  <a:t>F(A) = F(A) ∪ F(B) ∪ F(</a:t>
                </a:r>
                <a:r>
                  <a:rPr lang="el-GR" dirty="0"/>
                  <a:t>ε) = {</a:t>
                </a:r>
                <a:r>
                  <a:rPr lang="en-SG" dirty="0"/>
                  <a:t>a, b, </a:t>
                </a:r>
                <a:r>
                  <a:rPr lang="el-GR" dirty="0"/>
                  <a:t>ε}</a:t>
                </a:r>
                <a:endParaRPr lang="en-SG" dirty="0"/>
              </a:p>
              <a:p>
                <a:pPr marL="0" indent="0">
                  <a:buNone/>
                </a:pPr>
                <a:r>
                  <a:rPr lang="en-SG" dirty="0"/>
                  <a:t>F(C) = {c, d}</a:t>
                </a:r>
              </a:p>
              <a:p>
                <a:pPr marL="0" indent="0">
                  <a:buNone/>
                </a:pPr>
                <a:r>
                  <a:rPr lang="en-SG" dirty="0"/>
                  <a:t>F(S) = </a:t>
                </a:r>
                <a14:m>
                  <m:oMath xmlns:m="http://schemas.openxmlformats.org/officeDocument/2006/math">
                    <m:sSup>
                      <m:sSupPr>
                        <m:ctrlPr>
                          <a:rPr lang="en-SG" i="1" dirty="0">
                            <a:latin typeface="Cambria Math" panose="02040503050406030204" pitchFamily="18" charset="0"/>
                          </a:rPr>
                        </m:ctrlPr>
                      </m:sSupPr>
                      <m:e>
                        <m:r>
                          <m:rPr>
                            <m:sty m:val="p"/>
                          </m:rPr>
                          <a:rPr lang="en-SG" dirty="0">
                            <a:latin typeface="Cambria Math" panose="02040503050406030204" pitchFamily="18" charset="0"/>
                          </a:rPr>
                          <m:t>F</m:t>
                        </m:r>
                      </m:e>
                      <m:sup>
                        <m:r>
                          <a:rPr lang="en-SG" dirty="0">
                            <a:latin typeface="Cambria Math" panose="02040503050406030204" pitchFamily="18" charset="0"/>
                          </a:rPr>
                          <m:t>∗</m:t>
                        </m:r>
                      </m:sup>
                    </m:sSup>
                  </m:oMath>
                </a14:m>
                <a:r>
                  <a:rPr lang="en-SG" dirty="0"/>
                  <a:t>(ACB)</a:t>
                </a:r>
              </a:p>
              <a:p>
                <a:pPr marL="0" indent="0">
                  <a:buNone/>
                </a:pPr>
                <a:r>
                  <a:rPr lang="en-SG" dirty="0"/>
                  <a:t>          = F(A) ∪ F(C) - {</a:t>
                </a:r>
                <a:r>
                  <a:rPr lang="el-GR" dirty="0"/>
                  <a:t>ε}</a:t>
                </a:r>
                <a:endParaRPr lang="en-GB" dirty="0"/>
              </a:p>
              <a:p>
                <a:pPr marL="0" indent="0">
                  <a:buNone/>
                </a:pPr>
                <a:r>
                  <a:rPr lang="en-SG" dirty="0"/>
                  <a:t>          </a:t>
                </a:r>
                <a:r>
                  <a:rPr lang="el-GR" dirty="0"/>
                  <a:t>= {</a:t>
                </a:r>
                <a:r>
                  <a:rPr lang="en-SG" dirty="0"/>
                  <a:t>a, b, c, d}</a:t>
                </a:r>
              </a:p>
            </p:txBody>
          </p:sp>
        </mc:Choice>
        <mc:Fallback xmlns="">
          <p:sp>
            <p:nvSpPr>
              <p:cNvPr id="4" name="Content Placeholder 3">
                <a:extLst>
                  <a:ext uri="{FF2B5EF4-FFF2-40B4-BE49-F238E27FC236}">
                    <a16:creationId xmlns:a16="http://schemas.microsoft.com/office/drawing/2014/main" id="{25E6A656-8085-A82D-C87F-A9B7A36EF4DA}"/>
                  </a:ext>
                </a:extLst>
              </p:cNvPr>
              <p:cNvSpPr>
                <a:spLocks noGrp="1" noRot="1" noChangeAspect="1" noMove="1" noResize="1" noEditPoints="1" noAdjustHandles="1" noChangeArrowheads="1" noChangeShapeType="1" noTextEdit="1"/>
              </p:cNvSpPr>
              <p:nvPr>
                <p:ph sz="half" idx="2"/>
              </p:nvPr>
            </p:nvSpPr>
            <p:spPr>
              <a:xfrm>
                <a:off x="6172200" y="1825624"/>
                <a:ext cx="5816600" cy="5032375"/>
              </a:xfrm>
              <a:blipFill>
                <a:blip r:embed="rId3"/>
                <a:stretch>
                  <a:fillRect l="-2201" t="-1937"/>
                </a:stretch>
              </a:blipFill>
            </p:spPr>
            <p:txBody>
              <a:bodyPr/>
              <a:lstStyle/>
              <a:p>
                <a:r>
                  <a:rPr lang="en-GB">
                    <a:noFill/>
                  </a:rPr>
                  <a:t> </a:t>
                </a:r>
              </a:p>
            </p:txBody>
          </p:sp>
        </mc:Fallback>
      </mc:AlternateContent>
    </p:spTree>
    <p:extLst>
      <p:ext uri="{BB962C8B-B14F-4D97-AF65-F5344CB8AC3E}">
        <p14:creationId xmlns:p14="http://schemas.microsoft.com/office/powerpoint/2010/main" val="3742346438"/>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47DD6C6A-1154-FC8E-1C53-965F0CF3E3C7}"/>
                  </a:ext>
                </a:extLst>
              </p:cNvPr>
              <p:cNvSpPr>
                <a:spLocks noGrp="1"/>
              </p:cNvSpPr>
              <p:nvPr>
                <p:ph type="title"/>
              </p:nvPr>
            </p:nvSpPr>
            <p:spPr/>
            <p:txBody>
              <a:bodyPr/>
              <a:lstStyle/>
              <a:p>
                <a:r>
                  <a:rPr lang="en-GB" dirty="0"/>
                  <a:t>Definition: FOLLOW Sets </a:t>
                </a:r>
                <a14:m>
                  <m:oMath xmlns:m="http://schemas.openxmlformats.org/officeDocument/2006/math">
                    <m:r>
                      <a:rPr lang="en-GB" b="0" i="1" dirty="0" smtClean="0">
                        <a:latin typeface="Cambria Math" panose="02040503050406030204" pitchFamily="18" charset="0"/>
                      </a:rPr>
                      <m:t>𝑁</m:t>
                    </m:r>
                  </m:oMath>
                </a14:m>
                <a:endParaRPr lang="en-SG" dirty="0"/>
              </a:p>
            </p:txBody>
          </p:sp>
        </mc:Choice>
        <mc:Fallback xmlns="">
          <p:sp>
            <p:nvSpPr>
              <p:cNvPr id="2" name="Title 1">
                <a:extLst>
                  <a:ext uri="{FF2B5EF4-FFF2-40B4-BE49-F238E27FC236}">
                    <a16:creationId xmlns:a16="http://schemas.microsoft.com/office/drawing/2014/main" id="{47DD6C6A-1154-FC8E-1C53-965F0CF3E3C7}"/>
                  </a:ext>
                </a:extLst>
              </p:cNvPr>
              <p:cNvSpPr>
                <a:spLocks noGrp="1" noRot="1" noChangeAspect="1" noMove="1" noResize="1" noEditPoints="1" noAdjustHandles="1" noChangeArrowheads="1" noChangeShapeType="1" noTextEdit="1"/>
              </p:cNvSpPr>
              <p:nvPr>
                <p:ph type="title"/>
              </p:nvPr>
            </p:nvSpPr>
            <p:spPr>
              <a:blipFill>
                <a:blip r:embed="rId2"/>
                <a:stretch>
                  <a:fillRect l="-2377"/>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DE790B0-6C09-28B5-E4FA-99CCB209CAAB}"/>
                  </a:ext>
                </a:extLst>
              </p:cNvPr>
              <p:cNvSpPr>
                <a:spLocks noGrp="1"/>
              </p:cNvSpPr>
              <p:nvPr>
                <p:ph idx="1"/>
              </p:nvPr>
            </p:nvSpPr>
            <p:spPr>
              <a:xfrm>
                <a:off x="838200" y="1825624"/>
                <a:ext cx="10515600" cy="5032375"/>
              </a:xfrm>
            </p:spPr>
            <p:txBody>
              <a:bodyPr>
                <a:normAutofit/>
              </a:bodyPr>
              <a:lstStyle/>
              <a:p>
                <a:pPr marL="0" indent="0">
                  <a:buNone/>
                </a:pPr>
                <a:r>
                  <a:rPr lang="en-GB" b="1" dirty="0"/>
                  <a:t>Definition (</a:t>
                </a:r>
                <a:r>
                  <a:rPr lang="en-GB" b="1" dirty="0">
                    <a:solidFill>
                      <a:srgbClr val="00B050"/>
                    </a:solidFill>
                  </a:rPr>
                  <a:t>FOLLOW Set </a:t>
                </a:r>
                <a14:m>
                  <m:oMath xmlns:m="http://schemas.openxmlformats.org/officeDocument/2006/math">
                    <m:r>
                      <a:rPr lang="en-GB" b="1" i="1" dirty="0" smtClean="0">
                        <a:solidFill>
                          <a:srgbClr val="00B050"/>
                        </a:solidFill>
                        <a:latin typeface="Cambria Math" panose="02040503050406030204" pitchFamily="18" charset="0"/>
                      </a:rPr>
                      <m:t>𝑵</m:t>
                    </m:r>
                  </m:oMath>
                </a14:m>
                <a:r>
                  <a:rPr lang="en-GB" b="1" dirty="0">
                    <a:solidFill>
                      <a:srgbClr val="00B050"/>
                    </a:solidFill>
                  </a:rPr>
                  <a:t> for a given non-terminal symbol</a:t>
                </a:r>
                <a:r>
                  <a:rPr lang="en-GB" b="1" dirty="0"/>
                  <a:t>):</a:t>
                </a:r>
              </a:p>
              <a:p>
                <a:pPr marL="0" indent="0">
                  <a:buNone/>
                </a:pPr>
                <a:r>
                  <a:rPr lang="en-GB" dirty="0"/>
                  <a:t>The </a:t>
                </a:r>
                <a:r>
                  <a:rPr lang="en-GB" b="1" dirty="0">
                    <a:solidFill>
                      <a:srgbClr val="00B050"/>
                    </a:solidFill>
                  </a:rPr>
                  <a:t>FOLLOW Set of a non-terminal symbol </a:t>
                </a:r>
                <a:r>
                  <a:rPr lang="en-GB" dirty="0"/>
                  <a:t>𝑨, denoted </a:t>
                </a:r>
                <a14:m>
                  <m:oMath xmlns:m="http://schemas.openxmlformats.org/officeDocument/2006/math">
                    <m:r>
                      <a:rPr lang="en-GB" b="1" i="1" dirty="0" smtClean="0">
                        <a:latin typeface="Cambria Math" panose="02040503050406030204" pitchFamily="18" charset="0"/>
                      </a:rPr>
                      <m:t>𝑵</m:t>
                    </m:r>
                    <m:r>
                      <a:rPr lang="en-GB" b="1" i="1" dirty="0" smtClean="0">
                        <a:latin typeface="Cambria Math" panose="02040503050406030204" pitchFamily="18" charset="0"/>
                      </a:rPr>
                      <m:t>(</m:t>
                    </m:r>
                    <m:r>
                      <a:rPr lang="en-GB" b="1" i="1" dirty="0" smtClean="0">
                        <a:latin typeface="Cambria Math" panose="02040503050406030204" pitchFamily="18" charset="0"/>
                      </a:rPr>
                      <m:t>𝑨</m:t>
                    </m:r>
                    <m:r>
                      <a:rPr lang="en-GB" b="1" i="1" dirty="0" smtClean="0">
                        <a:latin typeface="Cambria Math" panose="02040503050406030204" pitchFamily="18" charset="0"/>
                      </a:rPr>
                      <m:t>)</m:t>
                    </m:r>
                  </m:oMath>
                </a14:m>
                <a:r>
                  <a:rPr lang="en-GB" dirty="0"/>
                  <a:t> in a context-free grammar, is the </a:t>
                </a:r>
                <a:r>
                  <a:rPr lang="en-GB" b="1" dirty="0"/>
                  <a:t>set of terminal symbols that can appear immediately after that non-terminal symbol in any sentential form derived from the grammar's start symbol</a:t>
                </a:r>
                <a:r>
                  <a:rPr lang="en-GB" dirty="0"/>
                  <a:t>.</a:t>
                </a:r>
              </a:p>
              <a:p>
                <a:pPr marL="0" indent="0">
                  <a:buNone/>
                </a:pPr>
                <a:r>
                  <a:rPr lang="en-GB" dirty="0"/>
                  <a:t>In other words, the FOLLOW set of a non-terminal represents all possible terminal symbols that can be generated by applying the production rules of the grammar and appear right after that non-terminal in any derivation.</a:t>
                </a:r>
              </a:p>
              <a:p>
                <a:pPr marL="0" indent="0">
                  <a:buNone/>
                </a:pPr>
                <a:r>
                  <a:rPr lang="en-GB" b="1" dirty="0"/>
                  <a:t>Mathematically: </a:t>
                </a:r>
                <a14:m>
                  <m:oMath xmlns:m="http://schemas.openxmlformats.org/officeDocument/2006/math">
                    <m:r>
                      <a:rPr lang="en-GB" b="0" i="1" dirty="0" smtClean="0">
                        <a:latin typeface="Cambria Math" panose="02040503050406030204" pitchFamily="18" charset="0"/>
                      </a:rPr>
                      <m:t>𝑁</m:t>
                    </m:r>
                    <m:r>
                      <a:rPr lang="en-GB" i="1" dirty="0" smtClean="0">
                        <a:latin typeface="Cambria Math" panose="02040503050406030204" pitchFamily="18" charset="0"/>
                      </a:rPr>
                      <m:t>(</m:t>
                    </m:r>
                    <m:r>
                      <a:rPr lang="en-GB" i="1" dirty="0" smtClean="0">
                        <a:latin typeface="Cambria Math" panose="02040503050406030204" pitchFamily="18" charset="0"/>
                      </a:rPr>
                      <m:t>𝐴</m:t>
                    </m:r>
                    <m:r>
                      <a:rPr lang="en-GB" i="1" dirty="0" smtClean="0">
                        <a:latin typeface="Cambria Math" panose="02040503050406030204" pitchFamily="18" charset="0"/>
                      </a:rPr>
                      <m:t>)={</m:t>
                    </m:r>
                    <m:r>
                      <a:rPr lang="en-GB" i="1" dirty="0" smtClean="0">
                        <a:latin typeface="Cambria Math" panose="02040503050406030204" pitchFamily="18" charset="0"/>
                      </a:rPr>
                      <m:t>𝑡</m:t>
                    </m:r>
                    <m:r>
                      <a:rPr lang="en-GB" i="1" dirty="0" smtClean="0">
                        <a:latin typeface="Cambria Math" panose="02040503050406030204" pitchFamily="18" charset="0"/>
                      </a:rPr>
                      <m:t> | </m:t>
                    </m:r>
                    <m:r>
                      <a:rPr lang="en-GB" i="1" dirty="0" smtClean="0">
                        <a:latin typeface="Cambria Math" panose="02040503050406030204" pitchFamily="18" charset="0"/>
                      </a:rPr>
                      <m:t>𝑆</m:t>
                    </m:r>
                    <m:r>
                      <a:rPr lang="en-GB" i="1" dirty="0" smtClean="0">
                        <a:latin typeface="Cambria Math" panose="02040503050406030204" pitchFamily="18" charset="0"/>
                      </a:rPr>
                      <m:t> ⇒∗ </m:t>
                    </m:r>
                    <m:r>
                      <a:rPr lang="en-GB" i="1" dirty="0" smtClean="0">
                        <a:latin typeface="Cambria Math" panose="02040503050406030204" pitchFamily="18" charset="0"/>
                      </a:rPr>
                      <m:t>𝜔</m:t>
                    </m:r>
                    <m:r>
                      <a:rPr lang="en-GB" i="1" dirty="0" smtClean="0">
                        <a:latin typeface="Cambria Math" panose="02040503050406030204" pitchFamily="18" charset="0"/>
                      </a:rPr>
                      <m:t>𝐴𝑡</m:t>
                    </m:r>
                    <m:r>
                      <a:rPr lang="en-GB" i="1" dirty="0" smtClean="0">
                        <a:latin typeface="Cambria Math" panose="02040503050406030204" pitchFamily="18" charset="0"/>
                      </a:rPr>
                      <m:t>𝜔</m:t>
                    </m:r>
                    <m:r>
                      <a:rPr lang="en-GB" i="1" dirty="0" smtClean="0">
                        <a:latin typeface="Cambria Math" panose="02040503050406030204" pitchFamily="18" charset="0"/>
                      </a:rPr>
                      <m:t>′ </m:t>
                    </m:r>
                    <m:r>
                      <m:rPr>
                        <m:sty m:val="p"/>
                      </m:rPr>
                      <a:rPr lang="en-GB" i="0" dirty="0" smtClean="0">
                        <a:latin typeface="Cambria Math" panose="02040503050406030204" pitchFamily="18" charset="0"/>
                      </a:rPr>
                      <m:t>for</m:t>
                    </m:r>
                    <m:r>
                      <a:rPr lang="en-GB" i="0" dirty="0" smtClean="0">
                        <a:latin typeface="Cambria Math" panose="02040503050406030204" pitchFamily="18" charset="0"/>
                      </a:rPr>
                      <m:t> </m:t>
                    </m:r>
                    <m:r>
                      <m:rPr>
                        <m:sty m:val="p"/>
                      </m:rPr>
                      <a:rPr lang="en-GB" i="0" dirty="0" smtClean="0">
                        <a:latin typeface="Cambria Math" panose="02040503050406030204" pitchFamily="18" charset="0"/>
                      </a:rPr>
                      <m:t>some</m:t>
                    </m:r>
                    <m:r>
                      <a:rPr lang="en-GB" i="0" dirty="0" smtClean="0">
                        <a:latin typeface="Cambria Math" panose="02040503050406030204" pitchFamily="18" charset="0"/>
                      </a:rPr>
                      <m:t> </m:t>
                    </m:r>
                    <m:r>
                      <a:rPr lang="en-GB" i="1" dirty="0" smtClean="0">
                        <a:latin typeface="Cambria Math" panose="02040503050406030204" pitchFamily="18" charset="0"/>
                      </a:rPr>
                      <m:t>𝜔</m:t>
                    </m:r>
                    <m:r>
                      <a:rPr lang="en-GB" i="1" dirty="0" smtClean="0">
                        <a:latin typeface="Cambria Math" panose="02040503050406030204" pitchFamily="18" charset="0"/>
                      </a:rPr>
                      <m:t>, </m:t>
                    </m:r>
                    <m:r>
                      <a:rPr lang="en-GB" i="1" dirty="0" smtClean="0">
                        <a:latin typeface="Cambria Math" panose="02040503050406030204" pitchFamily="18" charset="0"/>
                      </a:rPr>
                      <m:t>𝜔</m:t>
                    </m:r>
                    <m:r>
                      <a:rPr lang="en-GB" i="1" dirty="0" smtClean="0">
                        <a:latin typeface="Cambria Math" panose="02040503050406030204" pitchFamily="18" charset="0"/>
                      </a:rPr>
                      <m:t>′}</m:t>
                    </m:r>
                  </m:oMath>
                </a14:m>
                <a:endParaRPr lang="en-SG" dirty="0"/>
              </a:p>
            </p:txBody>
          </p:sp>
        </mc:Choice>
        <mc:Fallback xmlns="">
          <p:sp>
            <p:nvSpPr>
              <p:cNvPr id="3" name="Content Placeholder 2">
                <a:extLst>
                  <a:ext uri="{FF2B5EF4-FFF2-40B4-BE49-F238E27FC236}">
                    <a16:creationId xmlns:a16="http://schemas.microsoft.com/office/drawing/2014/main" id="{9DE790B0-6C09-28B5-E4FA-99CCB209CAAB}"/>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3"/>
                <a:stretch>
                  <a:fillRect l="-1217" t="-1937"/>
                </a:stretch>
              </a:blipFill>
            </p:spPr>
            <p:txBody>
              <a:bodyPr/>
              <a:lstStyle/>
              <a:p>
                <a:r>
                  <a:rPr lang="en-SG">
                    <a:noFill/>
                  </a:rPr>
                  <a:t> </a:t>
                </a:r>
              </a:p>
            </p:txBody>
          </p:sp>
        </mc:Fallback>
      </mc:AlternateContent>
    </p:spTree>
    <p:extLst>
      <p:ext uri="{BB962C8B-B14F-4D97-AF65-F5344CB8AC3E}">
        <p14:creationId xmlns:p14="http://schemas.microsoft.com/office/powerpoint/2010/main" val="1689880879"/>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A7FDA9-BF3B-156A-17E4-B63FDE6E53AF}"/>
              </a:ext>
            </a:extLst>
          </p:cNvPr>
          <p:cNvSpPr>
            <a:spLocks noGrp="1"/>
          </p:cNvSpPr>
          <p:nvPr>
            <p:ph type="title"/>
          </p:nvPr>
        </p:nvSpPr>
        <p:spPr/>
        <p:txBody>
          <a:bodyPr/>
          <a:lstStyle/>
          <a:p>
            <a:r>
              <a:rPr lang="en-GB" dirty="0"/>
              <a:t>Properties of the FOLLOW sets</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5125574-DCFE-57C6-41E3-C556244F0DD7}"/>
                  </a:ext>
                </a:extLst>
              </p:cNvPr>
              <p:cNvSpPr>
                <a:spLocks noGrp="1"/>
              </p:cNvSpPr>
              <p:nvPr>
                <p:ph idx="1"/>
              </p:nvPr>
            </p:nvSpPr>
            <p:spPr/>
            <p:txBody>
              <a:bodyPr/>
              <a:lstStyle/>
              <a:p>
                <a:pPr marL="0" indent="0">
                  <a:buNone/>
                </a:pPr>
                <a:r>
                  <a:rPr lang="en-GB" dirty="0"/>
                  <a:t>You can compute the FOLLOW sets for a given CFGs, iteratively, as follows.</a:t>
                </a:r>
              </a:p>
              <a:p>
                <a:r>
                  <a:rPr lang="en-GB" dirty="0"/>
                  <a:t>If 𝐴 is the start symbol, then the end-of-input marker ($) is in </a:t>
                </a:r>
                <a14:m>
                  <m:oMath xmlns:m="http://schemas.openxmlformats.org/officeDocument/2006/math">
                    <m:r>
                      <a:rPr lang="en-GB" i="1" dirty="0" smtClean="0">
                        <a:latin typeface="Cambria Math" panose="02040503050406030204" pitchFamily="18" charset="0"/>
                      </a:rPr>
                      <m:t>𝑁</m:t>
                    </m:r>
                    <m:r>
                      <a:rPr lang="en-GB" i="1" dirty="0" smtClean="0">
                        <a:latin typeface="Cambria Math" panose="02040503050406030204" pitchFamily="18" charset="0"/>
                      </a:rPr>
                      <m:t>(</m:t>
                    </m:r>
                    <m:r>
                      <a:rPr lang="en-GB" i="1" dirty="0" smtClean="0">
                        <a:latin typeface="Cambria Math" panose="02040503050406030204" pitchFamily="18" charset="0"/>
                      </a:rPr>
                      <m:t>𝐴</m:t>
                    </m:r>
                    <m:r>
                      <a:rPr lang="en-GB" i="1" dirty="0" smtClean="0">
                        <a:latin typeface="Cambria Math" panose="02040503050406030204" pitchFamily="18" charset="0"/>
                      </a:rPr>
                      <m:t>)</m:t>
                    </m:r>
                  </m:oMath>
                </a14:m>
                <a:r>
                  <a:rPr lang="en-GB" dirty="0"/>
                  <a:t>.</a:t>
                </a:r>
              </a:p>
              <a:p>
                <a:r>
                  <a:rPr lang="en-GB" dirty="0"/>
                  <a:t>If</a:t>
                </a:r>
                <a14:m>
                  <m:oMath xmlns:m="http://schemas.openxmlformats.org/officeDocument/2006/math">
                    <m:r>
                      <a:rPr lang="en-GB" i="1" dirty="0" smtClean="0">
                        <a:latin typeface="Cambria Math" panose="02040503050406030204" pitchFamily="18" charset="0"/>
                      </a:rPr>
                      <m:t> </m:t>
                    </m:r>
                    <m:r>
                      <a:rPr lang="en-GB" b="0" i="1" dirty="0" smtClean="0">
                        <a:latin typeface="Cambria Math" panose="02040503050406030204" pitchFamily="18" charset="0"/>
                      </a:rPr>
                      <m:t>𝐵</m:t>
                    </m:r>
                    <m:r>
                      <a:rPr lang="en-GB" i="1" dirty="0" smtClean="0">
                        <a:latin typeface="Cambria Math" panose="02040503050406030204" pitchFamily="18" charset="0"/>
                      </a:rPr>
                      <m:t>→</m:t>
                    </m:r>
                    <m:r>
                      <a:rPr lang="en-GB" b="0" i="1" dirty="0" smtClean="0">
                        <a:latin typeface="Cambria Math" panose="02040503050406030204" pitchFamily="18" charset="0"/>
                      </a:rPr>
                      <m:t>𝛼</m:t>
                    </m:r>
                    <m:r>
                      <a:rPr lang="en-GB" b="0" i="1" dirty="0" smtClean="0">
                        <a:latin typeface="Cambria Math" panose="02040503050406030204" pitchFamily="18" charset="0"/>
                      </a:rPr>
                      <m:t>𝐴</m:t>
                    </m:r>
                    <m:r>
                      <a:rPr lang="en-GB" i="1" dirty="0" smtClean="0">
                        <a:latin typeface="Cambria Math" panose="02040503050406030204" pitchFamily="18" charset="0"/>
                      </a:rPr>
                      <m:t>𝜔</m:t>
                    </m:r>
                    <m:r>
                      <a:rPr lang="en-GB" i="1" dirty="0" smtClean="0">
                        <a:latin typeface="Cambria Math" panose="02040503050406030204" pitchFamily="18" charset="0"/>
                      </a:rPr>
                      <m:t> </m:t>
                    </m:r>
                  </m:oMath>
                </a14:m>
                <a:r>
                  <a:rPr lang="en-GB" dirty="0"/>
                  <a:t>is a production rule, then you can set</a:t>
                </a:r>
                <a:br>
                  <a:rPr lang="en-GB" dirty="0"/>
                </a:br>
                <a14:m>
                  <m:oMath xmlns:m="http://schemas.openxmlformats.org/officeDocument/2006/math">
                    <m:r>
                      <a:rPr lang="en-GB" i="1" dirty="0" smtClean="0">
                        <a:latin typeface="Cambria Math" panose="02040503050406030204" pitchFamily="18" charset="0"/>
                      </a:rPr>
                      <m:t>𝑁</m:t>
                    </m:r>
                    <m:d>
                      <m:dPr>
                        <m:ctrlPr>
                          <a:rPr lang="en-GB" i="1" dirty="0" smtClean="0">
                            <a:latin typeface="Cambria Math" panose="02040503050406030204" pitchFamily="18" charset="0"/>
                          </a:rPr>
                        </m:ctrlPr>
                      </m:dPr>
                      <m:e>
                        <m:r>
                          <a:rPr lang="en-GB" b="0" i="1" dirty="0" smtClean="0">
                            <a:latin typeface="Cambria Math" panose="02040503050406030204" pitchFamily="18" charset="0"/>
                          </a:rPr>
                          <m:t>𝐴</m:t>
                        </m:r>
                      </m:e>
                    </m:d>
                    <m:r>
                      <a:rPr lang="en-GB" i="1" dirty="0" smtClean="0">
                        <a:latin typeface="Cambria Math" panose="02040503050406030204" pitchFamily="18" charset="0"/>
                      </a:rPr>
                      <m:t>= </m:t>
                    </m:r>
                    <m:r>
                      <a:rPr lang="en-GB" i="1" dirty="0" smtClean="0">
                        <a:latin typeface="Cambria Math" panose="02040503050406030204" pitchFamily="18" charset="0"/>
                      </a:rPr>
                      <m:t>𝑁</m:t>
                    </m:r>
                    <m:d>
                      <m:dPr>
                        <m:ctrlPr>
                          <a:rPr lang="en-GB" i="1" dirty="0" smtClean="0">
                            <a:latin typeface="Cambria Math" panose="02040503050406030204" pitchFamily="18" charset="0"/>
                          </a:rPr>
                        </m:ctrlPr>
                      </m:dPr>
                      <m:e>
                        <m:r>
                          <a:rPr lang="en-GB" i="1" dirty="0" smtClean="0">
                            <a:latin typeface="Cambria Math" panose="02040503050406030204" pitchFamily="18" charset="0"/>
                          </a:rPr>
                          <m:t>𝐴</m:t>
                        </m:r>
                      </m:e>
                    </m:d>
                    <m:r>
                      <a:rPr lang="en-GB" i="1" dirty="0" smtClean="0">
                        <a:latin typeface="Cambria Math" panose="02040503050406030204" pitchFamily="18" charset="0"/>
                        <a:ea typeface="Cambria Math" panose="02040503050406030204" pitchFamily="18" charset="0"/>
                      </a:rPr>
                      <m:t>∪</m:t>
                    </m:r>
                    <m:sSup>
                      <m:sSupPr>
                        <m:ctrlPr>
                          <a:rPr lang="en-GB" b="0" i="1" dirty="0" smtClean="0">
                            <a:latin typeface="Cambria Math" panose="02040503050406030204" pitchFamily="18" charset="0"/>
                            <a:ea typeface="Cambria Math" panose="02040503050406030204" pitchFamily="18" charset="0"/>
                          </a:rPr>
                        </m:ctrlPr>
                      </m:sSupPr>
                      <m:e>
                        <m:r>
                          <a:rPr lang="en-GB" b="0" i="1" dirty="0" smtClean="0">
                            <a:latin typeface="Cambria Math" panose="02040503050406030204" pitchFamily="18" charset="0"/>
                            <a:ea typeface="Cambria Math" panose="02040503050406030204" pitchFamily="18" charset="0"/>
                          </a:rPr>
                          <m:t>𝐹</m:t>
                        </m:r>
                      </m:e>
                      <m:sup>
                        <m:r>
                          <a:rPr lang="en-GB" b="0" i="1" dirty="0" smtClean="0">
                            <a:latin typeface="Cambria Math" panose="02040503050406030204" pitchFamily="18" charset="0"/>
                            <a:ea typeface="Cambria Math" panose="02040503050406030204" pitchFamily="18" charset="0"/>
                          </a:rPr>
                          <m:t>∗</m:t>
                        </m:r>
                      </m:sup>
                    </m:sSup>
                    <m:d>
                      <m:dPr>
                        <m:ctrlPr>
                          <a:rPr lang="en-GB" b="0" i="1" dirty="0" smtClean="0">
                            <a:latin typeface="Cambria Math" panose="02040503050406030204" pitchFamily="18" charset="0"/>
                            <a:ea typeface="Cambria Math" panose="02040503050406030204" pitchFamily="18" charset="0"/>
                          </a:rPr>
                        </m:ctrlPr>
                      </m:dPr>
                      <m:e>
                        <m:r>
                          <a:rPr lang="en-GB" b="0" i="1" dirty="0" smtClean="0">
                            <a:latin typeface="Cambria Math" panose="02040503050406030204" pitchFamily="18" charset="0"/>
                            <a:ea typeface="Cambria Math" panose="02040503050406030204" pitchFamily="18" charset="0"/>
                          </a:rPr>
                          <m:t>𝜔</m:t>
                        </m:r>
                      </m:e>
                    </m:d>
                    <m:r>
                      <a:rPr lang="en-GB" b="0" i="1" dirty="0" smtClean="0">
                        <a:latin typeface="Cambria Math" panose="02040503050406030204" pitchFamily="18" charset="0"/>
                        <a:ea typeface="Cambria Math" panose="02040503050406030204" pitchFamily="18" charset="0"/>
                      </a:rPr>
                      <m:t>−{</m:t>
                    </m:r>
                    <m:r>
                      <a:rPr lang="en-GB" b="0" i="1" dirty="0" smtClean="0">
                        <a:latin typeface="Cambria Math" panose="02040503050406030204" pitchFamily="18" charset="0"/>
                        <a:ea typeface="Cambria Math" panose="02040503050406030204" pitchFamily="18" charset="0"/>
                      </a:rPr>
                      <m:t>𝜖</m:t>
                    </m:r>
                    <m:r>
                      <a:rPr lang="en-GB" b="0" i="1" dirty="0" smtClean="0">
                        <a:latin typeface="Cambria Math" panose="02040503050406030204" pitchFamily="18" charset="0"/>
                        <a:ea typeface="Cambria Math" panose="02040503050406030204" pitchFamily="18" charset="0"/>
                      </a:rPr>
                      <m:t>}</m:t>
                    </m:r>
                  </m:oMath>
                </a14:m>
                <a:endParaRPr lang="en-SG" dirty="0"/>
              </a:p>
              <a:p>
                <a:r>
                  <a:rPr lang="en-GB" dirty="0"/>
                  <a:t>If</a:t>
                </a:r>
                <a14:m>
                  <m:oMath xmlns:m="http://schemas.openxmlformats.org/officeDocument/2006/math">
                    <m:r>
                      <a:rPr lang="en-GB" i="1" dirty="0" smtClean="0">
                        <a:latin typeface="Cambria Math" panose="02040503050406030204" pitchFamily="18" charset="0"/>
                      </a:rPr>
                      <m:t> </m:t>
                    </m:r>
                    <m:r>
                      <a:rPr lang="en-GB" b="0" i="1" dirty="0" smtClean="0">
                        <a:latin typeface="Cambria Math" panose="02040503050406030204" pitchFamily="18" charset="0"/>
                      </a:rPr>
                      <m:t>𝐵</m:t>
                    </m:r>
                    <m:r>
                      <a:rPr lang="en-GB" i="1" dirty="0" smtClean="0">
                        <a:latin typeface="Cambria Math" panose="02040503050406030204" pitchFamily="18" charset="0"/>
                      </a:rPr>
                      <m:t>→</m:t>
                    </m:r>
                    <m:r>
                      <a:rPr lang="en-GB" b="0" i="1" dirty="0" smtClean="0">
                        <a:latin typeface="Cambria Math" panose="02040503050406030204" pitchFamily="18" charset="0"/>
                      </a:rPr>
                      <m:t>𝛼</m:t>
                    </m:r>
                    <m:r>
                      <a:rPr lang="en-GB" b="0" i="1" dirty="0" smtClean="0">
                        <a:latin typeface="Cambria Math" panose="02040503050406030204" pitchFamily="18" charset="0"/>
                      </a:rPr>
                      <m:t>𝐴</m:t>
                    </m:r>
                    <m:r>
                      <a:rPr lang="en-GB" i="1" dirty="0" smtClean="0">
                        <a:latin typeface="Cambria Math" panose="02040503050406030204" pitchFamily="18" charset="0"/>
                      </a:rPr>
                      <m:t>𝜔</m:t>
                    </m:r>
                    <m:r>
                      <a:rPr lang="en-GB" i="1" dirty="0" smtClean="0">
                        <a:latin typeface="Cambria Math" panose="02040503050406030204" pitchFamily="18" charset="0"/>
                      </a:rPr>
                      <m:t> </m:t>
                    </m:r>
                  </m:oMath>
                </a14:m>
                <a:r>
                  <a:rPr lang="en-GB" dirty="0"/>
                  <a:t>is a production rule and </a:t>
                </a:r>
                <a14:m>
                  <m:oMath xmlns:m="http://schemas.openxmlformats.org/officeDocument/2006/math">
                    <m:sSup>
                      <m:sSupPr>
                        <m:ctrlPr>
                          <a:rPr lang="en-GB" i="1" dirty="0">
                            <a:latin typeface="Cambria Math" panose="02040503050406030204" pitchFamily="18" charset="0"/>
                            <a:ea typeface="Cambria Math" panose="02040503050406030204" pitchFamily="18" charset="0"/>
                          </a:rPr>
                        </m:ctrlPr>
                      </m:sSupPr>
                      <m:e>
                        <m:r>
                          <a:rPr lang="en-GB" b="0" i="1" dirty="0" smtClean="0">
                            <a:latin typeface="Cambria Math" panose="02040503050406030204" pitchFamily="18" charset="0"/>
                            <a:ea typeface="Cambria Math" panose="02040503050406030204" pitchFamily="18" charset="0"/>
                          </a:rPr>
                          <m:t>𝜖</m:t>
                        </m:r>
                        <m:r>
                          <a:rPr lang="en-GB" b="0" i="1" dirty="0" smtClean="0">
                            <a:latin typeface="Cambria Math" panose="02040503050406030204" pitchFamily="18" charset="0"/>
                            <a:ea typeface="Cambria Math" panose="02040503050406030204" pitchFamily="18" charset="0"/>
                          </a:rPr>
                          <m:t>∈</m:t>
                        </m:r>
                        <m:r>
                          <a:rPr lang="en-GB" i="1" dirty="0">
                            <a:latin typeface="Cambria Math" panose="02040503050406030204" pitchFamily="18" charset="0"/>
                            <a:ea typeface="Cambria Math" panose="02040503050406030204" pitchFamily="18" charset="0"/>
                          </a:rPr>
                          <m:t>𝐹</m:t>
                        </m:r>
                      </m:e>
                      <m:sup>
                        <m:r>
                          <a:rPr lang="en-GB" i="1" dirty="0">
                            <a:latin typeface="Cambria Math" panose="02040503050406030204" pitchFamily="18" charset="0"/>
                            <a:ea typeface="Cambria Math" panose="02040503050406030204" pitchFamily="18" charset="0"/>
                          </a:rPr>
                          <m:t>∗</m:t>
                        </m:r>
                      </m:sup>
                    </m:sSup>
                    <m:d>
                      <m:dPr>
                        <m:ctrlPr>
                          <a:rPr lang="en-GB" i="1" dirty="0">
                            <a:latin typeface="Cambria Math" panose="02040503050406030204" pitchFamily="18" charset="0"/>
                            <a:ea typeface="Cambria Math" panose="02040503050406030204" pitchFamily="18" charset="0"/>
                          </a:rPr>
                        </m:ctrlPr>
                      </m:dPr>
                      <m:e>
                        <m:r>
                          <a:rPr lang="en-GB" i="1" dirty="0">
                            <a:latin typeface="Cambria Math" panose="02040503050406030204" pitchFamily="18" charset="0"/>
                            <a:ea typeface="Cambria Math" panose="02040503050406030204" pitchFamily="18" charset="0"/>
                          </a:rPr>
                          <m:t>𝜔</m:t>
                        </m:r>
                      </m:e>
                    </m:d>
                  </m:oMath>
                </a14:m>
                <a:r>
                  <a:rPr lang="en-GB" dirty="0"/>
                  <a:t>, then you can set</a:t>
                </a:r>
                <a:br>
                  <a:rPr lang="en-GB" dirty="0"/>
                </a:br>
                <a14:m>
                  <m:oMath xmlns:m="http://schemas.openxmlformats.org/officeDocument/2006/math">
                    <m:r>
                      <a:rPr lang="en-GB" i="1" dirty="0" smtClean="0">
                        <a:latin typeface="Cambria Math" panose="02040503050406030204" pitchFamily="18" charset="0"/>
                      </a:rPr>
                      <m:t>𝑁</m:t>
                    </m:r>
                    <m:d>
                      <m:dPr>
                        <m:ctrlPr>
                          <a:rPr lang="en-GB" i="1" dirty="0" smtClean="0">
                            <a:latin typeface="Cambria Math" panose="02040503050406030204" pitchFamily="18" charset="0"/>
                          </a:rPr>
                        </m:ctrlPr>
                      </m:dPr>
                      <m:e>
                        <m:r>
                          <a:rPr lang="en-GB" b="0" i="1" dirty="0" smtClean="0">
                            <a:latin typeface="Cambria Math" panose="02040503050406030204" pitchFamily="18" charset="0"/>
                          </a:rPr>
                          <m:t>𝐴</m:t>
                        </m:r>
                      </m:e>
                    </m:d>
                    <m:r>
                      <a:rPr lang="en-GB" i="1" dirty="0" smtClean="0">
                        <a:latin typeface="Cambria Math" panose="02040503050406030204" pitchFamily="18" charset="0"/>
                      </a:rPr>
                      <m:t>= </m:t>
                    </m:r>
                    <m:r>
                      <a:rPr lang="en-GB" i="1" dirty="0" smtClean="0">
                        <a:latin typeface="Cambria Math" panose="02040503050406030204" pitchFamily="18" charset="0"/>
                      </a:rPr>
                      <m:t>𝑁</m:t>
                    </m:r>
                    <m:d>
                      <m:dPr>
                        <m:ctrlPr>
                          <a:rPr lang="en-GB" i="1" dirty="0" smtClean="0">
                            <a:latin typeface="Cambria Math" panose="02040503050406030204" pitchFamily="18" charset="0"/>
                          </a:rPr>
                        </m:ctrlPr>
                      </m:dPr>
                      <m:e>
                        <m:r>
                          <a:rPr lang="en-GB" i="1" dirty="0" smtClean="0">
                            <a:latin typeface="Cambria Math" panose="02040503050406030204" pitchFamily="18" charset="0"/>
                          </a:rPr>
                          <m:t>𝐴</m:t>
                        </m:r>
                      </m:e>
                    </m:d>
                    <m:r>
                      <a:rPr lang="en-GB" i="1" dirty="0" smtClean="0">
                        <a:latin typeface="Cambria Math" panose="02040503050406030204" pitchFamily="18" charset="0"/>
                        <a:ea typeface="Cambria Math" panose="02040503050406030204" pitchFamily="18" charset="0"/>
                      </a:rPr>
                      <m:t>∪</m:t>
                    </m:r>
                    <m:r>
                      <a:rPr lang="en-GB" b="0" i="1" dirty="0" smtClean="0">
                        <a:latin typeface="Cambria Math" panose="02040503050406030204" pitchFamily="18" charset="0"/>
                        <a:ea typeface="Cambria Math" panose="02040503050406030204" pitchFamily="18" charset="0"/>
                      </a:rPr>
                      <m:t>𝑁</m:t>
                    </m:r>
                    <m:d>
                      <m:dPr>
                        <m:ctrlPr>
                          <a:rPr lang="en-GB" b="0" i="1" dirty="0" smtClean="0">
                            <a:latin typeface="Cambria Math" panose="02040503050406030204" pitchFamily="18" charset="0"/>
                            <a:ea typeface="Cambria Math" panose="02040503050406030204" pitchFamily="18" charset="0"/>
                          </a:rPr>
                        </m:ctrlPr>
                      </m:dPr>
                      <m:e>
                        <m:r>
                          <a:rPr lang="en-GB" b="0" i="1" dirty="0" smtClean="0">
                            <a:latin typeface="Cambria Math" panose="02040503050406030204" pitchFamily="18" charset="0"/>
                            <a:ea typeface="Cambria Math" panose="02040503050406030204" pitchFamily="18" charset="0"/>
                          </a:rPr>
                          <m:t>𝐵</m:t>
                        </m:r>
                      </m:e>
                    </m:d>
                  </m:oMath>
                </a14:m>
                <a:endParaRPr lang="en-SG" dirty="0"/>
              </a:p>
            </p:txBody>
          </p:sp>
        </mc:Choice>
        <mc:Fallback xmlns="">
          <p:sp>
            <p:nvSpPr>
              <p:cNvPr id="3" name="Content Placeholder 2">
                <a:extLst>
                  <a:ext uri="{FF2B5EF4-FFF2-40B4-BE49-F238E27FC236}">
                    <a16:creationId xmlns:a16="http://schemas.microsoft.com/office/drawing/2014/main" id="{75125574-DCFE-57C6-41E3-C556244F0DD7}"/>
                  </a:ext>
                </a:extLst>
              </p:cNvPr>
              <p:cNvSpPr>
                <a:spLocks noGrp="1" noRot="1" noChangeAspect="1" noMove="1" noResize="1" noEditPoints="1" noAdjustHandles="1" noChangeArrowheads="1" noChangeShapeType="1" noTextEdit="1"/>
              </p:cNvSpPr>
              <p:nvPr>
                <p:ph idx="1"/>
              </p:nvPr>
            </p:nvSpPr>
            <p:spPr>
              <a:blipFill>
                <a:blip r:embed="rId2"/>
                <a:stretch>
                  <a:fillRect l="-1217" t="-2241"/>
                </a:stretch>
              </a:blipFill>
            </p:spPr>
            <p:txBody>
              <a:bodyPr/>
              <a:lstStyle/>
              <a:p>
                <a:r>
                  <a:rPr lang="en-SG">
                    <a:noFill/>
                  </a:rPr>
                  <a:t> </a:t>
                </a:r>
              </a:p>
            </p:txBody>
          </p:sp>
        </mc:Fallback>
      </mc:AlternateContent>
    </p:spTree>
    <p:extLst>
      <p:ext uri="{BB962C8B-B14F-4D97-AF65-F5344CB8AC3E}">
        <p14:creationId xmlns:p14="http://schemas.microsoft.com/office/powerpoint/2010/main" val="3961393556"/>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DC1B88-B753-3A58-509E-3F8D5853A450}"/>
              </a:ext>
            </a:extLst>
          </p:cNvPr>
          <p:cNvSpPr>
            <a:spLocks noGrp="1"/>
          </p:cNvSpPr>
          <p:nvPr>
            <p:ph type="title"/>
          </p:nvPr>
        </p:nvSpPr>
        <p:spPr/>
        <p:txBody>
          <a:bodyPr/>
          <a:lstStyle/>
          <a:p>
            <a:r>
              <a:rPr lang="en-GB" dirty="0"/>
              <a:t>Final LL(1) parsing table algorithm</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3D8A2CC-6773-1909-149A-437D3BED1C9D}"/>
                  </a:ext>
                </a:extLst>
              </p:cNvPr>
              <p:cNvSpPr>
                <a:spLocks noGrp="1"/>
              </p:cNvSpPr>
              <p:nvPr>
                <p:ph idx="1"/>
              </p:nvPr>
            </p:nvSpPr>
            <p:spPr>
              <a:xfrm>
                <a:off x="838200" y="1825624"/>
                <a:ext cx="10515600" cy="5032375"/>
              </a:xfrm>
            </p:spPr>
            <p:txBody>
              <a:bodyPr>
                <a:normAutofit/>
              </a:bodyPr>
              <a:lstStyle/>
              <a:p>
                <a:r>
                  <a:rPr lang="en-GB" b="1" dirty="0"/>
                  <a:t>Step 1: </a:t>
                </a:r>
                <a:r>
                  <a:rPr lang="en-GB" dirty="0"/>
                  <a:t>Given a CFG, compute the FIRST and FOLLOW sets, F(A) and N(A), for every non-terminal symbol A.</a:t>
                </a:r>
              </a:p>
              <a:p>
                <a:r>
                  <a:rPr lang="en-GB" b="1" dirty="0"/>
                  <a:t>Step 2: </a:t>
                </a:r>
                <a:r>
                  <a:rPr lang="en-GB" dirty="0"/>
                  <a:t>For each rule </a:t>
                </a:r>
                <a14:m>
                  <m:oMath xmlns:m="http://schemas.openxmlformats.org/officeDocument/2006/math">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𝜔</m:t>
                    </m:r>
                  </m:oMath>
                </a14:m>
                <a:r>
                  <a:rPr lang="en-SG" dirty="0"/>
                  <a:t>, and for each terminal symbol in F</a:t>
                </a:r>
                <a14:m>
                  <m:oMath xmlns:m="http://schemas.openxmlformats.org/officeDocument/2006/math">
                    <m:r>
                      <a:rPr lang="en-GB" b="0" i="1" smtClean="0">
                        <a:latin typeface="Cambria Math" panose="02040503050406030204" pitchFamily="18" charset="0"/>
                      </a:rPr>
                      <m:t>(</m:t>
                    </m:r>
                    <m:r>
                      <a:rPr lang="en-GB" b="0" i="1" smtClean="0">
                        <a:latin typeface="Cambria Math" panose="02040503050406030204" pitchFamily="18" charset="0"/>
                      </a:rPr>
                      <m:t>𝜔</m:t>
                    </m:r>
                    <m:r>
                      <a:rPr lang="en-GB" b="0" i="1" smtClean="0">
                        <a:latin typeface="Cambria Math" panose="02040503050406030204" pitchFamily="18" charset="0"/>
                      </a:rPr>
                      <m:t>)</m:t>
                    </m:r>
                  </m:oMath>
                </a14:m>
                <a:r>
                  <a:rPr lang="en-SG" dirty="0"/>
                  <a:t>, set </a:t>
                </a:r>
                <a14:m>
                  <m:oMath xmlns:m="http://schemas.openxmlformats.org/officeDocument/2006/math">
                    <m:r>
                      <a:rPr lang="en-GB" b="0" i="1" smtClean="0">
                        <a:latin typeface="Cambria Math" panose="02040503050406030204" pitchFamily="18" charset="0"/>
                      </a:rPr>
                      <m:t>𝑇</m:t>
                    </m:r>
                    <m:d>
                      <m:dPr>
                        <m:begChr m:val="["/>
                        <m:endChr m:val="]"/>
                        <m:ctrlPr>
                          <a:rPr lang="en-GB" b="0" i="1" smtClean="0">
                            <a:latin typeface="Cambria Math" panose="02040503050406030204" pitchFamily="18" charset="0"/>
                          </a:rPr>
                        </m:ctrlPr>
                      </m:dPr>
                      <m:e>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𝑡</m:t>
                        </m:r>
                      </m:e>
                    </m:d>
                    <m:r>
                      <a:rPr lang="en-GB" b="0" i="1" smtClean="0">
                        <a:latin typeface="Cambria Math" panose="02040503050406030204" pitchFamily="18" charset="0"/>
                      </a:rPr>
                      <m:t>=</m:t>
                    </m:r>
                    <m:r>
                      <a:rPr lang="en-GB" b="0" i="1" smtClean="0">
                        <a:latin typeface="Cambria Math" panose="02040503050406030204" pitchFamily="18" charset="0"/>
                      </a:rPr>
                      <m:t>𝜔</m:t>
                    </m:r>
                  </m:oMath>
                </a14:m>
                <a:r>
                  <a:rPr lang="en-SG" dirty="0"/>
                  <a:t>. Keep in mind that, by convention, </a:t>
                </a:r>
                <a14:m>
                  <m:oMath xmlns:m="http://schemas.openxmlformats.org/officeDocument/2006/math">
                    <m:r>
                      <a:rPr lang="en-GB" b="0" i="1" smtClean="0">
                        <a:latin typeface="Cambria Math" panose="02040503050406030204" pitchFamily="18" charset="0"/>
                      </a:rPr>
                      <m:t>𝜖</m:t>
                    </m:r>
                  </m:oMath>
                </a14:m>
                <a:r>
                  <a:rPr lang="en-SG" dirty="0"/>
                  <a:t> is technically not a terminal symbol!</a:t>
                </a:r>
              </a:p>
              <a:p>
                <a:r>
                  <a:rPr lang="en-GB" b="1" dirty="0"/>
                  <a:t>Step 3: </a:t>
                </a:r>
                <a:r>
                  <a:rPr lang="en-GB" dirty="0"/>
                  <a:t>For each rule </a:t>
                </a:r>
                <a14:m>
                  <m:oMath xmlns:m="http://schemas.openxmlformats.org/officeDocument/2006/math">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𝜔</m:t>
                    </m:r>
                  </m:oMath>
                </a14:m>
                <a:r>
                  <a:rPr lang="en-SG" dirty="0"/>
                  <a:t>, </a:t>
                </a:r>
                <a:r>
                  <a:rPr lang="en-GB" dirty="0"/>
                  <a:t>if </a:t>
                </a:r>
                <a14:m>
                  <m:oMath xmlns:m="http://schemas.openxmlformats.org/officeDocument/2006/math">
                    <m:r>
                      <a:rPr lang="en-GB" b="0" i="1" smtClean="0">
                        <a:latin typeface="Cambria Math" panose="02040503050406030204" pitchFamily="18" charset="0"/>
                      </a:rPr>
                      <m:t>𝜖</m:t>
                    </m:r>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𝐹</m:t>
                        </m:r>
                      </m:e>
                      <m:sup>
                        <m:r>
                          <a:rPr lang="en-GB" b="0" i="1" smtClean="0">
                            <a:latin typeface="Cambria Math" panose="02040503050406030204" pitchFamily="18" charset="0"/>
                          </a:rPr>
                          <m:t>∗</m:t>
                        </m:r>
                      </m:sup>
                    </m:sSup>
                    <m:r>
                      <a:rPr lang="en-GB" b="0" i="1" smtClean="0">
                        <a:latin typeface="Cambria Math" panose="02040503050406030204" pitchFamily="18" charset="0"/>
                      </a:rPr>
                      <m:t>(</m:t>
                    </m:r>
                    <m:r>
                      <a:rPr lang="en-GB" b="0" i="1" smtClean="0">
                        <a:latin typeface="Cambria Math" panose="02040503050406030204" pitchFamily="18" charset="0"/>
                      </a:rPr>
                      <m:t>𝜔</m:t>
                    </m:r>
                    <m:r>
                      <a:rPr lang="en-GB" b="0" i="1" smtClean="0">
                        <a:latin typeface="Cambria Math" panose="02040503050406030204" pitchFamily="18" charset="0"/>
                      </a:rPr>
                      <m:t>)</m:t>
                    </m:r>
                  </m:oMath>
                </a14:m>
                <a:r>
                  <a:rPr lang="en-SG" dirty="0"/>
                  <a:t>, set </a:t>
                </a:r>
                <a14:m>
                  <m:oMath xmlns:m="http://schemas.openxmlformats.org/officeDocument/2006/math">
                    <m:r>
                      <a:rPr lang="en-GB" i="1">
                        <a:latin typeface="Cambria Math" panose="02040503050406030204" pitchFamily="18" charset="0"/>
                      </a:rPr>
                      <m:t>𝑇</m:t>
                    </m:r>
                    <m:d>
                      <m:dPr>
                        <m:begChr m:val="["/>
                        <m:endChr m:val="]"/>
                        <m:ctrlPr>
                          <a:rPr lang="en-GB" i="1">
                            <a:latin typeface="Cambria Math" panose="02040503050406030204" pitchFamily="18" charset="0"/>
                          </a:rPr>
                        </m:ctrlPr>
                      </m:dPr>
                      <m:e>
                        <m:r>
                          <a:rPr lang="en-GB" i="1">
                            <a:latin typeface="Cambria Math" panose="02040503050406030204" pitchFamily="18" charset="0"/>
                          </a:rPr>
                          <m:t>𝐴</m:t>
                        </m:r>
                        <m:r>
                          <a:rPr lang="en-GB" i="1">
                            <a:latin typeface="Cambria Math" panose="02040503050406030204" pitchFamily="18" charset="0"/>
                          </a:rPr>
                          <m:t>,</m:t>
                        </m:r>
                        <m:r>
                          <a:rPr lang="en-GB" i="1">
                            <a:latin typeface="Cambria Math" panose="02040503050406030204" pitchFamily="18" charset="0"/>
                          </a:rPr>
                          <m:t>𝑡</m:t>
                        </m:r>
                      </m:e>
                    </m:d>
                    <m:r>
                      <a:rPr lang="en-GB" i="1">
                        <a:latin typeface="Cambria Math" panose="02040503050406030204" pitchFamily="18" charset="0"/>
                      </a:rPr>
                      <m:t>=</m:t>
                    </m:r>
                    <m:r>
                      <a:rPr lang="en-GB" i="1">
                        <a:latin typeface="Cambria Math" panose="02040503050406030204" pitchFamily="18" charset="0"/>
                      </a:rPr>
                      <m:t>𝜔</m:t>
                    </m:r>
                  </m:oMath>
                </a14:m>
                <a:r>
                  <a:rPr lang="en-SG" dirty="0"/>
                  <a:t> for each </a:t>
                </a:r>
                <a14:m>
                  <m:oMath xmlns:m="http://schemas.openxmlformats.org/officeDocument/2006/math">
                    <m:r>
                      <a:rPr lang="en-GB" b="0" i="1" smtClean="0">
                        <a:latin typeface="Cambria Math" panose="02040503050406030204" pitchFamily="18" charset="0"/>
                      </a:rPr>
                      <m:t>𝑡</m:t>
                    </m:r>
                    <m:r>
                      <a:rPr lang="en-GB" b="0" i="1" smtClean="0">
                        <a:latin typeface="Cambria Math" panose="02040503050406030204" pitchFamily="18" charset="0"/>
                      </a:rPr>
                      <m:t>∈</m:t>
                    </m:r>
                    <m:r>
                      <a:rPr lang="en-GB" b="0" i="1" smtClean="0">
                        <a:latin typeface="Cambria Math" panose="02040503050406030204" pitchFamily="18" charset="0"/>
                      </a:rPr>
                      <m:t>𝑁</m:t>
                    </m:r>
                    <m:r>
                      <a:rPr lang="en-GB" b="0" i="1" smtClean="0">
                        <a:latin typeface="Cambria Math" panose="02040503050406030204" pitchFamily="18" charset="0"/>
                      </a:rPr>
                      <m:t>(</m:t>
                    </m:r>
                    <m:r>
                      <a:rPr lang="en-GB" b="0" i="1" smtClean="0">
                        <a:latin typeface="Cambria Math" panose="02040503050406030204" pitchFamily="18" charset="0"/>
                      </a:rPr>
                      <m:t>𝐴</m:t>
                    </m:r>
                    <m:r>
                      <a:rPr lang="en-GB" b="0" i="1" smtClean="0">
                        <a:latin typeface="Cambria Math" panose="02040503050406030204" pitchFamily="18" charset="0"/>
                      </a:rPr>
                      <m:t>)</m:t>
                    </m:r>
                  </m:oMath>
                </a14:m>
                <a:r>
                  <a:rPr lang="en-SG" dirty="0"/>
                  <a:t>.</a:t>
                </a:r>
              </a:p>
              <a:p>
                <a:pPr marL="0" indent="0">
                  <a:buNone/>
                </a:pPr>
                <a:r>
                  <a:rPr lang="en-SG" b="1" dirty="0"/>
                  <a:t>Note: </a:t>
                </a:r>
                <a:r>
                  <a:rPr lang="en-SG" dirty="0"/>
                  <a:t>Technically, and even though the notation is somewhat bad, we can describe the set procedure in 2-3 as equivalent to</a:t>
                </a:r>
              </a:p>
              <a:p>
                <a:pPr marL="0" indent="0" algn="ctr">
                  <a:buNone/>
                </a:pPr>
                <a:r>
                  <a:rPr lang="en-GB" i="1" dirty="0"/>
                  <a:t>For each rule </a:t>
                </a:r>
                <a14:m>
                  <m:oMath xmlns:m="http://schemas.openxmlformats.org/officeDocument/2006/math">
                    <m:r>
                      <a:rPr lang="en-GB" i="1">
                        <a:latin typeface="Cambria Math" panose="02040503050406030204" pitchFamily="18" charset="0"/>
                      </a:rPr>
                      <m:t>𝐴</m:t>
                    </m:r>
                    <m:r>
                      <a:rPr lang="en-GB" i="1">
                        <a:latin typeface="Cambria Math" panose="02040503050406030204" pitchFamily="18" charset="0"/>
                      </a:rPr>
                      <m:t>→</m:t>
                    </m:r>
                    <m:r>
                      <a:rPr lang="en-GB" i="1">
                        <a:latin typeface="Cambria Math" panose="02040503050406030204" pitchFamily="18" charset="0"/>
                      </a:rPr>
                      <m:t>𝜔</m:t>
                    </m:r>
                  </m:oMath>
                </a14:m>
                <a:r>
                  <a:rPr lang="en-SG" i="1" dirty="0"/>
                  <a:t>, and for each terminal symbol in </a:t>
                </a:r>
                <a14:m>
                  <m:oMath xmlns:m="http://schemas.openxmlformats.org/officeDocument/2006/math">
                    <m:sSup>
                      <m:sSupPr>
                        <m:ctrlPr>
                          <a:rPr lang="en-GB" i="1">
                            <a:latin typeface="Cambria Math" panose="02040503050406030204" pitchFamily="18" charset="0"/>
                          </a:rPr>
                        </m:ctrlPr>
                      </m:sSupPr>
                      <m:e>
                        <m:r>
                          <a:rPr lang="en-GB" i="1">
                            <a:latin typeface="Cambria Math" panose="02040503050406030204" pitchFamily="18" charset="0"/>
                          </a:rPr>
                          <m:t>𝐹</m:t>
                        </m:r>
                      </m:e>
                      <m:sup>
                        <m:r>
                          <a:rPr lang="en-GB" i="1">
                            <a:latin typeface="Cambria Math" panose="02040503050406030204" pitchFamily="18" charset="0"/>
                          </a:rPr>
                          <m:t>∗</m:t>
                        </m:r>
                      </m:sup>
                    </m:sSup>
                    <m:r>
                      <a:rPr lang="en-GB" i="1">
                        <a:latin typeface="Cambria Math" panose="02040503050406030204" pitchFamily="18" charset="0"/>
                      </a:rPr>
                      <m:t>(</m:t>
                    </m:r>
                    <m:r>
                      <a:rPr lang="en-GB" i="1">
                        <a:latin typeface="Cambria Math" panose="02040503050406030204" pitchFamily="18" charset="0"/>
                      </a:rPr>
                      <m:t>𝜔</m:t>
                    </m:r>
                    <m:r>
                      <a:rPr lang="en-GB" b="0" i="1" smtClean="0">
                        <a:latin typeface="Cambria Math" panose="02040503050406030204" pitchFamily="18" charset="0"/>
                      </a:rPr>
                      <m:t>𝑁</m:t>
                    </m:r>
                    <m:r>
                      <a:rPr lang="en-GB" b="0" i="1" smtClean="0">
                        <a:latin typeface="Cambria Math" panose="02040503050406030204" pitchFamily="18" charset="0"/>
                      </a:rPr>
                      <m:t>(</m:t>
                    </m:r>
                    <m:r>
                      <a:rPr lang="en-GB" b="0" i="1" smtClean="0">
                        <a:latin typeface="Cambria Math" panose="02040503050406030204" pitchFamily="18" charset="0"/>
                      </a:rPr>
                      <m:t>𝐴</m:t>
                    </m:r>
                    <m:r>
                      <a:rPr lang="en-GB" b="0" i="1" smtClean="0">
                        <a:latin typeface="Cambria Math" panose="02040503050406030204" pitchFamily="18" charset="0"/>
                      </a:rPr>
                      <m:t>))</m:t>
                    </m:r>
                  </m:oMath>
                </a14:m>
                <a:r>
                  <a:rPr lang="en-SG" i="1" dirty="0"/>
                  <a:t>, set </a:t>
                </a:r>
                <a14:m>
                  <m:oMath xmlns:m="http://schemas.openxmlformats.org/officeDocument/2006/math">
                    <m:r>
                      <a:rPr lang="en-GB" i="1">
                        <a:latin typeface="Cambria Math" panose="02040503050406030204" pitchFamily="18" charset="0"/>
                      </a:rPr>
                      <m:t>𝑇</m:t>
                    </m:r>
                    <m:d>
                      <m:dPr>
                        <m:begChr m:val="["/>
                        <m:endChr m:val="]"/>
                        <m:ctrlPr>
                          <a:rPr lang="en-GB" i="1">
                            <a:latin typeface="Cambria Math" panose="02040503050406030204" pitchFamily="18" charset="0"/>
                          </a:rPr>
                        </m:ctrlPr>
                      </m:dPr>
                      <m:e>
                        <m:r>
                          <a:rPr lang="en-GB" i="1">
                            <a:latin typeface="Cambria Math" panose="02040503050406030204" pitchFamily="18" charset="0"/>
                          </a:rPr>
                          <m:t>𝐴</m:t>
                        </m:r>
                        <m:r>
                          <a:rPr lang="en-GB" i="1">
                            <a:latin typeface="Cambria Math" panose="02040503050406030204" pitchFamily="18" charset="0"/>
                          </a:rPr>
                          <m:t>,</m:t>
                        </m:r>
                        <m:r>
                          <a:rPr lang="en-GB" i="1">
                            <a:latin typeface="Cambria Math" panose="02040503050406030204" pitchFamily="18" charset="0"/>
                          </a:rPr>
                          <m:t>𝑡</m:t>
                        </m:r>
                      </m:e>
                    </m:d>
                    <m:r>
                      <a:rPr lang="en-GB" i="1">
                        <a:latin typeface="Cambria Math" panose="02040503050406030204" pitchFamily="18" charset="0"/>
                      </a:rPr>
                      <m:t>=</m:t>
                    </m:r>
                    <m:r>
                      <a:rPr lang="en-GB" i="1">
                        <a:latin typeface="Cambria Math" panose="02040503050406030204" pitchFamily="18" charset="0"/>
                      </a:rPr>
                      <m:t>𝜔</m:t>
                    </m:r>
                  </m:oMath>
                </a14:m>
                <a:r>
                  <a:rPr lang="en-SG" i="1" dirty="0"/>
                  <a:t>. (Keep in mind that </a:t>
                </a:r>
                <a14:m>
                  <m:oMath xmlns:m="http://schemas.openxmlformats.org/officeDocument/2006/math">
                    <m:r>
                      <a:rPr lang="en-GB" i="1">
                        <a:latin typeface="Cambria Math" panose="02040503050406030204" pitchFamily="18" charset="0"/>
                      </a:rPr>
                      <m:t>𝜖</m:t>
                    </m:r>
                  </m:oMath>
                </a14:m>
                <a:r>
                  <a:rPr lang="en-SG" i="1" dirty="0"/>
                  <a:t> is not a terminal symbol).</a:t>
                </a:r>
              </a:p>
              <a:p>
                <a:pPr marL="0" indent="0" algn="ctr">
                  <a:buNone/>
                </a:pPr>
                <a:endParaRPr lang="en-SG" i="1" dirty="0"/>
              </a:p>
              <a:p>
                <a:endParaRPr lang="en-SG" dirty="0"/>
              </a:p>
            </p:txBody>
          </p:sp>
        </mc:Choice>
        <mc:Fallback xmlns="">
          <p:sp>
            <p:nvSpPr>
              <p:cNvPr id="3" name="Content Placeholder 2">
                <a:extLst>
                  <a:ext uri="{FF2B5EF4-FFF2-40B4-BE49-F238E27FC236}">
                    <a16:creationId xmlns:a16="http://schemas.microsoft.com/office/drawing/2014/main" id="{13D8A2CC-6773-1909-149A-437D3BED1C9D}"/>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r="-986"/>
                </a:stretch>
              </a:blipFill>
            </p:spPr>
            <p:txBody>
              <a:bodyPr/>
              <a:lstStyle/>
              <a:p>
                <a:r>
                  <a:rPr lang="en-GB">
                    <a:noFill/>
                  </a:rPr>
                  <a:t> </a:t>
                </a:r>
              </a:p>
            </p:txBody>
          </p:sp>
        </mc:Fallback>
      </mc:AlternateContent>
    </p:spTree>
    <p:extLst>
      <p:ext uri="{BB962C8B-B14F-4D97-AF65-F5344CB8AC3E}">
        <p14:creationId xmlns:p14="http://schemas.microsoft.com/office/powerpoint/2010/main" val="2985363014"/>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Table&#10;&#10;Description automatically generated">
            <a:extLst>
              <a:ext uri="{FF2B5EF4-FFF2-40B4-BE49-F238E27FC236}">
                <a16:creationId xmlns:a16="http://schemas.microsoft.com/office/drawing/2014/main" id="{C473EE1E-9958-95DC-45BC-459C4E1D31A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20774" y="0"/>
            <a:ext cx="9150452" cy="6858000"/>
          </a:xfrm>
          <a:prstGeom prst="rect">
            <a:avLst/>
          </a:prstGeom>
        </p:spPr>
      </p:pic>
      <p:sp>
        <p:nvSpPr>
          <p:cNvPr id="8" name="Title 5">
            <a:extLst>
              <a:ext uri="{FF2B5EF4-FFF2-40B4-BE49-F238E27FC236}">
                <a16:creationId xmlns:a16="http://schemas.microsoft.com/office/drawing/2014/main" id="{14322051-52E2-6DC9-F631-58A98A2F60D6}"/>
              </a:ext>
            </a:extLst>
          </p:cNvPr>
          <p:cNvSpPr txBox="1">
            <a:spLocks/>
          </p:cNvSpPr>
          <p:nvPr/>
        </p:nvSpPr>
        <p:spPr>
          <a:xfrm>
            <a:off x="838200" y="365126"/>
            <a:ext cx="10515600" cy="775920"/>
          </a:xfrm>
          <a:prstGeom prst="rect">
            <a:avLst/>
          </a:prstGeom>
          <a:solidFill>
            <a:schemeClr val="bg1"/>
          </a:solid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t>Building an LL(1) table with epsilon prod.</a:t>
            </a:r>
            <a:endParaRPr lang="en-SG" dirty="0"/>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1F289773-D224-5158-8347-5A1A9FBC2FF2}"/>
                  </a:ext>
                </a:extLst>
              </p:cNvPr>
              <p:cNvSpPr txBox="1"/>
              <p:nvPr/>
            </p:nvSpPr>
            <p:spPr>
              <a:xfrm>
                <a:off x="5597650" y="1211703"/>
                <a:ext cx="6289550" cy="2246769"/>
              </a:xfrm>
              <a:prstGeom prst="rect">
                <a:avLst/>
              </a:prstGeom>
              <a:solidFill>
                <a:schemeClr val="bg1"/>
              </a:solidFill>
              <a:ln>
                <a:solidFill>
                  <a:schemeClr val="tx1"/>
                </a:solidFill>
              </a:ln>
            </p:spPr>
            <p:txBody>
              <a:bodyPr wrap="square" rtlCol="0">
                <a:spAutoFit/>
              </a:bodyPr>
              <a:lstStyle/>
              <a:p>
                <a:r>
                  <a:rPr lang="en-GB" sz="2800" dirty="0"/>
                  <a:t>Notes</a:t>
                </a:r>
              </a:p>
              <a:p>
                <a:pPr marL="457200" indent="-457200">
                  <a:buFont typeface="Arial" panose="020B0604020202020204" pitchFamily="34" charset="0"/>
                  <a:buChar char="•"/>
                </a:pPr>
                <a:r>
                  <a:rPr lang="en-GB" sz="2800" dirty="0"/>
                  <a:t>When the CFG contains </a:t>
                </a:r>
                <a14:m>
                  <m:oMath xmlns:m="http://schemas.openxmlformats.org/officeDocument/2006/math">
                    <m:r>
                      <a:rPr lang="en-GB" sz="2800" b="0" i="1" smtClean="0">
                        <a:latin typeface="Cambria Math" panose="02040503050406030204" pitchFamily="18" charset="0"/>
                      </a:rPr>
                      <m:t>𝜖</m:t>
                    </m:r>
                  </m:oMath>
                </a14:m>
                <a:r>
                  <a:rPr lang="en-GB" sz="2800" dirty="0"/>
                  <a:t>-production rules, you should add the string termination symbol $ in the LL(1) table and treat it as a terminal symbol. </a:t>
                </a:r>
                <a:endParaRPr lang="en-SG" sz="2800" dirty="0"/>
              </a:p>
            </p:txBody>
          </p:sp>
        </mc:Choice>
        <mc:Fallback xmlns="">
          <p:sp>
            <p:nvSpPr>
              <p:cNvPr id="9" name="TextBox 8">
                <a:extLst>
                  <a:ext uri="{FF2B5EF4-FFF2-40B4-BE49-F238E27FC236}">
                    <a16:creationId xmlns:a16="http://schemas.microsoft.com/office/drawing/2014/main" id="{1F289773-D224-5158-8347-5A1A9FBC2FF2}"/>
                  </a:ext>
                </a:extLst>
              </p:cNvPr>
              <p:cNvSpPr txBox="1">
                <a:spLocks noRot="1" noChangeAspect="1" noMove="1" noResize="1" noEditPoints="1" noAdjustHandles="1" noChangeArrowheads="1" noChangeShapeType="1" noTextEdit="1"/>
              </p:cNvSpPr>
              <p:nvPr/>
            </p:nvSpPr>
            <p:spPr>
              <a:xfrm>
                <a:off x="5597650" y="1211703"/>
                <a:ext cx="6289550" cy="2246769"/>
              </a:xfrm>
              <a:prstGeom prst="rect">
                <a:avLst/>
              </a:prstGeom>
              <a:blipFill>
                <a:blip r:embed="rId3"/>
                <a:stretch>
                  <a:fillRect l="-1838" t="-2432" r="-2128" b="-6757"/>
                </a:stretch>
              </a:blipFill>
              <a:ln>
                <a:solidFill>
                  <a:schemeClr val="tx1"/>
                </a:solidFill>
              </a:ln>
            </p:spPr>
            <p:txBody>
              <a:bodyPr/>
              <a:lstStyle/>
              <a:p>
                <a:r>
                  <a:rPr lang="en-GB">
                    <a:noFill/>
                  </a:rPr>
                  <a:t> </a:t>
                </a:r>
              </a:p>
            </p:txBody>
          </p:sp>
        </mc:Fallback>
      </mc:AlternateContent>
    </p:spTree>
    <p:extLst>
      <p:ext uri="{BB962C8B-B14F-4D97-AF65-F5344CB8AC3E}">
        <p14:creationId xmlns:p14="http://schemas.microsoft.com/office/powerpoint/2010/main" val="2277205746"/>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Table&#10;&#10;Description automatically generated">
            <a:extLst>
              <a:ext uri="{FF2B5EF4-FFF2-40B4-BE49-F238E27FC236}">
                <a16:creationId xmlns:a16="http://schemas.microsoft.com/office/drawing/2014/main" id="{C473EE1E-9958-95DC-45BC-459C4E1D31A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20774" y="0"/>
            <a:ext cx="9150452" cy="6858000"/>
          </a:xfrm>
          <a:prstGeom prst="rect">
            <a:avLst/>
          </a:prstGeom>
        </p:spPr>
      </p:pic>
      <p:sp>
        <p:nvSpPr>
          <p:cNvPr id="8" name="Title 5">
            <a:extLst>
              <a:ext uri="{FF2B5EF4-FFF2-40B4-BE49-F238E27FC236}">
                <a16:creationId xmlns:a16="http://schemas.microsoft.com/office/drawing/2014/main" id="{14322051-52E2-6DC9-F631-58A98A2F60D6}"/>
              </a:ext>
            </a:extLst>
          </p:cNvPr>
          <p:cNvSpPr txBox="1">
            <a:spLocks/>
          </p:cNvSpPr>
          <p:nvPr/>
        </p:nvSpPr>
        <p:spPr>
          <a:xfrm>
            <a:off x="838200" y="365126"/>
            <a:ext cx="10515600" cy="775920"/>
          </a:xfrm>
          <a:prstGeom prst="rect">
            <a:avLst/>
          </a:prstGeom>
          <a:solidFill>
            <a:schemeClr val="bg1"/>
          </a:solid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t>Building an LL(1) table with epsilon prod.</a:t>
            </a:r>
            <a:endParaRPr lang="en-SG" dirty="0"/>
          </a:p>
        </p:txBody>
      </p:sp>
      <p:sp>
        <p:nvSpPr>
          <p:cNvPr id="9" name="TextBox 8">
            <a:extLst>
              <a:ext uri="{FF2B5EF4-FFF2-40B4-BE49-F238E27FC236}">
                <a16:creationId xmlns:a16="http://schemas.microsoft.com/office/drawing/2014/main" id="{1F289773-D224-5158-8347-5A1A9FBC2FF2}"/>
              </a:ext>
            </a:extLst>
          </p:cNvPr>
          <p:cNvSpPr txBox="1"/>
          <p:nvPr/>
        </p:nvSpPr>
        <p:spPr>
          <a:xfrm>
            <a:off x="5597650" y="1211703"/>
            <a:ext cx="5906596" cy="2677656"/>
          </a:xfrm>
          <a:prstGeom prst="rect">
            <a:avLst/>
          </a:prstGeom>
          <a:solidFill>
            <a:schemeClr val="bg1"/>
          </a:solidFill>
          <a:ln>
            <a:solidFill>
              <a:schemeClr val="tx1"/>
            </a:solidFill>
          </a:ln>
        </p:spPr>
        <p:txBody>
          <a:bodyPr wrap="square" rtlCol="0">
            <a:spAutoFit/>
          </a:bodyPr>
          <a:lstStyle/>
          <a:p>
            <a:r>
              <a:rPr lang="en-GB" sz="2800" dirty="0"/>
              <a:t>Step 1: Compute the FIRST and FOLLOW sets for all non-terminal symbols in our CFG.</a:t>
            </a:r>
          </a:p>
          <a:p>
            <a:r>
              <a:rPr lang="en-GB" sz="2800" i="1" dirty="0"/>
              <a:t>(In the interest of time, showing results only, up to you to try it again at home for practice! Solution in backup slides!)</a:t>
            </a:r>
            <a:endParaRPr lang="en-SG" sz="2800" i="1" dirty="0"/>
          </a:p>
        </p:txBody>
      </p:sp>
    </p:spTree>
    <p:extLst>
      <p:ext uri="{BB962C8B-B14F-4D97-AF65-F5344CB8AC3E}">
        <p14:creationId xmlns:p14="http://schemas.microsoft.com/office/powerpoint/2010/main" val="2077370031"/>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Calendar&#10;&#10;Description automatically generated">
            <a:extLst>
              <a:ext uri="{FF2B5EF4-FFF2-40B4-BE49-F238E27FC236}">
                <a16:creationId xmlns:a16="http://schemas.microsoft.com/office/drawing/2014/main" id="{780016D4-38CF-7896-D73E-95909E71B41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20774" y="0"/>
            <a:ext cx="9150452" cy="6858000"/>
          </a:xfrm>
          <a:prstGeom prst="rect">
            <a:avLst/>
          </a:prstGeom>
        </p:spPr>
      </p:pic>
      <p:sp>
        <p:nvSpPr>
          <p:cNvPr id="4" name="Title 5">
            <a:extLst>
              <a:ext uri="{FF2B5EF4-FFF2-40B4-BE49-F238E27FC236}">
                <a16:creationId xmlns:a16="http://schemas.microsoft.com/office/drawing/2014/main" id="{13D8DDF9-E983-21D0-29E5-9679943FEA83}"/>
              </a:ext>
            </a:extLst>
          </p:cNvPr>
          <p:cNvSpPr txBox="1">
            <a:spLocks/>
          </p:cNvSpPr>
          <p:nvPr/>
        </p:nvSpPr>
        <p:spPr>
          <a:xfrm>
            <a:off x="838200" y="365126"/>
            <a:ext cx="10515600" cy="775920"/>
          </a:xfrm>
          <a:prstGeom prst="rect">
            <a:avLst/>
          </a:prstGeom>
          <a:solidFill>
            <a:schemeClr val="bg1"/>
          </a:solid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t>Building an LL(1) table with epsilon prod.</a:t>
            </a:r>
            <a:endParaRPr lang="en-SG" dirty="0"/>
          </a:p>
        </p:txBody>
      </p:sp>
    </p:spTree>
    <p:extLst>
      <p:ext uri="{BB962C8B-B14F-4D97-AF65-F5344CB8AC3E}">
        <p14:creationId xmlns:p14="http://schemas.microsoft.com/office/powerpoint/2010/main" val="2253175005"/>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Calendar&#10;&#10;Description automatically generated">
            <a:extLst>
              <a:ext uri="{FF2B5EF4-FFF2-40B4-BE49-F238E27FC236}">
                <a16:creationId xmlns:a16="http://schemas.microsoft.com/office/drawing/2014/main" id="{780016D4-38CF-7896-D73E-95909E71B41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20774" y="0"/>
            <a:ext cx="9150452" cy="6858000"/>
          </a:xfrm>
          <a:prstGeom prst="rect">
            <a:avLst/>
          </a:prstGeom>
        </p:spPr>
      </p:pic>
      <p:sp>
        <p:nvSpPr>
          <p:cNvPr id="4" name="Title 5">
            <a:extLst>
              <a:ext uri="{FF2B5EF4-FFF2-40B4-BE49-F238E27FC236}">
                <a16:creationId xmlns:a16="http://schemas.microsoft.com/office/drawing/2014/main" id="{13D8DDF9-E983-21D0-29E5-9679943FEA83}"/>
              </a:ext>
            </a:extLst>
          </p:cNvPr>
          <p:cNvSpPr txBox="1">
            <a:spLocks/>
          </p:cNvSpPr>
          <p:nvPr/>
        </p:nvSpPr>
        <p:spPr>
          <a:xfrm>
            <a:off x="838200" y="365126"/>
            <a:ext cx="10515600" cy="775920"/>
          </a:xfrm>
          <a:prstGeom prst="rect">
            <a:avLst/>
          </a:prstGeom>
          <a:solidFill>
            <a:schemeClr val="bg1"/>
          </a:solid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t>Building an LL(1) table with epsilon prod.</a:t>
            </a:r>
            <a:endParaRPr lang="en-SG" dirty="0"/>
          </a:p>
        </p:txBody>
      </p:sp>
      <p:sp>
        <p:nvSpPr>
          <p:cNvPr id="2" name="TextBox 1">
            <a:extLst>
              <a:ext uri="{FF2B5EF4-FFF2-40B4-BE49-F238E27FC236}">
                <a16:creationId xmlns:a16="http://schemas.microsoft.com/office/drawing/2014/main" id="{7487FC74-1A5D-CCF3-6374-74CAFABC686A}"/>
              </a:ext>
            </a:extLst>
          </p:cNvPr>
          <p:cNvSpPr txBox="1"/>
          <p:nvPr/>
        </p:nvSpPr>
        <p:spPr>
          <a:xfrm>
            <a:off x="353527" y="3493795"/>
            <a:ext cx="5468935" cy="1384995"/>
          </a:xfrm>
          <a:prstGeom prst="rect">
            <a:avLst/>
          </a:prstGeom>
          <a:solidFill>
            <a:schemeClr val="bg1"/>
          </a:solidFill>
          <a:ln>
            <a:solidFill>
              <a:schemeClr val="tx1"/>
            </a:solidFill>
          </a:ln>
        </p:spPr>
        <p:txBody>
          <a:bodyPr wrap="square" rtlCol="0">
            <a:spAutoFit/>
          </a:bodyPr>
          <a:lstStyle/>
          <a:p>
            <a:r>
              <a:rPr lang="en-GB" sz="2800" dirty="0"/>
              <a:t>Next, repeat Steps 2 and 3, as mentioned earlier to fill the LL(1) parsing table!</a:t>
            </a:r>
            <a:endParaRPr lang="en-SG" sz="2800" i="1" dirty="0"/>
          </a:p>
        </p:txBody>
      </p:sp>
    </p:spTree>
    <p:extLst>
      <p:ext uri="{BB962C8B-B14F-4D97-AF65-F5344CB8AC3E}">
        <p14:creationId xmlns:p14="http://schemas.microsoft.com/office/powerpoint/2010/main" val="4222450925"/>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Calendar&#10;&#10;Description automatically generated">
            <a:extLst>
              <a:ext uri="{FF2B5EF4-FFF2-40B4-BE49-F238E27FC236}">
                <a16:creationId xmlns:a16="http://schemas.microsoft.com/office/drawing/2014/main" id="{B03CAFDD-96A7-89E1-3E99-44594085574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20774" y="0"/>
            <a:ext cx="9150452" cy="6858000"/>
          </a:xfrm>
          <a:prstGeom prst="rect">
            <a:avLst/>
          </a:prstGeom>
        </p:spPr>
      </p:pic>
      <p:sp>
        <p:nvSpPr>
          <p:cNvPr id="8" name="Title 5">
            <a:extLst>
              <a:ext uri="{FF2B5EF4-FFF2-40B4-BE49-F238E27FC236}">
                <a16:creationId xmlns:a16="http://schemas.microsoft.com/office/drawing/2014/main" id="{4543FF08-266E-95A0-98AC-E9759BFB631F}"/>
              </a:ext>
            </a:extLst>
          </p:cNvPr>
          <p:cNvSpPr txBox="1">
            <a:spLocks/>
          </p:cNvSpPr>
          <p:nvPr/>
        </p:nvSpPr>
        <p:spPr>
          <a:xfrm>
            <a:off x="838200" y="365126"/>
            <a:ext cx="10515600" cy="775920"/>
          </a:xfrm>
          <a:prstGeom prst="rect">
            <a:avLst/>
          </a:prstGeom>
          <a:solidFill>
            <a:schemeClr val="bg1"/>
          </a:solid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t>Building an LL(1) table with epsilon prod.</a:t>
            </a:r>
            <a:endParaRPr lang="en-SG" dirty="0"/>
          </a:p>
        </p:txBody>
      </p:sp>
    </p:spTree>
    <p:extLst>
      <p:ext uri="{BB962C8B-B14F-4D97-AF65-F5344CB8AC3E}">
        <p14:creationId xmlns:p14="http://schemas.microsoft.com/office/powerpoint/2010/main" val="1668154196"/>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Calendar&#10;&#10;Description automatically generated">
            <a:extLst>
              <a:ext uri="{FF2B5EF4-FFF2-40B4-BE49-F238E27FC236}">
                <a16:creationId xmlns:a16="http://schemas.microsoft.com/office/drawing/2014/main" id="{83D15C25-55D4-0B57-AB1A-104EC3BFA9E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20774" y="0"/>
            <a:ext cx="9150452" cy="6858000"/>
          </a:xfrm>
          <a:prstGeom prst="rect">
            <a:avLst/>
          </a:prstGeom>
        </p:spPr>
      </p:pic>
      <p:sp>
        <p:nvSpPr>
          <p:cNvPr id="4" name="Title 5">
            <a:extLst>
              <a:ext uri="{FF2B5EF4-FFF2-40B4-BE49-F238E27FC236}">
                <a16:creationId xmlns:a16="http://schemas.microsoft.com/office/drawing/2014/main" id="{DC8B8391-0BD9-DFA8-D153-28A69DAF5D9D}"/>
              </a:ext>
            </a:extLst>
          </p:cNvPr>
          <p:cNvSpPr txBox="1">
            <a:spLocks/>
          </p:cNvSpPr>
          <p:nvPr/>
        </p:nvSpPr>
        <p:spPr>
          <a:xfrm>
            <a:off x="838200" y="365126"/>
            <a:ext cx="10515600" cy="775920"/>
          </a:xfrm>
          <a:prstGeom prst="rect">
            <a:avLst/>
          </a:prstGeom>
          <a:solidFill>
            <a:schemeClr val="bg1"/>
          </a:solid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t>Building an LL(1) table with epsilon prod.</a:t>
            </a:r>
            <a:endParaRPr lang="en-SG" dirty="0"/>
          </a:p>
        </p:txBody>
      </p:sp>
    </p:spTree>
    <p:extLst>
      <p:ext uri="{BB962C8B-B14F-4D97-AF65-F5344CB8AC3E}">
        <p14:creationId xmlns:p14="http://schemas.microsoft.com/office/powerpoint/2010/main" val="2095946824"/>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Calendar&#10;&#10;Description automatically generated with medium confidence">
            <a:extLst>
              <a:ext uri="{FF2B5EF4-FFF2-40B4-BE49-F238E27FC236}">
                <a16:creationId xmlns:a16="http://schemas.microsoft.com/office/drawing/2014/main" id="{90CD59F7-28B6-9882-E029-BA85C9437D0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20774" y="0"/>
            <a:ext cx="9150452" cy="6858000"/>
          </a:xfrm>
          <a:prstGeom prst="rect">
            <a:avLst/>
          </a:prstGeom>
        </p:spPr>
      </p:pic>
      <p:sp>
        <p:nvSpPr>
          <p:cNvPr id="4" name="Title 5">
            <a:extLst>
              <a:ext uri="{FF2B5EF4-FFF2-40B4-BE49-F238E27FC236}">
                <a16:creationId xmlns:a16="http://schemas.microsoft.com/office/drawing/2014/main" id="{9486EB5F-C3A6-095F-7BE5-C43ED98862B5}"/>
              </a:ext>
            </a:extLst>
          </p:cNvPr>
          <p:cNvSpPr txBox="1">
            <a:spLocks/>
          </p:cNvSpPr>
          <p:nvPr/>
        </p:nvSpPr>
        <p:spPr>
          <a:xfrm>
            <a:off x="838200" y="365126"/>
            <a:ext cx="10515600" cy="775920"/>
          </a:xfrm>
          <a:prstGeom prst="rect">
            <a:avLst/>
          </a:prstGeom>
          <a:solidFill>
            <a:schemeClr val="bg1"/>
          </a:solid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t>Building an LL(1) table with epsilon prod.</a:t>
            </a:r>
            <a:endParaRPr lang="en-SG" dirty="0"/>
          </a:p>
        </p:txBody>
      </p:sp>
    </p:spTree>
    <p:extLst>
      <p:ext uri="{BB962C8B-B14F-4D97-AF65-F5344CB8AC3E}">
        <p14:creationId xmlns:p14="http://schemas.microsoft.com/office/powerpoint/2010/main" val="1762507243"/>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Table&#10;&#10;Description automatically generated with medium confidence">
            <a:extLst>
              <a:ext uri="{FF2B5EF4-FFF2-40B4-BE49-F238E27FC236}">
                <a16:creationId xmlns:a16="http://schemas.microsoft.com/office/drawing/2014/main" id="{ED603560-54DB-9848-CA0B-5833506A477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20774" y="0"/>
            <a:ext cx="9150452" cy="6858000"/>
          </a:xfrm>
          <a:prstGeom prst="rect">
            <a:avLst/>
          </a:prstGeom>
        </p:spPr>
      </p:pic>
      <p:sp>
        <p:nvSpPr>
          <p:cNvPr id="4" name="Title 5">
            <a:extLst>
              <a:ext uri="{FF2B5EF4-FFF2-40B4-BE49-F238E27FC236}">
                <a16:creationId xmlns:a16="http://schemas.microsoft.com/office/drawing/2014/main" id="{B7D419F6-FC0A-904B-0D12-8C787069F262}"/>
              </a:ext>
            </a:extLst>
          </p:cNvPr>
          <p:cNvSpPr txBox="1">
            <a:spLocks/>
          </p:cNvSpPr>
          <p:nvPr/>
        </p:nvSpPr>
        <p:spPr>
          <a:xfrm>
            <a:off x="838200" y="365126"/>
            <a:ext cx="10515600" cy="775920"/>
          </a:xfrm>
          <a:prstGeom prst="rect">
            <a:avLst/>
          </a:prstGeom>
          <a:solidFill>
            <a:schemeClr val="bg1"/>
          </a:solid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t>Building an LL(1) table with epsilon prod.</a:t>
            </a:r>
            <a:endParaRPr lang="en-SG" dirty="0"/>
          </a:p>
        </p:txBody>
      </p:sp>
    </p:spTree>
    <p:extLst>
      <p:ext uri="{BB962C8B-B14F-4D97-AF65-F5344CB8AC3E}">
        <p14:creationId xmlns:p14="http://schemas.microsoft.com/office/powerpoint/2010/main" val="3036346102"/>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Table, calendar&#10;&#10;Description automatically generated with medium confidence">
            <a:extLst>
              <a:ext uri="{FF2B5EF4-FFF2-40B4-BE49-F238E27FC236}">
                <a16:creationId xmlns:a16="http://schemas.microsoft.com/office/drawing/2014/main" id="{19530CEA-CC37-1818-C94F-A867BA2ED92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20774" y="0"/>
            <a:ext cx="9150452" cy="6858000"/>
          </a:xfrm>
          <a:prstGeom prst="rect">
            <a:avLst/>
          </a:prstGeom>
        </p:spPr>
      </p:pic>
      <p:sp>
        <p:nvSpPr>
          <p:cNvPr id="4" name="Title 5">
            <a:extLst>
              <a:ext uri="{FF2B5EF4-FFF2-40B4-BE49-F238E27FC236}">
                <a16:creationId xmlns:a16="http://schemas.microsoft.com/office/drawing/2014/main" id="{A8F2ABE8-3DD6-AA13-DE23-C4AC23D192A4}"/>
              </a:ext>
            </a:extLst>
          </p:cNvPr>
          <p:cNvSpPr txBox="1">
            <a:spLocks/>
          </p:cNvSpPr>
          <p:nvPr/>
        </p:nvSpPr>
        <p:spPr>
          <a:xfrm>
            <a:off x="838200" y="365126"/>
            <a:ext cx="10515600" cy="775920"/>
          </a:xfrm>
          <a:prstGeom prst="rect">
            <a:avLst/>
          </a:prstGeom>
          <a:solidFill>
            <a:schemeClr val="bg1"/>
          </a:solid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t>Building an LL(1) table with epsilon prod.</a:t>
            </a:r>
            <a:endParaRPr lang="en-SG" dirty="0"/>
          </a:p>
        </p:txBody>
      </p:sp>
    </p:spTree>
    <p:extLst>
      <p:ext uri="{BB962C8B-B14F-4D97-AF65-F5344CB8AC3E}">
        <p14:creationId xmlns:p14="http://schemas.microsoft.com/office/powerpoint/2010/main" val="1764237651"/>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Table&#10;&#10;Description automatically generated with low confidence">
            <a:extLst>
              <a:ext uri="{FF2B5EF4-FFF2-40B4-BE49-F238E27FC236}">
                <a16:creationId xmlns:a16="http://schemas.microsoft.com/office/drawing/2014/main" id="{54DFBBE5-A610-D2E4-3B05-D21CC1F65A5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20774" y="0"/>
            <a:ext cx="9150452" cy="6858000"/>
          </a:xfrm>
          <a:prstGeom prst="rect">
            <a:avLst/>
          </a:prstGeom>
        </p:spPr>
      </p:pic>
      <p:sp>
        <p:nvSpPr>
          <p:cNvPr id="4" name="Title 5">
            <a:extLst>
              <a:ext uri="{FF2B5EF4-FFF2-40B4-BE49-F238E27FC236}">
                <a16:creationId xmlns:a16="http://schemas.microsoft.com/office/drawing/2014/main" id="{E9AD1E73-7ACD-44FD-985B-41FBB06C9518}"/>
              </a:ext>
            </a:extLst>
          </p:cNvPr>
          <p:cNvSpPr txBox="1">
            <a:spLocks/>
          </p:cNvSpPr>
          <p:nvPr/>
        </p:nvSpPr>
        <p:spPr>
          <a:xfrm>
            <a:off x="838200" y="365126"/>
            <a:ext cx="10515600" cy="775920"/>
          </a:xfrm>
          <a:prstGeom prst="rect">
            <a:avLst/>
          </a:prstGeom>
          <a:solidFill>
            <a:schemeClr val="bg1"/>
          </a:solid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t>Building an LL(1) table with epsilon prod.</a:t>
            </a:r>
            <a:endParaRPr lang="en-SG" dirty="0"/>
          </a:p>
        </p:txBody>
      </p:sp>
    </p:spTree>
    <p:extLst>
      <p:ext uri="{BB962C8B-B14F-4D97-AF65-F5344CB8AC3E}">
        <p14:creationId xmlns:p14="http://schemas.microsoft.com/office/powerpoint/2010/main" val="3931875955"/>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picture containing table&#10;&#10;Description automatically generated">
            <a:extLst>
              <a:ext uri="{FF2B5EF4-FFF2-40B4-BE49-F238E27FC236}">
                <a16:creationId xmlns:a16="http://schemas.microsoft.com/office/drawing/2014/main" id="{74395A98-F2BF-BC75-60B7-54045494F46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20774" y="0"/>
            <a:ext cx="9150452" cy="6858000"/>
          </a:xfrm>
          <a:prstGeom prst="rect">
            <a:avLst/>
          </a:prstGeom>
        </p:spPr>
      </p:pic>
      <p:sp>
        <p:nvSpPr>
          <p:cNvPr id="4" name="Title 5">
            <a:extLst>
              <a:ext uri="{FF2B5EF4-FFF2-40B4-BE49-F238E27FC236}">
                <a16:creationId xmlns:a16="http://schemas.microsoft.com/office/drawing/2014/main" id="{A3689CB9-87E5-86DD-2257-5E2ED8222C0D}"/>
              </a:ext>
            </a:extLst>
          </p:cNvPr>
          <p:cNvSpPr txBox="1">
            <a:spLocks/>
          </p:cNvSpPr>
          <p:nvPr/>
        </p:nvSpPr>
        <p:spPr>
          <a:xfrm>
            <a:off x="838200" y="365126"/>
            <a:ext cx="10515600" cy="775920"/>
          </a:xfrm>
          <a:prstGeom prst="rect">
            <a:avLst/>
          </a:prstGeom>
          <a:solidFill>
            <a:schemeClr val="bg1"/>
          </a:solid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t>Building an LL(1) table with epsilon prod.</a:t>
            </a:r>
            <a:endParaRPr lang="en-SG" dirty="0"/>
          </a:p>
        </p:txBody>
      </p:sp>
    </p:spTree>
    <p:extLst>
      <p:ext uri="{BB962C8B-B14F-4D97-AF65-F5344CB8AC3E}">
        <p14:creationId xmlns:p14="http://schemas.microsoft.com/office/powerpoint/2010/main" val="1096759462"/>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picture containing calendar&#10;&#10;Description automatically generated">
            <a:extLst>
              <a:ext uri="{FF2B5EF4-FFF2-40B4-BE49-F238E27FC236}">
                <a16:creationId xmlns:a16="http://schemas.microsoft.com/office/drawing/2014/main" id="{D4119CD7-3E65-773E-B418-00B3D52FACF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20774" y="0"/>
            <a:ext cx="9150452" cy="6858000"/>
          </a:xfrm>
          <a:prstGeom prst="rect">
            <a:avLst/>
          </a:prstGeom>
        </p:spPr>
      </p:pic>
      <p:sp>
        <p:nvSpPr>
          <p:cNvPr id="6" name="Title 5">
            <a:extLst>
              <a:ext uri="{FF2B5EF4-FFF2-40B4-BE49-F238E27FC236}">
                <a16:creationId xmlns:a16="http://schemas.microsoft.com/office/drawing/2014/main" id="{EE8215A4-26DB-7758-F44F-10F506A21E90}"/>
              </a:ext>
            </a:extLst>
          </p:cNvPr>
          <p:cNvSpPr txBox="1">
            <a:spLocks/>
          </p:cNvSpPr>
          <p:nvPr/>
        </p:nvSpPr>
        <p:spPr>
          <a:xfrm>
            <a:off x="838200" y="365126"/>
            <a:ext cx="10515600" cy="775920"/>
          </a:xfrm>
          <a:prstGeom prst="rect">
            <a:avLst/>
          </a:prstGeom>
          <a:solidFill>
            <a:schemeClr val="bg1"/>
          </a:solid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t>Building an LL(1) table with epsilon prod.</a:t>
            </a:r>
            <a:endParaRPr lang="en-SG" dirty="0"/>
          </a:p>
        </p:txBody>
      </p:sp>
    </p:spTree>
    <p:extLst>
      <p:ext uri="{BB962C8B-B14F-4D97-AF65-F5344CB8AC3E}">
        <p14:creationId xmlns:p14="http://schemas.microsoft.com/office/powerpoint/2010/main" val="4277552009"/>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Table&#10;&#10;Description automatically generated with medium confidence">
            <a:extLst>
              <a:ext uri="{FF2B5EF4-FFF2-40B4-BE49-F238E27FC236}">
                <a16:creationId xmlns:a16="http://schemas.microsoft.com/office/drawing/2014/main" id="{B11E04AF-B58C-48B7-D08F-48FA11F8EA9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20774" y="0"/>
            <a:ext cx="9150452" cy="6858000"/>
          </a:xfrm>
          <a:prstGeom prst="rect">
            <a:avLst/>
          </a:prstGeom>
        </p:spPr>
      </p:pic>
      <p:sp>
        <p:nvSpPr>
          <p:cNvPr id="4" name="Title 5">
            <a:extLst>
              <a:ext uri="{FF2B5EF4-FFF2-40B4-BE49-F238E27FC236}">
                <a16:creationId xmlns:a16="http://schemas.microsoft.com/office/drawing/2014/main" id="{26E1BBE3-14F3-31D5-F913-59AF6D8308A6}"/>
              </a:ext>
            </a:extLst>
          </p:cNvPr>
          <p:cNvSpPr txBox="1">
            <a:spLocks/>
          </p:cNvSpPr>
          <p:nvPr/>
        </p:nvSpPr>
        <p:spPr>
          <a:xfrm>
            <a:off x="838200" y="365126"/>
            <a:ext cx="10515600" cy="775920"/>
          </a:xfrm>
          <a:prstGeom prst="rect">
            <a:avLst/>
          </a:prstGeom>
          <a:solidFill>
            <a:schemeClr val="bg1"/>
          </a:solid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t>Building an LL(1) table with epsilon prod.</a:t>
            </a:r>
            <a:endParaRPr lang="en-SG" dirty="0"/>
          </a:p>
        </p:txBody>
      </p:sp>
    </p:spTree>
    <p:extLst>
      <p:ext uri="{BB962C8B-B14F-4D97-AF65-F5344CB8AC3E}">
        <p14:creationId xmlns:p14="http://schemas.microsoft.com/office/powerpoint/2010/main" val="397574632"/>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A95A3E-0ACE-74E5-62AB-EDE4F4DB0EC8}"/>
              </a:ext>
            </a:extLst>
          </p:cNvPr>
          <p:cNvSpPr>
            <a:spLocks noGrp="1"/>
          </p:cNvSpPr>
          <p:nvPr>
            <p:ph type="title"/>
          </p:nvPr>
        </p:nvSpPr>
        <p:spPr/>
        <p:txBody>
          <a:bodyPr/>
          <a:lstStyle/>
          <a:p>
            <a:r>
              <a:rPr lang="en-GB" dirty="0"/>
              <a:t>LL(1) is cumbersome but seems to work!</a:t>
            </a:r>
            <a:endParaRPr lang="en-SG" dirty="0"/>
          </a:p>
        </p:txBody>
      </p:sp>
      <p:sp>
        <p:nvSpPr>
          <p:cNvPr id="3" name="Content Placeholder 2">
            <a:extLst>
              <a:ext uri="{FF2B5EF4-FFF2-40B4-BE49-F238E27FC236}">
                <a16:creationId xmlns:a16="http://schemas.microsoft.com/office/drawing/2014/main" id="{EAE39F0D-4B3E-59F4-65D4-507B56686ABC}"/>
              </a:ext>
            </a:extLst>
          </p:cNvPr>
          <p:cNvSpPr>
            <a:spLocks noGrp="1"/>
          </p:cNvSpPr>
          <p:nvPr>
            <p:ph idx="1"/>
          </p:nvPr>
        </p:nvSpPr>
        <p:spPr>
          <a:xfrm>
            <a:off x="838200" y="1825624"/>
            <a:ext cx="10515600" cy="5032375"/>
          </a:xfrm>
        </p:spPr>
        <p:txBody>
          <a:bodyPr>
            <a:normAutofit/>
          </a:bodyPr>
          <a:lstStyle/>
          <a:p>
            <a:pPr marL="0" indent="0">
              <a:buNone/>
            </a:pPr>
            <a:r>
              <a:rPr lang="en-GB" b="1" dirty="0"/>
              <a:t>Does LL(1) work well on all CFGs?</a:t>
            </a:r>
          </a:p>
          <a:p>
            <a:r>
              <a:rPr lang="en-SG" dirty="0"/>
              <a:t>No, </a:t>
            </a:r>
            <a:r>
              <a:rPr lang="en-SG"/>
              <a:t>not guaranteed.</a:t>
            </a:r>
            <a:endParaRPr lang="en-SG" dirty="0"/>
          </a:p>
          <a:p>
            <a:r>
              <a:rPr lang="en-SG" dirty="0"/>
              <a:t>In general, any CFG with a left recursion will lead to having multiple productions rules in a given entry of the LL(1) table.</a:t>
            </a:r>
          </a:p>
          <a:p>
            <a:r>
              <a:rPr lang="en-SG" dirty="0"/>
              <a:t>This could lead to FIRST-FIRST conflicts. If it does, we simply say, in that case that </a:t>
            </a:r>
            <a:r>
              <a:rPr lang="en-SG" b="1" dirty="0"/>
              <a:t>the CFG is not LL(1).</a:t>
            </a:r>
          </a:p>
          <a:p>
            <a:r>
              <a:rPr lang="en-SG" b="1" dirty="0">
                <a:solidFill>
                  <a:srgbClr val="C00000"/>
                </a:solidFill>
              </a:rPr>
              <a:t>While it might be possible sometimes to rewrite a non-LL(1) CFG into an equivalent LL(1) CFG, there is technically no clear method on how to do so 100% of the time.</a:t>
            </a:r>
          </a:p>
          <a:p>
            <a:r>
              <a:rPr lang="en-SG" b="1" dirty="0">
                <a:solidFill>
                  <a:srgbClr val="C00000"/>
                </a:solidFill>
              </a:rPr>
              <a:t>And most grammars cannot be represented as LL(1) anyway…!</a:t>
            </a:r>
            <a:br>
              <a:rPr lang="en-SG" b="1" dirty="0">
                <a:solidFill>
                  <a:srgbClr val="C00000"/>
                </a:solidFill>
              </a:rPr>
            </a:br>
            <a:r>
              <a:rPr lang="en-SG" b="1" i="1" dirty="0">
                <a:solidFill>
                  <a:srgbClr val="C00000"/>
                </a:solidFill>
              </a:rPr>
              <a:t>(The CFG for C is not LL(1) unfortunately!)</a:t>
            </a:r>
          </a:p>
        </p:txBody>
      </p:sp>
    </p:spTree>
    <p:extLst>
      <p:ext uri="{BB962C8B-B14F-4D97-AF65-F5344CB8AC3E}">
        <p14:creationId xmlns:p14="http://schemas.microsoft.com/office/powerpoint/2010/main" val="3038174425"/>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AC8732-5FCD-9386-31B7-DF4731B84DC7}"/>
              </a:ext>
            </a:extLst>
          </p:cNvPr>
          <p:cNvSpPr>
            <a:spLocks noGrp="1"/>
          </p:cNvSpPr>
          <p:nvPr>
            <p:ph type="title"/>
          </p:nvPr>
        </p:nvSpPr>
        <p:spPr/>
        <p:txBody>
          <a:bodyPr/>
          <a:lstStyle/>
          <a:p>
            <a:r>
              <a:rPr lang="en-GB" dirty="0"/>
              <a:t>Predictive Parsing to the rescue?</a:t>
            </a:r>
            <a:endParaRPr lang="en-SG" dirty="0"/>
          </a:p>
        </p:txBody>
      </p:sp>
      <p:sp>
        <p:nvSpPr>
          <p:cNvPr id="3" name="Content Placeholder 2">
            <a:extLst>
              <a:ext uri="{FF2B5EF4-FFF2-40B4-BE49-F238E27FC236}">
                <a16:creationId xmlns:a16="http://schemas.microsoft.com/office/drawing/2014/main" id="{F783E8B7-64E6-50B8-2C64-3DE14BAD6EFC}"/>
              </a:ext>
            </a:extLst>
          </p:cNvPr>
          <p:cNvSpPr>
            <a:spLocks noGrp="1"/>
          </p:cNvSpPr>
          <p:nvPr>
            <p:ph idx="1"/>
          </p:nvPr>
        </p:nvSpPr>
        <p:spPr>
          <a:xfrm>
            <a:off x="838200" y="1825624"/>
            <a:ext cx="10515600" cy="5032375"/>
          </a:xfrm>
        </p:spPr>
        <p:txBody>
          <a:bodyPr>
            <a:normAutofit/>
          </a:bodyPr>
          <a:lstStyle/>
          <a:p>
            <a:pPr marL="0" indent="0">
              <a:buNone/>
            </a:pPr>
            <a:r>
              <a:rPr lang="en-SG" b="1" dirty="0"/>
              <a:t>Quick Question: How many symbols </a:t>
            </a:r>
            <a:r>
              <a:rPr lang="en-SG" b="1" i="1" dirty="0"/>
              <a:t>k</a:t>
            </a:r>
            <a:r>
              <a:rPr lang="en-SG" b="1" dirty="0"/>
              <a:t> should we look ahead then?</a:t>
            </a:r>
          </a:p>
          <a:p>
            <a:r>
              <a:rPr lang="en-GB" dirty="0"/>
              <a:t>There is a </a:t>
            </a:r>
            <a:r>
              <a:rPr lang="en-GB" b="1" dirty="0"/>
              <a:t>trade-off</a:t>
            </a:r>
            <a:r>
              <a:rPr lang="en-GB" dirty="0"/>
              <a:t> on the number of symbols </a:t>
            </a:r>
            <a:r>
              <a:rPr lang="en-GB" i="1" dirty="0"/>
              <a:t>k</a:t>
            </a:r>
            <a:r>
              <a:rPr lang="en-GB" dirty="0"/>
              <a:t> we should use.</a:t>
            </a:r>
          </a:p>
          <a:p>
            <a:r>
              <a:rPr lang="en-GB" dirty="0"/>
              <a:t>Increasing the number of lookahead tokens increases the number of grammars we can parse, but complicates the parser.</a:t>
            </a:r>
            <a:br>
              <a:rPr lang="en-GB" dirty="0"/>
            </a:br>
            <a:r>
              <a:rPr lang="en-GB" dirty="0"/>
              <a:t>A grammar might not be LL(1), but it could be LL(k), with k&gt;1!</a:t>
            </a:r>
          </a:p>
          <a:p>
            <a:r>
              <a:rPr lang="en-GB" dirty="0"/>
              <a:t>A smaller number of lookahead tokens simplifies the parser, but forces grammars and syntax being expressed to be simpler </a:t>
            </a:r>
            <a:r>
              <a:rPr lang="en-GB"/>
              <a:t>as well.</a:t>
            </a:r>
            <a:endParaRPr lang="en-GB" dirty="0"/>
          </a:p>
          <a:p>
            <a:pPr marL="0" indent="0">
              <a:buNone/>
            </a:pPr>
            <a:r>
              <a:rPr lang="en-GB" dirty="0"/>
              <a:t>LL(k) algorithms are more robust but not immune to problems either. </a:t>
            </a:r>
          </a:p>
          <a:p>
            <a:pPr marL="0" indent="0">
              <a:buNone/>
            </a:pPr>
            <a:r>
              <a:rPr lang="en-GB" dirty="0"/>
              <a:t>The method and implementation of LL(k) parsing algorithms is definitely </a:t>
            </a:r>
            <a:r>
              <a:rPr lang="en-GB" u="sng" dirty="0"/>
              <a:t>out-of-scope</a:t>
            </a:r>
            <a:r>
              <a:rPr lang="en-GB" dirty="0"/>
              <a:t> for this class.</a:t>
            </a:r>
            <a:endParaRPr lang="en-SG" dirty="0"/>
          </a:p>
        </p:txBody>
      </p:sp>
    </p:spTree>
    <p:extLst>
      <p:ext uri="{BB962C8B-B14F-4D97-AF65-F5344CB8AC3E}">
        <p14:creationId xmlns:p14="http://schemas.microsoft.com/office/powerpoint/2010/main" val="3528031055"/>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C2412C-72CF-1223-E406-8465C5E1376E}"/>
              </a:ext>
            </a:extLst>
          </p:cNvPr>
          <p:cNvSpPr>
            <a:spLocks noGrp="1"/>
          </p:cNvSpPr>
          <p:nvPr>
            <p:ph type="title"/>
          </p:nvPr>
        </p:nvSpPr>
        <p:spPr/>
        <p:txBody>
          <a:bodyPr/>
          <a:lstStyle/>
          <a:p>
            <a:r>
              <a:rPr lang="en-GB" dirty="0"/>
              <a:t>Summary and conclusion</a:t>
            </a:r>
            <a:endParaRPr lang="en-SG" dirty="0"/>
          </a:p>
        </p:txBody>
      </p:sp>
      <p:sp>
        <p:nvSpPr>
          <p:cNvPr id="3" name="Content Placeholder 2">
            <a:extLst>
              <a:ext uri="{FF2B5EF4-FFF2-40B4-BE49-F238E27FC236}">
                <a16:creationId xmlns:a16="http://schemas.microsoft.com/office/drawing/2014/main" id="{5E261B30-B6F6-5653-3759-2A3FDDBAE66C}"/>
              </a:ext>
            </a:extLst>
          </p:cNvPr>
          <p:cNvSpPr>
            <a:spLocks noGrp="1"/>
          </p:cNvSpPr>
          <p:nvPr>
            <p:ph idx="1"/>
          </p:nvPr>
        </p:nvSpPr>
        <p:spPr>
          <a:xfrm>
            <a:off x="838200" y="1825624"/>
            <a:ext cx="10515600" cy="5032375"/>
          </a:xfrm>
        </p:spPr>
        <p:txBody>
          <a:bodyPr>
            <a:normAutofit fontScale="92500" lnSpcReduction="10000"/>
          </a:bodyPr>
          <a:lstStyle/>
          <a:p>
            <a:r>
              <a:rPr lang="en-GB" b="1" dirty="0"/>
              <a:t>Top-Down parsing: </a:t>
            </a:r>
            <a:r>
              <a:rPr lang="en-GB" dirty="0"/>
              <a:t>Try to derive the user program from the start symbol of the programming language CFG.</a:t>
            </a:r>
          </a:p>
          <a:p>
            <a:r>
              <a:rPr lang="en-GB" b="1" dirty="0"/>
              <a:t>Leftmost BFS and DFS: </a:t>
            </a:r>
            <a:r>
              <a:rPr lang="en-GB" dirty="0"/>
              <a:t>Uncommon in practice and fail for very simple recursive CFGs.</a:t>
            </a:r>
          </a:p>
          <a:p>
            <a:r>
              <a:rPr lang="en-GB" b="1" dirty="0"/>
              <a:t>Predictive LL(1) parsers: </a:t>
            </a:r>
            <a:r>
              <a:rPr lang="en-GB" dirty="0"/>
              <a:t>scans from left to right, lookahead of one symbol to try and find the next leftmost derivation to use. Faster than basic BFS and DFS. Not immune to problems when CFG is not LL(1).</a:t>
            </a:r>
          </a:p>
          <a:p>
            <a:r>
              <a:rPr lang="en-GB" b="1" dirty="0"/>
              <a:t>Predictive LL(k) parsers: </a:t>
            </a:r>
            <a:r>
              <a:rPr lang="en-GB" dirty="0"/>
              <a:t>same as LL(1) but k symbols of lookahead. Covers more possible grammars, but computationally more expensive and still not immune to problems.</a:t>
            </a:r>
          </a:p>
          <a:p>
            <a:pPr marL="0" indent="0">
              <a:buNone/>
            </a:pPr>
            <a:r>
              <a:rPr lang="en-GB" b="1" dirty="0">
                <a:solidFill>
                  <a:srgbClr val="C00000"/>
                </a:solidFill>
                <a:sym typeface="Wingdings" panose="05000000000000000000" pitchFamily="2" charset="2"/>
              </a:rPr>
              <a:t> </a:t>
            </a:r>
            <a:r>
              <a:rPr lang="en-GB" b="1" dirty="0">
                <a:solidFill>
                  <a:srgbClr val="C00000"/>
                </a:solidFill>
              </a:rPr>
              <a:t>Difficult and somewhat impossible task so far! More importantly the CFG for the C language is not LL</a:t>
            </a:r>
            <a:r>
              <a:rPr lang="en-GB" b="1">
                <a:solidFill>
                  <a:srgbClr val="C00000"/>
                </a:solidFill>
              </a:rPr>
              <a:t>(k)…</a:t>
            </a:r>
            <a:br>
              <a:rPr lang="en-GB" b="1" dirty="0">
                <a:solidFill>
                  <a:srgbClr val="C00000"/>
                </a:solidFill>
              </a:rPr>
            </a:br>
            <a:r>
              <a:rPr lang="en-GB" b="1" dirty="0">
                <a:solidFill>
                  <a:srgbClr val="C00000"/>
                </a:solidFill>
              </a:rPr>
              <a:t>Will need other approaches (to be discussed next lecture).</a:t>
            </a:r>
            <a:endParaRPr lang="en-SG" b="1" dirty="0">
              <a:solidFill>
                <a:srgbClr val="C00000"/>
              </a:solidFill>
            </a:endParaRPr>
          </a:p>
        </p:txBody>
      </p:sp>
    </p:spTree>
    <p:extLst>
      <p:ext uri="{BB962C8B-B14F-4D97-AF65-F5344CB8AC3E}">
        <p14:creationId xmlns:p14="http://schemas.microsoft.com/office/powerpoint/2010/main" val="2226766856"/>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Timeline&#10;&#10;Description automatically generated with medium confidence">
            <a:extLst>
              <a:ext uri="{FF2B5EF4-FFF2-40B4-BE49-F238E27FC236}">
                <a16:creationId xmlns:a16="http://schemas.microsoft.com/office/drawing/2014/main" id="{4C19A41D-374B-5CD0-68CC-EB2CF4A2CDC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8039" y="0"/>
            <a:ext cx="9155922" cy="6858000"/>
          </a:xfrm>
          <a:prstGeom prst="rect">
            <a:avLst/>
          </a:prstGeom>
        </p:spPr>
      </p:pic>
      <p:sp>
        <p:nvSpPr>
          <p:cNvPr id="8" name="Title 5">
            <a:extLst>
              <a:ext uri="{FF2B5EF4-FFF2-40B4-BE49-F238E27FC236}">
                <a16:creationId xmlns:a16="http://schemas.microsoft.com/office/drawing/2014/main" id="{F0BB8961-BDEB-54EF-B87D-E3E23AFA2EBB}"/>
              </a:ext>
            </a:extLst>
          </p:cNvPr>
          <p:cNvSpPr txBox="1">
            <a:spLocks/>
          </p:cNvSpPr>
          <p:nvPr/>
        </p:nvSpPr>
        <p:spPr>
          <a:xfrm>
            <a:off x="838200" y="365126"/>
            <a:ext cx="10515600" cy="775920"/>
          </a:xfrm>
          <a:prstGeom prst="rect">
            <a:avLst/>
          </a:prstGeom>
          <a:solidFill>
            <a:schemeClr val="bg1"/>
          </a:solid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t>FIRST sets for our Epsilon CFG in LL(1) demo</a:t>
            </a:r>
            <a:endParaRPr lang="en-SG" dirty="0"/>
          </a:p>
        </p:txBody>
      </p:sp>
    </p:spTree>
    <p:extLst>
      <p:ext uri="{BB962C8B-B14F-4D97-AF65-F5344CB8AC3E}">
        <p14:creationId xmlns:p14="http://schemas.microsoft.com/office/powerpoint/2010/main" val="3412010652"/>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Table&#10;&#10;Description automatically generated with medium confidence">
            <a:extLst>
              <a:ext uri="{FF2B5EF4-FFF2-40B4-BE49-F238E27FC236}">
                <a16:creationId xmlns:a16="http://schemas.microsoft.com/office/drawing/2014/main" id="{2E191A98-9C5F-55A4-C61B-61310B458CA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8039" y="0"/>
            <a:ext cx="9155922" cy="6858000"/>
          </a:xfrm>
          <a:prstGeom prst="rect">
            <a:avLst/>
          </a:prstGeom>
        </p:spPr>
      </p:pic>
      <p:sp>
        <p:nvSpPr>
          <p:cNvPr id="4" name="TextBox 3">
            <a:extLst>
              <a:ext uri="{FF2B5EF4-FFF2-40B4-BE49-F238E27FC236}">
                <a16:creationId xmlns:a16="http://schemas.microsoft.com/office/drawing/2014/main" id="{5308E98E-F9AF-760A-4D66-AFF85DFA5DDF}"/>
              </a:ext>
            </a:extLst>
          </p:cNvPr>
          <p:cNvSpPr txBox="1"/>
          <p:nvPr/>
        </p:nvSpPr>
        <p:spPr>
          <a:xfrm>
            <a:off x="203201" y="3493795"/>
            <a:ext cx="2008554" cy="2246769"/>
          </a:xfrm>
          <a:prstGeom prst="rect">
            <a:avLst/>
          </a:prstGeom>
          <a:solidFill>
            <a:schemeClr val="bg1"/>
          </a:solidFill>
          <a:ln>
            <a:solidFill>
              <a:schemeClr val="tx1"/>
            </a:solidFill>
          </a:ln>
        </p:spPr>
        <p:txBody>
          <a:bodyPr wrap="square" rtlCol="0">
            <a:spAutoFit/>
          </a:bodyPr>
          <a:lstStyle/>
          <a:p>
            <a:r>
              <a:rPr lang="en-GB" sz="2800" dirty="0"/>
              <a:t>Terminal symbols have themselves as FIRST sets</a:t>
            </a:r>
            <a:endParaRPr lang="en-SG" sz="2800" i="1" dirty="0"/>
          </a:p>
        </p:txBody>
      </p:sp>
      <p:sp>
        <p:nvSpPr>
          <p:cNvPr id="5" name="Title 5">
            <a:extLst>
              <a:ext uri="{FF2B5EF4-FFF2-40B4-BE49-F238E27FC236}">
                <a16:creationId xmlns:a16="http://schemas.microsoft.com/office/drawing/2014/main" id="{B9F50D2A-3D4C-FC80-EFA5-0CFB10432DF8}"/>
              </a:ext>
            </a:extLst>
          </p:cNvPr>
          <p:cNvSpPr txBox="1">
            <a:spLocks/>
          </p:cNvSpPr>
          <p:nvPr/>
        </p:nvSpPr>
        <p:spPr>
          <a:xfrm>
            <a:off x="838200" y="365126"/>
            <a:ext cx="10515600" cy="775920"/>
          </a:xfrm>
          <a:prstGeom prst="rect">
            <a:avLst/>
          </a:prstGeom>
          <a:solidFill>
            <a:schemeClr val="bg1"/>
          </a:solid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t>FIRST sets for our Epsilon CFG in LL(1) demo</a:t>
            </a:r>
            <a:endParaRPr lang="en-SG" dirty="0"/>
          </a:p>
        </p:txBody>
      </p:sp>
    </p:spTree>
    <p:extLst>
      <p:ext uri="{BB962C8B-B14F-4D97-AF65-F5344CB8AC3E}">
        <p14:creationId xmlns:p14="http://schemas.microsoft.com/office/powerpoint/2010/main" val="806541237"/>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Table&#10;&#10;Description automatically generated">
            <a:extLst>
              <a:ext uri="{FF2B5EF4-FFF2-40B4-BE49-F238E27FC236}">
                <a16:creationId xmlns:a16="http://schemas.microsoft.com/office/drawing/2014/main" id="{153E57C9-14E0-41B9-6818-A1C0D9D73CA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8039" y="0"/>
            <a:ext cx="9155922" cy="6858000"/>
          </a:xfrm>
          <a:prstGeom prst="rect">
            <a:avLst/>
          </a:prstGeom>
        </p:spPr>
      </p:pic>
      <p:sp>
        <p:nvSpPr>
          <p:cNvPr id="4" name="TextBox 3">
            <a:extLst>
              <a:ext uri="{FF2B5EF4-FFF2-40B4-BE49-F238E27FC236}">
                <a16:creationId xmlns:a16="http://schemas.microsoft.com/office/drawing/2014/main" id="{49AA8F51-2D5E-74DE-1FE5-3917AD52FBFE}"/>
              </a:ext>
            </a:extLst>
          </p:cNvPr>
          <p:cNvSpPr txBox="1"/>
          <p:nvPr/>
        </p:nvSpPr>
        <p:spPr>
          <a:xfrm>
            <a:off x="476738" y="1141046"/>
            <a:ext cx="3290277" cy="1815882"/>
          </a:xfrm>
          <a:prstGeom prst="rect">
            <a:avLst/>
          </a:prstGeom>
          <a:solidFill>
            <a:schemeClr val="bg1"/>
          </a:solidFill>
          <a:ln>
            <a:solidFill>
              <a:schemeClr val="tx1"/>
            </a:solidFill>
          </a:ln>
        </p:spPr>
        <p:txBody>
          <a:bodyPr wrap="square" rtlCol="0">
            <a:spAutoFit/>
          </a:bodyPr>
          <a:lstStyle/>
          <a:p>
            <a:r>
              <a:rPr lang="en-GB" sz="2800" i="1" dirty="0"/>
              <a:t>FIRST(</a:t>
            </a:r>
            <a:r>
              <a:rPr lang="en-GB" sz="2800" i="1" dirty="0" err="1"/>
              <a:t>Num</a:t>
            </a:r>
            <a:r>
              <a:rPr lang="en-GB" sz="2800" i="1" dirty="0"/>
              <a:t>) receives the values of FIRST(Sign), but not epsilon.</a:t>
            </a:r>
            <a:endParaRPr lang="en-SG" sz="2800" i="1" dirty="0"/>
          </a:p>
        </p:txBody>
      </p:sp>
      <p:sp>
        <p:nvSpPr>
          <p:cNvPr id="7" name="Title 5">
            <a:extLst>
              <a:ext uri="{FF2B5EF4-FFF2-40B4-BE49-F238E27FC236}">
                <a16:creationId xmlns:a16="http://schemas.microsoft.com/office/drawing/2014/main" id="{48B25BE6-0E12-8EE5-4F19-922570E5FDEB}"/>
              </a:ext>
            </a:extLst>
          </p:cNvPr>
          <p:cNvSpPr txBox="1">
            <a:spLocks/>
          </p:cNvSpPr>
          <p:nvPr/>
        </p:nvSpPr>
        <p:spPr>
          <a:xfrm>
            <a:off x="838200" y="365126"/>
            <a:ext cx="10515600" cy="775920"/>
          </a:xfrm>
          <a:prstGeom prst="rect">
            <a:avLst/>
          </a:prstGeom>
          <a:solidFill>
            <a:schemeClr val="bg1"/>
          </a:solid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t>FIRST sets for our Epsilon CFG in LL(1) demo</a:t>
            </a:r>
            <a:endParaRPr lang="en-SG" dirty="0"/>
          </a:p>
        </p:txBody>
      </p:sp>
    </p:spTree>
    <p:extLst>
      <p:ext uri="{BB962C8B-B14F-4D97-AF65-F5344CB8AC3E}">
        <p14:creationId xmlns:p14="http://schemas.microsoft.com/office/powerpoint/2010/main" val="625001727"/>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Table&#10;&#10;Description automatically generated">
            <a:extLst>
              <a:ext uri="{FF2B5EF4-FFF2-40B4-BE49-F238E27FC236}">
                <a16:creationId xmlns:a16="http://schemas.microsoft.com/office/drawing/2014/main" id="{182CECBF-E976-3414-7958-1D223532F35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8039" y="0"/>
            <a:ext cx="9155922" cy="6858000"/>
          </a:xfrm>
          <a:prstGeom prst="rect">
            <a:avLst/>
          </a:prstGeom>
        </p:spPr>
      </p:pic>
      <p:sp>
        <p:nvSpPr>
          <p:cNvPr id="4" name="TextBox 3">
            <a:extLst>
              <a:ext uri="{FF2B5EF4-FFF2-40B4-BE49-F238E27FC236}">
                <a16:creationId xmlns:a16="http://schemas.microsoft.com/office/drawing/2014/main" id="{D745C8FF-32AD-4EEC-4B69-6490A91A206A}"/>
              </a:ext>
            </a:extLst>
          </p:cNvPr>
          <p:cNvSpPr txBox="1"/>
          <p:nvPr/>
        </p:nvSpPr>
        <p:spPr>
          <a:xfrm>
            <a:off x="513762" y="1336749"/>
            <a:ext cx="2008554" cy="1815882"/>
          </a:xfrm>
          <a:prstGeom prst="rect">
            <a:avLst/>
          </a:prstGeom>
          <a:solidFill>
            <a:schemeClr val="bg1"/>
          </a:solidFill>
          <a:ln>
            <a:solidFill>
              <a:schemeClr val="tx1"/>
            </a:solidFill>
          </a:ln>
        </p:spPr>
        <p:txBody>
          <a:bodyPr wrap="square" rtlCol="0">
            <a:spAutoFit/>
          </a:bodyPr>
          <a:lstStyle/>
          <a:p>
            <a:r>
              <a:rPr lang="en-GB" sz="2800" i="1" dirty="0"/>
              <a:t>Same with FIRST(Digits) and FIRST(Digit)</a:t>
            </a:r>
            <a:endParaRPr lang="en-SG" sz="2800" i="1" dirty="0"/>
          </a:p>
        </p:txBody>
      </p:sp>
      <p:sp>
        <p:nvSpPr>
          <p:cNvPr id="5" name="Title 5">
            <a:extLst>
              <a:ext uri="{FF2B5EF4-FFF2-40B4-BE49-F238E27FC236}">
                <a16:creationId xmlns:a16="http://schemas.microsoft.com/office/drawing/2014/main" id="{E0936174-EAA3-F27A-533D-BA72CD9E6F84}"/>
              </a:ext>
            </a:extLst>
          </p:cNvPr>
          <p:cNvSpPr txBox="1">
            <a:spLocks/>
          </p:cNvSpPr>
          <p:nvPr/>
        </p:nvSpPr>
        <p:spPr>
          <a:xfrm>
            <a:off x="838200" y="365126"/>
            <a:ext cx="10515600" cy="775920"/>
          </a:xfrm>
          <a:prstGeom prst="rect">
            <a:avLst/>
          </a:prstGeom>
          <a:solidFill>
            <a:schemeClr val="bg1"/>
          </a:solid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t>FIRST sets for our Epsilon CFG in LL(1) demo</a:t>
            </a:r>
            <a:endParaRPr lang="en-SG" dirty="0"/>
          </a:p>
        </p:txBody>
      </p:sp>
    </p:spTree>
    <p:extLst>
      <p:ext uri="{BB962C8B-B14F-4D97-AF65-F5344CB8AC3E}">
        <p14:creationId xmlns:p14="http://schemas.microsoft.com/office/powerpoint/2010/main" val="2713632554"/>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Table&#10;&#10;Description automatically generated">
            <a:extLst>
              <a:ext uri="{FF2B5EF4-FFF2-40B4-BE49-F238E27FC236}">
                <a16:creationId xmlns:a16="http://schemas.microsoft.com/office/drawing/2014/main" id="{299A7E8B-C766-2904-DB7B-CFCFC0FD87F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8039" y="0"/>
            <a:ext cx="9155922" cy="6858000"/>
          </a:xfrm>
          <a:prstGeom prst="rect">
            <a:avLst/>
          </a:prstGeom>
        </p:spPr>
      </p:pic>
      <p:sp>
        <p:nvSpPr>
          <p:cNvPr id="5" name="Title 5">
            <a:extLst>
              <a:ext uri="{FF2B5EF4-FFF2-40B4-BE49-F238E27FC236}">
                <a16:creationId xmlns:a16="http://schemas.microsoft.com/office/drawing/2014/main" id="{C7556EC6-5ADC-98A6-107E-16EAAD81CD67}"/>
              </a:ext>
            </a:extLst>
          </p:cNvPr>
          <p:cNvSpPr txBox="1">
            <a:spLocks/>
          </p:cNvSpPr>
          <p:nvPr/>
        </p:nvSpPr>
        <p:spPr>
          <a:xfrm>
            <a:off x="838200" y="365126"/>
            <a:ext cx="10515600" cy="775920"/>
          </a:xfrm>
          <a:prstGeom prst="rect">
            <a:avLst/>
          </a:prstGeom>
          <a:solidFill>
            <a:schemeClr val="bg1"/>
          </a:solid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t>FIRST sets for our Epsilon CFG in LL(1) demo</a:t>
            </a:r>
            <a:endParaRPr lang="en-SG" dirty="0"/>
          </a:p>
        </p:txBody>
      </p:sp>
      <p:sp>
        <p:nvSpPr>
          <p:cNvPr id="6" name="TextBox 5">
            <a:extLst>
              <a:ext uri="{FF2B5EF4-FFF2-40B4-BE49-F238E27FC236}">
                <a16:creationId xmlns:a16="http://schemas.microsoft.com/office/drawing/2014/main" id="{9ED334E3-0AE4-2FF0-F97E-076636B9C6AD}"/>
              </a:ext>
            </a:extLst>
          </p:cNvPr>
          <p:cNvSpPr txBox="1"/>
          <p:nvPr/>
        </p:nvSpPr>
        <p:spPr>
          <a:xfrm>
            <a:off x="513762" y="1336749"/>
            <a:ext cx="2008554" cy="1815882"/>
          </a:xfrm>
          <a:prstGeom prst="rect">
            <a:avLst/>
          </a:prstGeom>
          <a:solidFill>
            <a:schemeClr val="bg1"/>
          </a:solidFill>
          <a:ln>
            <a:solidFill>
              <a:schemeClr val="tx1"/>
            </a:solidFill>
          </a:ln>
        </p:spPr>
        <p:txBody>
          <a:bodyPr wrap="square" rtlCol="0">
            <a:spAutoFit/>
          </a:bodyPr>
          <a:lstStyle/>
          <a:p>
            <a:r>
              <a:rPr lang="en-GB" sz="2800" i="1" dirty="0"/>
              <a:t>Same with FIRST(More) and FIRST(Digits)</a:t>
            </a:r>
            <a:endParaRPr lang="en-SG" sz="2800" i="1" dirty="0"/>
          </a:p>
        </p:txBody>
      </p:sp>
    </p:spTree>
    <p:extLst>
      <p:ext uri="{BB962C8B-B14F-4D97-AF65-F5344CB8AC3E}">
        <p14:creationId xmlns:p14="http://schemas.microsoft.com/office/powerpoint/2010/main" val="1906050957"/>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picture containing table&#10;&#10;Description automatically generated">
            <a:extLst>
              <a:ext uri="{FF2B5EF4-FFF2-40B4-BE49-F238E27FC236}">
                <a16:creationId xmlns:a16="http://schemas.microsoft.com/office/drawing/2014/main" id="{EB24BAA3-2542-FA60-98FB-BABCABE0793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8039" y="0"/>
            <a:ext cx="9155922" cy="6858000"/>
          </a:xfrm>
          <a:prstGeom prst="rect">
            <a:avLst/>
          </a:prstGeom>
        </p:spPr>
      </p:pic>
      <p:sp>
        <p:nvSpPr>
          <p:cNvPr id="4" name="TextBox 3">
            <a:extLst>
              <a:ext uri="{FF2B5EF4-FFF2-40B4-BE49-F238E27FC236}">
                <a16:creationId xmlns:a16="http://schemas.microsoft.com/office/drawing/2014/main" id="{B92241A7-3444-17CF-71BC-445F837DA492}"/>
              </a:ext>
            </a:extLst>
          </p:cNvPr>
          <p:cNvSpPr txBox="1"/>
          <p:nvPr/>
        </p:nvSpPr>
        <p:spPr>
          <a:xfrm>
            <a:off x="531447" y="1438349"/>
            <a:ext cx="2930768" cy="1384995"/>
          </a:xfrm>
          <a:prstGeom prst="rect">
            <a:avLst/>
          </a:prstGeom>
          <a:solidFill>
            <a:schemeClr val="bg1"/>
          </a:solidFill>
          <a:ln>
            <a:solidFill>
              <a:schemeClr val="tx1"/>
            </a:solidFill>
          </a:ln>
        </p:spPr>
        <p:txBody>
          <a:bodyPr wrap="square" rtlCol="0">
            <a:spAutoFit/>
          </a:bodyPr>
          <a:lstStyle/>
          <a:p>
            <a:r>
              <a:rPr lang="en-GB" sz="2800" i="1" dirty="0"/>
              <a:t>Epsilon appears in FIRST(Sign) and FIRST(More)</a:t>
            </a:r>
            <a:endParaRPr lang="en-SG" sz="2800" i="1" dirty="0"/>
          </a:p>
        </p:txBody>
      </p:sp>
      <p:sp>
        <p:nvSpPr>
          <p:cNvPr id="5" name="Title 5">
            <a:extLst>
              <a:ext uri="{FF2B5EF4-FFF2-40B4-BE49-F238E27FC236}">
                <a16:creationId xmlns:a16="http://schemas.microsoft.com/office/drawing/2014/main" id="{3516A2FC-0809-4543-FA61-05DEBB4B869D}"/>
              </a:ext>
            </a:extLst>
          </p:cNvPr>
          <p:cNvSpPr txBox="1">
            <a:spLocks/>
          </p:cNvSpPr>
          <p:nvPr/>
        </p:nvSpPr>
        <p:spPr>
          <a:xfrm>
            <a:off x="838200" y="365126"/>
            <a:ext cx="10515600" cy="775920"/>
          </a:xfrm>
          <a:prstGeom prst="rect">
            <a:avLst/>
          </a:prstGeom>
          <a:solidFill>
            <a:schemeClr val="bg1"/>
          </a:solid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t>FIRST sets for our Epsilon CFG in LL(1) demo</a:t>
            </a:r>
            <a:endParaRPr lang="en-SG" dirty="0"/>
          </a:p>
        </p:txBody>
      </p:sp>
    </p:spTree>
    <p:extLst>
      <p:ext uri="{BB962C8B-B14F-4D97-AF65-F5344CB8AC3E}">
        <p14:creationId xmlns:p14="http://schemas.microsoft.com/office/powerpoint/2010/main" val="690743373"/>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Table&#10;&#10;Description automatically generated">
            <a:extLst>
              <a:ext uri="{FF2B5EF4-FFF2-40B4-BE49-F238E27FC236}">
                <a16:creationId xmlns:a16="http://schemas.microsoft.com/office/drawing/2014/main" id="{072D5C70-552C-BE06-501D-561C2BB9195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8039" y="0"/>
            <a:ext cx="9155922" cy="6858000"/>
          </a:xfrm>
          <a:prstGeom prst="rect">
            <a:avLst/>
          </a:prstGeom>
        </p:spPr>
      </p:pic>
      <p:sp>
        <p:nvSpPr>
          <p:cNvPr id="4" name="TextBox 3">
            <a:extLst>
              <a:ext uri="{FF2B5EF4-FFF2-40B4-BE49-F238E27FC236}">
                <a16:creationId xmlns:a16="http://schemas.microsoft.com/office/drawing/2014/main" id="{8BE0D45F-D0FB-6944-245A-2FBEC7C8AF4A}"/>
              </a:ext>
            </a:extLst>
          </p:cNvPr>
          <p:cNvSpPr txBox="1"/>
          <p:nvPr/>
        </p:nvSpPr>
        <p:spPr>
          <a:xfrm>
            <a:off x="265722" y="1141046"/>
            <a:ext cx="3571631" cy="2246769"/>
          </a:xfrm>
          <a:prstGeom prst="rect">
            <a:avLst/>
          </a:prstGeom>
          <a:solidFill>
            <a:schemeClr val="bg1"/>
          </a:solidFill>
          <a:ln>
            <a:solidFill>
              <a:schemeClr val="tx1"/>
            </a:solidFill>
          </a:ln>
        </p:spPr>
        <p:txBody>
          <a:bodyPr wrap="square" rtlCol="0">
            <a:spAutoFit/>
          </a:bodyPr>
          <a:lstStyle/>
          <a:p>
            <a:r>
              <a:rPr lang="en-GB" sz="2800" i="1" dirty="0"/>
              <a:t>Since Epsilon appears in FIRST(Sign), FIRST(</a:t>
            </a:r>
            <a:r>
              <a:rPr lang="en-GB" sz="2800" i="1" dirty="0" err="1"/>
              <a:t>Num</a:t>
            </a:r>
            <a:r>
              <a:rPr lang="en-GB" sz="2800" i="1" dirty="0"/>
              <a:t>) should receive the terminals in  FIRST(Digits)</a:t>
            </a:r>
            <a:endParaRPr lang="en-SG" sz="2800" i="1" dirty="0"/>
          </a:p>
        </p:txBody>
      </p:sp>
      <p:sp>
        <p:nvSpPr>
          <p:cNvPr id="5" name="Title 5">
            <a:extLst>
              <a:ext uri="{FF2B5EF4-FFF2-40B4-BE49-F238E27FC236}">
                <a16:creationId xmlns:a16="http://schemas.microsoft.com/office/drawing/2014/main" id="{DA5C74F6-9197-7433-408E-C3977F8176ED}"/>
              </a:ext>
            </a:extLst>
          </p:cNvPr>
          <p:cNvSpPr txBox="1">
            <a:spLocks/>
          </p:cNvSpPr>
          <p:nvPr/>
        </p:nvSpPr>
        <p:spPr>
          <a:xfrm>
            <a:off x="838200" y="365126"/>
            <a:ext cx="10515600" cy="775920"/>
          </a:xfrm>
          <a:prstGeom prst="rect">
            <a:avLst/>
          </a:prstGeom>
          <a:solidFill>
            <a:schemeClr val="bg1"/>
          </a:solidFill>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t>FIRST sets for our Epsilon CFG in LL(1) demo</a:t>
            </a:r>
            <a:endParaRPr lang="en-SG" dirty="0"/>
          </a:p>
        </p:txBody>
      </p:sp>
    </p:spTree>
    <p:extLst>
      <p:ext uri="{BB962C8B-B14F-4D97-AF65-F5344CB8AC3E}">
        <p14:creationId xmlns:p14="http://schemas.microsoft.com/office/powerpoint/2010/main" val="171795350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2342</TotalTime>
  <Words>6720</Words>
  <Application>Microsoft Office PowerPoint</Application>
  <PresentationFormat>Widescreen</PresentationFormat>
  <Paragraphs>617</Paragraphs>
  <Slides>145</Slides>
  <Notes>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145</vt:i4>
      </vt:variant>
    </vt:vector>
  </HeadingPairs>
  <TitlesOfParts>
    <vt:vector size="151" baseType="lpstr">
      <vt:lpstr>Arial</vt:lpstr>
      <vt:lpstr>Calibri</vt:lpstr>
      <vt:lpstr>Calibri Light</vt:lpstr>
      <vt:lpstr>Cambria Math</vt:lpstr>
      <vt:lpstr>Wingdings</vt:lpstr>
      <vt:lpstr>Office Theme</vt:lpstr>
      <vt:lpstr>50.051 Programming Language Concepts  W9-S3 Top-Down Parsing</vt:lpstr>
      <vt:lpstr>The unspoken problem #2</vt:lpstr>
      <vt:lpstr>The unspoken problem</vt:lpstr>
      <vt:lpstr>Different types of Parsing</vt:lpstr>
      <vt:lpstr>Top-Down Parsing</vt:lpstr>
      <vt:lpstr>Challenges in Top-Down Parsing</vt:lpstr>
      <vt:lpstr>Conclusion</vt:lpstr>
      <vt:lpstr>Challenges in Top-Down Parsing</vt:lpstr>
      <vt:lpstr>Top-Down as a Graph Search</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BFS is slow, but guaranteed to work</vt:lpstr>
      <vt:lpstr>Reducing the branching factor: Idea #1</vt:lpstr>
      <vt:lpstr>Leftmost derivation</vt:lpstr>
      <vt:lpstr>Updated algo: Leftmost BFS</vt:lpstr>
      <vt:lpstr>PowerPoint Presentation</vt:lpstr>
      <vt:lpstr>PowerPoint Presentation</vt:lpstr>
      <vt:lpstr>PowerPoint Presentation</vt:lpstr>
      <vt:lpstr>PowerPoint Presentation</vt:lpstr>
      <vt:lpstr>PowerPoint Presentation</vt:lpstr>
      <vt:lpstr>PowerPoint Presentation</vt:lpstr>
      <vt:lpstr>Leftmost BFS: improvements and issues</vt:lpstr>
      <vt:lpstr>Practice 1: Leftmost BFS problem.</vt:lpstr>
      <vt:lpstr>PowerPoint Presentation</vt:lpstr>
      <vt:lpstr>PowerPoint Presentation</vt:lpstr>
      <vt:lpstr>PowerPoint Presentation</vt:lpstr>
      <vt:lpstr>PowerPoint Presentation</vt:lpstr>
      <vt:lpstr>Practice 1: Leftmost BFS problem.</vt:lpstr>
      <vt:lpstr>Using DFS instead of BFS?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Practice 2: Leftmost DFS problem.</vt:lpstr>
      <vt:lpstr>Practice 2: Leftmost DFS problem.</vt:lpstr>
      <vt:lpstr>Practice 2: Leftmost DFS problem.</vt:lpstr>
      <vt:lpstr>PowerPoint Presentation</vt:lpstr>
      <vt:lpstr>The problem with Leftmost BFS and DFS</vt:lpstr>
      <vt:lpstr>The problem with Leftmost BFS and DFS</vt:lpstr>
      <vt:lpstr>The problem with Leftmost BFS and DFS</vt:lpstr>
      <vt:lpstr>Quiz time!</vt:lpstr>
      <vt:lpstr>Quiz time!</vt:lpstr>
      <vt:lpstr>Quiz time!</vt:lpstr>
      <vt:lpstr>Quiz time!</vt:lpstr>
      <vt:lpstr>Quiz time!</vt:lpstr>
      <vt:lpstr>Quiz time!</vt:lpstr>
      <vt:lpstr>Predictive Parsing to the rescue?</vt:lpstr>
      <vt:lpstr>Predictive Parsing to the rescue?</vt:lpstr>
      <vt:lpstr>Predictive Parsing to the rescue?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Naming convention for predictive parsers</vt:lpstr>
      <vt:lpstr>LL(1) will often define some parse tables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LL(1) will often define some parse tables</vt:lpstr>
      <vt:lpstr>PowerPoint Presentation</vt:lpstr>
      <vt:lpstr>PowerPoint Presentation</vt:lpstr>
      <vt:lpstr>The LL(1) algorithm, detailed</vt:lpstr>
      <vt:lpstr>The LL(1) algorithm, detailed</vt:lpstr>
      <vt:lpstr>Building a LL(1) parsing table</vt:lpstr>
      <vt:lpstr>Building a LL(1) parsing table</vt:lpstr>
      <vt:lpstr>Definition: FIRST Sets F</vt:lpstr>
      <vt:lpstr>Computing a FIRST Sets F</vt:lpstr>
      <vt:lpstr>Practice 3: computing FIRST sets for a CFG</vt:lpstr>
      <vt:lpstr>Practice 3: computing FIRST sets for a CFG</vt:lpstr>
      <vt:lpstr>Building a LL(1) table using FIRST sets.</vt:lpstr>
      <vt:lpstr>Building a LL(1) table using FIRST sets.</vt:lpstr>
      <vt:lpstr>Building a LL(1) table using FIRST sets.</vt:lpstr>
      <vt:lpstr>Building a LL(1) table using FIRST sets.</vt:lpstr>
      <vt:lpstr>Practice 4: LL(1) table with weird CFGs</vt:lpstr>
      <vt:lpstr>Practice 4: LL(1) table with weird CFGs</vt:lpstr>
      <vt:lpstr>FIRST-FIRST conflicts</vt:lpstr>
      <vt:lpstr>FIRST-FIRST conflicts</vt:lpstr>
      <vt:lpstr>Practice 3: computing FIRST sets for a CFG</vt:lpstr>
      <vt:lpstr>Main takeaway from Practice 3</vt:lpstr>
      <vt:lpstr>Definition: FIRST Sets F</vt:lpstr>
      <vt:lpstr>Definition: FIRST* Sets F</vt:lpstr>
      <vt:lpstr>Definition: FIRST* Sets F</vt:lpstr>
      <vt:lpstr>Definition: FOLLOW Sets N</vt:lpstr>
      <vt:lpstr>Properties of the FOLLOW sets</vt:lpstr>
      <vt:lpstr>Final LL(1) parsing table algorithm</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LL(1) is cumbersome but seems to work!</vt:lpstr>
      <vt:lpstr>Predictive Parsing to the rescue?</vt:lpstr>
      <vt:lpstr>Summary and conclusion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50.051 Programming Language Concepts  W1-S1 Introduction to Compilers and Course Outline</dc:title>
  <dc:creator>Matthieu DE MARI</dc:creator>
  <cp:lastModifiedBy>Matthieu De Mari</cp:lastModifiedBy>
  <cp:revision>26</cp:revision>
  <dcterms:created xsi:type="dcterms:W3CDTF">2023-03-02T06:54:24Z</dcterms:created>
  <dcterms:modified xsi:type="dcterms:W3CDTF">2026-03-03T10:14:59Z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7fde23a9-9a05-4714-826f-57380a17bd9d_Enabled">
    <vt:lpwstr>true</vt:lpwstr>
  </property>
  <property fmtid="{D5CDD505-2E9C-101B-9397-08002B2CF9AE}" pid="3" name="MSIP_Label_7fde23a9-9a05-4714-826f-57380a17bd9d_SetDate">
    <vt:lpwstr>2023-03-02T06:54:28Z</vt:lpwstr>
  </property>
  <property fmtid="{D5CDD505-2E9C-101B-9397-08002B2CF9AE}" pid="4" name="MSIP_Label_7fde23a9-9a05-4714-826f-57380a17bd9d_Method">
    <vt:lpwstr>Privileged</vt:lpwstr>
  </property>
  <property fmtid="{D5CDD505-2E9C-101B-9397-08002B2CF9AE}" pid="5" name="MSIP_Label_7fde23a9-9a05-4714-826f-57380a17bd9d_Name">
    <vt:lpwstr>Restricted</vt:lpwstr>
  </property>
  <property fmtid="{D5CDD505-2E9C-101B-9397-08002B2CF9AE}" pid="6" name="MSIP_Label_7fde23a9-9a05-4714-826f-57380a17bd9d_SiteId">
    <vt:lpwstr>3476b776-e990-4f72-b950-62489831623d</vt:lpwstr>
  </property>
  <property fmtid="{D5CDD505-2E9C-101B-9397-08002B2CF9AE}" pid="7" name="MSIP_Label_7fde23a9-9a05-4714-826f-57380a17bd9d_ActionId">
    <vt:lpwstr>d53d049c-34cc-4ec9-a6d9-543a36f42364</vt:lpwstr>
  </property>
  <property fmtid="{D5CDD505-2E9C-101B-9397-08002B2CF9AE}" pid="8" name="MSIP_Label_7fde23a9-9a05-4714-826f-57380a17bd9d_ContentBits">
    <vt:lpwstr>3</vt:lpwstr>
  </property>
  <property fmtid="{D5CDD505-2E9C-101B-9397-08002B2CF9AE}" pid="9" name="ClassificationContentMarkingFooterLocations">
    <vt:lpwstr>Office Theme:10</vt:lpwstr>
  </property>
  <property fmtid="{D5CDD505-2E9C-101B-9397-08002B2CF9AE}" pid="10" name="ClassificationContentMarkingFooterText">
    <vt:lpwstr>Restricted</vt:lpwstr>
  </property>
  <property fmtid="{D5CDD505-2E9C-101B-9397-08002B2CF9AE}" pid="11" name="ClassificationContentMarkingHeaderLocations">
    <vt:lpwstr>Office Theme:9</vt:lpwstr>
  </property>
  <property fmtid="{D5CDD505-2E9C-101B-9397-08002B2CF9AE}" pid="12" name="ClassificationContentMarkingHeaderText">
    <vt:lpwstr>Restricted</vt:lpwstr>
  </property>
</Properties>
</file>