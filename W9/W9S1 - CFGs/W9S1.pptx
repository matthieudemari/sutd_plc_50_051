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5"/>
  </p:notesMasterIdLst>
  <p:sldIdLst>
    <p:sldId id="377" r:id="rId2"/>
    <p:sldId id="378" r:id="rId3"/>
    <p:sldId id="383" r:id="rId4"/>
    <p:sldId id="384" r:id="rId5"/>
    <p:sldId id="385" r:id="rId6"/>
    <p:sldId id="387" r:id="rId7"/>
    <p:sldId id="380" r:id="rId8"/>
    <p:sldId id="381" r:id="rId9"/>
    <p:sldId id="382" r:id="rId10"/>
    <p:sldId id="379" r:id="rId11"/>
    <p:sldId id="388" r:id="rId12"/>
    <p:sldId id="439" r:id="rId13"/>
    <p:sldId id="390" r:id="rId14"/>
    <p:sldId id="391" r:id="rId15"/>
    <p:sldId id="392" r:id="rId16"/>
    <p:sldId id="393" r:id="rId17"/>
    <p:sldId id="394" r:id="rId18"/>
    <p:sldId id="395" r:id="rId19"/>
    <p:sldId id="396" r:id="rId20"/>
    <p:sldId id="397" r:id="rId21"/>
    <p:sldId id="398" r:id="rId22"/>
    <p:sldId id="399" r:id="rId23"/>
    <p:sldId id="400" r:id="rId24"/>
    <p:sldId id="402" r:id="rId25"/>
    <p:sldId id="403" r:id="rId26"/>
    <p:sldId id="404" r:id="rId27"/>
    <p:sldId id="405" r:id="rId28"/>
    <p:sldId id="406" r:id="rId29"/>
    <p:sldId id="408" r:id="rId30"/>
    <p:sldId id="413" r:id="rId31"/>
    <p:sldId id="470" r:id="rId32"/>
    <p:sldId id="407" r:id="rId33"/>
    <p:sldId id="409" r:id="rId34"/>
    <p:sldId id="417" r:id="rId35"/>
    <p:sldId id="418" r:id="rId36"/>
    <p:sldId id="419" r:id="rId37"/>
    <p:sldId id="410" r:id="rId38"/>
    <p:sldId id="414" r:id="rId39"/>
    <p:sldId id="471" r:id="rId40"/>
    <p:sldId id="472" r:id="rId41"/>
    <p:sldId id="423" r:id="rId42"/>
    <p:sldId id="473" r:id="rId43"/>
    <p:sldId id="425" r:id="rId44"/>
    <p:sldId id="426" r:id="rId45"/>
    <p:sldId id="427" r:id="rId46"/>
    <p:sldId id="428" r:id="rId47"/>
    <p:sldId id="440" r:id="rId48"/>
    <p:sldId id="441" r:id="rId49"/>
    <p:sldId id="442" r:id="rId50"/>
    <p:sldId id="429" r:id="rId51"/>
    <p:sldId id="430" r:id="rId52"/>
    <p:sldId id="431" r:id="rId53"/>
    <p:sldId id="432" r:id="rId54"/>
    <p:sldId id="433" r:id="rId55"/>
    <p:sldId id="434" r:id="rId56"/>
    <p:sldId id="435" r:id="rId57"/>
    <p:sldId id="436" r:id="rId58"/>
    <p:sldId id="437" r:id="rId59"/>
    <p:sldId id="438" r:id="rId60"/>
    <p:sldId id="443" r:id="rId61"/>
    <p:sldId id="444" r:id="rId62"/>
    <p:sldId id="474" r:id="rId63"/>
    <p:sldId id="446" r:id="rId64"/>
    <p:sldId id="447" r:id="rId65"/>
    <p:sldId id="448" r:id="rId66"/>
    <p:sldId id="449" r:id="rId67"/>
    <p:sldId id="450" r:id="rId68"/>
    <p:sldId id="452" r:id="rId69"/>
    <p:sldId id="453" r:id="rId70"/>
    <p:sldId id="454" r:id="rId71"/>
    <p:sldId id="456" r:id="rId72"/>
    <p:sldId id="457" r:id="rId73"/>
    <p:sldId id="461" r:id="rId74"/>
    <p:sldId id="459" r:id="rId75"/>
    <p:sldId id="460" r:id="rId76"/>
    <p:sldId id="462" r:id="rId77"/>
    <p:sldId id="463" r:id="rId78"/>
    <p:sldId id="464" r:id="rId79"/>
    <p:sldId id="465" r:id="rId80"/>
    <p:sldId id="466" r:id="rId81"/>
    <p:sldId id="467" r:id="rId82"/>
    <p:sldId id="468" r:id="rId83"/>
    <p:sldId id="469" r:id="rId8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" id="{B78B9027-D5BB-40A0-9AF0-3B950F71C46E}">
          <p14:sldIdLst>
            <p14:sldId id="377"/>
          </p14:sldIdLst>
        </p14:section>
        <p14:section name="The parenthesis problem in RegEx" id="{FD58D1A0-4134-4343-A695-75581E4DB701}">
          <p14:sldIdLst>
            <p14:sldId id="378"/>
            <p14:sldId id="383"/>
            <p14:sldId id="384"/>
            <p14:sldId id="385"/>
            <p14:sldId id="387"/>
          </p14:sldIdLst>
        </p14:section>
        <p14:section name="Let us do some Chemistry" id="{2883EFA5-1D97-4FD3-BF73-119C9BA8EB91}">
          <p14:sldIdLst>
            <p14:sldId id="380"/>
            <p14:sldId id="381"/>
            <p14:sldId id="382"/>
            <p14:sldId id="379"/>
            <p14:sldId id="388"/>
            <p14:sldId id="439"/>
            <p14:sldId id="390"/>
          </p14:sldIdLst>
        </p14:section>
        <p14:section name="Introducing CFGs" id="{DEE99501-C9F7-435A-B5F2-11884AEC5796}">
          <p14:sldIdLst>
            <p14:sldId id="391"/>
            <p14:sldId id="392"/>
            <p14:sldId id="393"/>
          </p14:sldIdLst>
        </p14:section>
        <p14:section name="Back to Chemistry" id="{3564018E-F8A3-4656-9776-E40DC2959149}">
          <p14:sldIdLst>
            <p14:sldId id="394"/>
            <p14:sldId id="395"/>
            <p14:sldId id="396"/>
            <p14:sldId id="397"/>
            <p14:sldId id="398"/>
            <p14:sldId id="399"/>
            <p14:sldId id="400"/>
          </p14:sldIdLst>
        </p14:section>
        <p14:section name="Practice 1 and 2" id="{7CEAED67-AFDA-426C-9C00-C4DC5C47F79B}">
          <p14:sldIdLst>
            <p14:sldId id="402"/>
            <p14:sldId id="403"/>
            <p14:sldId id="404"/>
            <p14:sldId id="405"/>
          </p14:sldIdLst>
        </p14:section>
        <p14:section name="Derivation and validity" id="{6CA5F6DE-D605-4267-9CA9-EF7C7CA75119}">
          <p14:sldIdLst>
            <p14:sldId id="406"/>
            <p14:sldId id="408"/>
            <p14:sldId id="413"/>
            <p14:sldId id="470"/>
          </p14:sldIdLst>
        </p14:section>
        <p14:section name="Practice 3" id="{C8C2E805-1DFF-493B-9712-98007101BE29}">
          <p14:sldIdLst>
            <p14:sldId id="407"/>
            <p14:sldId id="409"/>
          </p14:sldIdLst>
        </p14:section>
        <p14:section name="Parse tree" id="{23585C26-0983-4F1C-A77A-BB04C8D24CDA}">
          <p14:sldIdLst>
            <p14:sldId id="417"/>
            <p14:sldId id="418"/>
            <p14:sldId id="419"/>
          </p14:sldIdLst>
        </p14:section>
        <p14:section name="Ambiguity" id="{FD3B4B7C-FD70-4F36-B4E1-3F9395B32615}">
          <p14:sldIdLst>
            <p14:sldId id="410"/>
            <p14:sldId id="414"/>
            <p14:sldId id="471"/>
            <p14:sldId id="472"/>
            <p14:sldId id="423"/>
            <p14:sldId id="473"/>
            <p14:sldId id="425"/>
            <p14:sldId id="426"/>
            <p14:sldId id="427"/>
            <p14:sldId id="428"/>
            <p14:sldId id="440"/>
            <p14:sldId id="441"/>
            <p14:sldId id="442"/>
          </p14:sldIdLst>
        </p14:section>
        <p14:section name="Quiz time!" id="{3ED095EA-674E-4A69-BBBA-8F8151549ABA}">
          <p14:sldIdLst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</p14:sldIdLst>
        </p14:section>
        <p14:section name="Introducing precedence" id="{A5D1AE5B-78C0-47AF-B1A4-6ED3B52CF999}">
          <p14:sldIdLst>
            <p14:sldId id="443"/>
            <p14:sldId id="444"/>
            <p14:sldId id="474"/>
            <p14:sldId id="446"/>
            <p14:sldId id="447"/>
            <p14:sldId id="448"/>
          </p14:sldIdLst>
        </p14:section>
        <p14:section name="Introducing delimitations" id="{A3407FEE-FCA8-4F4F-89C8-02CBF4AC6C7F}">
          <p14:sldIdLst>
            <p14:sldId id="449"/>
            <p14:sldId id="450"/>
            <p14:sldId id="452"/>
            <p14:sldId id="453"/>
            <p14:sldId id="454"/>
            <p14:sldId id="456"/>
            <p14:sldId id="457"/>
          </p14:sldIdLst>
        </p14:section>
        <p14:section name="Introducing associativity rules" id="{8AA2FFC9-DE5D-4D0B-9240-B1E142A9E7BD}">
          <p14:sldIdLst>
            <p14:sldId id="461"/>
            <p14:sldId id="459"/>
            <p14:sldId id="460"/>
            <p14:sldId id="462"/>
            <p14:sldId id="463"/>
          </p14:sldIdLst>
        </p14:section>
        <p14:section name="Quiz time" id="{97042A11-D10C-4AFF-9A84-627275AF0E00}">
          <p14:sldIdLst>
            <p14:sldId id="464"/>
            <p14:sldId id="465"/>
            <p14:sldId id="466"/>
            <p14:sldId id="467"/>
            <p14:sldId id="468"/>
            <p14:sldId id="4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BB37E7B-2C63-881E-D1CD-0B80C5165243}" name="Matthieu DE MARI" initials="MDM" userId="15f9bd7465eafadb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EB0D5B-F00B-4BCB-84A3-988F9E722471}" v="1" dt="2026-03-17T03:24:26.77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tableStyles" Target="tableStyles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microsoft.com/office/2016/11/relationships/changesInfo" Target="changesInfos/changesInfo1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theme" Target="theme/theme1.xml"/><Relationship Id="rId91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microsoft.com/office/2018/10/relationships/authors" Target="author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viewProps" Target="viewProps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thieu De Mari" userId="dfb708c9-d8dc-439f-9a3b-c772bf4a311c" providerId="ADAL" clId="{81E9B007-0C2C-493E-9B93-55A62C9C1F12}"/>
    <pc:docChg chg="undo custSel addSld delSld modSld sldOrd modSection">
      <pc:chgData name="Matthieu De Mari" userId="dfb708c9-d8dc-439f-9a3b-c772bf4a311c" providerId="ADAL" clId="{81E9B007-0C2C-493E-9B93-55A62C9C1F12}" dt="2026-03-17T04:43:16.687" v="482" actId="47"/>
      <pc:docMkLst>
        <pc:docMk/>
      </pc:docMkLst>
      <pc:sldChg chg="modSp mod ord">
        <pc:chgData name="Matthieu De Mari" userId="dfb708c9-d8dc-439f-9a3b-c772bf4a311c" providerId="ADAL" clId="{81E9B007-0C2C-493E-9B93-55A62C9C1F12}" dt="2026-03-17T03:03:23.929" v="480" actId="20577"/>
        <pc:sldMkLst>
          <pc:docMk/>
          <pc:sldMk cId="1040156172" sldId="377"/>
        </pc:sldMkLst>
        <pc:spChg chg="mod">
          <ac:chgData name="Matthieu De Mari" userId="dfb708c9-d8dc-439f-9a3b-c772bf4a311c" providerId="ADAL" clId="{81E9B007-0C2C-493E-9B93-55A62C9C1F12}" dt="2026-03-17T03:03:23.929" v="480" actId="20577"/>
          <ac:spMkLst>
            <pc:docMk/>
            <pc:sldMk cId="1040156172" sldId="377"/>
            <ac:spMk id="2" creationId="{080CEB46-CC16-4D19-8C2C-AEE9471D8168}"/>
          </ac:spMkLst>
        </pc:spChg>
      </pc:sldChg>
      <pc:sldChg chg="modSp">
        <pc:chgData name="Matthieu De Mari" userId="dfb708c9-d8dc-439f-9a3b-c772bf4a311c" providerId="ADAL" clId="{81E9B007-0C2C-493E-9B93-55A62C9C1F12}" dt="2026-03-17T03:24:26.775" v="481" actId="207"/>
        <pc:sldMkLst>
          <pc:docMk/>
          <pc:sldMk cId="2309302269" sldId="398"/>
        </pc:sldMkLst>
        <pc:spChg chg="mod">
          <ac:chgData name="Matthieu De Mari" userId="dfb708c9-d8dc-439f-9a3b-c772bf4a311c" providerId="ADAL" clId="{81E9B007-0C2C-493E-9B93-55A62C9C1F12}" dt="2026-03-17T03:24:26.775" v="481" actId="207"/>
          <ac:spMkLst>
            <pc:docMk/>
            <pc:sldMk cId="2309302269" sldId="398"/>
            <ac:spMk id="4" creationId="{BBCCBA20-5235-6A29-4DD0-ED450203C22B}"/>
          </ac:spMkLst>
        </pc:spChg>
      </pc:sldChg>
      <pc:sldChg chg="modSp new del mod">
        <pc:chgData name="Matthieu De Mari" userId="dfb708c9-d8dc-439f-9a3b-c772bf4a311c" providerId="ADAL" clId="{81E9B007-0C2C-493E-9B93-55A62C9C1F12}" dt="2026-03-17T04:43:16.687" v="482" actId="47"/>
        <pc:sldMkLst>
          <pc:docMk/>
          <pc:sldMk cId="632796341" sldId="475"/>
        </pc:sldMkLst>
        <pc:spChg chg="mod">
          <ac:chgData name="Matthieu De Mari" userId="dfb708c9-d8dc-439f-9a3b-c772bf4a311c" providerId="ADAL" clId="{81E9B007-0C2C-493E-9B93-55A62C9C1F12}" dt="2026-03-17T03:00:09.113" v="100" actId="20577"/>
          <ac:spMkLst>
            <pc:docMk/>
            <pc:sldMk cId="632796341" sldId="475"/>
            <ac:spMk id="2" creationId="{506FAE8A-7B4E-8459-D459-9F4596846D83}"/>
          </ac:spMkLst>
        </pc:spChg>
        <pc:spChg chg="mod">
          <ac:chgData name="Matthieu De Mari" userId="dfb708c9-d8dc-439f-9a3b-c772bf4a311c" providerId="ADAL" clId="{81E9B007-0C2C-493E-9B93-55A62C9C1F12}" dt="2026-03-17T03:03:12.476" v="478" actId="20577"/>
          <ac:spMkLst>
            <pc:docMk/>
            <pc:sldMk cId="632796341" sldId="475"/>
            <ac:spMk id="3" creationId="{4F132189-4548-A6EC-268C-193499D512C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CFC6A4-B085-437B-8084-693BEB2A32DE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1275F3-0744-4B3F-986A-B720E2CE051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22986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A04E3-9B9E-0B91-AA29-B356F19B72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6A716-5C7D-F23B-5221-64E9C8264B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554BE-C464-1858-7CE8-EE087B7165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BC678C-234A-A12A-C292-CF7A8FE3B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58BCA-A573-1FAE-54DF-9261AECB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490454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59CDC6-8674-88A5-68BA-4DF3EF7F3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CBD233-6835-D2C8-D4B6-2377CA6957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CB200-8CA3-3D50-247E-E16948501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3C4F2-0C9D-182B-FAF9-7AF1B77A4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EC91B-956F-EA73-BCF4-F07962880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03055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2F325-7251-4FD9-5A0A-482D96752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D4414C-39F5-968A-8953-D6E4A4BBB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2787D6-E021-15BD-3F47-6B3A2CEAAB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13CE0-0459-2E8E-3279-EF5B62DD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049588-601F-7C26-2A07-334BD5E2D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870413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D91B-BBA0-866E-9BF6-0971AE779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788D2-0925-B3F9-22BD-A25915E04D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74DBE8-2CD0-1238-EE02-0801D12E70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5C1A08-9D08-4757-4860-2175B179D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BB010B-6483-0B1F-5B0B-B6832388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4C635F-808F-F58D-6EB6-0AE5EFDB5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64249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80DC9-E3FF-E219-0E49-D7D20A951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DE6D7B-100B-C183-40D4-96803F1BB8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42DE0A-2907-D16A-F14E-54AFDA36A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10E894-7CE5-F017-AA15-A24E5281DF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920203-5A0A-1AF2-47B3-27418EB2DA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6BA0826-6B70-B30F-F054-248E26E2E8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C3948B-56AE-8DB5-883D-7E0ADA595F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FC00A08-E897-BB96-0E14-88D07380B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0508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3D70C-4ED2-C81B-9AC6-3791B46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9A99B7-97F4-423D-BDAF-4827705CF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CED9FE-3730-E498-E87E-C5D4F1C9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6A7511-9EBE-2037-4332-F5B0B6AA9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833005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8D6E9-5B1E-E414-B4BB-A00EAB4AFB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E7774D-CDCD-146B-FC2D-28E83A75B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E859B5-E4B6-9852-BE06-6B29AE883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69303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E1E7E-7FFC-7D20-B361-9F3B52ADF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9E599-603D-2F32-D4D8-DBAFE76259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2CE027-AF2D-0C5B-C650-3D1DF50CE9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BA35D9-EACF-710A-C495-B386C26255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C95A1-CCC7-8794-CBB7-67865E6AB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08442F-C062-76CF-A283-7F9D40066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82076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F101F-436C-78D4-3353-52675D7050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9DD766-D53E-402F-6ABB-7220593A41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481012-864C-DA8A-6BE2-C7E016EFB2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14AF22-E284-A04F-35FA-BAC8CC46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BDB1FE-2F11-940A-0D5F-F3D399A489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7109B1-55CB-156E-CD60-2B1EB9DE1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581327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699D2-6E79-0D65-DB6E-B0BBE96B94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29EEA9-80A3-BE9A-FF93-6F71EBDA45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2AC008-F0D0-891C-DAED-28B00F77F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A338D0-440C-2B3C-B840-065F12172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6B32F4-0DEA-EC93-20BA-8671A4F5A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68879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E7E0DD-AE40-51F8-67ED-2757B9CE8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A65760-CB0B-CCF8-974D-AF21024981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20DC16-6EB9-6693-25EE-22631FBD0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AF9D08-60B1-AC3E-15DA-EDB52EDE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259838-C42F-58BE-18FC-85DBA5C2A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4708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A22612-53E9-1472-DE56-3B9BA8CBC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0B86C-45DF-4306-D1E8-171926109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B4949-C105-D7A3-A521-C8123DF3D7B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35F6B0-D468-4997-9CE3-CF2A1AE5E3F9}" type="datetimeFigureOut">
              <a:rPr lang="en-SG" smtClean="0"/>
              <a:t>17/3/2026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C09B9-0678-1AEF-93C0-B1A3A7CDB6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93F84A-B605-98F7-7694-62AFD7A6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E59FAF-36E2-46C7-B056-2E79DE02A3C7}" type="slidenum">
              <a:rPr lang="en-SG" smtClean="0"/>
              <a:t>‹#›</a:t>
            </a:fld>
            <a:endParaRPr lang="en-SG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7321BB-4993-C3D7-45BA-3941EB0C1E33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5781675" y="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F943D-E5F8-C50D-F37B-649E0AB3F32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781675" y="6675120"/>
            <a:ext cx="663575" cy="1828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SG" sz="120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162895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0CEB46-CC16-4D19-8C2C-AEE9471D81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5139" y="942610"/>
            <a:ext cx="11441722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50.051 Programming Language Concepts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W9-S1 Context Free Grammars (CFG)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6ABDE1-A047-4B53-92F2-67282914DD7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Matthieu De Mari</a:t>
            </a:r>
          </a:p>
        </p:txBody>
      </p:sp>
      <p:pic>
        <p:nvPicPr>
          <p:cNvPr id="4" name="Picture 3" descr="A picture containing drawing&#10;&#10;Description automatically generated">
            <a:extLst>
              <a:ext uri="{FF2B5EF4-FFF2-40B4-BE49-F238E27FC236}">
                <a16:creationId xmlns:a16="http://schemas.microsoft.com/office/drawing/2014/main" id="{EEFD138E-FF3C-4975-898F-3137195236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4008" y="4484243"/>
            <a:ext cx="4443984" cy="1731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15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5B0-A2AF-5579-DE7E-29E91543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start with a problem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5C10-81D7-AD6F-9639-674161C19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Consider the mathematical expressions below. Which ones are </a:t>
            </a:r>
            <a:r>
              <a:rPr lang="en-GB" b="1" dirty="0">
                <a:solidFill>
                  <a:srgbClr val="00B050"/>
                </a:solidFill>
              </a:rPr>
              <a:t>valid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2+7+9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(3+4)+7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((6+9)+8)*2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6+2++7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8+3+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((4+3)+8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(7+2))(+6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951386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5B0-A2AF-5579-DE7E-29E91543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start with a problem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5C10-81D7-AD6F-9639-674161C19C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Consider the mathematical expressions below. Which ones are </a:t>
            </a:r>
            <a:r>
              <a:rPr lang="en-GB" b="1" dirty="0">
                <a:solidFill>
                  <a:srgbClr val="00B050"/>
                </a:solidFill>
              </a:rPr>
              <a:t>valid</a:t>
            </a:r>
            <a:r>
              <a:rPr lang="en-GB" dirty="0"/>
              <a:t>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2+7+9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(3+4)+7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((6+9)+8)+2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FF0000"/>
                </a:solidFill>
              </a:rPr>
              <a:t>6+2++7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FF0000"/>
                </a:solidFill>
              </a:rPr>
              <a:t>8+3+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FF0000"/>
                </a:solidFill>
              </a:rPr>
              <a:t>((4+3)+8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FF0000"/>
                </a:solidFill>
              </a:rPr>
              <a:t>(7+2))(+6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235623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5B0-A2AF-5579-DE7E-29E91543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start with a problem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5C10-81D7-AD6F-9639-674161C19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Let us consider mathematical expressions, consisting of</a:t>
            </a:r>
          </a:p>
          <a:p>
            <a:r>
              <a:rPr lang="en-GB" dirty="0"/>
              <a:t>single digit numbers,</a:t>
            </a:r>
          </a:p>
          <a:p>
            <a:r>
              <a:rPr lang="en-GB" dirty="0"/>
              <a:t>+ operations,</a:t>
            </a:r>
          </a:p>
          <a:p>
            <a:r>
              <a:rPr lang="en-GB" dirty="0"/>
              <a:t>along with opening and closing parentheses.</a:t>
            </a:r>
          </a:p>
          <a:p>
            <a:pPr marL="0" indent="0">
              <a:buNone/>
            </a:pPr>
            <a:r>
              <a:rPr lang="en-GB" b="1" dirty="0"/>
              <a:t>Can you write a </a:t>
            </a:r>
            <a:r>
              <a:rPr lang="en-GB" b="1" dirty="0" err="1"/>
              <a:t>RegEx</a:t>
            </a:r>
            <a:r>
              <a:rPr lang="en-GB" b="1" dirty="0"/>
              <a:t> to check whether such a string containing a mathematical expression is valid or not?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58513-9061-2C76-E6EF-B80CDBD6C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examples of </a:t>
            </a:r>
            <a:r>
              <a:rPr lang="en-GB" b="1" dirty="0">
                <a:solidFill>
                  <a:srgbClr val="00B050"/>
                </a:solidFill>
              </a:rPr>
              <a:t>valid</a:t>
            </a:r>
            <a:r>
              <a:rPr lang="en-GB" dirty="0"/>
              <a:t> and </a:t>
            </a:r>
            <a:r>
              <a:rPr lang="en-GB" b="1" dirty="0">
                <a:solidFill>
                  <a:srgbClr val="FF0000"/>
                </a:solidFill>
              </a:rPr>
              <a:t>invalid</a:t>
            </a:r>
            <a:r>
              <a:rPr lang="en-GB" dirty="0"/>
              <a:t> expressions (same expressions as before):</a:t>
            </a:r>
          </a:p>
          <a:p>
            <a:r>
              <a:rPr lang="en-GB" b="1" dirty="0">
                <a:solidFill>
                  <a:srgbClr val="00B050"/>
                </a:solidFill>
              </a:rPr>
              <a:t>2+7+9</a:t>
            </a:r>
          </a:p>
          <a:p>
            <a:r>
              <a:rPr lang="en-GB" b="1" dirty="0">
                <a:solidFill>
                  <a:srgbClr val="00B050"/>
                </a:solidFill>
              </a:rPr>
              <a:t>(3+4)+7</a:t>
            </a:r>
          </a:p>
          <a:p>
            <a:r>
              <a:rPr lang="en-GB" b="1" dirty="0">
                <a:solidFill>
                  <a:srgbClr val="00B050"/>
                </a:solidFill>
              </a:rPr>
              <a:t>((6+9)+8)+2</a:t>
            </a:r>
          </a:p>
          <a:p>
            <a:r>
              <a:rPr lang="en-GB" b="1" dirty="0">
                <a:solidFill>
                  <a:srgbClr val="FF0000"/>
                </a:solidFill>
              </a:rPr>
              <a:t>6+2++7</a:t>
            </a:r>
          </a:p>
          <a:p>
            <a:r>
              <a:rPr lang="en-GB" b="1" dirty="0">
                <a:solidFill>
                  <a:srgbClr val="FF0000"/>
                </a:solidFill>
              </a:rPr>
              <a:t>8+3+</a:t>
            </a:r>
          </a:p>
          <a:p>
            <a:r>
              <a:rPr lang="en-GB" b="1" dirty="0">
                <a:solidFill>
                  <a:srgbClr val="FF0000"/>
                </a:solidFill>
              </a:rPr>
              <a:t>((4+3)+8</a:t>
            </a:r>
          </a:p>
          <a:p>
            <a:r>
              <a:rPr lang="en-GB" b="1" dirty="0">
                <a:solidFill>
                  <a:srgbClr val="FF0000"/>
                </a:solidFill>
              </a:rPr>
              <a:t>(7+2))(+6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38576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50B8FC-3A4B-A3D7-3AAA-107C4764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start with a problem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0E570-B60B-8678-D610-ABA0119C8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b="1" dirty="0"/>
              <a:t>Can you write a </a:t>
            </a:r>
            <a:r>
              <a:rPr lang="en-GB" b="1" dirty="0" err="1"/>
              <a:t>RegEx</a:t>
            </a:r>
            <a:r>
              <a:rPr lang="en-GB" b="1" dirty="0"/>
              <a:t> to check whether such a string containing a mathematical expression is valid or not?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  <a:sym typeface="Wingdings" panose="05000000000000000000" pitchFamily="2" charset="2"/>
              </a:rPr>
              <a:t> </a:t>
            </a:r>
            <a:r>
              <a:rPr lang="en-GB" b="1" dirty="0">
                <a:solidFill>
                  <a:srgbClr val="7030A0"/>
                </a:solidFill>
              </a:rPr>
              <a:t>No, unfortunately, </a:t>
            </a:r>
            <a:r>
              <a:rPr lang="en-GB" b="1" dirty="0" err="1">
                <a:solidFill>
                  <a:srgbClr val="7030A0"/>
                </a:solidFill>
              </a:rPr>
              <a:t>RegEx</a:t>
            </a:r>
            <a:r>
              <a:rPr lang="en-GB" b="1" dirty="0">
                <a:solidFill>
                  <a:srgbClr val="7030A0"/>
                </a:solidFill>
              </a:rPr>
              <a:t> is not powerful enough to do so.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This would require, among other things, to keep track of:</a:t>
            </a:r>
          </a:p>
          <a:p>
            <a:r>
              <a:rPr lang="en-GB" dirty="0"/>
              <a:t>How many parentheses have been opened after having read n characters of the given input string, </a:t>
            </a:r>
          </a:p>
          <a:p>
            <a:r>
              <a:rPr lang="en-GB" dirty="0"/>
              <a:t>How many have been closed after having read n characters of the given input string,</a:t>
            </a:r>
          </a:p>
          <a:p>
            <a:r>
              <a:rPr lang="en-GB" dirty="0"/>
              <a:t>And in which order opened parentheses have been closed.</a:t>
            </a:r>
          </a:p>
        </p:txBody>
      </p:sp>
    </p:spTree>
    <p:extLst>
      <p:ext uri="{BB962C8B-B14F-4D97-AF65-F5344CB8AC3E}">
        <p14:creationId xmlns:p14="http://schemas.microsoft.com/office/powerpoint/2010/main" val="1806898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650B8FC-3A4B-A3D7-3AAA-107C47645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Let us start with a problem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990E570-B60B-8678-D610-ABA0119C8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dirty="0"/>
              <a:t>It is not possible to do so with a </a:t>
            </a:r>
            <a:r>
              <a:rPr lang="en-GB" b="1" dirty="0"/>
              <a:t>finite state machine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After all, we could technically have </a:t>
            </a:r>
            <a:r>
              <a:rPr lang="en-GB" b="1" dirty="0"/>
              <a:t>any number of parentheses in the expression, not just any finite number of them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So how could we keep track of this number with a </a:t>
            </a:r>
            <a:r>
              <a:rPr lang="en-GB" dirty="0" err="1"/>
              <a:t>RegEx</a:t>
            </a:r>
            <a:r>
              <a:rPr lang="en-GB" dirty="0"/>
              <a:t> that runs on </a:t>
            </a:r>
            <a:r>
              <a:rPr lang="en-GB" b="1" u="sng" dirty="0"/>
              <a:t>finite</a:t>
            </a:r>
            <a:r>
              <a:rPr lang="en-GB" dirty="0"/>
              <a:t> </a:t>
            </a:r>
            <a:r>
              <a:rPr lang="en-GB" b="1" dirty="0"/>
              <a:t>state</a:t>
            </a:r>
            <a:r>
              <a:rPr lang="en-GB" dirty="0"/>
              <a:t> </a:t>
            </a:r>
            <a:r>
              <a:rPr lang="en-GB" b="1" dirty="0"/>
              <a:t>machines</a:t>
            </a:r>
            <a:r>
              <a:rPr lang="en-GB" dirty="0"/>
              <a:t>?</a:t>
            </a:r>
          </a:p>
          <a:p>
            <a:pPr algn="ctr">
              <a:buFont typeface="Wingdings" panose="05000000000000000000" pitchFamily="2" charset="2"/>
              <a:buChar char="à"/>
            </a:pPr>
            <a:endParaRPr lang="en-GB" b="1" dirty="0">
              <a:solidFill>
                <a:srgbClr val="7030A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  <a:sym typeface="Wingdings" panose="05000000000000000000" pitchFamily="2" charset="2"/>
              </a:rPr>
              <a:t>Important lesson: Syntax analysis tasks, e.g. checking that opened parentheses were properly closed, will typically require something more powerful than </a:t>
            </a:r>
            <a:r>
              <a:rPr lang="en-GB" b="1" dirty="0" err="1">
                <a:solidFill>
                  <a:srgbClr val="7030A0"/>
                </a:solidFill>
                <a:sym typeface="Wingdings" panose="05000000000000000000" pitchFamily="2" charset="2"/>
              </a:rPr>
              <a:t>RegEx</a:t>
            </a:r>
            <a:r>
              <a:rPr lang="en-GB" b="1" dirty="0">
                <a:solidFill>
                  <a:srgbClr val="7030A0"/>
                </a:solidFill>
                <a:sym typeface="Wingdings" panose="05000000000000000000" pitchFamily="2" charset="2"/>
              </a:rPr>
              <a:t>!</a:t>
            </a:r>
          </a:p>
          <a:p>
            <a:pPr marL="0" indent="0">
              <a:buNone/>
            </a:pPr>
            <a:r>
              <a:rPr lang="en-GB" b="1" dirty="0">
                <a:solidFill>
                  <a:srgbClr val="7030A0"/>
                </a:solidFill>
                <a:sym typeface="Wingdings" panose="05000000000000000000" pitchFamily="2" charset="2"/>
              </a:rPr>
              <a:t>(But what then?)</a:t>
            </a:r>
            <a:endParaRPr lang="en-GB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838989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A2BA92-09D0-1523-8566-331B6225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never expected I would be saying this in a CS course, but…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604524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A2BA92-09D0-1523-8566-331B6225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never expected I would be saying this in a CS course, but…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8D3E4E-0C4A-A802-36DF-244040E58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Autofit/>
          </a:bodyPr>
          <a:lstStyle/>
          <a:p>
            <a:r>
              <a:rPr lang="en-GB" sz="6000" b="1" dirty="0">
                <a:solidFill>
                  <a:schemeClr val="tx1"/>
                </a:solidFill>
              </a:rPr>
              <a:t>Let us do some chemistry!</a:t>
            </a:r>
            <a:br>
              <a:rPr lang="en-GB" sz="6000" b="1" dirty="0">
                <a:solidFill>
                  <a:schemeClr val="tx1"/>
                </a:solidFill>
              </a:rPr>
            </a:br>
            <a:endParaRPr lang="en-SG" sz="60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09154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AA2BA92-09D0-1523-8566-331B62250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 never expected I would be saying this in a CS course, but…</a:t>
            </a:r>
            <a:endParaRPr lang="en-SG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8D3E4E-0C4A-A802-36DF-244040E589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6000" b="1" dirty="0">
                <a:solidFill>
                  <a:schemeClr val="tx1"/>
                </a:solidFill>
              </a:rPr>
              <a:t>Let us do some chemistry!</a:t>
            </a:r>
            <a:br>
              <a:rPr lang="en-GB" dirty="0"/>
            </a:br>
            <a:r>
              <a:rPr lang="en-GB" dirty="0"/>
              <a:t>(Nani the hell is going on here?!)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39204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F80A-5B74-90D3-7107-DF2BAFC4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chemical problem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Consider the chemistry expressions below (no ions).</a:t>
                </a:r>
                <a:br>
                  <a:rPr lang="en-GB" dirty="0"/>
                </a:br>
                <a:r>
                  <a:rPr lang="en-GB" dirty="0"/>
                  <a:t>Which ones are </a:t>
                </a:r>
                <a:r>
                  <a:rPr lang="en-GB" b="1" dirty="0">
                    <a:solidFill>
                      <a:srgbClr val="00B050"/>
                    </a:solidFill>
                  </a:rPr>
                  <a:t>valid</a:t>
                </a:r>
                <a:r>
                  <a:rPr lang="en-GB" dirty="0"/>
                  <a:t>?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𝐶𝑂</m:t>
                    </m:r>
                  </m:oMath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i="1" dirty="0"/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p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endParaRPr lang="en-GB" i="1" dirty="0"/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GB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endParaRPr lang="en-GB" i="1" dirty="0"/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𝐽</m:t>
                        </m:r>
                      </m:e>
                      <m:sub>
                        <m:r>
                          <a:rPr lang="en-GB" i="1" dirty="0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endParaRPr lang="en-GB" i="1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5903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F80A-5B74-90D3-7107-DF2BAFC4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chemical problem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Consider the chemistry expressions below (no ions).</a:t>
                </a:r>
                <a:br>
                  <a:rPr lang="en-GB" dirty="0"/>
                </a:br>
                <a:r>
                  <a:rPr lang="en-GB" dirty="0"/>
                  <a:t>Which ones are </a:t>
                </a:r>
                <a:r>
                  <a:rPr lang="en-GB" b="1" dirty="0">
                    <a:solidFill>
                      <a:srgbClr val="00B050"/>
                    </a:solidFill>
                  </a:rPr>
                  <a:t>valid</a:t>
                </a:r>
                <a:r>
                  <a:rPr lang="en-GB" dirty="0"/>
                  <a:t>?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GB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𝑪𝑶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(carbon </a:t>
                </a:r>
                <a:r>
                  <a:rPr lang="en-GB" b="1" i="1" dirty="0" err="1">
                    <a:solidFill>
                      <a:srgbClr val="00B050"/>
                    </a:solidFill>
                  </a:rPr>
                  <a:t>monoxyde</a:t>
                </a:r>
                <a:r>
                  <a:rPr lang="en-GB" b="1" i="1" dirty="0">
                    <a:solidFill>
                      <a:srgbClr val="00B050"/>
                    </a:solidFill>
                  </a:rPr>
                  <a:t>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(water)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(exponents are not allowed, except for ions)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sSub>
                      <m:sSubPr>
                        <m:ctrlP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sub>
                    </m:sSub>
                    <m:sSub>
                      <m:sSubPr>
                        <m:ctrlP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(sugar)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GB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(no J element in periodic table)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56910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F80A-5B74-90D3-7107-DF2BAFC4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chemical problem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5135" y="1825624"/>
                <a:ext cx="11661059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chemistry expressions below (no ions).</a:t>
                </a:r>
                <a:br>
                  <a:rPr lang="en-GB" dirty="0"/>
                </a:br>
                <a:r>
                  <a:rPr lang="en-GB" dirty="0"/>
                  <a:t>Which ones are </a:t>
                </a:r>
                <a:r>
                  <a:rPr lang="en-GB" b="1" dirty="0">
                    <a:solidFill>
                      <a:srgbClr val="00B050"/>
                    </a:solidFill>
                  </a:rPr>
                  <a:t>valid</a:t>
                </a:r>
                <a:r>
                  <a:rPr lang="en-GB" dirty="0"/>
                  <a:t>?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𝑪𝑶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(carbon </a:t>
                </a:r>
                <a:r>
                  <a:rPr lang="en-GB" b="1" i="1" dirty="0" err="1">
                    <a:solidFill>
                      <a:srgbClr val="00B050"/>
                    </a:solidFill>
                  </a:rPr>
                  <a:t>monoxyde</a:t>
                </a:r>
                <a:r>
                  <a:rPr lang="en-GB" b="1" i="1" dirty="0">
                    <a:solidFill>
                      <a:srgbClr val="00B050"/>
                    </a:solidFill>
                  </a:rPr>
                  <a:t>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(water)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(exponents are not allowed, except for ions)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sub>
                    </m:sSub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(sugar)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(no J element in periodic table)</a:t>
                </a:r>
              </a:p>
              <a:p>
                <a:pPr marL="0" indent="0">
                  <a:buNone/>
                </a:pPr>
                <a:r>
                  <a:rPr lang="en-GB" b="1" dirty="0"/>
                  <a:t>Question: </a:t>
                </a:r>
                <a:r>
                  <a:rPr lang="en-GB" dirty="0"/>
                  <a:t>Is there a Regular Expression for checking if these formulas are valid?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135" y="1825624"/>
                <a:ext cx="11661059" cy="5032375"/>
              </a:xfrm>
              <a:blipFill>
                <a:blip r:embed="rId2"/>
                <a:stretch>
                  <a:fillRect l="-1098" t="-1937" r="-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0263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AF80A-5B74-90D3-7107-DF2BAFC47A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chemical problem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85135" y="1825624"/>
                <a:ext cx="11661059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chemistry expressions below (no ions).</a:t>
                </a:r>
                <a:br>
                  <a:rPr lang="en-GB" dirty="0"/>
                </a:br>
                <a:r>
                  <a:rPr lang="en-GB" dirty="0"/>
                  <a:t>Which ones are </a:t>
                </a:r>
                <a:r>
                  <a:rPr lang="en-GB" b="1" dirty="0">
                    <a:solidFill>
                      <a:srgbClr val="00B050"/>
                    </a:solidFill>
                  </a:rPr>
                  <a:t>valid</a:t>
                </a:r>
                <a:r>
                  <a:rPr lang="en-GB" dirty="0"/>
                  <a:t>?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r>
                      <a:rPr lang="en-GB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𝑪𝑶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(carbon </a:t>
                </a:r>
                <a:r>
                  <a:rPr lang="en-GB" b="1" i="1" dirty="0" err="1">
                    <a:solidFill>
                      <a:srgbClr val="00B050"/>
                    </a:solidFill>
                  </a:rPr>
                  <a:t>monoxyde</a:t>
                </a:r>
                <a:r>
                  <a:rPr lang="en-GB" b="1" i="1" dirty="0">
                    <a:solidFill>
                      <a:srgbClr val="00B050"/>
                    </a:solidFill>
                  </a:rPr>
                  <a:t>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(water)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p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𝑶</m:t>
                    </m:r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(exponents are not allowed, except for ions)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𝟏𝟐</m:t>
                        </m:r>
                      </m:sub>
                    </m:sSub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𝑯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𝟐𝟐</m:t>
                        </m:r>
                      </m:sub>
                    </m:sSub>
                    <m:sSub>
                      <m:sSubPr>
                        <m:ctrlP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𝑶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𝟏𝟏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00B050"/>
                    </a:solidFill>
                  </a:rPr>
                  <a:t> (sugar)</a:t>
                </a:r>
              </a:p>
              <a:p>
                <a:pPr marL="514350" indent="-514350">
                  <a:buFont typeface="+mj-lt"/>
                  <a:buAutoNum type="alpha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</m:sub>
                    </m:sSub>
                    <m:r>
                      <a:rPr lang="en-GB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𝑱</m:t>
                        </m:r>
                      </m:e>
                      <m:sub>
                        <m:r>
                          <a:rPr lang="en-GB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𝟖</m:t>
                        </m:r>
                      </m:sub>
                    </m:sSub>
                  </m:oMath>
                </a14:m>
                <a:r>
                  <a:rPr lang="en-GB" b="1" i="1" dirty="0">
                    <a:solidFill>
                      <a:srgbClr val="FF0000"/>
                    </a:solidFill>
                  </a:rPr>
                  <a:t> (no J element in periodic table)</a:t>
                </a:r>
              </a:p>
              <a:p>
                <a:pPr marL="0" indent="0">
                  <a:buNone/>
                </a:pPr>
                <a:r>
                  <a:rPr lang="en-GB" b="1" dirty="0"/>
                  <a:t>Question: </a:t>
                </a:r>
                <a:r>
                  <a:rPr lang="en-GB" dirty="0"/>
                  <a:t>Is there a Regular Expression for checking if these formulas are valid?</a:t>
                </a:r>
              </a:p>
              <a:p>
                <a:pPr marL="0" indent="0">
                  <a:buNone/>
                </a:pPr>
                <a:r>
                  <a:rPr lang="en-SG" dirty="0">
                    <a:solidFill>
                      <a:schemeClr val="tx1"/>
                    </a:solidFill>
                  </a:rPr>
                  <a:t>No, because parentheses can be used in chemistry formulas for compounds, e.g.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=3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Ca</m:t>
                    </m:r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+4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P</m:t>
                    </m:r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+8</m:t>
                    </m:r>
                    <m:r>
                      <m:rPr>
                        <m:sty m:val="p"/>
                      </m:rP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O</m:t>
                    </m:r>
                    <m:r>
                      <a:rPr lang="en-GB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SG" dirty="0">
                    <a:solidFill>
                      <a:schemeClr val="tx1"/>
                    </a:solidFill>
                  </a:rPr>
                  <a:t>        </a:t>
                </a:r>
                <a:r>
                  <a:rPr lang="en-SG" dirty="0">
                    <a:solidFill>
                      <a:schemeClr val="tx1"/>
                    </a:solidFill>
                    <a:sym typeface="Wingdings" panose="05000000000000000000" pitchFamily="2" charset="2"/>
                  </a:rPr>
                  <a:t> Same problem as before!</a:t>
                </a:r>
                <a:endParaRPr lang="en-SG" dirty="0">
                  <a:solidFill>
                    <a:schemeClr val="tx1"/>
                  </a:solidFill>
                </a:endParaRPr>
              </a:p>
              <a:p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B25951B-280E-48C7-384F-C26B460AC5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85135" y="1825624"/>
                <a:ext cx="11661059" cy="5032375"/>
              </a:xfrm>
              <a:blipFill>
                <a:blip r:embed="rId2"/>
                <a:stretch>
                  <a:fillRect l="-1098" t="-1937" r="-8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337590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A466-6442-9074-A455-6BA350DE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Introducing Context Free Grammars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B25F9-581A-1F11-663F-D515D2620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Context-Free Grammars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</a:t>
            </a:r>
            <a:r>
              <a:rPr lang="en-GB" b="1" dirty="0">
                <a:solidFill>
                  <a:srgbClr val="00B050"/>
                </a:solidFill>
              </a:rPr>
              <a:t>Context-Free Grammar </a:t>
            </a:r>
            <a:r>
              <a:rPr lang="en-GB" b="1" dirty="0"/>
              <a:t>(</a:t>
            </a:r>
            <a:r>
              <a:rPr lang="en-GB" b="1" dirty="0">
                <a:solidFill>
                  <a:srgbClr val="00B050"/>
                </a:solidFill>
              </a:rPr>
              <a:t>CFG</a:t>
            </a:r>
            <a:r>
              <a:rPr lang="en-GB" b="1" dirty="0"/>
              <a:t>) </a:t>
            </a:r>
            <a:r>
              <a:rPr lang="en-GB" dirty="0"/>
              <a:t>is </a:t>
            </a:r>
            <a:r>
              <a:rPr lang="en-GB" b="1" dirty="0"/>
              <a:t>a formal system used to generate and describe sets of strings based on a specific set of syntax rules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It is particularly useful for defining the syntax of programming languages and the structure of most natural languages.</a:t>
            </a:r>
          </a:p>
          <a:p>
            <a:pPr marL="0" indent="0">
              <a:buNone/>
            </a:pPr>
            <a:r>
              <a:rPr lang="en-GB" dirty="0"/>
              <a:t>The term "context-free" means that the </a:t>
            </a:r>
            <a:r>
              <a:rPr lang="en-GB" b="1" dirty="0">
                <a:solidFill>
                  <a:srgbClr val="7030A0"/>
                </a:solidFill>
              </a:rPr>
              <a:t>production rules </a:t>
            </a:r>
            <a:r>
              <a:rPr lang="en-GB" dirty="0"/>
              <a:t>of the CFG are applied independently of the surrounding context.</a:t>
            </a:r>
          </a:p>
          <a:p>
            <a:pPr marL="0" indent="0">
              <a:buNone/>
            </a:pPr>
            <a:r>
              <a:rPr lang="en-GB" dirty="0"/>
              <a:t>A context free grammar is defined by </a:t>
            </a:r>
            <a:r>
              <a:rPr lang="en-GB" b="1" dirty="0"/>
              <a:t>four elements</a:t>
            </a:r>
            <a:r>
              <a:rPr lang="en-GB" dirty="0"/>
              <a:t>: a set of </a:t>
            </a:r>
            <a:r>
              <a:rPr lang="en-GB" b="1" dirty="0">
                <a:solidFill>
                  <a:schemeClr val="accent2"/>
                </a:solidFill>
              </a:rPr>
              <a:t>terminals</a:t>
            </a:r>
            <a:r>
              <a:rPr lang="en-GB" dirty="0"/>
              <a:t> and </a:t>
            </a:r>
            <a:r>
              <a:rPr lang="en-GB" b="1" dirty="0">
                <a:solidFill>
                  <a:srgbClr val="0070C0"/>
                </a:solidFill>
              </a:rPr>
              <a:t>non-terminals</a:t>
            </a:r>
            <a:r>
              <a:rPr lang="en-GB" dirty="0"/>
              <a:t>, a </a:t>
            </a:r>
            <a:r>
              <a:rPr lang="en-GB" b="1" dirty="0">
                <a:solidFill>
                  <a:schemeClr val="accent2">
                    <a:lumMod val="50000"/>
                  </a:schemeClr>
                </a:solidFill>
              </a:rPr>
              <a:t>start symbol </a:t>
            </a:r>
            <a:r>
              <a:rPr lang="en-GB" dirty="0"/>
              <a:t>and a set of </a:t>
            </a:r>
            <a:r>
              <a:rPr lang="en-GB" b="1" dirty="0">
                <a:solidFill>
                  <a:srgbClr val="7030A0"/>
                </a:solidFill>
              </a:rPr>
              <a:t>production rules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68348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A466-6442-9074-A455-6BA350DE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Elements of Context Free Grammars</a:t>
            </a:r>
            <a:endParaRPr lang="en-SG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3B25F9-581A-1F11-663F-D515D2620F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chemeClr val="accent2"/>
                </a:solidFill>
              </a:rPr>
              <a:t>Terminals</a:t>
            </a:r>
            <a:r>
              <a:rPr lang="en-GB" dirty="0"/>
              <a:t> </a:t>
            </a:r>
            <a:r>
              <a:rPr lang="en-GB" b="1" dirty="0"/>
              <a:t>and</a:t>
            </a:r>
            <a:r>
              <a:rPr lang="en-GB" dirty="0"/>
              <a:t> </a:t>
            </a:r>
            <a:r>
              <a:rPr lang="en-GB" b="1" dirty="0">
                <a:solidFill>
                  <a:srgbClr val="0070C0"/>
                </a:solidFill>
              </a:rPr>
              <a:t>Non-Terminals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 context-free grammar (CFG) revolves around (terminal and non-terminal) symbols.</a:t>
            </a:r>
          </a:p>
          <a:p>
            <a:pPr marL="0" indent="0">
              <a:buNone/>
            </a:pPr>
            <a:r>
              <a:rPr lang="en-GB" b="1" dirty="0">
                <a:solidFill>
                  <a:schemeClr val="accent2"/>
                </a:solidFill>
              </a:rPr>
              <a:t>Terminals</a:t>
            </a:r>
            <a:r>
              <a:rPr lang="en-GB" dirty="0"/>
              <a:t> are the </a:t>
            </a:r>
            <a:r>
              <a:rPr lang="en-GB" b="1" dirty="0"/>
              <a:t>basic symbols in a language that cannot be further divided or transformed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dirty="0"/>
              <a:t>In the case of our chemistry formulas, these would be elements symbols such as C, O, H, He, etc., as well as digits.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70C0"/>
                </a:solidFill>
              </a:rPr>
              <a:t>Non-terminals</a:t>
            </a:r>
            <a:r>
              <a:rPr lang="en-GB" dirty="0"/>
              <a:t>, on the other hand, </a:t>
            </a:r>
            <a:r>
              <a:rPr lang="en-GB" b="1" dirty="0"/>
              <a:t>represent syntactic patterns or intermediate structures in the language.</a:t>
            </a:r>
          </a:p>
          <a:p>
            <a:pPr marL="0" indent="0">
              <a:buNone/>
            </a:pPr>
            <a:r>
              <a:rPr lang="en-GB" dirty="0"/>
              <a:t>These can be </a:t>
            </a:r>
            <a:r>
              <a:rPr lang="en-GB" b="1" dirty="0"/>
              <a:t>further decomposed and transformed into sequences of </a:t>
            </a:r>
            <a:r>
              <a:rPr lang="en-GB" b="1" dirty="0">
                <a:solidFill>
                  <a:schemeClr val="accent2"/>
                </a:solidFill>
              </a:rPr>
              <a:t>terminals</a:t>
            </a:r>
            <a:r>
              <a:rPr lang="en-GB" b="1" dirty="0"/>
              <a:t> and </a:t>
            </a:r>
            <a:r>
              <a:rPr lang="en-GB" b="1" dirty="0">
                <a:solidFill>
                  <a:srgbClr val="0070C0"/>
                </a:solidFill>
              </a:rPr>
              <a:t>non-terminals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342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4AA466-6442-9074-A455-6BA350DE32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Elements of Context Free Grammars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03B25F9-581A-1F11-663F-D515D2620F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chemeClr val="accent2">
                        <a:lumMod val="50000"/>
                      </a:schemeClr>
                    </a:solidFill>
                  </a:rPr>
                  <a:t>Start Symbol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The </a:t>
                </a:r>
                <a:r>
                  <a:rPr lang="en-GB" b="1" dirty="0">
                    <a:solidFill>
                      <a:schemeClr val="accent2">
                        <a:lumMod val="50000"/>
                      </a:schemeClr>
                    </a:solidFill>
                  </a:rPr>
                  <a:t>Start Symbol </a:t>
                </a:r>
                <a:r>
                  <a:rPr lang="en-GB" dirty="0"/>
                  <a:t>is a special </a:t>
                </a:r>
                <a:r>
                  <a:rPr lang="en-GB" b="1" dirty="0">
                    <a:solidFill>
                      <a:srgbClr val="0070C0"/>
                    </a:solidFill>
                  </a:rPr>
                  <a:t>non-terminal</a:t>
                </a:r>
                <a:r>
                  <a:rPr lang="en-GB" dirty="0"/>
                  <a:t> symbol </a:t>
                </a:r>
                <a:r>
                  <a:rPr lang="en-GB" b="1" dirty="0"/>
                  <a:t>from which the </a:t>
                </a:r>
                <a:r>
                  <a:rPr lang="en-GB" b="1" dirty="0">
                    <a:solidFill>
                      <a:srgbClr val="00B050"/>
                    </a:solidFill>
                  </a:rPr>
                  <a:t>derivation</a:t>
                </a:r>
                <a:r>
                  <a:rPr lang="en-GB" b="1" dirty="0"/>
                  <a:t> of strings begins</a:t>
                </a:r>
                <a:r>
                  <a:rPr lang="en-GB" dirty="0"/>
                  <a:t>. It represents the main structure of the language, and all other rules ultimately derive from it.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Definition (</a:t>
                </a:r>
                <a:r>
                  <a:rPr lang="en-GB" b="1" dirty="0">
                    <a:solidFill>
                      <a:srgbClr val="7030A0"/>
                    </a:solidFill>
                  </a:rPr>
                  <a:t>Production Rules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b="1" dirty="0">
                    <a:solidFill>
                      <a:srgbClr val="7030A0"/>
                    </a:solidFill>
                  </a:rPr>
                  <a:t>Production Rules </a:t>
                </a:r>
                <a:r>
                  <a:rPr lang="en-GB" dirty="0"/>
                  <a:t>define how </a:t>
                </a:r>
                <a:r>
                  <a:rPr lang="en-GB" b="1" dirty="0">
                    <a:solidFill>
                      <a:srgbClr val="0070C0"/>
                    </a:solidFill>
                  </a:rPr>
                  <a:t>non-terminal</a:t>
                </a:r>
                <a:r>
                  <a:rPr lang="en-GB" dirty="0"/>
                  <a:t> symbols can be replaced by sequences of </a:t>
                </a:r>
                <a:r>
                  <a:rPr lang="en-GB" b="1" dirty="0">
                    <a:solidFill>
                      <a:schemeClr val="accent2"/>
                    </a:solidFill>
                  </a:rPr>
                  <a:t>terminals</a:t>
                </a:r>
                <a:r>
                  <a:rPr lang="en-GB" dirty="0"/>
                  <a:t> and </a:t>
                </a:r>
                <a:r>
                  <a:rPr lang="en-GB" b="1" dirty="0">
                    <a:solidFill>
                      <a:srgbClr val="0070C0"/>
                    </a:solidFill>
                  </a:rPr>
                  <a:t>non-terminals</a:t>
                </a:r>
                <a:r>
                  <a:rPr lang="en-GB" dirty="0"/>
                  <a:t>. </a:t>
                </a:r>
              </a:p>
              <a:p>
                <a:pPr marL="0" indent="0">
                  <a:buNone/>
                </a:pPr>
                <a:r>
                  <a:rPr lang="en-GB" dirty="0"/>
                  <a:t>Written in the form </a:t>
                </a:r>
                <a14:m>
                  <m:oMath xmlns:m="http://schemas.openxmlformats.org/officeDocument/2006/math">
                    <m:r>
                      <a:rPr lang="en-GB" b="1" i="1" smtClean="0">
                        <a:latin typeface="Cambria Math" panose="02040503050406030204" pitchFamily="18" charset="0"/>
                      </a:rPr>
                      <m:t>𝑨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b="1" i="1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dirty="0"/>
                  <a:t>, where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GB" dirty="0"/>
                  <a:t> is a </a:t>
                </a:r>
                <a:r>
                  <a:rPr lang="en-GB" b="1" dirty="0">
                    <a:solidFill>
                      <a:srgbClr val="0070C0"/>
                    </a:solidFill>
                  </a:rPr>
                  <a:t>non-terminal</a:t>
                </a:r>
                <a:r>
                  <a:rPr lang="en-GB" dirty="0"/>
                  <a:t>, and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𝑩</m:t>
                    </m:r>
                  </m:oMath>
                </a14:m>
                <a:r>
                  <a:rPr lang="en-GB" dirty="0"/>
                  <a:t> is a sequence of </a:t>
                </a:r>
                <a:r>
                  <a:rPr lang="en-GB" b="1" dirty="0">
                    <a:solidFill>
                      <a:schemeClr val="accent2"/>
                    </a:solidFill>
                  </a:rPr>
                  <a:t>terminals</a:t>
                </a:r>
                <a:r>
                  <a:rPr lang="en-GB" dirty="0"/>
                  <a:t> and/or </a:t>
                </a:r>
                <a:r>
                  <a:rPr lang="en-GB" b="1" dirty="0">
                    <a:solidFill>
                      <a:srgbClr val="0070C0"/>
                    </a:solidFill>
                  </a:rPr>
                  <a:t>non-terminals</a:t>
                </a:r>
                <a:r>
                  <a:rPr lang="en-GB" dirty="0"/>
                  <a:t> that can replace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𝑨</m:t>
                    </m:r>
                  </m:oMath>
                </a14:m>
                <a:r>
                  <a:rPr lang="en-GB" dirty="0"/>
                  <a:t>.</a:t>
                </a: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E03B25F9-581A-1F11-663F-D515D2620F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12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15036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𝑀𝑜𝑙𝑒𝑐𝑢𝑙𝑒𝐸𝑙𝑒𝑚𝑒𝑛𝑡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130912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𝑀𝑜𝑙𝑒𝑐𝑢𝑙𝑒𝐸𝑙𝑒𝑚𝑒𝑛𝑡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0480ED-2099-B8AA-9760-65D2A4870FEB}"/>
              </a:ext>
            </a:extLst>
          </p:cNvPr>
          <p:cNvSpPr txBox="1"/>
          <p:nvPr/>
        </p:nvSpPr>
        <p:spPr>
          <a:xfrm>
            <a:off x="7239976" y="779666"/>
            <a:ext cx="4235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The symbol </a:t>
            </a:r>
            <a:r>
              <a:rPr lang="en-GB" sz="2800" i="1" dirty="0"/>
              <a:t>Formula</a:t>
            </a:r>
            <a:r>
              <a:rPr lang="en-GB" sz="2800" dirty="0"/>
              <a:t> is a </a:t>
            </a:r>
            <a:r>
              <a:rPr lang="en-GB" sz="2800" b="1" dirty="0">
                <a:solidFill>
                  <a:srgbClr val="0070C0"/>
                </a:solidFill>
              </a:rPr>
              <a:t>Non-Terminal</a:t>
            </a:r>
            <a:r>
              <a:rPr lang="en-GB" sz="2800" dirty="0"/>
              <a:t>, which serves as a </a:t>
            </a:r>
            <a:r>
              <a:rPr lang="en-GB" sz="2800" b="1" dirty="0">
                <a:solidFill>
                  <a:schemeClr val="accent2">
                    <a:lumMod val="50000"/>
                  </a:schemeClr>
                </a:solidFill>
              </a:rPr>
              <a:t>Start Symbol</a:t>
            </a:r>
            <a:r>
              <a:rPr lang="en-GB" sz="2800" dirty="0"/>
              <a:t>. 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560112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𝑜𝑙𝑒𝑐𝑢𝑙𝑒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0480ED-2099-B8AA-9760-65D2A4870FEB}"/>
              </a:ext>
            </a:extLst>
          </p:cNvPr>
          <p:cNvSpPr txBox="1"/>
          <p:nvPr/>
        </p:nvSpPr>
        <p:spPr>
          <a:xfrm>
            <a:off x="7239976" y="779666"/>
            <a:ext cx="423593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Any symbol written as </a:t>
            </a:r>
          </a:p>
          <a:p>
            <a:pPr algn="ctr"/>
            <a:r>
              <a:rPr lang="en-GB" sz="2800" dirty="0"/>
              <a:t>“</a:t>
            </a:r>
            <a:r>
              <a:rPr lang="en-GB" sz="2800" i="1" dirty="0"/>
              <a:t>Word</a:t>
            </a:r>
            <a:r>
              <a:rPr lang="en-GB" sz="2800" dirty="0"/>
              <a:t>” is a </a:t>
            </a:r>
            <a:r>
              <a:rPr lang="en-GB" sz="2800" b="1" dirty="0">
                <a:solidFill>
                  <a:srgbClr val="0070C0"/>
                </a:solidFill>
              </a:rPr>
              <a:t>non-terminal</a:t>
            </a:r>
            <a:r>
              <a:rPr lang="en-GB" sz="2800" dirty="0"/>
              <a:t>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4291907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𝑜𝑙𝑒𝑐𝑢𝑙𝑒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0480ED-2099-B8AA-9760-65D2A4870FEB}"/>
              </a:ext>
            </a:extLst>
          </p:cNvPr>
          <p:cNvSpPr txBox="1"/>
          <p:nvPr/>
        </p:nvSpPr>
        <p:spPr>
          <a:xfrm>
            <a:off x="7239976" y="779666"/>
            <a:ext cx="423593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All the </a:t>
            </a:r>
            <a:r>
              <a:rPr lang="en-GB" sz="2800" b="1" dirty="0"/>
              <a:t>elements of the periodic table </a:t>
            </a:r>
            <a:r>
              <a:rPr lang="en-GB" sz="2800" dirty="0"/>
              <a:t>and the </a:t>
            </a:r>
            <a:r>
              <a:rPr lang="en-GB" sz="2800" b="1" dirty="0"/>
              <a:t>non-zero integer numbers </a:t>
            </a:r>
            <a:r>
              <a:rPr lang="en-GB" sz="2800" dirty="0"/>
              <a:t>can be used as </a:t>
            </a:r>
            <a:r>
              <a:rPr lang="en-GB" sz="2800" b="1" dirty="0">
                <a:solidFill>
                  <a:schemeClr val="accent2"/>
                </a:solidFill>
              </a:rPr>
              <a:t>terminals</a:t>
            </a:r>
            <a:r>
              <a:rPr lang="en-GB" sz="2800" dirty="0"/>
              <a:t>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182135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𝑜𝑙𝑒𝑐𝑢𝑙𝑒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0480ED-2099-B8AA-9760-65D2A4870FEB}"/>
              </a:ext>
            </a:extLst>
          </p:cNvPr>
          <p:cNvSpPr txBox="1"/>
          <p:nvPr/>
        </p:nvSpPr>
        <p:spPr>
          <a:xfrm>
            <a:off x="7701084" y="256036"/>
            <a:ext cx="423593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We have defined 7 </a:t>
            </a:r>
            <a:r>
              <a:rPr lang="en-GB" sz="2800" b="1" dirty="0">
                <a:solidFill>
                  <a:srgbClr val="7030A0"/>
                </a:solidFill>
              </a:rPr>
              <a:t>production rules</a:t>
            </a:r>
            <a:r>
              <a:rPr lang="en-GB" sz="2800" dirty="0"/>
              <a:t>.</a:t>
            </a:r>
          </a:p>
          <a:p>
            <a:pPr algn="ctr"/>
            <a:r>
              <a:rPr lang="en-GB" sz="2800" dirty="0"/>
              <a:t>Several production rules may appear and start with the same non-terminal.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7B7F5CC-CDDD-903D-B33A-77FD094F1E89}"/>
              </a:ext>
            </a:extLst>
          </p:cNvPr>
          <p:cNvSpPr/>
          <p:nvPr/>
        </p:nvSpPr>
        <p:spPr>
          <a:xfrm>
            <a:off x="8721969" y="2688492"/>
            <a:ext cx="937846" cy="3913472"/>
          </a:xfrm>
          <a:prstGeom prst="rightBrac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093022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8516-CA7F-75F3-FCF7-4E5677725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𝐹𝑜𝑟𝑚𝑢𝑙𝑎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</m:oMath>
                  </m:oMathPara>
                </a14:m>
                <a:endParaRPr lang="en-GB" b="0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𝑜𝑙𝑒𝑐𝑢𝑙𝑒</m:t>
                      </m:r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𝑙𝑒𝑚𝑒𝑛𝑡</m:t>
                      </m:r>
                    </m:oMath>
                  </m:oMathPara>
                </a14:m>
                <a:endParaRPr lang="en-SG" dirty="0">
                  <a:solidFill>
                    <a:srgbClr val="0070C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𝑀𝑜𝑙𝑒𝑐𝑢𝑙𝑒</m:t>
                      </m:r>
                      <m:sSub>
                        <m:sSubPr>
                          <m:ctrlP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𝐸𝑙𝑒𝑚𝑒𝑛𝑡</m:t>
                          </m:r>
                        </m:e>
                        <m:sub>
                          <m:r>
                            <a:rPr lang="en-GB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𝐸𝑙𝑒𝑚𝑒𝑛𝑡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BBCCBA20-5235-6A29-4DD0-ED450203C2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610480ED-2099-B8AA-9760-65D2A4870FEB}"/>
              </a:ext>
            </a:extLst>
          </p:cNvPr>
          <p:cNvSpPr txBox="1"/>
          <p:nvPr/>
        </p:nvSpPr>
        <p:spPr>
          <a:xfrm>
            <a:off x="7701084" y="256036"/>
            <a:ext cx="423593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dirty="0"/>
              <a:t>We may also use the keyword “or” for convenience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A7B7F5CC-CDDD-903D-B33A-77FD094F1E89}"/>
              </a:ext>
            </a:extLst>
          </p:cNvPr>
          <p:cNvSpPr/>
          <p:nvPr/>
        </p:nvSpPr>
        <p:spPr>
          <a:xfrm>
            <a:off x="8721969" y="2688492"/>
            <a:ext cx="937846" cy="3913472"/>
          </a:xfrm>
          <a:prstGeom prst="rightBrace">
            <a:avLst/>
          </a:prstGeom>
          <a:ln w="3810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99F6DC-CCAD-9341-63E3-BE6D16B97680}"/>
              </a:ext>
            </a:extLst>
          </p:cNvPr>
          <p:cNvSpPr/>
          <p:nvPr/>
        </p:nvSpPr>
        <p:spPr>
          <a:xfrm>
            <a:off x="5150338" y="5619262"/>
            <a:ext cx="3688862" cy="873613"/>
          </a:xfrm>
          <a:prstGeom prst="rect">
            <a:avLst/>
          </a:prstGeom>
          <a:noFill/>
          <a:ln w="38100">
            <a:solidFill>
              <a:srgbClr val="7030A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218791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A302F4-1712-807F-1A0C-22F74861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Back to our Chemistry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from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𝐹𝑜𝑟𝑚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𝐸𝑙𝑒𝑚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𝑀𝑜𝑙𝐸𝑙𝑒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365126"/>
                <a:ext cx="5949461" cy="64928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dirty="0"/>
                  <a:t>Is the formula CO valid? Yes.</a:t>
                </a:r>
              </a:p>
              <a:p>
                <a:pPr marL="0" indent="0">
                  <a:buNone/>
                </a:pPr>
                <a:r>
                  <a:rPr lang="en-GB" dirty="0"/>
                  <a:t>Because, i</a:t>
                </a:r>
                <a:r>
                  <a:rPr lang="en-GB" sz="2800" dirty="0"/>
                  <a:t>t can be </a:t>
                </a:r>
                <a:r>
                  <a:rPr lang="en-GB" sz="2800" b="1" dirty="0">
                    <a:solidFill>
                      <a:srgbClr val="00B050"/>
                    </a:solidFill>
                  </a:rPr>
                  <a:t>derived</a:t>
                </a:r>
                <a:r>
                  <a:rPr lang="en-GB" sz="2800" dirty="0"/>
                  <a:t> from the CFG production rules, starting from the start symbol </a:t>
                </a:r>
                <a:r>
                  <a:rPr lang="en-GB" sz="2800" i="1" dirty="0"/>
                  <a:t>Formula</a:t>
                </a:r>
                <a:r>
                  <a:rPr lang="en-GB" sz="2800" dirty="0"/>
                  <a:t>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𝐹𝑜𝑟𝑚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𝑀𝑜𝑙</m:t>
                    </m:r>
                  </m:oMath>
                </a14:m>
                <a:r>
                  <a:rPr lang="en-GB" sz="2800" dirty="0"/>
                  <a:t> (rule 1)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i="1" smtClean="0">
                        <a:latin typeface="Cambria Math" panose="02040503050406030204" pitchFamily="18" charset="0"/>
                      </a:rPr>
                      <m:t>𝑀𝑜𝑙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i="1" smtClean="0">
                        <a:latin typeface="Cambria Math" panose="02040503050406030204" pitchFamily="18" charset="0"/>
                      </a:rPr>
                      <m:t>𝑀𝑜𝑙𝐸𝑙𝑒𝑚</m:t>
                    </m:r>
                  </m:oMath>
                </a14:m>
                <a:r>
                  <a:rPr lang="en-SG" sz="2800" dirty="0"/>
                  <a:t> (rule 4)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𝑀𝑜𝑙𝐸𝑙𝑒𝑚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𝐸𝑙𝑒𝑚𝐸𝑙𝑒𝑚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sz="2800" dirty="0"/>
                  <a:t>(using rule 2 on </a:t>
                </a:r>
                <a:r>
                  <a:rPr lang="en-GB" sz="2800" i="1" dirty="0"/>
                  <a:t>Mol</a:t>
                </a:r>
                <a:r>
                  <a:rPr lang="en-GB" sz="2800" dirty="0"/>
                  <a:t> symbol)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𝐸𝑙𝑒𝑚𝐸𝑙𝑒𝑚</m:t>
                    </m:r>
                    <m:r>
                      <a:rPr lang="en-GB" sz="2800" b="0" i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𝐶𝐸𝑙𝑒𝑚</m:t>
                    </m:r>
                  </m:oMath>
                </a14:m>
                <a:r>
                  <a:rPr lang="en-GB" sz="2800" i="1" dirty="0"/>
                  <a:t> </a:t>
                </a:r>
                <a:r>
                  <a:rPr lang="en-GB" sz="2800" dirty="0"/>
                  <a:t>(using rule 6 on first </a:t>
                </a:r>
                <a:r>
                  <a:rPr lang="en-GB" sz="2800" i="1" dirty="0"/>
                  <a:t>Elem </a:t>
                </a:r>
                <a:r>
                  <a:rPr lang="en-GB" sz="2800" dirty="0"/>
                  <a:t>symbol)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𝐶𝐸𝑙𝑒𝑚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GB" sz="2800" b="0" i="1" smtClean="0">
                        <a:latin typeface="Cambria Math" panose="02040503050406030204" pitchFamily="18" charset="0"/>
                      </a:rPr>
                      <m:t>𝐶𝑂</m:t>
                    </m:r>
                  </m:oMath>
                </a14:m>
                <a:r>
                  <a:rPr lang="en-GB" sz="2800" i="1" dirty="0"/>
                  <a:t> </a:t>
                </a:r>
                <a:r>
                  <a:rPr lang="en-GB" sz="2800" dirty="0"/>
                  <a:t>(using rule 6 on second </a:t>
                </a:r>
                <a:r>
                  <a:rPr lang="en-GB" sz="2800" i="1" dirty="0"/>
                  <a:t>Elem </a:t>
                </a:r>
                <a:r>
                  <a:rPr lang="en-GB" sz="2800" dirty="0"/>
                  <a:t>symbol)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endParaRPr lang="en-GB" sz="28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365126"/>
                <a:ext cx="5949461" cy="6492874"/>
              </a:xfrm>
              <a:blipFill>
                <a:blip r:embed="rId3"/>
                <a:stretch>
                  <a:fillRect l="-2049" t="-1596" r="-143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552985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A302F4-1712-807F-1A0C-22F74861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and 2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from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𝐹𝑜𝑟𝑚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𝐸𝑙𝑒𝑚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𝑀𝑜𝑙𝐸𝑙𝑒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b="1" dirty="0"/>
                  <a:t>Practice 1: </a:t>
                </a:r>
                <a:r>
                  <a:rPr lang="en-GB" sz="2800" dirty="0"/>
                  <a:t>Using the same </a:t>
                </a:r>
                <a:r>
                  <a:rPr lang="en-GB" dirty="0"/>
                  <a:t>logic, can you prove that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00B050"/>
                    </a:solidFill>
                  </a:rPr>
                  <a:t> is a valid expression?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r>
                  <a:rPr lang="en-GB" sz="2800" b="1" dirty="0"/>
                  <a:t>Practice 2:</a:t>
                </a:r>
                <a:r>
                  <a:rPr lang="en-GB" sz="2800" dirty="0"/>
                  <a:t> Which additional production rule(s) would you add to cover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?</a:t>
                </a:r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  <a:blipFill>
                <a:blip r:embed="rId3"/>
                <a:stretch>
                  <a:fillRect l="-2049" t="-1937" r="-3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312731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A302F4-1712-807F-1A0C-22F74861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and 2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from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𝐹𝑜𝑟𝑚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𝐸𝑙𝑒𝑚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𝑀𝑜𝑙𝐸𝑙𝑒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b="1" dirty="0"/>
                  <a:t>Practice 1: </a:t>
                </a:r>
                <a:r>
                  <a:rPr lang="en-GB" sz="2800" dirty="0"/>
                  <a:t>Using the same </a:t>
                </a:r>
                <a:r>
                  <a:rPr lang="en-GB" dirty="0"/>
                  <a:t>logic, can you prove that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22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O</m:t>
                        </m:r>
                      </m:e>
                      <m:sub>
                        <m:r>
                          <a:rPr lang="en-GB" b="0" i="1" dirty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b>
                    </m:sSub>
                  </m:oMath>
                </a14:m>
                <a:r>
                  <a:rPr lang="en-GB" dirty="0">
                    <a:solidFill>
                      <a:srgbClr val="00B050"/>
                    </a:solidFill>
                  </a:rPr>
                  <a:t> is a valid expression?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r>
                  <a:rPr lang="en-GB" sz="2800" b="1" dirty="0"/>
                  <a:t>Answer 1: To be shown on board.</a:t>
                </a:r>
              </a:p>
              <a:p>
                <a:pPr marL="0" indent="0">
                  <a:buNone/>
                </a:pPr>
                <a:r>
                  <a:rPr lang="en-GB" b="1" dirty="0"/>
                  <a:t>Extra: Repeat to show that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a:rPr lang="en-GB" b="0" i="0" dirty="0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GB" b="0" i="0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GB" dirty="0">
                    <a:solidFill>
                      <a:srgbClr val="00B050"/>
                    </a:solidFill>
                  </a:rPr>
                  <a:t> is a valid expression,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GB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p>
                        <m: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GB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O</m:t>
                    </m:r>
                  </m:oMath>
                </a14:m>
                <a:r>
                  <a:rPr lang="en-GB" dirty="0">
                    <a:solidFill>
                      <a:srgbClr val="FF0000"/>
                    </a:solidFill>
                  </a:rPr>
                  <a:t> is not a valid expression,</a:t>
                </a:r>
              </a:p>
              <a:p>
                <a:r>
                  <a:rPr lang="en-GB" dirty="0">
                    <a:solidFill>
                      <a:srgbClr val="FF0000"/>
                    </a:solidFill>
                  </a:rPr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b>
                        <m: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GB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J</m:t>
                        </m:r>
                      </m:e>
                      <m:sub>
                        <m:r>
                          <a:rPr lang="en-GB" b="0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</m:oMath>
                </a14:m>
                <a:r>
                  <a:rPr lang="en-GB" sz="2800" dirty="0"/>
                  <a:t> </a:t>
                </a:r>
                <a:r>
                  <a:rPr lang="en-GB" sz="2800" dirty="0">
                    <a:solidFill>
                      <a:srgbClr val="FF0000"/>
                    </a:solidFill>
                  </a:rPr>
                  <a:t>is not a valid expression</a:t>
                </a:r>
                <a:r>
                  <a:rPr lang="en-GB" dirty="0">
                    <a:solidFill>
                      <a:srgbClr val="FF0000"/>
                    </a:solidFill>
                  </a:rPr>
                  <a:t>.</a:t>
                </a:r>
                <a:endParaRPr lang="en-GB" dirty="0">
                  <a:solidFill>
                    <a:srgbClr val="00B050"/>
                  </a:solidFill>
                </a:endParaRP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  <a:blipFill>
                <a:blip r:embed="rId3"/>
                <a:stretch>
                  <a:fillRect l="-2049" t="-193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87510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A302F4-1712-807F-1A0C-22F74861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and 2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from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𝐹𝑜𝑟𝑚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𝐸𝑙𝑒𝑚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𝑀𝑜𝑙𝐸𝑙𝑒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b="1" dirty="0"/>
                  <a:t>Practice 2:</a:t>
                </a:r>
                <a:r>
                  <a:rPr lang="en-GB" sz="2800" dirty="0"/>
                  <a:t> Which additional production rule(s) would you add to cover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  <a:blipFill>
                <a:blip r:embed="rId3"/>
                <a:stretch>
                  <a:fillRect l="-2049" t="-1937" r="-3074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7515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0A302F4-1712-807F-1A0C-22F74861B0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1 and 2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Consider the CFG from earlier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𝐹𝑜𝑟𝑚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𝐸𝑙𝑒𝑚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𝑀𝑜𝑙𝐸𝑙𝑒𝑚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𝑀𝑜𝑙𝐸𝑙𝑒</m:t>
                      </m:r>
                      <m:sSub>
                        <m:sSubPr>
                          <m:ctrlPr>
                            <a:rPr lang="en-GB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𝑚</m:t>
                          </m:r>
                        </m:e>
                        <m:sub>
                          <m:r>
                            <a:rPr lang="en-GB" sz="24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𝐸𝑙𝑒𝑚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𝐻𝑒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𝐶𝑜𝑢𝑛𝑡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→1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3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C2E2F18-ABF3-59AC-62ED-F2AD0346DD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b="1" dirty="0"/>
                  <a:t>Practice 2:</a:t>
                </a:r>
                <a:r>
                  <a:rPr lang="en-GB" sz="2800" dirty="0"/>
                  <a:t> Which additional production rule(s) would you add to cover for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GB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𝑂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e>
                        </m:d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GB" sz="2800" dirty="0"/>
                  <a:t>?</a:t>
                </a:r>
                <a:endParaRPr lang="en-GB" dirty="0"/>
              </a:p>
              <a:p>
                <a:pPr marL="0" indent="0">
                  <a:buNone/>
                </a:pPr>
                <a:r>
                  <a:rPr lang="en-GB" sz="2800" b="1" dirty="0"/>
                  <a:t>Answer 2: </a:t>
                </a:r>
                <a:r>
                  <a:rPr lang="en-GB" dirty="0"/>
                  <a:t>Many possible answers, but p</a:t>
                </a:r>
                <a:r>
                  <a:rPr lang="en-GB" sz="2800" dirty="0"/>
                  <a:t>robably something like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𝑀𝑜𝑙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→</m:t>
                      </m:r>
                      <m:sSub>
                        <m:sSubPr>
                          <m:ctrlPr>
                            <a:rPr lang="en-GB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800" b="0" i="1" smtClean="0">
                                  <a:latin typeface="Cambria Math" panose="02040503050406030204" pitchFamily="18" charset="0"/>
                                </a:rPr>
                                <m:t>𝑀𝑜𝑙</m:t>
                              </m:r>
                            </m:e>
                          </m:d>
                        </m:e>
                        <m:sub>
                          <m:r>
                            <a:rPr lang="en-GB" sz="2800" b="0" i="1" smtClean="0">
                              <a:latin typeface="Cambria Math" panose="02040503050406030204" pitchFamily="18" charset="0"/>
                            </a:rPr>
                            <m:t>𝐶𝑜𝑢𝑛𝑡</m:t>
                          </m:r>
                        </m:sub>
                      </m:sSub>
                    </m:oMath>
                  </m:oMathPara>
                </a14:m>
                <a:endParaRPr lang="en-SG" sz="2800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sz="2800" b="1" dirty="0"/>
                  <a:t>Observation: </a:t>
                </a:r>
                <a:r>
                  <a:rPr lang="en-SG" sz="2800" dirty="0"/>
                  <a:t>It seems that CFGs are capable of checking parentheses!</a:t>
                </a:r>
              </a:p>
              <a:p>
                <a:pPr marL="0" indent="0">
                  <a:buNone/>
                </a:pPr>
                <a:r>
                  <a:rPr lang="en-SG" dirty="0"/>
                  <a:t>Our CFG would reject </a:t>
                </a:r>
                <a14:m>
                  <m:oMath xmlns:m="http://schemas.openxmlformats.org/officeDocument/2006/math"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sSub>
                      <m:sSubPr>
                        <m:ctrlPr>
                          <a:rPr lang="en-GB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b>
                      <m:sSubPr>
                        <m:ctrlP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  <m:sub>
                        <m:r>
                          <a:rPr lang="en-GB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GB" b="0" i="1" baseline="-2500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lang="en-SG" sz="2800" dirty="0"/>
                  <a:t>, as there is no possible </a:t>
                </a:r>
                <a:r>
                  <a:rPr lang="en-SG" sz="2800" b="1" dirty="0">
                    <a:solidFill>
                      <a:srgbClr val="00B050"/>
                    </a:solidFill>
                  </a:rPr>
                  <a:t>derivation</a:t>
                </a:r>
                <a:r>
                  <a:rPr lang="en-SG" sz="2800" dirty="0"/>
                  <a:t> for it.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6" name="Content Placeholder 5">
                <a:extLst>
                  <a:ext uri="{FF2B5EF4-FFF2-40B4-BE49-F238E27FC236}">
                    <a16:creationId xmlns:a16="http://schemas.microsoft.com/office/drawing/2014/main" id="{DC054D5A-78E4-4D94-4893-6A68B11A2A1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4"/>
                <a:ext cx="5949461" cy="5032376"/>
              </a:xfrm>
              <a:blipFill>
                <a:blip r:embed="rId3"/>
                <a:stretch>
                  <a:fillRect l="-2049" t="-1937" r="-307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74917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AF08-74DF-0AFE-EB2D-C8CEF12F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Derivation and Syntax Validity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A7B36E1-8857-8B69-8133-D6BC08ACF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Derivation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In CFG, a </a:t>
            </a:r>
            <a:r>
              <a:rPr lang="en-GB" b="1" dirty="0">
                <a:solidFill>
                  <a:srgbClr val="00B050"/>
                </a:solidFill>
              </a:rPr>
              <a:t>derivation</a:t>
            </a:r>
            <a:r>
              <a:rPr lang="en-GB" dirty="0"/>
              <a:t> is a </a:t>
            </a:r>
            <a:r>
              <a:rPr lang="en-GB" b="1" dirty="0"/>
              <a:t>sequence of production rules </a:t>
            </a:r>
            <a:r>
              <a:rPr lang="en-GB" dirty="0"/>
              <a:t>that</a:t>
            </a:r>
          </a:p>
          <a:p>
            <a:r>
              <a:rPr lang="en-GB" dirty="0"/>
              <a:t>starts from the start symbol,</a:t>
            </a:r>
          </a:p>
          <a:p>
            <a:r>
              <a:rPr lang="en-GB" dirty="0"/>
              <a:t>and rewrites non-terminal symbols using production rules,</a:t>
            </a:r>
          </a:p>
          <a:p>
            <a:r>
              <a:rPr lang="en-GB" dirty="0"/>
              <a:t>until only terminal symbols remain in the expression.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 resulting sequence of terminal symbols forms a string, called the </a:t>
            </a:r>
            <a:r>
              <a:rPr lang="en-GB" b="1" dirty="0"/>
              <a:t>result of the </a:t>
            </a:r>
            <a:r>
              <a:rPr lang="en-GB" b="1" dirty="0">
                <a:solidFill>
                  <a:srgbClr val="00B050"/>
                </a:solidFill>
              </a:rPr>
              <a:t>derivation</a:t>
            </a:r>
            <a:r>
              <a:rPr lang="en-GB" dirty="0"/>
              <a:t>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288294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6AF08-74DF-0AFE-EB2D-C8CEF12FE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Derivation and Syntax Validity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A7B36E1-8857-8B69-8133-D6BC08ACFE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Theorem (</a:t>
                </a:r>
                <a:r>
                  <a:rPr lang="en-GB" b="1" dirty="0">
                    <a:solidFill>
                      <a:srgbClr val="00B050"/>
                    </a:solidFill>
                  </a:rPr>
                  <a:t>Syntax Validity and CFGs</a:t>
                </a:r>
                <a:r>
                  <a:rPr lang="en-GB" b="1" dirty="0"/>
                  <a:t>):</a:t>
                </a:r>
              </a:p>
              <a:p>
                <a:pPr marL="0" indent="0">
                  <a:buNone/>
                </a:pPr>
                <a:r>
                  <a:rPr lang="en-GB" dirty="0"/>
                  <a:t>A given string </a:t>
                </a:r>
                <a:r>
                  <a:rPr lang="en-GB" i="1" dirty="0"/>
                  <a:t>x</a:t>
                </a:r>
                <a:r>
                  <a:rPr lang="en-GB" dirty="0"/>
                  <a:t> of terminal symbols (e.g. </a:t>
                </a:r>
                <a:r>
                  <a:rPr lang="en-GB" i="1" dirty="0"/>
                  <a:t>x</a:t>
                </a:r>
                <a:r>
                  <a:rPr lang="en-GB" dirty="0"/>
                  <a:t> </a:t>
                </a:r>
                <a14:m>
                  <m:oMath xmlns:m="http://schemas.openxmlformats.org/officeDocument/2006/math"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dirty="0" smtClean="0"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lang="en-GB" dirty="0"/>
                  <a:t>) </a:t>
                </a:r>
                <a:r>
                  <a:rPr lang="en-GB" b="1" dirty="0"/>
                  <a:t>has a </a:t>
                </a:r>
                <a:r>
                  <a:rPr lang="en-GB" b="1" dirty="0">
                    <a:solidFill>
                      <a:srgbClr val="00B050"/>
                    </a:solidFill>
                  </a:rPr>
                  <a:t>valid syntax</a:t>
                </a:r>
                <a:r>
                  <a:rPr lang="en-GB" dirty="0"/>
                  <a:t>, according to a given context-free grammar,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if and only if,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1" dirty="0"/>
                  <a:t>There exists a </a:t>
                </a:r>
                <a:r>
                  <a:rPr lang="en-GB" b="1" dirty="0">
                    <a:solidFill>
                      <a:srgbClr val="00B050"/>
                    </a:solidFill>
                  </a:rPr>
                  <a:t>derivation</a:t>
                </a:r>
                <a:r>
                  <a:rPr lang="en-GB" b="1" dirty="0"/>
                  <a:t> for the given CFG, which produces the given string </a:t>
                </a:r>
                <a:r>
                  <a:rPr lang="en-GB" b="1" i="1" dirty="0"/>
                  <a:t>x</a:t>
                </a:r>
                <a:r>
                  <a:rPr lang="en-GB" b="1" dirty="0"/>
                  <a:t> as the result of the derivation.</a:t>
                </a:r>
                <a:endParaRPr lang="en-SG" b="1" dirty="0"/>
              </a:p>
            </p:txBody>
          </p:sp>
        </mc:Choice>
        <mc:Fallback xmlns="">
          <p:sp>
            <p:nvSpPr>
              <p:cNvPr id="5" name="Content Placeholder 4">
                <a:extLst>
                  <a:ext uri="{FF2B5EF4-FFF2-40B4-BE49-F238E27FC236}">
                    <a16:creationId xmlns:a16="http://schemas.microsoft.com/office/drawing/2014/main" id="{DA7B36E1-8857-8B69-8133-D6BC08ACFE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 r="-23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268121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D530-67F7-048B-E6E1-19598FE4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is that useful for compilers?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BCDA2B-B1DF-0E14-F8E5-51EDB055A2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Important property: Programming languages are ruled by syntax rules, which can be described as CFGs.</a:t>
            </a:r>
          </a:p>
          <a:p>
            <a:pPr marL="0" indent="0">
              <a:buNone/>
            </a:pPr>
            <a:r>
              <a:rPr lang="en-GB" dirty="0"/>
              <a:t>For instance, when declaring a variable of type integer (using no arithmetic operations on the right hand side of the equal sign, only literals) the stream of tokens should follow a specific syntax described by the CFG on the right.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FEF3A2B-04A1-CED4-C9FD-CA13167896A5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199" y="1825624"/>
                <a:ext cx="5824415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400" dirty="0"/>
                  <a:t>Declar as start symbol of our CFG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i="1">
                          <a:latin typeface="Cambria Math" panose="02040503050406030204" pitchFamily="18" charset="0"/>
                        </a:rPr>
                        <m:t>𝐷𝑒𝑐𝑙𝑎𝑟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𝑇𝑦𝑝𝑒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𝐼𝑑𝑒𝑛𝑡𝑖𝑓𝑖𝑒𝑟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400" i="1">
                          <a:latin typeface="Cambria Math" panose="02040503050406030204" pitchFamily="18" charset="0"/>
                        </a:rPr>
                        <m:t>𝐿𝑖𝑡𝑒𝑟𝑎𝑙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GB" sz="2400" b="0" dirty="0"/>
              </a:p>
              <a:p>
                <a:pPr marL="0" indent="0">
                  <a:buNone/>
                </a:pPr>
                <a:endParaRPr lang="en-GB" sz="2400" b="0" dirty="0"/>
              </a:p>
              <a:p>
                <a:pPr marL="0" indent="0">
                  <a:buNone/>
                </a:pPr>
                <a:r>
                  <a:rPr lang="en-GB" sz="2400" dirty="0"/>
                  <a:t>Several possible Type keywords can be used, and that is described with a CFG rule</a:t>
                </a:r>
                <a:endParaRPr lang="en-GB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𝑇𝑦𝑝𝑒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𝑖𝑛𝑡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𝑠h𝑜𝑟𝑡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𝑙𝑜𝑛𝑔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4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sz="2400" dirty="0"/>
              </a:p>
              <a:p>
                <a:pPr marL="0" indent="0">
                  <a:buNone/>
                </a:pPr>
                <a:endParaRPr lang="en-SG" sz="2400" dirty="0"/>
              </a:p>
              <a:p>
                <a:pPr marL="0" indent="0">
                  <a:buNone/>
                </a:pPr>
                <a:r>
                  <a:rPr lang="en-SG" sz="2400" dirty="0"/>
                  <a:t>Valid identifiers and literals are probably going to be represented as </a:t>
                </a:r>
                <a:r>
                  <a:rPr lang="en-SG" sz="2400" dirty="0" err="1"/>
                  <a:t>RegEx</a:t>
                </a:r>
                <a:r>
                  <a:rPr lang="en-SG" sz="2400" dirty="0"/>
                  <a:t>?</a:t>
                </a:r>
                <a:br>
                  <a:rPr lang="en-SG" sz="2400" dirty="0"/>
                </a:br>
                <a:r>
                  <a:rPr lang="en-SG" sz="2400" dirty="0"/>
                  <a:t>(As discussed in Practice activity 6 of W4S3).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3FEF3A2B-04A1-CED4-C9FD-CA13167896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199" y="1825624"/>
                <a:ext cx="5824415" cy="5032375"/>
              </a:xfrm>
              <a:blipFill>
                <a:blip r:embed="rId2"/>
                <a:stretch>
                  <a:fillRect l="-1569" t="-1695" r="-209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02004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54D530-67F7-048B-E6E1-19598FE48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is that useful for compilers?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CDA2B-B1DF-0E14-F8E5-51EDB055A2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sz="2800" dirty="0"/>
                  <a:t>Use </a:t>
                </a:r>
                <a:r>
                  <a:rPr lang="en-GB" sz="2800" i="1" dirty="0" err="1"/>
                  <a:t>Declar</a:t>
                </a:r>
                <a:r>
                  <a:rPr lang="en-GB" sz="2800" dirty="0"/>
                  <a:t> as start symbol of our CFG</a:t>
                </a:r>
              </a:p>
              <a:p>
                <a:pPr marL="0" indent="0">
                  <a:buNone/>
                </a:pPr>
                <a:endParaRPr lang="en-GB" sz="28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i="1">
                          <a:latin typeface="Cambria Math" panose="02040503050406030204" pitchFamily="18" charset="0"/>
                        </a:rPr>
                        <m:t>𝐷𝑒𝑐𝑙𝑎𝑟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𝑇𝑦𝑝𝑒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𝐼𝑑𝑒𝑛𝑡𝑖𝑓𝑖𝑒𝑟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2800" i="1">
                          <a:latin typeface="Cambria Math" panose="02040503050406030204" pitchFamily="18" charset="0"/>
                        </a:rPr>
                        <m:t>𝐿𝑖𝑡𝑒𝑟𝑎𝑙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i="1" smtClean="0">
                          <a:latin typeface="Cambria Math" panose="02040503050406030204" pitchFamily="18" charset="0"/>
                        </a:rPr>
                        <m:t>;</m:t>
                      </m:r>
                    </m:oMath>
                  </m:oMathPara>
                </a14:m>
                <a:endParaRPr lang="en-GB" sz="2800" b="0" dirty="0"/>
              </a:p>
              <a:p>
                <a:pPr marL="0" indent="0">
                  <a:buNone/>
                </a:pPr>
                <a:endParaRPr lang="en-GB" sz="2800" b="0" dirty="0"/>
              </a:p>
              <a:p>
                <a:pPr marL="0" indent="0">
                  <a:buNone/>
                </a:pPr>
                <a:r>
                  <a:rPr lang="en-GB" sz="2800" dirty="0"/>
                  <a:t>Several possible Type keywords can be used, and that is described with a CFG production rule (int, short, long will then be terminals).</a:t>
                </a:r>
              </a:p>
              <a:p>
                <a:pPr marL="0" indent="0">
                  <a:buNone/>
                </a:pPr>
                <a:endParaRPr lang="en-GB" sz="28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𝑇𝑦𝑝𝑒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𝑖𝑛𝑡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𝑠h𝑜𝑟𝑡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𝑙𝑜𝑛𝑔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sz="2800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br>
                  <a:rPr lang="en-GB" sz="2800" dirty="0"/>
                </a:br>
                <a:endParaRPr lang="en-SG" sz="2800" dirty="0"/>
              </a:p>
              <a:p>
                <a:pPr marL="0" indent="0">
                  <a:buNone/>
                </a:pPr>
                <a:br>
                  <a:rPr lang="en-SG" b="1" dirty="0">
                    <a:sym typeface="Wingdings" panose="05000000000000000000" pitchFamily="2" charset="2"/>
                  </a:rPr>
                </a:br>
                <a:r>
                  <a:rPr lang="en-SG" b="1" dirty="0">
                    <a:sym typeface="Wingdings" panose="05000000000000000000" pitchFamily="2" charset="2"/>
                  </a:rPr>
                  <a:t> </a:t>
                </a:r>
                <a:r>
                  <a:rPr lang="en-SG" b="1" dirty="0"/>
                  <a:t>Can be used to check if a sequence of tokens makes sense or not! (Will catch the “identifier token followed by literal token” problem)</a:t>
                </a:r>
                <a:endParaRPr lang="en-SG" sz="2800" b="1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3BCDA2B-B1DF-0E14-F8E5-51EDB055A2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812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1333360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5B0-A2AF-5579-DE7E-29E91543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3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5C10-81D7-AD6F-9639-674161C19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Let us consider mathematical expressions, consisting of</a:t>
            </a:r>
          </a:p>
          <a:p>
            <a:r>
              <a:rPr lang="en-GB" dirty="0"/>
              <a:t>single digit numbers,</a:t>
            </a:r>
          </a:p>
          <a:p>
            <a:r>
              <a:rPr lang="en-GB" dirty="0"/>
              <a:t>+ operations,</a:t>
            </a:r>
          </a:p>
          <a:p>
            <a:r>
              <a:rPr lang="en-GB" dirty="0"/>
              <a:t>along with opening and closing parentheses.</a:t>
            </a:r>
          </a:p>
          <a:p>
            <a:pPr marL="0" indent="0">
              <a:buNone/>
            </a:pPr>
            <a:r>
              <a:rPr lang="en-GB" b="1" dirty="0"/>
              <a:t>Can you write a CFG to check whether such a given mathematical expression has a valid syntax or not?</a:t>
            </a:r>
          </a:p>
          <a:p>
            <a:pPr marL="0" indent="0">
              <a:buNone/>
            </a:pPr>
            <a:endParaRPr lang="en-GB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758513-9061-2C76-E6EF-B80CDBD6C2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Some examples of </a:t>
            </a:r>
            <a:r>
              <a:rPr lang="en-GB" b="1" dirty="0">
                <a:solidFill>
                  <a:srgbClr val="00B050"/>
                </a:solidFill>
              </a:rPr>
              <a:t>valid</a:t>
            </a:r>
            <a:r>
              <a:rPr lang="en-GB" dirty="0"/>
              <a:t> and </a:t>
            </a:r>
            <a:r>
              <a:rPr lang="en-GB" b="1" dirty="0">
                <a:solidFill>
                  <a:srgbClr val="FF0000"/>
                </a:solidFill>
              </a:rPr>
              <a:t>invalid</a:t>
            </a:r>
            <a:r>
              <a:rPr lang="en-GB" dirty="0"/>
              <a:t> expressions (same expressions as before):</a:t>
            </a:r>
          </a:p>
          <a:p>
            <a:r>
              <a:rPr lang="en-GB" b="1" dirty="0">
                <a:solidFill>
                  <a:srgbClr val="00B050"/>
                </a:solidFill>
              </a:rPr>
              <a:t>2+7+9</a:t>
            </a:r>
          </a:p>
          <a:p>
            <a:r>
              <a:rPr lang="en-GB" b="1" dirty="0">
                <a:solidFill>
                  <a:srgbClr val="00B050"/>
                </a:solidFill>
              </a:rPr>
              <a:t>(3+4)+7</a:t>
            </a:r>
          </a:p>
          <a:p>
            <a:r>
              <a:rPr lang="en-GB" b="1" dirty="0">
                <a:solidFill>
                  <a:srgbClr val="00B050"/>
                </a:solidFill>
              </a:rPr>
              <a:t>((6+9)+8)+2</a:t>
            </a:r>
          </a:p>
          <a:p>
            <a:r>
              <a:rPr lang="en-GB" b="1" dirty="0">
                <a:solidFill>
                  <a:srgbClr val="FF0000"/>
                </a:solidFill>
              </a:rPr>
              <a:t>6+2++7</a:t>
            </a:r>
          </a:p>
          <a:p>
            <a:r>
              <a:rPr lang="en-GB" b="1" dirty="0">
                <a:solidFill>
                  <a:srgbClr val="FF0000"/>
                </a:solidFill>
              </a:rPr>
              <a:t>8+3+</a:t>
            </a:r>
          </a:p>
          <a:p>
            <a:r>
              <a:rPr lang="en-GB" b="1" dirty="0">
                <a:solidFill>
                  <a:srgbClr val="FF0000"/>
                </a:solidFill>
              </a:rPr>
              <a:t>((4+3)+8</a:t>
            </a:r>
          </a:p>
          <a:p>
            <a:r>
              <a:rPr lang="en-GB" b="1" dirty="0">
                <a:solidFill>
                  <a:srgbClr val="FF0000"/>
                </a:solidFill>
              </a:rPr>
              <a:t>(7+2))(+6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84118436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015B0-A2AF-5579-DE7E-29E915433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Practice 3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25C10-81D7-AD6F-9639-674161C19C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Question: </a:t>
            </a:r>
            <a:r>
              <a:rPr lang="en-GB" dirty="0"/>
              <a:t>Let us consider mathematical expressions, consisting of</a:t>
            </a:r>
          </a:p>
          <a:p>
            <a:r>
              <a:rPr lang="en-GB" dirty="0"/>
              <a:t>single digit numbers,</a:t>
            </a:r>
          </a:p>
          <a:p>
            <a:r>
              <a:rPr lang="en-GB" dirty="0"/>
              <a:t>+ operations,</a:t>
            </a:r>
          </a:p>
          <a:p>
            <a:r>
              <a:rPr lang="en-GB" dirty="0"/>
              <a:t>along with opening and closing parentheses.</a:t>
            </a:r>
          </a:p>
          <a:p>
            <a:pPr marL="0" indent="0">
              <a:buNone/>
            </a:pPr>
            <a:r>
              <a:rPr lang="en-GB" b="1" dirty="0"/>
              <a:t>Can you write a CFG to check whether such a given mathematical expression has a valid syntax or not?</a:t>
            </a:r>
          </a:p>
          <a:p>
            <a:pPr marL="0" indent="0">
              <a:buNone/>
            </a:pPr>
            <a:endParaRPr lang="en-GB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F758513-9061-2C76-E6EF-B80CDBD6C2CA}"/>
                  </a:ext>
                </a:extLst>
              </p:cNvPr>
              <p:cNvSpPr>
                <a:spLocks noGrp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Answer: </a:t>
                </a:r>
                <a:r>
                  <a:rPr lang="en-GB" dirty="0"/>
                  <a:t>Probably something along the lines of</a:t>
                </a:r>
                <a:endParaRPr lang="en-GB" b="1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𝑆𝑡𝑎𝑟𝑡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𝑁𝑢𝑚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𝑁𝑢𝑚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9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b="0" dirty="0"/>
                  <a:t>This is also something we could use to check if an arithmetic expression in our source code has a valid syntax!</a:t>
                </a:r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  <a:p>
                <a:pPr marL="0" indent="0">
                  <a:buNone/>
                </a:pPr>
                <a:endParaRPr lang="en-GB" b="0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F758513-9061-2C76-E6EF-B80CDBD6C2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2"/>
              </p:nvPr>
            </p:nvSpPr>
            <p:spPr>
              <a:xfrm>
                <a:off x="6172200" y="1825625"/>
                <a:ext cx="5181600" cy="5032374"/>
              </a:xfrm>
              <a:blipFill>
                <a:blip r:embed="rId2"/>
                <a:stretch>
                  <a:fillRect l="-2471" t="-1937" r="-1412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667857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8A08-1C3C-6B21-A48C-AEAF2BDB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Parse tree of a derivation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2">
                <a:extLst>
                  <a:ext uri="{FF2B5EF4-FFF2-40B4-BE49-F238E27FC236}">
                    <a16:creationId xmlns:a16="http://schemas.microsoft.com/office/drawing/2014/main" id="{14DEEB8A-C7C4-6A08-09AB-2EBE14967448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06045" y="1805537"/>
                <a:ext cx="5181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Derivation (parse tree of a CFG derivation):</a:t>
                </a:r>
              </a:p>
              <a:p>
                <a:pPr marL="0" indent="0">
                  <a:buNone/>
                </a:pPr>
                <a:r>
                  <a:rPr lang="en-GB" dirty="0"/>
                  <a:t>For a given CFG derivation, we can build a parse tree,</a:t>
                </a:r>
              </a:p>
              <a:p>
                <a:r>
                  <a:rPr lang="en-GB" dirty="0"/>
                  <a:t>Whose root is the start symbol,</a:t>
                </a:r>
              </a:p>
              <a:p>
                <a:r>
                  <a:rPr lang="en-GB" dirty="0"/>
                  <a:t>Where every production rule,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dirty="0"/>
                  <a:t> in the derivation sequence, adds children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dirty="0"/>
                  <a:t> to the node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. </a:t>
                </a:r>
                <a:endParaRPr lang="en-SG" dirty="0"/>
              </a:p>
            </p:txBody>
          </p:sp>
        </mc:Choice>
        <mc:Fallback xmlns="">
          <p:sp>
            <p:nvSpPr>
              <p:cNvPr id="49" name="Content Placeholder 2">
                <a:extLst>
                  <a:ext uri="{FF2B5EF4-FFF2-40B4-BE49-F238E27FC236}">
                    <a16:creationId xmlns:a16="http://schemas.microsoft.com/office/drawing/2014/main" id="{14DEEB8A-C7C4-6A08-09AB-2EBE1496744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06045" y="1805537"/>
                <a:ext cx="5181600" cy="4351338"/>
              </a:xfrm>
              <a:blipFill>
                <a:blip r:embed="rId2"/>
                <a:stretch>
                  <a:fillRect l="-2353" t="-2241" r="-31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Rectangle 33">
            <a:extLst>
              <a:ext uri="{FF2B5EF4-FFF2-40B4-BE49-F238E27FC236}">
                <a16:creationId xmlns:a16="http://schemas.microsoft.com/office/drawing/2014/main" id="{6C45577C-42A7-CB7C-1A64-5E97EBF61E47}"/>
              </a:ext>
            </a:extLst>
          </p:cNvPr>
          <p:cNvSpPr/>
          <p:nvPr/>
        </p:nvSpPr>
        <p:spPr>
          <a:xfrm>
            <a:off x="9483967" y="3651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99FB9C4-1362-DA23-2FF8-FEB988698659}"/>
              </a:ext>
            </a:extLst>
          </p:cNvPr>
          <p:cNvSpPr/>
          <p:nvPr/>
        </p:nvSpPr>
        <p:spPr>
          <a:xfrm>
            <a:off x="8550029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D9835F7-C0BD-F268-8C57-C203BF1AB2E1}"/>
              </a:ext>
            </a:extLst>
          </p:cNvPr>
          <p:cNvSpPr/>
          <p:nvPr/>
        </p:nvSpPr>
        <p:spPr>
          <a:xfrm>
            <a:off x="9483968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CB4FBC9-46BB-1E14-3C46-B1ABACC6156C}"/>
              </a:ext>
            </a:extLst>
          </p:cNvPr>
          <p:cNvSpPr/>
          <p:nvPr/>
        </p:nvSpPr>
        <p:spPr>
          <a:xfrm>
            <a:off x="10417907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49CAA949-E042-E081-B36E-1D9055AED2C6}"/>
              </a:ext>
            </a:extLst>
          </p:cNvPr>
          <p:cNvCxnSpPr>
            <a:cxnSpLocks/>
            <a:stCxn id="34" idx="2"/>
            <a:endCxn id="35" idx="0"/>
          </p:cNvCxnSpPr>
          <p:nvPr/>
        </p:nvCxnSpPr>
        <p:spPr>
          <a:xfrm flipH="1">
            <a:off x="8940799" y="841863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F9A94C9A-4713-5CF8-1289-5190BC8BCBD0}"/>
              </a:ext>
            </a:extLst>
          </p:cNvPr>
          <p:cNvCxnSpPr>
            <a:cxnSpLocks/>
            <a:stCxn id="34" idx="2"/>
            <a:endCxn id="37" idx="0"/>
          </p:cNvCxnSpPr>
          <p:nvPr/>
        </p:nvCxnSpPr>
        <p:spPr>
          <a:xfrm>
            <a:off x="9874737" y="841863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D706D4F6-99BF-BA49-B860-79344E0FCBAD}"/>
              </a:ext>
            </a:extLst>
          </p:cNvPr>
          <p:cNvCxnSpPr>
            <a:cxnSpLocks/>
            <a:stCxn id="34" idx="2"/>
            <a:endCxn id="36" idx="0"/>
          </p:cNvCxnSpPr>
          <p:nvPr/>
        </p:nvCxnSpPr>
        <p:spPr>
          <a:xfrm>
            <a:off x="9874737" y="84186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D0B1C898-20B6-1F3F-A2F4-DC0194486D4E}"/>
              </a:ext>
            </a:extLst>
          </p:cNvPr>
          <p:cNvSpPr/>
          <p:nvPr/>
        </p:nvSpPr>
        <p:spPr>
          <a:xfrm>
            <a:off x="7616091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B0A363B-D40B-E3D0-AC87-FA69B46D3AA3}"/>
              </a:ext>
            </a:extLst>
          </p:cNvPr>
          <p:cNvSpPr/>
          <p:nvPr/>
        </p:nvSpPr>
        <p:spPr>
          <a:xfrm>
            <a:off x="8550030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A3FE8538-CCFF-CE59-2FF2-1AFF48002F35}"/>
              </a:ext>
            </a:extLst>
          </p:cNvPr>
          <p:cNvSpPr/>
          <p:nvPr/>
        </p:nvSpPr>
        <p:spPr>
          <a:xfrm>
            <a:off x="9483969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06B15E3-DF43-C534-C59D-AEFA796EBE0D}"/>
              </a:ext>
            </a:extLst>
          </p:cNvPr>
          <p:cNvCxnSpPr>
            <a:cxnSpLocks/>
            <a:endCxn id="41" idx="0"/>
          </p:cNvCxnSpPr>
          <p:nvPr/>
        </p:nvCxnSpPr>
        <p:spPr>
          <a:xfrm flipH="1">
            <a:off x="8006861" y="1637904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B55EDA9D-3A44-5F81-DD7D-07A6F2E36383}"/>
              </a:ext>
            </a:extLst>
          </p:cNvPr>
          <p:cNvCxnSpPr>
            <a:cxnSpLocks/>
            <a:endCxn id="43" idx="0"/>
          </p:cNvCxnSpPr>
          <p:nvPr/>
        </p:nvCxnSpPr>
        <p:spPr>
          <a:xfrm>
            <a:off x="8940799" y="1637904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2770D58-108C-3ECF-3034-E4D83C6681CC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8940799" y="16379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D79C66EA-EF92-DABE-7036-2046C0E549FA}"/>
              </a:ext>
            </a:extLst>
          </p:cNvPr>
          <p:cNvSpPr/>
          <p:nvPr/>
        </p:nvSpPr>
        <p:spPr>
          <a:xfrm>
            <a:off x="7616091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16E15079-1F1D-5E67-823D-82581322D1C1}"/>
              </a:ext>
            </a:extLst>
          </p:cNvPr>
          <p:cNvCxnSpPr>
            <a:cxnSpLocks/>
            <a:endCxn id="47" idx="0"/>
          </p:cNvCxnSpPr>
          <p:nvPr/>
        </p:nvCxnSpPr>
        <p:spPr>
          <a:xfrm>
            <a:off x="8006860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A3763323-B753-5F92-15CB-CBB3523B291D}"/>
              </a:ext>
            </a:extLst>
          </p:cNvPr>
          <p:cNvSpPr/>
          <p:nvPr/>
        </p:nvSpPr>
        <p:spPr>
          <a:xfrm>
            <a:off x="7616090" y="348957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7FE4CA2F-3DE0-FCF8-9EE0-C4FB0B9D5B95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8006859" y="318373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94CD20A-C830-7BA5-8E4D-CE99B9A4B136}"/>
              </a:ext>
            </a:extLst>
          </p:cNvPr>
          <p:cNvSpPr/>
          <p:nvPr/>
        </p:nvSpPr>
        <p:spPr>
          <a:xfrm>
            <a:off x="9483967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39F1ADFD-467A-0CEC-5D38-90DDFD60B000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9874736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Rectangle 53">
            <a:extLst>
              <a:ext uri="{FF2B5EF4-FFF2-40B4-BE49-F238E27FC236}">
                <a16:creationId xmlns:a16="http://schemas.microsoft.com/office/drawing/2014/main" id="{0886FC17-99FA-9A0B-6908-46DCAEE722D5}"/>
              </a:ext>
            </a:extLst>
          </p:cNvPr>
          <p:cNvSpPr/>
          <p:nvPr/>
        </p:nvSpPr>
        <p:spPr>
          <a:xfrm>
            <a:off x="10442328" y="27274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398D0159-275A-510C-E8A9-E205B25D788A}"/>
              </a:ext>
            </a:extLst>
          </p:cNvPr>
          <p:cNvCxnSpPr>
            <a:cxnSpLocks/>
            <a:endCxn id="54" idx="0"/>
          </p:cNvCxnSpPr>
          <p:nvPr/>
        </p:nvCxnSpPr>
        <p:spPr>
          <a:xfrm>
            <a:off x="10833097" y="242161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F27A3E23-90E9-5CDB-C2B0-1B473BC7FAE8}"/>
              </a:ext>
            </a:extLst>
          </p:cNvPr>
          <p:cNvSpPr/>
          <p:nvPr/>
        </p:nvSpPr>
        <p:spPr>
          <a:xfrm>
            <a:off x="9483966" y="350446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DE6ACD9-B936-A072-1EF9-FA37504A0D62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9874735" y="3198631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>
            <a:extLst>
              <a:ext uri="{FF2B5EF4-FFF2-40B4-BE49-F238E27FC236}">
                <a16:creationId xmlns:a16="http://schemas.microsoft.com/office/drawing/2014/main" id="{E85B4EA0-C925-95D1-1073-1512409A467F}"/>
              </a:ext>
            </a:extLst>
          </p:cNvPr>
          <p:cNvSpPr/>
          <p:nvPr/>
        </p:nvSpPr>
        <p:spPr>
          <a:xfrm>
            <a:off x="10441352" y="194468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176CDABC-FC3F-367F-01C3-5776F070199E}"/>
              </a:ext>
            </a:extLst>
          </p:cNvPr>
          <p:cNvCxnSpPr>
            <a:cxnSpLocks/>
            <a:endCxn id="58" idx="0"/>
          </p:cNvCxnSpPr>
          <p:nvPr/>
        </p:nvCxnSpPr>
        <p:spPr>
          <a:xfrm>
            <a:off x="10832121" y="163885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9210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8A08-1C3C-6B21-A48C-AEAF2BDB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Parse tree of a derivation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00F67-1E51-3252-999E-1C7E28A79AC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b="1" dirty="0"/>
                  <a:t>Reusing the CFG rules below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𝑆𝑡𝑎𝑟𝑡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𝑁𝑢𝑚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𝐸𝑥𝑝𝑟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𝑁𝑢𝑚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9</m:t>
                      </m:r>
                    </m:oMath>
                  </m:oMathPara>
                </a14:m>
                <a:endParaRPr lang="en-GB" b="1" dirty="0"/>
              </a:p>
              <a:p>
                <a:pPr marL="0" indent="0">
                  <a:buNone/>
                </a:pPr>
                <a:r>
                  <a:rPr lang="en-GB" b="1" dirty="0"/>
                  <a:t>We can define the parse tree for the derivation of 2+7+9, as shown on the right.</a:t>
                </a:r>
              </a:p>
              <a:p>
                <a:pPr marL="0" indent="0">
                  <a:buNone/>
                </a:pPr>
                <a:r>
                  <a:rPr lang="en-GB" b="1" dirty="0"/>
                  <a:t>It describes the derivation used to check that 2+7+9 is a valid expression according to the CFG.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00F67-1E51-3252-999E-1C7E28A79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>
            <a:extLst>
              <a:ext uri="{FF2B5EF4-FFF2-40B4-BE49-F238E27FC236}">
                <a16:creationId xmlns:a16="http://schemas.microsoft.com/office/drawing/2014/main" id="{1699C59A-7020-8E1D-3071-FAEF59956925}"/>
              </a:ext>
            </a:extLst>
          </p:cNvPr>
          <p:cNvSpPr/>
          <p:nvPr/>
        </p:nvSpPr>
        <p:spPr>
          <a:xfrm>
            <a:off x="9483967" y="3651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FA80A9-02F6-F289-D727-C06670D0EEFE}"/>
              </a:ext>
            </a:extLst>
          </p:cNvPr>
          <p:cNvSpPr/>
          <p:nvPr/>
        </p:nvSpPr>
        <p:spPr>
          <a:xfrm>
            <a:off x="8550029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BDFD88-9ECC-D3C9-F2E5-9BFC29C69CE6}"/>
              </a:ext>
            </a:extLst>
          </p:cNvPr>
          <p:cNvSpPr/>
          <p:nvPr/>
        </p:nvSpPr>
        <p:spPr>
          <a:xfrm>
            <a:off x="9483968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F34385A-3B65-4AF3-9E39-2A2ACE14D28F}"/>
              </a:ext>
            </a:extLst>
          </p:cNvPr>
          <p:cNvSpPr/>
          <p:nvPr/>
        </p:nvSpPr>
        <p:spPr>
          <a:xfrm>
            <a:off x="10417907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AA4D590-8406-7F2D-C12B-823390286CF8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 flipH="1">
            <a:off x="8940799" y="841863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7CFFA26-2FF4-816C-04F0-B9C530714043}"/>
              </a:ext>
            </a:extLst>
          </p:cNvPr>
          <p:cNvCxnSpPr>
            <a:cxnSpLocks/>
            <a:stCxn id="7" idx="2"/>
            <a:endCxn id="10" idx="0"/>
          </p:cNvCxnSpPr>
          <p:nvPr/>
        </p:nvCxnSpPr>
        <p:spPr>
          <a:xfrm>
            <a:off x="9874737" y="841863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4C08297-F988-41D5-4FB7-040DE036CDE8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>
            <a:off x="9874737" y="84186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C067F0E2-F21D-680B-9814-FF2794768FC9}"/>
              </a:ext>
            </a:extLst>
          </p:cNvPr>
          <p:cNvSpPr/>
          <p:nvPr/>
        </p:nvSpPr>
        <p:spPr>
          <a:xfrm>
            <a:off x="7616091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D9057A0-22EC-D86E-A79B-624625BA3D01}"/>
              </a:ext>
            </a:extLst>
          </p:cNvPr>
          <p:cNvSpPr/>
          <p:nvPr/>
        </p:nvSpPr>
        <p:spPr>
          <a:xfrm>
            <a:off x="8550030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6F116BC-79EE-0169-F290-65B522A9363A}"/>
              </a:ext>
            </a:extLst>
          </p:cNvPr>
          <p:cNvSpPr/>
          <p:nvPr/>
        </p:nvSpPr>
        <p:spPr>
          <a:xfrm>
            <a:off x="9483969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0926AB6-4082-8565-786B-CC17CDB20162}"/>
              </a:ext>
            </a:extLst>
          </p:cNvPr>
          <p:cNvCxnSpPr>
            <a:cxnSpLocks/>
            <a:endCxn id="20" idx="0"/>
          </p:cNvCxnSpPr>
          <p:nvPr/>
        </p:nvCxnSpPr>
        <p:spPr>
          <a:xfrm flipH="1">
            <a:off x="8006861" y="1637904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219C561-9C5B-5931-95C8-505451981D63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8940799" y="1637904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5E43567-CFFF-296F-BB8B-CBB1CE8E7CCE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8940799" y="16379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B5F8A3BF-531D-12E0-248B-6F15A9A00FFD}"/>
              </a:ext>
            </a:extLst>
          </p:cNvPr>
          <p:cNvSpPr/>
          <p:nvPr/>
        </p:nvSpPr>
        <p:spPr>
          <a:xfrm>
            <a:off x="7616091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AC55A01-67E4-721F-9D1F-7BA49FC1D40E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8006860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8959029F-6F1A-9A8F-04BC-16DAFFD29E8B}"/>
              </a:ext>
            </a:extLst>
          </p:cNvPr>
          <p:cNvSpPr/>
          <p:nvPr/>
        </p:nvSpPr>
        <p:spPr>
          <a:xfrm>
            <a:off x="7616090" y="348957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57A0326E-18C9-2CD1-2958-4BC0CD4DF4E1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8006859" y="318373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6DB5F4C-0D54-D26B-23A2-C869691418D2}"/>
              </a:ext>
            </a:extLst>
          </p:cNvPr>
          <p:cNvSpPr/>
          <p:nvPr/>
        </p:nvSpPr>
        <p:spPr>
          <a:xfrm>
            <a:off x="9483967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E786BB1-5D6C-524D-6BCD-8E3501F4CC36}"/>
              </a:ext>
            </a:extLst>
          </p:cNvPr>
          <p:cNvCxnSpPr>
            <a:cxnSpLocks/>
            <a:endCxn id="34" idx="0"/>
          </p:cNvCxnSpPr>
          <p:nvPr/>
        </p:nvCxnSpPr>
        <p:spPr>
          <a:xfrm>
            <a:off x="9874736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>
            <a:extLst>
              <a:ext uri="{FF2B5EF4-FFF2-40B4-BE49-F238E27FC236}">
                <a16:creationId xmlns:a16="http://schemas.microsoft.com/office/drawing/2014/main" id="{D3062AD6-4559-D21E-C877-DC76D35BE57E}"/>
              </a:ext>
            </a:extLst>
          </p:cNvPr>
          <p:cNvSpPr/>
          <p:nvPr/>
        </p:nvSpPr>
        <p:spPr>
          <a:xfrm>
            <a:off x="10442328" y="27274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9DF6C23-117B-D91D-3547-55264AFA28B4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10833097" y="242161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24FF8DFC-9E93-8F9D-9707-FA494952B668}"/>
              </a:ext>
            </a:extLst>
          </p:cNvPr>
          <p:cNvSpPr/>
          <p:nvPr/>
        </p:nvSpPr>
        <p:spPr>
          <a:xfrm>
            <a:off x="9483966" y="350446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EF2DC8C-9B76-6431-3E6E-2D71A91144BC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9874735" y="3198631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4D092E23-D7B3-09C2-8C12-D90F86403D72}"/>
              </a:ext>
            </a:extLst>
          </p:cNvPr>
          <p:cNvSpPr/>
          <p:nvPr/>
        </p:nvSpPr>
        <p:spPr>
          <a:xfrm>
            <a:off x="10441352" y="194468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4B2EF34-B06F-B340-026F-45E0BCEAE1E1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832121" y="163885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4061290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58A08-1C3C-6B21-A48C-AEAF2BDB4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Parse tree of a derivation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00F67-1E51-3252-999E-1C7E28A79ACC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506045" y="1805537"/>
                <a:ext cx="5181600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b="1" dirty="0"/>
                  <a:t>Derivation (parse tree of a CFG derivation):</a:t>
                </a:r>
              </a:p>
              <a:p>
                <a:pPr marL="0" indent="0">
                  <a:buNone/>
                </a:pPr>
                <a:r>
                  <a:rPr lang="en-GB" dirty="0"/>
                  <a:t>For a given CFG derivation, we can build a parse tree,</a:t>
                </a:r>
              </a:p>
              <a:p>
                <a:r>
                  <a:rPr lang="en-GB" dirty="0"/>
                  <a:t>Whose root is the start symbol,</a:t>
                </a:r>
              </a:p>
              <a:p>
                <a:r>
                  <a:rPr lang="en-GB" dirty="0"/>
                  <a:t>Where every production rule, </a:t>
                </a:r>
                <a:br>
                  <a:rPr lang="en-GB" dirty="0"/>
                </a:b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→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dirty="0"/>
                  <a:t> in the derivation sequence, adds children nodes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,…, 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lang="en-GB" dirty="0"/>
                  <a:t> to the node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GB" dirty="0"/>
                  <a:t>. </a:t>
                </a: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8200F67-1E51-3252-999E-1C7E28A79A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506045" y="1805537"/>
                <a:ext cx="5181600" cy="4351338"/>
              </a:xfrm>
              <a:blipFill>
                <a:blip r:embed="rId2"/>
                <a:stretch>
                  <a:fillRect l="-2353" t="-2241" r="-317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Box 60">
            <a:extLst>
              <a:ext uri="{FF2B5EF4-FFF2-40B4-BE49-F238E27FC236}">
                <a16:creationId xmlns:a16="http://schemas.microsoft.com/office/drawing/2014/main" id="{F00DD310-A302-E268-865F-0F8890E1C1F1}"/>
              </a:ext>
            </a:extLst>
          </p:cNvPr>
          <p:cNvSpPr txBox="1"/>
          <p:nvPr/>
        </p:nvSpPr>
        <p:spPr>
          <a:xfrm>
            <a:off x="5845908" y="4824995"/>
            <a:ext cx="6385169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dirty="0"/>
              <a:t>This parse tree is interesting because it shows the </a:t>
            </a:r>
            <a:r>
              <a:rPr lang="en-GB" sz="2800" b="1" dirty="0">
                <a:solidFill>
                  <a:srgbClr val="7030A0"/>
                </a:solidFill>
              </a:rPr>
              <a:t>order</a:t>
            </a:r>
            <a:r>
              <a:rPr lang="en-GB" sz="2800" dirty="0"/>
              <a:t> in which we should compute the different operations, starting with 2 and 7, then 2+7, and finally (2+7)+9.</a:t>
            </a:r>
            <a:endParaRPr lang="en-SG" sz="2800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7D2369C-8FD3-5E6A-B6F4-0483229A00B4}"/>
              </a:ext>
            </a:extLst>
          </p:cNvPr>
          <p:cNvCxnSpPr>
            <a:cxnSpLocks/>
          </p:cNvCxnSpPr>
          <p:nvPr/>
        </p:nvCxnSpPr>
        <p:spPr>
          <a:xfrm flipV="1">
            <a:off x="7385538" y="365125"/>
            <a:ext cx="0" cy="3931572"/>
          </a:xfrm>
          <a:prstGeom prst="straightConnector1">
            <a:avLst/>
          </a:prstGeom>
          <a:ln w="3810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DECBDA64-A0FB-F173-A0F0-5D7A372C393F}"/>
              </a:ext>
            </a:extLst>
          </p:cNvPr>
          <p:cNvSpPr/>
          <p:nvPr/>
        </p:nvSpPr>
        <p:spPr>
          <a:xfrm>
            <a:off x="9483967" y="3651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71D40AA-F67D-7723-888D-D92D71F50104}"/>
              </a:ext>
            </a:extLst>
          </p:cNvPr>
          <p:cNvSpPr/>
          <p:nvPr/>
        </p:nvSpPr>
        <p:spPr>
          <a:xfrm>
            <a:off x="8550029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25E5AE6-AB5A-16F3-D43E-68F11B47BBD7}"/>
              </a:ext>
            </a:extLst>
          </p:cNvPr>
          <p:cNvSpPr/>
          <p:nvPr/>
        </p:nvSpPr>
        <p:spPr>
          <a:xfrm>
            <a:off x="9483968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BA04123-FAA9-53B3-3F1F-7C6F3F2A25D1}"/>
              </a:ext>
            </a:extLst>
          </p:cNvPr>
          <p:cNvSpPr/>
          <p:nvPr/>
        </p:nvSpPr>
        <p:spPr>
          <a:xfrm>
            <a:off x="10417907" y="114770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4B909F-815A-C74E-310C-2E22AB7AB416}"/>
              </a:ext>
            </a:extLst>
          </p:cNvPr>
          <p:cNvCxnSpPr>
            <a:cxnSpLocks/>
            <a:stCxn id="4" idx="2"/>
            <a:endCxn id="6" idx="0"/>
          </p:cNvCxnSpPr>
          <p:nvPr/>
        </p:nvCxnSpPr>
        <p:spPr>
          <a:xfrm flipH="1">
            <a:off x="8940799" y="841863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FCAD1C6-536C-E836-621E-D8CEB5C769ED}"/>
              </a:ext>
            </a:extLst>
          </p:cNvPr>
          <p:cNvCxnSpPr>
            <a:cxnSpLocks/>
            <a:stCxn id="4" idx="2"/>
            <a:endCxn id="8" idx="0"/>
          </p:cNvCxnSpPr>
          <p:nvPr/>
        </p:nvCxnSpPr>
        <p:spPr>
          <a:xfrm>
            <a:off x="9874737" y="841863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1B2780-D353-B3A1-088E-87540BA30442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>
            <a:off x="9874737" y="84186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D72A527-0BB2-63CB-2207-5477CEB6E278}"/>
              </a:ext>
            </a:extLst>
          </p:cNvPr>
          <p:cNvSpPr/>
          <p:nvPr/>
        </p:nvSpPr>
        <p:spPr>
          <a:xfrm>
            <a:off x="7616091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907ED59-7FE7-EC00-B1B0-7A524686CE57}"/>
              </a:ext>
            </a:extLst>
          </p:cNvPr>
          <p:cNvSpPr/>
          <p:nvPr/>
        </p:nvSpPr>
        <p:spPr>
          <a:xfrm>
            <a:off x="8550030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48C80A-C797-BEAA-E0FB-AF568B66F1B3}"/>
              </a:ext>
            </a:extLst>
          </p:cNvPr>
          <p:cNvSpPr/>
          <p:nvPr/>
        </p:nvSpPr>
        <p:spPr>
          <a:xfrm>
            <a:off x="9483969" y="19437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4571BCF-FAA1-DA02-ED4C-64AEC3913752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8006861" y="1637904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2B8A326-9EA4-5563-BF16-6A29B39E9FCB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940799" y="1637904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92A5EDF-E9C5-4BA4-7394-D307BADCA6C3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8940799" y="16379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D15673C7-9C77-0702-39BC-B4DA27445876}"/>
              </a:ext>
            </a:extLst>
          </p:cNvPr>
          <p:cNvSpPr/>
          <p:nvPr/>
        </p:nvSpPr>
        <p:spPr>
          <a:xfrm>
            <a:off x="7616091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834D71-56B7-2328-F4B3-9657EE03ACF8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8006860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E6ED33A5-1AF5-8E68-3808-F6C80A5F8588}"/>
              </a:ext>
            </a:extLst>
          </p:cNvPr>
          <p:cNvSpPr/>
          <p:nvPr/>
        </p:nvSpPr>
        <p:spPr>
          <a:xfrm>
            <a:off x="7616090" y="348957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DF0BC96-46AD-AC85-E5CC-C3F930A1EAF9}"/>
              </a:ext>
            </a:extLst>
          </p:cNvPr>
          <p:cNvCxnSpPr>
            <a:cxnSpLocks/>
            <a:endCxn id="20" idx="0"/>
          </p:cNvCxnSpPr>
          <p:nvPr/>
        </p:nvCxnSpPr>
        <p:spPr>
          <a:xfrm>
            <a:off x="8006859" y="318373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336399F4-CF09-CFBC-CA31-7915BB36073A}"/>
              </a:ext>
            </a:extLst>
          </p:cNvPr>
          <p:cNvSpPr/>
          <p:nvPr/>
        </p:nvSpPr>
        <p:spPr>
          <a:xfrm>
            <a:off x="9483967" y="272631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50A17C9-6FDD-BE31-62E6-544D307C13B5}"/>
              </a:ext>
            </a:extLst>
          </p:cNvPr>
          <p:cNvCxnSpPr>
            <a:cxnSpLocks/>
            <a:endCxn id="22" idx="0"/>
          </p:cNvCxnSpPr>
          <p:nvPr/>
        </p:nvCxnSpPr>
        <p:spPr>
          <a:xfrm>
            <a:off x="9874736" y="242047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35054D5-DAB5-164A-99C8-A0D2FA0F5C4D}"/>
              </a:ext>
            </a:extLst>
          </p:cNvPr>
          <p:cNvSpPr/>
          <p:nvPr/>
        </p:nvSpPr>
        <p:spPr>
          <a:xfrm>
            <a:off x="10442328" y="27274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439C206E-91A8-DA37-E100-07F805C3CB92}"/>
              </a:ext>
            </a:extLst>
          </p:cNvPr>
          <p:cNvCxnSpPr>
            <a:cxnSpLocks/>
            <a:endCxn id="24" idx="0"/>
          </p:cNvCxnSpPr>
          <p:nvPr/>
        </p:nvCxnSpPr>
        <p:spPr>
          <a:xfrm>
            <a:off x="10833097" y="242161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2380FBCC-1E62-1056-FAD2-AEC5820A35A3}"/>
              </a:ext>
            </a:extLst>
          </p:cNvPr>
          <p:cNvSpPr/>
          <p:nvPr/>
        </p:nvSpPr>
        <p:spPr>
          <a:xfrm>
            <a:off x="9483966" y="350446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BA7697A8-DEB9-7B1A-9B0D-54E2B0D0A6AA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9874735" y="3198631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EF59CDFF-853D-DF2C-3BC6-9E893D2EEDCE}"/>
              </a:ext>
            </a:extLst>
          </p:cNvPr>
          <p:cNvSpPr/>
          <p:nvPr/>
        </p:nvSpPr>
        <p:spPr>
          <a:xfrm>
            <a:off x="10441352" y="194468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F91BB96B-A529-C4C3-6439-5EF40A65FCAA}"/>
              </a:ext>
            </a:extLst>
          </p:cNvPr>
          <p:cNvCxnSpPr>
            <a:cxnSpLocks/>
            <a:endCxn id="28" idx="0"/>
          </p:cNvCxnSpPr>
          <p:nvPr/>
        </p:nvCxnSpPr>
        <p:spPr>
          <a:xfrm>
            <a:off x="10832121" y="163885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566785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question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38349B-E94C-A975-CC8E-667983A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Assuming that a given string </a:t>
            </a:r>
            <a:r>
              <a:rPr lang="en-GB" i="1" dirty="0"/>
              <a:t>x</a:t>
            </a:r>
            <a:r>
              <a:rPr lang="en-GB" dirty="0"/>
              <a:t> has a valid syntax for a given CFG and admits a valid derivation…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b="1" dirty="0"/>
              <a:t> Is the valid derivation unique?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b="1" dirty="0"/>
              <a:t> Is there only one parse tree that could have been defined?</a:t>
            </a:r>
          </a:p>
          <a:p>
            <a:pPr>
              <a:buFont typeface="Wingdings" panose="05000000000000000000" pitchFamily="2" charset="2"/>
              <a:buChar char="à"/>
            </a:pPr>
            <a:endParaRPr lang="en-GB" b="1" dirty="0"/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54411019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Quick question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A38349B-E94C-A975-CC8E-667983A078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Assuming that a given string </a:t>
            </a:r>
            <a:r>
              <a:rPr lang="en-GB" i="1" dirty="0"/>
              <a:t>x</a:t>
            </a:r>
            <a:r>
              <a:rPr lang="en-GB" dirty="0"/>
              <a:t> has a valid syntax for a given CFG and admits a valid derivation…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b="1" dirty="0"/>
              <a:t> Is the valid derivation unique?</a:t>
            </a:r>
          </a:p>
          <a:p>
            <a:pPr>
              <a:buFont typeface="Wingdings" panose="05000000000000000000" pitchFamily="2" charset="2"/>
              <a:buChar char="à"/>
            </a:pPr>
            <a:r>
              <a:rPr lang="en-GB" b="1" dirty="0"/>
              <a:t> Is there only one parse tree that could have been defined?</a:t>
            </a:r>
          </a:p>
          <a:p>
            <a:pPr>
              <a:buFont typeface="Wingdings" panose="05000000000000000000" pitchFamily="2" charset="2"/>
              <a:buChar char="à"/>
            </a:pPr>
            <a:endParaRPr lang="en-GB" b="1" dirty="0"/>
          </a:p>
          <a:p>
            <a:pPr marL="0" indent="0">
              <a:buNone/>
            </a:pPr>
            <a:r>
              <a:rPr lang="en-GB" dirty="0"/>
              <a:t>In general, no, multiple valid derivations might do the trick…</a:t>
            </a:r>
          </a:p>
          <a:p>
            <a:pPr marL="0" indent="0">
              <a:buNone/>
            </a:pPr>
            <a:r>
              <a:rPr lang="en-GB" dirty="0"/>
              <a:t>And that ambiguity might even be a problem in certain scenarios…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675013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parse trees for 2+7+9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0558F-1CE1-33D7-D831-F6D521EDEE53}"/>
              </a:ext>
            </a:extLst>
          </p:cNvPr>
          <p:cNvSpPr/>
          <p:nvPr/>
        </p:nvSpPr>
        <p:spPr>
          <a:xfrm>
            <a:off x="2239106" y="169068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E811E-11CB-1C47-0B2A-318CA5608177}"/>
              </a:ext>
            </a:extLst>
          </p:cNvPr>
          <p:cNvSpPr/>
          <p:nvPr/>
        </p:nvSpPr>
        <p:spPr>
          <a:xfrm>
            <a:off x="1305168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32E48-2854-532E-1DE9-2C3F9A1662ED}"/>
              </a:ext>
            </a:extLst>
          </p:cNvPr>
          <p:cNvSpPr/>
          <p:nvPr/>
        </p:nvSpPr>
        <p:spPr>
          <a:xfrm>
            <a:off x="2239107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09EC1-91AD-2426-D0C2-694DE35FAE02}"/>
              </a:ext>
            </a:extLst>
          </p:cNvPr>
          <p:cNvSpPr/>
          <p:nvPr/>
        </p:nvSpPr>
        <p:spPr>
          <a:xfrm>
            <a:off x="3173046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91B554-59CC-F7FF-1D40-DD3E3D57EBBF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695938" y="216742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706D1B-D1D7-3535-B4FF-F196E21FF533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629876" y="216742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91125F-EBC3-33D0-3A8F-29D451F96EFF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2629876" y="216742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0AC647-9774-5C62-02D6-8AFA10DA088F}"/>
              </a:ext>
            </a:extLst>
          </p:cNvPr>
          <p:cNvSpPr/>
          <p:nvPr/>
        </p:nvSpPr>
        <p:spPr>
          <a:xfrm>
            <a:off x="371230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31DF38-A309-D4B4-5442-0547B01BD9B9}"/>
              </a:ext>
            </a:extLst>
          </p:cNvPr>
          <p:cNvSpPr/>
          <p:nvPr/>
        </p:nvSpPr>
        <p:spPr>
          <a:xfrm>
            <a:off x="1305169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DBBA65-B1B5-3746-87E2-E183779512D8}"/>
              </a:ext>
            </a:extLst>
          </p:cNvPr>
          <p:cNvSpPr/>
          <p:nvPr/>
        </p:nvSpPr>
        <p:spPr>
          <a:xfrm>
            <a:off x="2239108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20C0C3-ECAB-E994-46E2-29E2BC13E326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762000" y="296346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82E6E4-6C9C-5FA6-72EA-FB5C9846F10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695938" y="296346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301C30B-237D-745E-B791-16DE4E74CDF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95938" y="29634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2ED95-8881-1564-47F1-2A06028DD10D}"/>
              </a:ext>
            </a:extLst>
          </p:cNvPr>
          <p:cNvSpPr/>
          <p:nvPr/>
        </p:nvSpPr>
        <p:spPr>
          <a:xfrm>
            <a:off x="371230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5B1DC-C5B5-FB75-7626-7A7C9BE318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61999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1952AB-C157-CE00-BF92-966459005C50}"/>
              </a:ext>
            </a:extLst>
          </p:cNvPr>
          <p:cNvSpPr/>
          <p:nvPr/>
        </p:nvSpPr>
        <p:spPr>
          <a:xfrm>
            <a:off x="371229" y="481513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3B0029-E241-72FF-21CF-52BFBAF38CD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61998" y="450929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BFC47-BFF8-471D-2FA5-1979FAA94575}"/>
              </a:ext>
            </a:extLst>
          </p:cNvPr>
          <p:cNvSpPr/>
          <p:nvPr/>
        </p:nvSpPr>
        <p:spPr>
          <a:xfrm>
            <a:off x="2239106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113BEE-D779-A71F-EB35-D1D5CFA57AF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29875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0A8954-CEE3-66C1-2DC5-64DB179F223C}"/>
              </a:ext>
            </a:extLst>
          </p:cNvPr>
          <p:cNvSpPr/>
          <p:nvPr/>
        </p:nvSpPr>
        <p:spPr>
          <a:xfrm>
            <a:off x="3197467" y="405301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A2C84-EEFD-CFE9-735B-AE752E82936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588236" y="374717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CBC03FC-8EC4-7E10-E8D2-B5F3F3D88860}"/>
              </a:ext>
            </a:extLst>
          </p:cNvPr>
          <p:cNvSpPr/>
          <p:nvPr/>
        </p:nvSpPr>
        <p:spPr>
          <a:xfrm>
            <a:off x="2239105" y="4830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DBFF44-9D3F-662B-B357-9ECF7110539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2629874" y="452419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0A483-8822-FC2F-5DCB-600D72B0A613}"/>
              </a:ext>
            </a:extLst>
          </p:cNvPr>
          <p:cNvSpPr/>
          <p:nvPr/>
        </p:nvSpPr>
        <p:spPr>
          <a:xfrm>
            <a:off x="3196491" y="32702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923B8D-2958-1999-998B-28DF7145900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587260" y="296441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F464CDC-E66C-913C-C60F-0DCB498A09F4}"/>
              </a:ext>
            </a:extLst>
          </p:cNvPr>
          <p:cNvSpPr/>
          <p:nvPr/>
        </p:nvSpPr>
        <p:spPr>
          <a:xfrm>
            <a:off x="8780585" y="168543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EEBC48-940B-2F8E-29EE-A95241E1E3B4}"/>
              </a:ext>
            </a:extLst>
          </p:cNvPr>
          <p:cNvSpPr/>
          <p:nvPr/>
        </p:nvSpPr>
        <p:spPr>
          <a:xfrm>
            <a:off x="7846647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6D1A21-259D-9777-ACFC-B6A51880F497}"/>
              </a:ext>
            </a:extLst>
          </p:cNvPr>
          <p:cNvSpPr/>
          <p:nvPr/>
        </p:nvSpPr>
        <p:spPr>
          <a:xfrm>
            <a:off x="8780586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FBC283-32CE-F8F3-FD2D-0E39E3C40BDE}"/>
              </a:ext>
            </a:extLst>
          </p:cNvPr>
          <p:cNvSpPr/>
          <p:nvPr/>
        </p:nvSpPr>
        <p:spPr>
          <a:xfrm>
            <a:off x="9714525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630BAA-5F80-B1E6-37CB-02486E9F8EE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8237417" y="216217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8E0DF0-D944-AD93-5FBE-33A21FB31FBF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9171355" y="216217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D2531A-63D1-BF6A-4742-9712714F1B9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9171355" y="216217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0A01C937-47A1-0893-BD89-685DC6FD70AD}"/>
              </a:ext>
            </a:extLst>
          </p:cNvPr>
          <p:cNvSpPr/>
          <p:nvPr/>
        </p:nvSpPr>
        <p:spPr>
          <a:xfrm>
            <a:off x="8874369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B0F89-8C26-538F-95C9-29D7E468C31F}"/>
              </a:ext>
            </a:extLst>
          </p:cNvPr>
          <p:cNvSpPr/>
          <p:nvPr/>
        </p:nvSpPr>
        <p:spPr>
          <a:xfrm>
            <a:off x="9808308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182A26-50BF-E396-D7D4-6752AD06F603}"/>
              </a:ext>
            </a:extLst>
          </p:cNvPr>
          <p:cNvSpPr/>
          <p:nvPr/>
        </p:nvSpPr>
        <p:spPr>
          <a:xfrm>
            <a:off x="1074224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468C6A-5C2E-DE5D-6301-152371E32246}"/>
              </a:ext>
            </a:extLst>
          </p:cNvPr>
          <p:cNvCxnSpPr>
            <a:cxnSpLocks/>
            <a:endCxn id="71" idx="0"/>
          </p:cNvCxnSpPr>
          <p:nvPr/>
        </p:nvCxnSpPr>
        <p:spPr>
          <a:xfrm flipH="1">
            <a:off x="9265139" y="295821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D29E95-8AC9-07A4-DC6F-AF5D6F22CA0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0199077" y="295821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3A567B-6ED7-7832-BAE5-DCAE357C2553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199077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EFDB50-7B50-D84A-E1C6-4BE4C261E45E}"/>
              </a:ext>
            </a:extLst>
          </p:cNvPr>
          <p:cNvSpPr/>
          <p:nvPr/>
        </p:nvSpPr>
        <p:spPr>
          <a:xfrm>
            <a:off x="8874369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E4A4CAA-6913-AA4C-797E-93303C5A534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265138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1BD8F-6BBE-AB80-8F44-6B03AC80A4A8}"/>
              </a:ext>
            </a:extLst>
          </p:cNvPr>
          <p:cNvSpPr/>
          <p:nvPr/>
        </p:nvSpPr>
        <p:spPr>
          <a:xfrm>
            <a:off x="8874368" y="480988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03909-4829-5BC5-35D9-C2E9171BAA9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9265137" y="450404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BA854A6-85C4-AA8E-7293-57283701D3D1}"/>
              </a:ext>
            </a:extLst>
          </p:cNvPr>
          <p:cNvSpPr/>
          <p:nvPr/>
        </p:nvSpPr>
        <p:spPr>
          <a:xfrm>
            <a:off x="10742245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32D70D-F046-29CF-C80A-3004DA223B1F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1133014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298F532-1193-5CB0-519F-EC6595472F2D}"/>
              </a:ext>
            </a:extLst>
          </p:cNvPr>
          <p:cNvSpPr/>
          <p:nvPr/>
        </p:nvSpPr>
        <p:spPr>
          <a:xfrm>
            <a:off x="7820273" y="404681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3C2930-134A-A119-8CA6-72DF82E0D4E2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211042" y="374097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65BD30A-D997-DBBF-C0D1-3CA7E2F11D6F}"/>
              </a:ext>
            </a:extLst>
          </p:cNvPr>
          <p:cNvSpPr/>
          <p:nvPr/>
        </p:nvSpPr>
        <p:spPr>
          <a:xfrm>
            <a:off x="10742244" y="482478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EDC2E8-C188-B272-92F3-67528FFE028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133013" y="451894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B4576F-5369-308A-CBA7-F3090C69203E}"/>
              </a:ext>
            </a:extLst>
          </p:cNvPr>
          <p:cNvSpPr/>
          <p:nvPr/>
        </p:nvSpPr>
        <p:spPr>
          <a:xfrm>
            <a:off x="781929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61DC995-6165-5DBA-769F-1026E924B366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210066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3935548-7744-1EFC-AD4F-04DCFBCA64B3}"/>
              </a:ext>
            </a:extLst>
          </p:cNvPr>
          <p:cNvSpPr txBox="1"/>
          <p:nvPr/>
        </p:nvSpPr>
        <p:spPr>
          <a:xfrm>
            <a:off x="4337536" y="1773776"/>
            <a:ext cx="328246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Question: Does that make a difference?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68292388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parse trees for 2+7+9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0558F-1CE1-33D7-D831-F6D521EDEE53}"/>
              </a:ext>
            </a:extLst>
          </p:cNvPr>
          <p:cNvSpPr/>
          <p:nvPr/>
        </p:nvSpPr>
        <p:spPr>
          <a:xfrm>
            <a:off x="2239106" y="169068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E811E-11CB-1C47-0B2A-318CA5608177}"/>
              </a:ext>
            </a:extLst>
          </p:cNvPr>
          <p:cNvSpPr/>
          <p:nvPr/>
        </p:nvSpPr>
        <p:spPr>
          <a:xfrm>
            <a:off x="1305168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32E48-2854-532E-1DE9-2C3F9A1662ED}"/>
              </a:ext>
            </a:extLst>
          </p:cNvPr>
          <p:cNvSpPr/>
          <p:nvPr/>
        </p:nvSpPr>
        <p:spPr>
          <a:xfrm>
            <a:off x="2239107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09EC1-91AD-2426-D0C2-694DE35FAE02}"/>
              </a:ext>
            </a:extLst>
          </p:cNvPr>
          <p:cNvSpPr/>
          <p:nvPr/>
        </p:nvSpPr>
        <p:spPr>
          <a:xfrm>
            <a:off x="3173046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91B554-59CC-F7FF-1D40-DD3E3D57EBBF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695938" y="216742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706D1B-D1D7-3535-B4FF-F196E21FF533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629876" y="216742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91125F-EBC3-33D0-3A8F-29D451F96EFF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2629876" y="216742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0AC647-9774-5C62-02D6-8AFA10DA088F}"/>
              </a:ext>
            </a:extLst>
          </p:cNvPr>
          <p:cNvSpPr/>
          <p:nvPr/>
        </p:nvSpPr>
        <p:spPr>
          <a:xfrm>
            <a:off x="371230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31DF38-A309-D4B4-5442-0547B01BD9B9}"/>
              </a:ext>
            </a:extLst>
          </p:cNvPr>
          <p:cNvSpPr/>
          <p:nvPr/>
        </p:nvSpPr>
        <p:spPr>
          <a:xfrm>
            <a:off x="1305169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DBBA65-B1B5-3746-87E2-E183779512D8}"/>
              </a:ext>
            </a:extLst>
          </p:cNvPr>
          <p:cNvSpPr/>
          <p:nvPr/>
        </p:nvSpPr>
        <p:spPr>
          <a:xfrm>
            <a:off x="2239108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20C0C3-ECAB-E994-46E2-29E2BC13E326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762000" y="296346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82E6E4-6C9C-5FA6-72EA-FB5C9846F10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695938" y="296346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301C30B-237D-745E-B791-16DE4E74CDF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95938" y="29634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2ED95-8881-1564-47F1-2A06028DD10D}"/>
              </a:ext>
            </a:extLst>
          </p:cNvPr>
          <p:cNvSpPr/>
          <p:nvPr/>
        </p:nvSpPr>
        <p:spPr>
          <a:xfrm>
            <a:off x="371230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5B1DC-C5B5-FB75-7626-7A7C9BE318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61999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1952AB-C157-CE00-BF92-966459005C50}"/>
              </a:ext>
            </a:extLst>
          </p:cNvPr>
          <p:cNvSpPr/>
          <p:nvPr/>
        </p:nvSpPr>
        <p:spPr>
          <a:xfrm>
            <a:off x="371229" y="481513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3B0029-E241-72FF-21CF-52BFBAF38CD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61998" y="450929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BFC47-BFF8-471D-2FA5-1979FAA94575}"/>
              </a:ext>
            </a:extLst>
          </p:cNvPr>
          <p:cNvSpPr/>
          <p:nvPr/>
        </p:nvSpPr>
        <p:spPr>
          <a:xfrm>
            <a:off x="2239106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113BEE-D779-A71F-EB35-D1D5CFA57AF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29875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0A8954-CEE3-66C1-2DC5-64DB179F223C}"/>
              </a:ext>
            </a:extLst>
          </p:cNvPr>
          <p:cNvSpPr/>
          <p:nvPr/>
        </p:nvSpPr>
        <p:spPr>
          <a:xfrm>
            <a:off x="3197467" y="405301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A2C84-EEFD-CFE9-735B-AE752E82936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588236" y="374717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CBC03FC-8EC4-7E10-E8D2-B5F3F3D88860}"/>
              </a:ext>
            </a:extLst>
          </p:cNvPr>
          <p:cNvSpPr/>
          <p:nvPr/>
        </p:nvSpPr>
        <p:spPr>
          <a:xfrm>
            <a:off x="2239105" y="4830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DBFF44-9D3F-662B-B357-9ECF7110539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2629874" y="452419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0A483-8822-FC2F-5DCB-600D72B0A613}"/>
              </a:ext>
            </a:extLst>
          </p:cNvPr>
          <p:cNvSpPr/>
          <p:nvPr/>
        </p:nvSpPr>
        <p:spPr>
          <a:xfrm>
            <a:off x="3196491" y="32702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923B8D-2958-1999-998B-28DF7145900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587260" y="296441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F464CDC-E66C-913C-C60F-0DCB498A09F4}"/>
              </a:ext>
            </a:extLst>
          </p:cNvPr>
          <p:cNvSpPr/>
          <p:nvPr/>
        </p:nvSpPr>
        <p:spPr>
          <a:xfrm>
            <a:off x="8780585" y="168543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EEBC48-940B-2F8E-29EE-A95241E1E3B4}"/>
              </a:ext>
            </a:extLst>
          </p:cNvPr>
          <p:cNvSpPr/>
          <p:nvPr/>
        </p:nvSpPr>
        <p:spPr>
          <a:xfrm>
            <a:off x="7846647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6D1A21-259D-9777-ACFC-B6A51880F497}"/>
              </a:ext>
            </a:extLst>
          </p:cNvPr>
          <p:cNvSpPr/>
          <p:nvPr/>
        </p:nvSpPr>
        <p:spPr>
          <a:xfrm>
            <a:off x="8780586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FBC283-32CE-F8F3-FD2D-0E39E3C40BDE}"/>
              </a:ext>
            </a:extLst>
          </p:cNvPr>
          <p:cNvSpPr/>
          <p:nvPr/>
        </p:nvSpPr>
        <p:spPr>
          <a:xfrm>
            <a:off x="9714525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630BAA-5F80-B1E6-37CB-02486E9F8EE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8237417" y="216217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8E0DF0-D944-AD93-5FBE-33A21FB31FBF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9171355" y="216217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D2531A-63D1-BF6A-4742-9712714F1B9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9171355" y="216217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0A01C937-47A1-0893-BD89-685DC6FD70AD}"/>
              </a:ext>
            </a:extLst>
          </p:cNvPr>
          <p:cNvSpPr/>
          <p:nvPr/>
        </p:nvSpPr>
        <p:spPr>
          <a:xfrm>
            <a:off x="8874369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B0F89-8C26-538F-95C9-29D7E468C31F}"/>
              </a:ext>
            </a:extLst>
          </p:cNvPr>
          <p:cNvSpPr/>
          <p:nvPr/>
        </p:nvSpPr>
        <p:spPr>
          <a:xfrm>
            <a:off x="9808308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182A26-50BF-E396-D7D4-6752AD06F603}"/>
              </a:ext>
            </a:extLst>
          </p:cNvPr>
          <p:cNvSpPr/>
          <p:nvPr/>
        </p:nvSpPr>
        <p:spPr>
          <a:xfrm>
            <a:off x="1074224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468C6A-5C2E-DE5D-6301-152371E32246}"/>
              </a:ext>
            </a:extLst>
          </p:cNvPr>
          <p:cNvCxnSpPr>
            <a:cxnSpLocks/>
            <a:endCxn id="71" idx="0"/>
          </p:cNvCxnSpPr>
          <p:nvPr/>
        </p:nvCxnSpPr>
        <p:spPr>
          <a:xfrm flipH="1">
            <a:off x="9265139" y="295821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D29E95-8AC9-07A4-DC6F-AF5D6F22CA0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0199077" y="295821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3A567B-6ED7-7832-BAE5-DCAE357C2553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199077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EFDB50-7B50-D84A-E1C6-4BE4C261E45E}"/>
              </a:ext>
            </a:extLst>
          </p:cNvPr>
          <p:cNvSpPr/>
          <p:nvPr/>
        </p:nvSpPr>
        <p:spPr>
          <a:xfrm>
            <a:off x="8874369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E4A4CAA-6913-AA4C-797E-93303C5A534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265138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1BD8F-6BBE-AB80-8F44-6B03AC80A4A8}"/>
              </a:ext>
            </a:extLst>
          </p:cNvPr>
          <p:cNvSpPr/>
          <p:nvPr/>
        </p:nvSpPr>
        <p:spPr>
          <a:xfrm>
            <a:off x="8874368" y="480988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03909-4829-5BC5-35D9-C2E9171BAA9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9265137" y="450404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BA854A6-85C4-AA8E-7293-57283701D3D1}"/>
              </a:ext>
            </a:extLst>
          </p:cNvPr>
          <p:cNvSpPr/>
          <p:nvPr/>
        </p:nvSpPr>
        <p:spPr>
          <a:xfrm>
            <a:off x="10742245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32D70D-F046-29CF-C80A-3004DA223B1F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1133014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298F532-1193-5CB0-519F-EC6595472F2D}"/>
              </a:ext>
            </a:extLst>
          </p:cNvPr>
          <p:cNvSpPr/>
          <p:nvPr/>
        </p:nvSpPr>
        <p:spPr>
          <a:xfrm>
            <a:off x="7820273" y="404681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3C2930-134A-A119-8CA6-72DF82E0D4E2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211042" y="374097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65BD30A-D997-DBBF-C0D1-3CA7E2F11D6F}"/>
              </a:ext>
            </a:extLst>
          </p:cNvPr>
          <p:cNvSpPr/>
          <p:nvPr/>
        </p:nvSpPr>
        <p:spPr>
          <a:xfrm>
            <a:off x="10742244" y="482478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EDC2E8-C188-B272-92F3-67528FFE028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133013" y="451894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B4576F-5369-308A-CBA7-F3090C69203E}"/>
              </a:ext>
            </a:extLst>
          </p:cNvPr>
          <p:cNvSpPr/>
          <p:nvPr/>
        </p:nvSpPr>
        <p:spPr>
          <a:xfrm>
            <a:off x="781929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61DC995-6165-5DBA-769F-1026E924B366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210066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63CF59-419F-0EC5-9604-05E2B958678A}"/>
              </a:ext>
            </a:extLst>
          </p:cNvPr>
          <p:cNvSpPr txBox="1"/>
          <p:nvPr/>
        </p:nvSpPr>
        <p:spPr>
          <a:xfrm>
            <a:off x="4337536" y="1773776"/>
            <a:ext cx="328246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Question: Does that make a difference?</a:t>
            </a:r>
          </a:p>
          <a:p>
            <a:r>
              <a:rPr lang="en-GB" sz="2800" dirty="0"/>
              <a:t>At the moment, no, because the precedence order and the sequence of operations does not matter here (at the moment, we have additions only).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263042866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parse trees for 2+7*9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0558F-1CE1-33D7-D831-F6D521EDEE53}"/>
              </a:ext>
            </a:extLst>
          </p:cNvPr>
          <p:cNvSpPr/>
          <p:nvPr/>
        </p:nvSpPr>
        <p:spPr>
          <a:xfrm>
            <a:off x="2239106" y="169068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E811E-11CB-1C47-0B2A-318CA5608177}"/>
              </a:ext>
            </a:extLst>
          </p:cNvPr>
          <p:cNvSpPr/>
          <p:nvPr/>
        </p:nvSpPr>
        <p:spPr>
          <a:xfrm>
            <a:off x="1305168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32E48-2854-532E-1DE9-2C3F9A1662ED}"/>
              </a:ext>
            </a:extLst>
          </p:cNvPr>
          <p:cNvSpPr/>
          <p:nvPr/>
        </p:nvSpPr>
        <p:spPr>
          <a:xfrm>
            <a:off x="2239107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09EC1-91AD-2426-D0C2-694DE35FAE02}"/>
              </a:ext>
            </a:extLst>
          </p:cNvPr>
          <p:cNvSpPr/>
          <p:nvPr/>
        </p:nvSpPr>
        <p:spPr>
          <a:xfrm>
            <a:off x="3173046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91B554-59CC-F7FF-1D40-DD3E3D57EBBF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695938" y="216742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706D1B-D1D7-3535-B4FF-F196E21FF533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629876" y="216742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91125F-EBC3-33D0-3A8F-29D451F96EFF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2629876" y="216742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0AC647-9774-5C62-02D6-8AFA10DA088F}"/>
              </a:ext>
            </a:extLst>
          </p:cNvPr>
          <p:cNvSpPr/>
          <p:nvPr/>
        </p:nvSpPr>
        <p:spPr>
          <a:xfrm>
            <a:off x="371230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31DF38-A309-D4B4-5442-0547B01BD9B9}"/>
              </a:ext>
            </a:extLst>
          </p:cNvPr>
          <p:cNvSpPr/>
          <p:nvPr/>
        </p:nvSpPr>
        <p:spPr>
          <a:xfrm>
            <a:off x="1305169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DBBA65-B1B5-3746-87E2-E183779512D8}"/>
              </a:ext>
            </a:extLst>
          </p:cNvPr>
          <p:cNvSpPr/>
          <p:nvPr/>
        </p:nvSpPr>
        <p:spPr>
          <a:xfrm>
            <a:off x="2239108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20C0C3-ECAB-E994-46E2-29E2BC13E326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762000" y="296346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82E6E4-6C9C-5FA6-72EA-FB5C9846F10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695938" y="296346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301C30B-237D-745E-B791-16DE4E74CDF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95938" y="29634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2ED95-8881-1564-47F1-2A06028DD10D}"/>
              </a:ext>
            </a:extLst>
          </p:cNvPr>
          <p:cNvSpPr/>
          <p:nvPr/>
        </p:nvSpPr>
        <p:spPr>
          <a:xfrm>
            <a:off x="371230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5B1DC-C5B5-FB75-7626-7A7C9BE318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61999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1952AB-C157-CE00-BF92-966459005C50}"/>
              </a:ext>
            </a:extLst>
          </p:cNvPr>
          <p:cNvSpPr/>
          <p:nvPr/>
        </p:nvSpPr>
        <p:spPr>
          <a:xfrm>
            <a:off x="371229" y="481513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3B0029-E241-72FF-21CF-52BFBAF38CD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61998" y="450929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BFC47-BFF8-471D-2FA5-1979FAA94575}"/>
              </a:ext>
            </a:extLst>
          </p:cNvPr>
          <p:cNvSpPr/>
          <p:nvPr/>
        </p:nvSpPr>
        <p:spPr>
          <a:xfrm>
            <a:off x="2239106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113BEE-D779-A71F-EB35-D1D5CFA57AF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29875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0A8954-CEE3-66C1-2DC5-64DB179F223C}"/>
              </a:ext>
            </a:extLst>
          </p:cNvPr>
          <p:cNvSpPr/>
          <p:nvPr/>
        </p:nvSpPr>
        <p:spPr>
          <a:xfrm>
            <a:off x="3197467" y="405301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A2C84-EEFD-CFE9-735B-AE752E82936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588236" y="374717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CBC03FC-8EC4-7E10-E8D2-B5F3F3D88860}"/>
              </a:ext>
            </a:extLst>
          </p:cNvPr>
          <p:cNvSpPr/>
          <p:nvPr/>
        </p:nvSpPr>
        <p:spPr>
          <a:xfrm>
            <a:off x="2239105" y="4830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DBFF44-9D3F-662B-B357-9ECF7110539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2629874" y="452419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0A483-8822-FC2F-5DCB-600D72B0A613}"/>
              </a:ext>
            </a:extLst>
          </p:cNvPr>
          <p:cNvSpPr/>
          <p:nvPr/>
        </p:nvSpPr>
        <p:spPr>
          <a:xfrm>
            <a:off x="3196491" y="32702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923B8D-2958-1999-998B-28DF7145900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587260" y="296441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F464CDC-E66C-913C-C60F-0DCB498A09F4}"/>
              </a:ext>
            </a:extLst>
          </p:cNvPr>
          <p:cNvSpPr/>
          <p:nvPr/>
        </p:nvSpPr>
        <p:spPr>
          <a:xfrm>
            <a:off x="8780585" y="168543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EEBC48-940B-2F8E-29EE-A95241E1E3B4}"/>
              </a:ext>
            </a:extLst>
          </p:cNvPr>
          <p:cNvSpPr/>
          <p:nvPr/>
        </p:nvSpPr>
        <p:spPr>
          <a:xfrm>
            <a:off x="7846647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6D1A21-259D-9777-ACFC-B6A51880F497}"/>
              </a:ext>
            </a:extLst>
          </p:cNvPr>
          <p:cNvSpPr/>
          <p:nvPr/>
        </p:nvSpPr>
        <p:spPr>
          <a:xfrm>
            <a:off x="8780586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FBC283-32CE-F8F3-FD2D-0E39E3C40BDE}"/>
              </a:ext>
            </a:extLst>
          </p:cNvPr>
          <p:cNvSpPr/>
          <p:nvPr/>
        </p:nvSpPr>
        <p:spPr>
          <a:xfrm>
            <a:off x="9714525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630BAA-5F80-B1E6-37CB-02486E9F8EE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8237417" y="216217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8E0DF0-D944-AD93-5FBE-33A21FB31FBF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9171355" y="216217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D2531A-63D1-BF6A-4742-9712714F1B9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9171355" y="216217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0A01C937-47A1-0893-BD89-685DC6FD70AD}"/>
              </a:ext>
            </a:extLst>
          </p:cNvPr>
          <p:cNvSpPr/>
          <p:nvPr/>
        </p:nvSpPr>
        <p:spPr>
          <a:xfrm>
            <a:off x="8874369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B0F89-8C26-538F-95C9-29D7E468C31F}"/>
              </a:ext>
            </a:extLst>
          </p:cNvPr>
          <p:cNvSpPr/>
          <p:nvPr/>
        </p:nvSpPr>
        <p:spPr>
          <a:xfrm>
            <a:off x="9808308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182A26-50BF-E396-D7D4-6752AD06F603}"/>
              </a:ext>
            </a:extLst>
          </p:cNvPr>
          <p:cNvSpPr/>
          <p:nvPr/>
        </p:nvSpPr>
        <p:spPr>
          <a:xfrm>
            <a:off x="1074224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468C6A-5C2E-DE5D-6301-152371E32246}"/>
              </a:ext>
            </a:extLst>
          </p:cNvPr>
          <p:cNvCxnSpPr>
            <a:cxnSpLocks/>
            <a:endCxn id="71" idx="0"/>
          </p:cNvCxnSpPr>
          <p:nvPr/>
        </p:nvCxnSpPr>
        <p:spPr>
          <a:xfrm flipH="1">
            <a:off x="9265139" y="295821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D29E95-8AC9-07A4-DC6F-AF5D6F22CA0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0199077" y="295821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3A567B-6ED7-7832-BAE5-DCAE357C2553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199077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EFDB50-7B50-D84A-E1C6-4BE4C261E45E}"/>
              </a:ext>
            </a:extLst>
          </p:cNvPr>
          <p:cNvSpPr/>
          <p:nvPr/>
        </p:nvSpPr>
        <p:spPr>
          <a:xfrm>
            <a:off x="8874369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E4A4CAA-6913-AA4C-797E-93303C5A534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265138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1BD8F-6BBE-AB80-8F44-6B03AC80A4A8}"/>
              </a:ext>
            </a:extLst>
          </p:cNvPr>
          <p:cNvSpPr/>
          <p:nvPr/>
        </p:nvSpPr>
        <p:spPr>
          <a:xfrm>
            <a:off x="8874368" y="480988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03909-4829-5BC5-35D9-C2E9171BAA9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9265137" y="450404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BA854A6-85C4-AA8E-7293-57283701D3D1}"/>
              </a:ext>
            </a:extLst>
          </p:cNvPr>
          <p:cNvSpPr/>
          <p:nvPr/>
        </p:nvSpPr>
        <p:spPr>
          <a:xfrm>
            <a:off x="10742245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32D70D-F046-29CF-C80A-3004DA223B1F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1133014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298F532-1193-5CB0-519F-EC6595472F2D}"/>
              </a:ext>
            </a:extLst>
          </p:cNvPr>
          <p:cNvSpPr/>
          <p:nvPr/>
        </p:nvSpPr>
        <p:spPr>
          <a:xfrm>
            <a:off x="7820273" y="404681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3C2930-134A-A119-8CA6-72DF82E0D4E2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211042" y="374097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65BD30A-D997-DBBF-C0D1-3CA7E2F11D6F}"/>
              </a:ext>
            </a:extLst>
          </p:cNvPr>
          <p:cNvSpPr/>
          <p:nvPr/>
        </p:nvSpPr>
        <p:spPr>
          <a:xfrm>
            <a:off x="10742244" y="482478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EDC2E8-C188-B272-92F3-67528FFE028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133013" y="451894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B4576F-5369-308A-CBA7-F3090C69203E}"/>
              </a:ext>
            </a:extLst>
          </p:cNvPr>
          <p:cNvSpPr/>
          <p:nvPr/>
        </p:nvSpPr>
        <p:spPr>
          <a:xfrm>
            <a:off x="781929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61DC995-6165-5DBA-769F-1026E924B366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210066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BF766C6-7429-8371-7FAD-A92D299C70B2}"/>
              </a:ext>
            </a:extLst>
          </p:cNvPr>
          <p:cNvSpPr txBox="1"/>
          <p:nvPr/>
        </p:nvSpPr>
        <p:spPr>
          <a:xfrm>
            <a:off x="4337536" y="1773776"/>
            <a:ext cx="3282465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But what if we were building parse trees for 2+7*9 instead?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39016285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parse trees for 2+7*9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0558F-1CE1-33D7-D831-F6D521EDEE53}"/>
              </a:ext>
            </a:extLst>
          </p:cNvPr>
          <p:cNvSpPr/>
          <p:nvPr/>
        </p:nvSpPr>
        <p:spPr>
          <a:xfrm>
            <a:off x="2239106" y="169068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E811E-11CB-1C47-0B2A-318CA5608177}"/>
              </a:ext>
            </a:extLst>
          </p:cNvPr>
          <p:cNvSpPr/>
          <p:nvPr/>
        </p:nvSpPr>
        <p:spPr>
          <a:xfrm>
            <a:off x="1305168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32E48-2854-532E-1DE9-2C3F9A1662ED}"/>
              </a:ext>
            </a:extLst>
          </p:cNvPr>
          <p:cNvSpPr/>
          <p:nvPr/>
        </p:nvSpPr>
        <p:spPr>
          <a:xfrm>
            <a:off x="2239107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09EC1-91AD-2426-D0C2-694DE35FAE02}"/>
              </a:ext>
            </a:extLst>
          </p:cNvPr>
          <p:cNvSpPr/>
          <p:nvPr/>
        </p:nvSpPr>
        <p:spPr>
          <a:xfrm>
            <a:off x="3173046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91B554-59CC-F7FF-1D40-DD3E3D57EBBF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695938" y="216742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706D1B-D1D7-3535-B4FF-F196E21FF533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629876" y="216742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91125F-EBC3-33D0-3A8F-29D451F96EFF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2629876" y="216742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0AC647-9774-5C62-02D6-8AFA10DA088F}"/>
              </a:ext>
            </a:extLst>
          </p:cNvPr>
          <p:cNvSpPr/>
          <p:nvPr/>
        </p:nvSpPr>
        <p:spPr>
          <a:xfrm>
            <a:off x="371230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31DF38-A309-D4B4-5442-0547B01BD9B9}"/>
              </a:ext>
            </a:extLst>
          </p:cNvPr>
          <p:cNvSpPr/>
          <p:nvPr/>
        </p:nvSpPr>
        <p:spPr>
          <a:xfrm>
            <a:off x="1305169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DBBA65-B1B5-3746-87E2-E183779512D8}"/>
              </a:ext>
            </a:extLst>
          </p:cNvPr>
          <p:cNvSpPr/>
          <p:nvPr/>
        </p:nvSpPr>
        <p:spPr>
          <a:xfrm>
            <a:off x="2239108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20C0C3-ECAB-E994-46E2-29E2BC13E326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762000" y="296346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82E6E4-6C9C-5FA6-72EA-FB5C9846F10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695938" y="296346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301C30B-237D-745E-B791-16DE4E74CDF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95938" y="29634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2ED95-8881-1564-47F1-2A06028DD10D}"/>
              </a:ext>
            </a:extLst>
          </p:cNvPr>
          <p:cNvSpPr/>
          <p:nvPr/>
        </p:nvSpPr>
        <p:spPr>
          <a:xfrm>
            <a:off x="371230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5B1DC-C5B5-FB75-7626-7A7C9BE318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61999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1952AB-C157-CE00-BF92-966459005C50}"/>
              </a:ext>
            </a:extLst>
          </p:cNvPr>
          <p:cNvSpPr/>
          <p:nvPr/>
        </p:nvSpPr>
        <p:spPr>
          <a:xfrm>
            <a:off x="371229" y="481513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3B0029-E241-72FF-21CF-52BFBAF38CD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61998" y="450929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BFC47-BFF8-471D-2FA5-1979FAA94575}"/>
              </a:ext>
            </a:extLst>
          </p:cNvPr>
          <p:cNvSpPr/>
          <p:nvPr/>
        </p:nvSpPr>
        <p:spPr>
          <a:xfrm>
            <a:off x="2239106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113BEE-D779-A71F-EB35-D1D5CFA57AF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29875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0A8954-CEE3-66C1-2DC5-64DB179F223C}"/>
              </a:ext>
            </a:extLst>
          </p:cNvPr>
          <p:cNvSpPr/>
          <p:nvPr/>
        </p:nvSpPr>
        <p:spPr>
          <a:xfrm>
            <a:off x="3197467" y="405301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A2C84-EEFD-CFE9-735B-AE752E82936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588236" y="374717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CBC03FC-8EC4-7E10-E8D2-B5F3F3D88860}"/>
              </a:ext>
            </a:extLst>
          </p:cNvPr>
          <p:cNvSpPr/>
          <p:nvPr/>
        </p:nvSpPr>
        <p:spPr>
          <a:xfrm>
            <a:off x="2239105" y="4830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DBFF44-9D3F-662B-B357-9ECF7110539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2629874" y="452419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0A483-8822-FC2F-5DCB-600D72B0A613}"/>
              </a:ext>
            </a:extLst>
          </p:cNvPr>
          <p:cNvSpPr/>
          <p:nvPr/>
        </p:nvSpPr>
        <p:spPr>
          <a:xfrm>
            <a:off x="3196491" y="32702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923B8D-2958-1999-998B-28DF7145900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587260" y="296441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F464CDC-E66C-913C-C60F-0DCB498A09F4}"/>
              </a:ext>
            </a:extLst>
          </p:cNvPr>
          <p:cNvSpPr/>
          <p:nvPr/>
        </p:nvSpPr>
        <p:spPr>
          <a:xfrm>
            <a:off x="8780585" y="168543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EEBC48-940B-2F8E-29EE-A95241E1E3B4}"/>
              </a:ext>
            </a:extLst>
          </p:cNvPr>
          <p:cNvSpPr/>
          <p:nvPr/>
        </p:nvSpPr>
        <p:spPr>
          <a:xfrm>
            <a:off x="7846647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6D1A21-259D-9777-ACFC-B6A51880F497}"/>
              </a:ext>
            </a:extLst>
          </p:cNvPr>
          <p:cNvSpPr/>
          <p:nvPr/>
        </p:nvSpPr>
        <p:spPr>
          <a:xfrm>
            <a:off x="8780586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FBC283-32CE-F8F3-FD2D-0E39E3C40BDE}"/>
              </a:ext>
            </a:extLst>
          </p:cNvPr>
          <p:cNvSpPr/>
          <p:nvPr/>
        </p:nvSpPr>
        <p:spPr>
          <a:xfrm>
            <a:off x="9714525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630BAA-5F80-B1E6-37CB-02486E9F8EE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8237417" y="216217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8E0DF0-D944-AD93-5FBE-33A21FB31FBF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9171355" y="216217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D2531A-63D1-BF6A-4742-9712714F1B9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9171355" y="216217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0A01C937-47A1-0893-BD89-685DC6FD70AD}"/>
              </a:ext>
            </a:extLst>
          </p:cNvPr>
          <p:cNvSpPr/>
          <p:nvPr/>
        </p:nvSpPr>
        <p:spPr>
          <a:xfrm>
            <a:off x="8874369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B0F89-8C26-538F-95C9-29D7E468C31F}"/>
              </a:ext>
            </a:extLst>
          </p:cNvPr>
          <p:cNvSpPr/>
          <p:nvPr/>
        </p:nvSpPr>
        <p:spPr>
          <a:xfrm>
            <a:off x="9808308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182A26-50BF-E396-D7D4-6752AD06F603}"/>
              </a:ext>
            </a:extLst>
          </p:cNvPr>
          <p:cNvSpPr/>
          <p:nvPr/>
        </p:nvSpPr>
        <p:spPr>
          <a:xfrm>
            <a:off x="1074224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468C6A-5C2E-DE5D-6301-152371E32246}"/>
              </a:ext>
            </a:extLst>
          </p:cNvPr>
          <p:cNvCxnSpPr>
            <a:cxnSpLocks/>
            <a:endCxn id="71" idx="0"/>
          </p:cNvCxnSpPr>
          <p:nvPr/>
        </p:nvCxnSpPr>
        <p:spPr>
          <a:xfrm flipH="1">
            <a:off x="9265139" y="295821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D29E95-8AC9-07A4-DC6F-AF5D6F22CA0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0199077" y="295821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3A567B-6ED7-7832-BAE5-DCAE357C2553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199077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EFDB50-7B50-D84A-E1C6-4BE4C261E45E}"/>
              </a:ext>
            </a:extLst>
          </p:cNvPr>
          <p:cNvSpPr/>
          <p:nvPr/>
        </p:nvSpPr>
        <p:spPr>
          <a:xfrm>
            <a:off x="8874369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E4A4CAA-6913-AA4C-797E-93303C5A534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265138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1BD8F-6BBE-AB80-8F44-6B03AC80A4A8}"/>
              </a:ext>
            </a:extLst>
          </p:cNvPr>
          <p:cNvSpPr/>
          <p:nvPr/>
        </p:nvSpPr>
        <p:spPr>
          <a:xfrm>
            <a:off x="8874368" y="480988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03909-4829-5BC5-35D9-C2E9171BAA9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9265137" y="450404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BA854A6-85C4-AA8E-7293-57283701D3D1}"/>
              </a:ext>
            </a:extLst>
          </p:cNvPr>
          <p:cNvSpPr/>
          <p:nvPr/>
        </p:nvSpPr>
        <p:spPr>
          <a:xfrm>
            <a:off x="10742245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32D70D-F046-29CF-C80A-3004DA223B1F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1133014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298F532-1193-5CB0-519F-EC6595472F2D}"/>
              </a:ext>
            </a:extLst>
          </p:cNvPr>
          <p:cNvSpPr/>
          <p:nvPr/>
        </p:nvSpPr>
        <p:spPr>
          <a:xfrm>
            <a:off x="7820273" y="404681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3C2930-134A-A119-8CA6-72DF82E0D4E2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211042" y="374097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65BD30A-D997-DBBF-C0D1-3CA7E2F11D6F}"/>
              </a:ext>
            </a:extLst>
          </p:cNvPr>
          <p:cNvSpPr/>
          <p:nvPr/>
        </p:nvSpPr>
        <p:spPr>
          <a:xfrm>
            <a:off x="10742244" y="482478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EDC2E8-C188-B272-92F3-67528FFE028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133013" y="451894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B4576F-5369-308A-CBA7-F3090C69203E}"/>
              </a:ext>
            </a:extLst>
          </p:cNvPr>
          <p:cNvSpPr/>
          <p:nvPr/>
        </p:nvSpPr>
        <p:spPr>
          <a:xfrm>
            <a:off x="781929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61DC995-6165-5DBA-769F-1026E924B366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210066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8E5515B-F21B-E5D4-C507-57DB78276552}"/>
              </a:ext>
            </a:extLst>
          </p:cNvPr>
          <p:cNvSpPr txBox="1"/>
          <p:nvPr/>
        </p:nvSpPr>
        <p:spPr>
          <a:xfrm>
            <a:off x="4337536" y="1773776"/>
            <a:ext cx="328246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/>
              <a:t>But what if we were building parse trees for 2+7*9 instead?</a:t>
            </a:r>
          </a:p>
          <a:p>
            <a:endParaRPr lang="en-GB" sz="2800" dirty="0"/>
          </a:p>
          <a:p>
            <a:r>
              <a:rPr lang="en-GB" sz="2800" dirty="0"/>
              <a:t>The right tree represents 2+(7*9).</a:t>
            </a:r>
          </a:p>
          <a:p>
            <a:r>
              <a:rPr lang="en-GB" sz="2800" dirty="0"/>
              <a:t>The left one represents (2+7)*9.</a:t>
            </a:r>
          </a:p>
          <a:p>
            <a:endParaRPr lang="en-GB" sz="2800" dirty="0"/>
          </a:p>
          <a:p>
            <a:r>
              <a:rPr lang="en-GB" sz="2800" dirty="0"/>
              <a:t>The order matters in that case!</a:t>
            </a:r>
            <a:endParaRPr lang="en-SG" sz="2800" dirty="0"/>
          </a:p>
        </p:txBody>
      </p:sp>
    </p:spTree>
    <p:extLst>
      <p:ext uri="{BB962C8B-B14F-4D97-AF65-F5344CB8AC3E}">
        <p14:creationId xmlns:p14="http://schemas.microsoft.com/office/powerpoint/2010/main" val="34273030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B7C5E-FD03-002F-0CC3-E60C52AE3C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Ambiguity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DD479-8B1B-7591-BFF9-6F85691256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Ambiguity</a:t>
            </a:r>
            <a:r>
              <a:rPr lang="en-GB" b="1" dirty="0"/>
              <a:t> in a CFG derivation):</a:t>
            </a:r>
          </a:p>
          <a:p>
            <a:pPr marL="0" indent="0">
              <a:buNone/>
            </a:pPr>
            <a:r>
              <a:rPr lang="en-SG" dirty="0"/>
              <a:t>When using a CFG to check the syntax validity of an expression and building a parse tree, we say that a </a:t>
            </a:r>
            <a:r>
              <a:rPr lang="en-SG" b="1" dirty="0"/>
              <a:t>CFG is </a:t>
            </a:r>
            <a:r>
              <a:rPr lang="en-SG" b="1" dirty="0">
                <a:solidFill>
                  <a:srgbClr val="00B050"/>
                </a:solidFill>
              </a:rPr>
              <a:t>ambiguous</a:t>
            </a:r>
            <a:r>
              <a:rPr lang="en-SG" b="1" dirty="0"/>
              <a:t> </a:t>
            </a:r>
            <a:r>
              <a:rPr lang="en-SG" dirty="0"/>
              <a:t>if it can lead to two different derivations with two different parse trees.</a:t>
            </a:r>
          </a:p>
          <a:p>
            <a:pPr marL="0" indent="0">
              <a:buNone/>
            </a:pPr>
            <a:r>
              <a:rPr lang="en-SG" dirty="0"/>
              <a:t>In the case of arithmetic expressions and programming languages, ambiguity could prove problematic, because it means that</a:t>
            </a:r>
          </a:p>
          <a:p>
            <a:r>
              <a:rPr lang="en-SG" dirty="0"/>
              <a:t>Two different derivations might exist,</a:t>
            </a:r>
          </a:p>
          <a:p>
            <a:r>
              <a:rPr lang="en-SG" dirty="0"/>
              <a:t>Producing two different parse trees,</a:t>
            </a:r>
          </a:p>
          <a:p>
            <a:r>
              <a:rPr lang="en-SG" dirty="0"/>
              <a:t>And the result of both operations following the two parse trees might differ and lead to different outcomes for a given program (not good!).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61991081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9B50-05EE-79A2-8BBF-3043FB9C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ambiguity algorithmically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0841-DDA4-A71E-A971-1987BAA4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Theorem (On checking the ambiguity of a CFG algorithmically):</a:t>
            </a:r>
          </a:p>
          <a:p>
            <a:pPr marL="0" indent="0">
              <a:buNone/>
            </a:pPr>
            <a:r>
              <a:rPr lang="en-GB" dirty="0"/>
              <a:t>For any given CFG… </a:t>
            </a:r>
            <a:r>
              <a:rPr lang="en-GB" b="1" u="sng" dirty="0">
                <a:solidFill>
                  <a:srgbClr val="C00000"/>
                </a:solidFill>
              </a:rPr>
              <a:t>There is no algorithm to check if a given CFG is ambiguous or not.</a:t>
            </a:r>
          </a:p>
          <a:p>
            <a:pPr marL="0" indent="0">
              <a:buNone/>
            </a:pPr>
            <a:r>
              <a:rPr lang="en-GB" dirty="0"/>
              <a:t>This is known as the ambiguity problem for context-free grammars, and it is proven to be an </a:t>
            </a:r>
            <a:r>
              <a:rPr lang="en-GB" b="1" dirty="0"/>
              <a:t>undecidable</a:t>
            </a:r>
            <a:r>
              <a:rPr lang="en-GB" dirty="0"/>
              <a:t> </a:t>
            </a:r>
            <a:r>
              <a:rPr lang="en-GB" b="1" dirty="0"/>
              <a:t>problem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7698264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9B50-05EE-79A2-8BBF-3043FB9C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ambiguity algorithmically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0841-DDA4-A71E-A971-1987BAA4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Theorem (On checking the ambiguity of a CFG algorithmically):</a:t>
            </a:r>
          </a:p>
          <a:p>
            <a:pPr marL="0" indent="0">
              <a:buNone/>
            </a:pPr>
            <a:r>
              <a:rPr lang="en-GB" dirty="0"/>
              <a:t>For any given CFG… </a:t>
            </a:r>
            <a:r>
              <a:rPr lang="en-GB" b="1" u="sng" dirty="0">
                <a:solidFill>
                  <a:srgbClr val="C00000"/>
                </a:solidFill>
              </a:rPr>
              <a:t>There is no algorithm to check if a given CFG is ambiguous or not.</a:t>
            </a:r>
          </a:p>
          <a:p>
            <a:pPr marL="0" indent="0">
              <a:buNone/>
            </a:pPr>
            <a:r>
              <a:rPr lang="en-GB" dirty="0"/>
              <a:t>This is known as the ambiguity problem for context-free grammars, and it is proven to be an </a:t>
            </a:r>
            <a:r>
              <a:rPr lang="en-GB" b="1" dirty="0"/>
              <a:t>undecidable</a:t>
            </a:r>
            <a:r>
              <a:rPr lang="en-GB" dirty="0"/>
              <a:t> </a:t>
            </a:r>
            <a:r>
              <a:rPr lang="en-GB" b="1" dirty="0"/>
              <a:t>problem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i="1" dirty="0"/>
              <a:t>(</a:t>
            </a:r>
            <a:r>
              <a:rPr lang="en-GB" b="1" i="1" dirty="0"/>
              <a:t>Note: </a:t>
            </a:r>
            <a:r>
              <a:rPr lang="en-GB" i="1" dirty="0"/>
              <a:t>Similarly, there is no general algorithm that can determine whether a given program contains an infinite loop. This undecidable problem is known as the Halting problem. It means that you cannot define a compiler program that can check for the presence of infinite loops in the compiled source code. Sad!)</a:t>
            </a:r>
            <a:endParaRPr lang="en-SG" i="1" dirty="0"/>
          </a:p>
        </p:txBody>
      </p:sp>
    </p:spTree>
    <p:extLst>
      <p:ext uri="{BB962C8B-B14F-4D97-AF65-F5344CB8AC3E}">
        <p14:creationId xmlns:p14="http://schemas.microsoft.com/office/powerpoint/2010/main" val="369983227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89B50-05EE-79A2-8BBF-3043FB9C4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Checking ambiguity algorithmically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890841-DDA4-A71E-A971-1987BAA44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Theorem (On checking the ambiguity of a CFG algorithmically):</a:t>
            </a:r>
          </a:p>
          <a:p>
            <a:pPr marL="0" indent="0">
              <a:buNone/>
            </a:pPr>
            <a:r>
              <a:rPr lang="en-GB" dirty="0"/>
              <a:t>For any given CFG… </a:t>
            </a:r>
            <a:r>
              <a:rPr lang="en-GB" b="1" u="sng" dirty="0">
                <a:solidFill>
                  <a:srgbClr val="C00000"/>
                </a:solidFill>
              </a:rPr>
              <a:t>There is no algorithm to check if a given CFG is ambiguous or not.</a:t>
            </a:r>
          </a:p>
          <a:p>
            <a:pPr marL="0" indent="0">
              <a:buNone/>
            </a:pPr>
            <a:r>
              <a:rPr lang="en-GB" dirty="0"/>
              <a:t>This is known as the ambiguity problem for context-free grammars, and it is proven to be an </a:t>
            </a:r>
            <a:r>
              <a:rPr lang="en-GB" b="1" dirty="0"/>
              <a:t>undecidable</a:t>
            </a:r>
            <a:r>
              <a:rPr lang="en-GB" dirty="0"/>
              <a:t> </a:t>
            </a:r>
            <a:r>
              <a:rPr lang="en-GB" b="1" dirty="0"/>
              <a:t>problem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There are however </a:t>
            </a:r>
            <a:r>
              <a:rPr lang="en-GB" b="1" dirty="0"/>
              <a:t>manual methods </a:t>
            </a:r>
            <a:r>
              <a:rPr lang="en-GB" dirty="0"/>
              <a:t>for designing CFGs that will be guaranteed to be non-ambiguous.</a:t>
            </a:r>
          </a:p>
          <a:p>
            <a:pPr marL="0" indent="0">
              <a:buNone/>
            </a:pPr>
            <a:r>
              <a:rPr lang="en-GB" dirty="0"/>
              <a:t>We will investigate them on an upcoming lecture.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109257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8D14-9539-35AC-C0DA-7E5149E0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Ambiguous grammars and compilers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860A-8D88-72F8-8CED-D3517E9CF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Ambiguous grammars can cause significant problems in compilers.</a:t>
            </a:r>
          </a:p>
          <a:p>
            <a:r>
              <a:rPr lang="en-GB" dirty="0"/>
              <a:t>They make it challenging to derive the intended meaning or structure of the input program.</a:t>
            </a:r>
          </a:p>
          <a:p>
            <a:r>
              <a:rPr lang="en-GB" dirty="0"/>
              <a:t>Moreover, they can lead to incorrect parsing, which may result in incorrect intermediate code generation or even compiler crashes.</a:t>
            </a:r>
          </a:p>
          <a:p>
            <a:r>
              <a:rPr lang="en-GB" dirty="0"/>
              <a:t>Therefore, it is crucial to eliminate ambiguity in context-free grammars used in compiler design.</a:t>
            </a:r>
          </a:p>
          <a:p>
            <a:endParaRPr lang="en-GB" dirty="0"/>
          </a:p>
          <a:p>
            <a:pPr marL="0" indent="0">
              <a:buNone/>
            </a:pPr>
            <a:r>
              <a:rPr lang="en-GB" dirty="0"/>
              <a:t>While checking that a CFG might be ambiguous is impossible algorithmically, there are however </a:t>
            </a:r>
            <a:r>
              <a:rPr lang="en-GB" b="1" dirty="0"/>
              <a:t>manual methods </a:t>
            </a:r>
            <a:r>
              <a:rPr lang="en-GB" dirty="0"/>
              <a:t>for designing CFGs that will be non-ambiguous.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358861763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8D14-9539-35AC-C0DA-7E5149E0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Ambiguous grammars and compilers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860A-8D88-72F8-8CED-D3517E9CF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Not all context-free grammars can be made non-ambiguous.</a:t>
            </a:r>
          </a:p>
          <a:p>
            <a:r>
              <a:rPr lang="en-GB" dirty="0"/>
              <a:t>Most CFGs used in programming, such as the CFG for checking balanced parentheses or the CFG for arithmetic expressions, can be represented using non-ambiguous grammars (that’s a relief!).</a:t>
            </a:r>
          </a:p>
          <a:p>
            <a:r>
              <a:rPr lang="en-GB" b="1" dirty="0"/>
              <a:t>But, ultimately, it is your responsibility as a programming language designer to define rules for the syntax of your programming language that can be translated into non-ambiguous CFGs!</a:t>
            </a:r>
          </a:p>
          <a:p>
            <a:r>
              <a:rPr lang="en-GB" dirty="0"/>
              <a:t>Keep in mind that ambiguous grammars can often appear more concise or easier to define than their non-ambiguous counterparts. However, the problems they cause in compiler design often outweigh the benefits of simplicity or conciseness.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8792968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E8D14-9539-35AC-C0DA-7E5149E03B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Ambiguous grammars and compilers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8F860A-8D88-72F8-8CED-D3517E9CF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To ensure that there is only one correct parse tree for a given string, it is essential to eliminate ambiguity in the grammar.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r>
              <a:rPr lang="en-GB" dirty="0"/>
              <a:t>Some techniques for resolving ambiguity in CFGs manually, will be discussed later during this lecture: </a:t>
            </a:r>
          </a:p>
          <a:p>
            <a:r>
              <a:rPr lang="en-GB" b="1" dirty="0"/>
              <a:t>Rewriting the grammar entirely,</a:t>
            </a:r>
          </a:p>
          <a:p>
            <a:r>
              <a:rPr lang="en-GB" b="1" dirty="0"/>
              <a:t>Introducing precedence,</a:t>
            </a:r>
          </a:p>
          <a:p>
            <a:r>
              <a:rPr lang="en-GB" b="1" dirty="0"/>
              <a:t>Introducing delimiters,</a:t>
            </a:r>
          </a:p>
          <a:p>
            <a:r>
              <a:rPr lang="en-GB" b="1" dirty="0"/>
              <a:t>Introducing associativity rules.</a:t>
            </a:r>
          </a:p>
          <a:p>
            <a:pPr marL="0" indent="0">
              <a:buNone/>
            </a:pPr>
            <a:r>
              <a:rPr lang="en-GB" dirty="0"/>
              <a:t>But for now…</a:t>
            </a:r>
          </a:p>
        </p:txBody>
      </p:sp>
    </p:spTree>
    <p:extLst>
      <p:ext uri="{BB962C8B-B14F-4D97-AF65-F5344CB8AC3E}">
        <p14:creationId xmlns:p14="http://schemas.microsoft.com/office/powerpoint/2010/main" val="919739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Context-Free Grammar (CFG)?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set of rules that can generate all strings in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method for tokenizing source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formal system for describing the structure of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technique for optimizing compiler performance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190027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Context-Free Grammar (CFG)?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set of rules that can generate all strings in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method for tokenizing source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A formal system for describing the structure of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technique for optimizing compiler performance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25112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best describes a production rule in a CFG?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scanning the input text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optimizing the generated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reducing the number of steps in a computation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replacing a non-terminal symbol with a sequence of terminal and non-terminal symbols</a:t>
            </a:r>
          </a:p>
        </p:txBody>
      </p:sp>
    </p:spTree>
    <p:extLst>
      <p:ext uri="{BB962C8B-B14F-4D97-AF65-F5344CB8AC3E}">
        <p14:creationId xmlns:p14="http://schemas.microsoft.com/office/powerpoint/2010/main" val="61394829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Which of the following best describes a production rule in a CFG?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scanning the input text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optimizing the generated code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rule for reducing the number of steps in a computation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A rule for replacing a non-terminal symbol with a sequence of terminal and non-terminal symbols</a:t>
            </a:r>
          </a:p>
        </p:txBody>
      </p:sp>
    </p:spTree>
    <p:extLst>
      <p:ext uri="{BB962C8B-B14F-4D97-AF65-F5344CB8AC3E}">
        <p14:creationId xmlns:p14="http://schemas.microsoft.com/office/powerpoint/2010/main" val="414541478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derivation in the context of CFGs?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breaking down a string into its constituent tokens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generating code for a given input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applying production rules to generate a string in the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defining and optimizing the structure of a parse tree</a:t>
            </a:r>
          </a:p>
        </p:txBody>
      </p:sp>
    </p:spTree>
    <p:extLst>
      <p:ext uri="{BB962C8B-B14F-4D97-AF65-F5344CB8AC3E}">
        <p14:creationId xmlns:p14="http://schemas.microsoft.com/office/powerpoint/2010/main" val="374152698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derivation in the context of CFGs?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breaking down a string into its constituent tokens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generating code for a given input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The process of applying production rules to generate a string in the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The process of defining and optimizing the structure of a parse tree</a:t>
            </a:r>
          </a:p>
        </p:txBody>
      </p:sp>
    </p:spTree>
    <p:extLst>
      <p:ext uri="{BB962C8B-B14F-4D97-AF65-F5344CB8AC3E}">
        <p14:creationId xmlns:p14="http://schemas.microsoft.com/office/powerpoint/2010/main" val="189526444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parse tree?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data structure for representing the structure of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tree used for optimizing compiler performance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tree representing the derivation of a string using a CFG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tree used for breaking down a string into tokens</a:t>
            </a:r>
          </a:p>
        </p:txBody>
      </p:sp>
    </p:spTree>
    <p:extLst>
      <p:ext uri="{BB962C8B-B14F-4D97-AF65-F5344CB8AC3E}">
        <p14:creationId xmlns:p14="http://schemas.microsoft.com/office/powerpoint/2010/main" val="186299953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64419-50D7-EAAE-D1D9-9B6F9AFCC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3FFFB-23EE-5ADF-AD89-962142F8E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 parse tree?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data structure for representing the structure of a language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tree used for optimizing compiler performance 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A tree representing the derivation of a string using a CFG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tree used for breaking down a string into tokens</a:t>
            </a:r>
          </a:p>
        </p:txBody>
      </p:sp>
    </p:spTree>
    <p:extLst>
      <p:ext uri="{BB962C8B-B14F-4D97-AF65-F5344CB8AC3E}">
        <p14:creationId xmlns:p14="http://schemas.microsoft.com/office/powerpoint/2010/main" val="428323161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FB4E-FAC6-8FD9-B0A8-13783F35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7F708-D74B-8C3B-4E69-83F28838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an ambiguous context-free grammar?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that can generate two different strings for the same derivation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whose production rules cannot produce a result string consisting of terminal symbols only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that generates only one parse tree for each string 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that can generate more than one parse tree for the same string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7465372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8FB4E-FAC6-8FD9-B0A8-13783F35C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17F708-D74B-8C3B-4E69-83F28838A9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b="1" dirty="0"/>
              <a:t>What is an ambiguous context-free grammar?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that can generate two different strings for the same derivation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whose production rules cannot produce a result string consisting of terminal symbols only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 grammar that generates only one parse tree for each string 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A grammar that can generate more than one parse tree for the same string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08443531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EF25B-2BB2-FFE2-FA9E-88137DCFE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Rewriting a CFG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6A610E-0052-61E9-02BD-5559E5E92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All approaches to eliminate ambiguity will require to </a:t>
            </a:r>
            <a:r>
              <a:rPr lang="en-GB" b="1" dirty="0"/>
              <a:t>rewrite the grammar</a:t>
            </a:r>
            <a:r>
              <a:rPr lang="en-GB" dirty="0"/>
              <a:t>, in a way that eliminates the possibility of having multiple parse trees for a given input string.</a:t>
            </a:r>
          </a:p>
          <a:p>
            <a:pPr marL="0" indent="0">
              <a:buNone/>
            </a:pPr>
            <a:r>
              <a:rPr lang="en-GB" dirty="0"/>
              <a:t>The rewriting task involves following simple rules that will:</a:t>
            </a:r>
          </a:p>
          <a:p>
            <a:r>
              <a:rPr lang="en-GB" b="1" dirty="0"/>
              <a:t>Restructure the production rules,</a:t>
            </a:r>
          </a:p>
          <a:p>
            <a:r>
              <a:rPr lang="en-GB" b="1" dirty="0"/>
              <a:t>And/or introduce new non-terminal symbols to more clearly define the intended structure of the language.</a:t>
            </a:r>
          </a:p>
          <a:p>
            <a:pPr marL="0" indent="0">
              <a:buNone/>
            </a:pPr>
            <a:r>
              <a:rPr lang="en-GB" dirty="0"/>
              <a:t>By doing this, we ensure that there is only one possible derivation for each string, leading to a unique parse tree.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7465570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first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an example… </a:t>
                </a:r>
              </a:p>
              <a:p>
                <a:pPr marL="0" indent="0">
                  <a:buNone/>
                </a:pPr>
                <a:r>
                  <a:rPr lang="en-GB" dirty="0"/>
                  <a:t>Consider the CFG for simplified arithmetic expressions using positive integers, additions and multiplications below.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∗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>This grammar is ambiguous, because it does not specify the precedence order of + and *.</a:t>
            </a:r>
          </a:p>
          <a:p>
            <a:pPr marL="0" indent="0">
              <a:buNone/>
            </a:pPr>
            <a:r>
              <a:rPr lang="en-SG" dirty="0"/>
              <a:t>As we have seen in the previous lesson, it might lead to two different parse trees for the string 2*3+7, with completely different behaviours corresponding to two operations:</a:t>
            </a:r>
          </a:p>
          <a:p>
            <a:r>
              <a:rPr lang="en-SG" dirty="0"/>
              <a:t>(2*3)+7</a:t>
            </a:r>
          </a:p>
          <a:p>
            <a:r>
              <a:rPr lang="en-SG" dirty="0"/>
              <a:t>2*(3+7)</a:t>
            </a:r>
          </a:p>
          <a:p>
            <a:pPr marL="0" indent="0">
              <a:buNone/>
            </a:pPr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2935424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88A73-AB6E-85CA-8695-BCAC264AE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Two parse trees for 2+7*9</a:t>
            </a:r>
            <a:endParaRPr lang="en-SG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8C0558F-1CE1-33D7-D831-F6D521EDEE53}"/>
              </a:ext>
            </a:extLst>
          </p:cNvPr>
          <p:cNvSpPr/>
          <p:nvPr/>
        </p:nvSpPr>
        <p:spPr>
          <a:xfrm>
            <a:off x="2239106" y="169068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47E811E-11CB-1C47-0B2A-318CA5608177}"/>
              </a:ext>
            </a:extLst>
          </p:cNvPr>
          <p:cNvSpPr/>
          <p:nvPr/>
        </p:nvSpPr>
        <p:spPr>
          <a:xfrm>
            <a:off x="1305168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E132E48-2854-532E-1DE9-2C3F9A1662ED}"/>
              </a:ext>
            </a:extLst>
          </p:cNvPr>
          <p:cNvSpPr/>
          <p:nvPr/>
        </p:nvSpPr>
        <p:spPr>
          <a:xfrm>
            <a:off x="2239107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D909EC1-91AD-2426-D0C2-694DE35FAE02}"/>
              </a:ext>
            </a:extLst>
          </p:cNvPr>
          <p:cNvSpPr/>
          <p:nvPr/>
        </p:nvSpPr>
        <p:spPr>
          <a:xfrm>
            <a:off x="3173046" y="247326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E491B554-59CC-F7FF-1D40-DD3E3D57EBBF}"/>
              </a:ext>
            </a:extLst>
          </p:cNvPr>
          <p:cNvCxnSpPr>
            <a:cxnSpLocks/>
            <a:stCxn id="33" idx="2"/>
            <a:endCxn id="34" idx="0"/>
          </p:cNvCxnSpPr>
          <p:nvPr/>
        </p:nvCxnSpPr>
        <p:spPr>
          <a:xfrm flipH="1">
            <a:off x="1695938" y="216742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7F706D1B-D1D7-3535-B4FF-F196E21FF533}"/>
              </a:ext>
            </a:extLst>
          </p:cNvPr>
          <p:cNvCxnSpPr>
            <a:cxnSpLocks/>
            <a:stCxn id="33" idx="2"/>
            <a:endCxn id="36" idx="0"/>
          </p:cNvCxnSpPr>
          <p:nvPr/>
        </p:nvCxnSpPr>
        <p:spPr>
          <a:xfrm>
            <a:off x="2629876" y="216742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9291125F-EBC3-33D0-3A8F-29D451F96EFF}"/>
              </a:ext>
            </a:extLst>
          </p:cNvPr>
          <p:cNvCxnSpPr>
            <a:cxnSpLocks/>
            <a:stCxn id="33" idx="2"/>
            <a:endCxn id="35" idx="0"/>
          </p:cNvCxnSpPr>
          <p:nvPr/>
        </p:nvCxnSpPr>
        <p:spPr>
          <a:xfrm>
            <a:off x="2629876" y="216742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>
            <a:extLst>
              <a:ext uri="{FF2B5EF4-FFF2-40B4-BE49-F238E27FC236}">
                <a16:creationId xmlns:a16="http://schemas.microsoft.com/office/drawing/2014/main" id="{630AC647-9774-5C62-02D6-8AFA10DA088F}"/>
              </a:ext>
            </a:extLst>
          </p:cNvPr>
          <p:cNvSpPr/>
          <p:nvPr/>
        </p:nvSpPr>
        <p:spPr>
          <a:xfrm>
            <a:off x="371230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731DF38-A309-D4B4-5442-0547B01BD9B9}"/>
              </a:ext>
            </a:extLst>
          </p:cNvPr>
          <p:cNvSpPr/>
          <p:nvPr/>
        </p:nvSpPr>
        <p:spPr>
          <a:xfrm>
            <a:off x="1305169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6DBBA65-B1B5-3746-87E2-E183779512D8}"/>
              </a:ext>
            </a:extLst>
          </p:cNvPr>
          <p:cNvSpPr/>
          <p:nvPr/>
        </p:nvSpPr>
        <p:spPr>
          <a:xfrm>
            <a:off x="2239108" y="32693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520C0C3-ECAB-E994-46E2-29E2BC13E326}"/>
              </a:ext>
            </a:extLst>
          </p:cNvPr>
          <p:cNvCxnSpPr>
            <a:cxnSpLocks/>
            <a:endCxn id="40" idx="0"/>
          </p:cNvCxnSpPr>
          <p:nvPr/>
        </p:nvCxnSpPr>
        <p:spPr>
          <a:xfrm flipH="1">
            <a:off x="762000" y="296346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4082E6E4-6C9C-5FA6-72EA-FB5C9846F109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1695938" y="296346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301C30B-237D-745E-B791-16DE4E74CDF4}"/>
              </a:ext>
            </a:extLst>
          </p:cNvPr>
          <p:cNvCxnSpPr>
            <a:cxnSpLocks/>
            <a:endCxn id="41" idx="0"/>
          </p:cNvCxnSpPr>
          <p:nvPr/>
        </p:nvCxnSpPr>
        <p:spPr>
          <a:xfrm>
            <a:off x="1695938" y="29634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>
            <a:extLst>
              <a:ext uri="{FF2B5EF4-FFF2-40B4-BE49-F238E27FC236}">
                <a16:creationId xmlns:a16="http://schemas.microsoft.com/office/drawing/2014/main" id="{2602ED95-8881-1564-47F1-2A06028DD10D}"/>
              </a:ext>
            </a:extLst>
          </p:cNvPr>
          <p:cNvSpPr/>
          <p:nvPr/>
        </p:nvSpPr>
        <p:spPr>
          <a:xfrm>
            <a:off x="371230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8D5B1DC-C5B5-FB75-7626-7A7C9BE3188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761999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>
            <a:extLst>
              <a:ext uri="{FF2B5EF4-FFF2-40B4-BE49-F238E27FC236}">
                <a16:creationId xmlns:a16="http://schemas.microsoft.com/office/drawing/2014/main" id="{791952AB-C157-CE00-BF92-966459005C50}"/>
              </a:ext>
            </a:extLst>
          </p:cNvPr>
          <p:cNvSpPr/>
          <p:nvPr/>
        </p:nvSpPr>
        <p:spPr>
          <a:xfrm>
            <a:off x="371229" y="481513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23B0029-E241-72FF-21CF-52BFBAF38CD4}"/>
              </a:ext>
            </a:extLst>
          </p:cNvPr>
          <p:cNvCxnSpPr>
            <a:cxnSpLocks/>
            <a:endCxn id="48" idx="0"/>
          </p:cNvCxnSpPr>
          <p:nvPr/>
        </p:nvCxnSpPr>
        <p:spPr>
          <a:xfrm>
            <a:off x="761998" y="450929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CF5BFC47-BFF8-471D-2FA5-1979FAA94575}"/>
              </a:ext>
            </a:extLst>
          </p:cNvPr>
          <p:cNvSpPr/>
          <p:nvPr/>
        </p:nvSpPr>
        <p:spPr>
          <a:xfrm>
            <a:off x="2239106" y="405187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F113BEE-D779-A71F-EB35-D1D5CFA57AF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2629875" y="374604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370A8954-CEE3-66C1-2DC5-64DB179F223C}"/>
              </a:ext>
            </a:extLst>
          </p:cNvPr>
          <p:cNvSpPr/>
          <p:nvPr/>
        </p:nvSpPr>
        <p:spPr>
          <a:xfrm>
            <a:off x="3197467" y="405301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E3A2C84-EEFD-CFE9-735B-AE752E82936F}"/>
              </a:ext>
            </a:extLst>
          </p:cNvPr>
          <p:cNvCxnSpPr>
            <a:cxnSpLocks/>
            <a:endCxn id="52" idx="0"/>
          </p:cNvCxnSpPr>
          <p:nvPr/>
        </p:nvCxnSpPr>
        <p:spPr>
          <a:xfrm>
            <a:off x="3588236" y="374717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6CBC03FC-8EC4-7E10-E8D2-B5F3F3D88860}"/>
              </a:ext>
            </a:extLst>
          </p:cNvPr>
          <p:cNvSpPr/>
          <p:nvPr/>
        </p:nvSpPr>
        <p:spPr>
          <a:xfrm>
            <a:off x="2239105" y="4830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1DBFF44-9D3F-662B-B357-9ECF71105398}"/>
              </a:ext>
            </a:extLst>
          </p:cNvPr>
          <p:cNvCxnSpPr>
            <a:cxnSpLocks/>
            <a:endCxn id="56" idx="0"/>
          </p:cNvCxnSpPr>
          <p:nvPr/>
        </p:nvCxnSpPr>
        <p:spPr>
          <a:xfrm>
            <a:off x="2629874" y="452419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61">
            <a:extLst>
              <a:ext uri="{FF2B5EF4-FFF2-40B4-BE49-F238E27FC236}">
                <a16:creationId xmlns:a16="http://schemas.microsoft.com/office/drawing/2014/main" id="{1C20A483-8822-FC2F-5DCB-600D72B0A613}"/>
              </a:ext>
            </a:extLst>
          </p:cNvPr>
          <p:cNvSpPr/>
          <p:nvPr/>
        </p:nvSpPr>
        <p:spPr>
          <a:xfrm>
            <a:off x="3196491" y="32702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12923B8D-2958-1999-998B-28DF7145900A}"/>
              </a:ext>
            </a:extLst>
          </p:cNvPr>
          <p:cNvCxnSpPr>
            <a:cxnSpLocks/>
            <a:endCxn id="62" idx="0"/>
          </p:cNvCxnSpPr>
          <p:nvPr/>
        </p:nvCxnSpPr>
        <p:spPr>
          <a:xfrm>
            <a:off x="3587260" y="2964413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Rectangle 63">
            <a:extLst>
              <a:ext uri="{FF2B5EF4-FFF2-40B4-BE49-F238E27FC236}">
                <a16:creationId xmlns:a16="http://schemas.microsoft.com/office/drawing/2014/main" id="{6F464CDC-E66C-913C-C60F-0DCB498A09F4}"/>
              </a:ext>
            </a:extLst>
          </p:cNvPr>
          <p:cNvSpPr/>
          <p:nvPr/>
        </p:nvSpPr>
        <p:spPr>
          <a:xfrm>
            <a:off x="8780585" y="1685438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EEBC48-940B-2F8E-29EE-A95241E1E3B4}"/>
              </a:ext>
            </a:extLst>
          </p:cNvPr>
          <p:cNvSpPr/>
          <p:nvPr/>
        </p:nvSpPr>
        <p:spPr>
          <a:xfrm>
            <a:off x="7846647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636D1A21-259D-9777-ACFC-B6A51880F497}"/>
              </a:ext>
            </a:extLst>
          </p:cNvPr>
          <p:cNvSpPr/>
          <p:nvPr/>
        </p:nvSpPr>
        <p:spPr>
          <a:xfrm>
            <a:off x="8780586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EAFBC283-32CE-F8F3-FD2D-0E39E3C40BDE}"/>
              </a:ext>
            </a:extLst>
          </p:cNvPr>
          <p:cNvSpPr/>
          <p:nvPr/>
        </p:nvSpPr>
        <p:spPr>
          <a:xfrm>
            <a:off x="9714525" y="246801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6E630BAA-5F80-B1E6-37CB-02486E9F8EEF}"/>
              </a:ext>
            </a:extLst>
          </p:cNvPr>
          <p:cNvCxnSpPr>
            <a:cxnSpLocks/>
            <a:stCxn id="64" idx="2"/>
            <a:endCxn id="65" idx="0"/>
          </p:cNvCxnSpPr>
          <p:nvPr/>
        </p:nvCxnSpPr>
        <p:spPr>
          <a:xfrm flipH="1">
            <a:off x="8237417" y="2162176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B8E0DF0-D944-AD93-5FBE-33A21FB31FBF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>
            <a:off x="9171355" y="2162176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AFD2531A-63D1-BF6A-4742-9712714F1B9D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>
            <a:off x="9171355" y="216217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le 70">
            <a:extLst>
              <a:ext uri="{FF2B5EF4-FFF2-40B4-BE49-F238E27FC236}">
                <a16:creationId xmlns:a16="http://schemas.microsoft.com/office/drawing/2014/main" id="{0A01C937-47A1-0893-BD89-685DC6FD70AD}"/>
              </a:ext>
            </a:extLst>
          </p:cNvPr>
          <p:cNvSpPr/>
          <p:nvPr/>
        </p:nvSpPr>
        <p:spPr>
          <a:xfrm>
            <a:off x="8874369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2AB0F89-8C26-538F-95C9-29D7E468C31F}"/>
              </a:ext>
            </a:extLst>
          </p:cNvPr>
          <p:cNvSpPr/>
          <p:nvPr/>
        </p:nvSpPr>
        <p:spPr>
          <a:xfrm>
            <a:off x="9808308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40182A26-50BF-E396-D7D4-6752AD06F603}"/>
              </a:ext>
            </a:extLst>
          </p:cNvPr>
          <p:cNvSpPr/>
          <p:nvPr/>
        </p:nvSpPr>
        <p:spPr>
          <a:xfrm>
            <a:off x="1074224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Expr</a:t>
            </a:r>
            <a:endParaRPr lang="en-SG" dirty="0"/>
          </a:p>
        </p:txBody>
      </p:sp>
      <p:cxnSp>
        <p:nvCxnSpPr>
          <p:cNvPr id="74" name="Straight Connector 73">
            <a:extLst>
              <a:ext uri="{FF2B5EF4-FFF2-40B4-BE49-F238E27FC236}">
                <a16:creationId xmlns:a16="http://schemas.microsoft.com/office/drawing/2014/main" id="{58468C6A-5C2E-DE5D-6301-152371E32246}"/>
              </a:ext>
            </a:extLst>
          </p:cNvPr>
          <p:cNvCxnSpPr>
            <a:cxnSpLocks/>
            <a:endCxn id="71" idx="0"/>
          </p:cNvCxnSpPr>
          <p:nvPr/>
        </p:nvCxnSpPr>
        <p:spPr>
          <a:xfrm flipH="1">
            <a:off x="9265139" y="2958217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9ED29E95-8AC9-07A4-DC6F-AF5D6F22CA02}"/>
              </a:ext>
            </a:extLst>
          </p:cNvPr>
          <p:cNvCxnSpPr>
            <a:cxnSpLocks/>
            <a:endCxn id="73" idx="0"/>
          </p:cNvCxnSpPr>
          <p:nvPr/>
        </p:nvCxnSpPr>
        <p:spPr>
          <a:xfrm>
            <a:off x="10199077" y="2958217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3B3A567B-6ED7-7832-BAE5-DCAE357C2553}"/>
              </a:ext>
            </a:extLst>
          </p:cNvPr>
          <p:cNvCxnSpPr>
            <a:cxnSpLocks/>
            <a:endCxn id="72" idx="0"/>
          </p:cNvCxnSpPr>
          <p:nvPr/>
        </p:nvCxnSpPr>
        <p:spPr>
          <a:xfrm>
            <a:off x="10199077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ectangle 76">
            <a:extLst>
              <a:ext uri="{FF2B5EF4-FFF2-40B4-BE49-F238E27FC236}">
                <a16:creationId xmlns:a16="http://schemas.microsoft.com/office/drawing/2014/main" id="{8CEFDB50-7B50-D84A-E1C6-4BE4C261E45E}"/>
              </a:ext>
            </a:extLst>
          </p:cNvPr>
          <p:cNvSpPr/>
          <p:nvPr/>
        </p:nvSpPr>
        <p:spPr>
          <a:xfrm>
            <a:off x="8874369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E4A4CAA-6913-AA4C-797E-93303C5A5346}"/>
              </a:ext>
            </a:extLst>
          </p:cNvPr>
          <p:cNvCxnSpPr>
            <a:cxnSpLocks/>
            <a:endCxn id="77" idx="0"/>
          </p:cNvCxnSpPr>
          <p:nvPr/>
        </p:nvCxnSpPr>
        <p:spPr>
          <a:xfrm>
            <a:off x="9265138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>
            <a:extLst>
              <a:ext uri="{FF2B5EF4-FFF2-40B4-BE49-F238E27FC236}">
                <a16:creationId xmlns:a16="http://schemas.microsoft.com/office/drawing/2014/main" id="{0791BD8F-6BBE-AB80-8F44-6B03AC80A4A8}"/>
              </a:ext>
            </a:extLst>
          </p:cNvPr>
          <p:cNvSpPr/>
          <p:nvPr/>
        </p:nvSpPr>
        <p:spPr>
          <a:xfrm>
            <a:off x="8874368" y="480988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80" name="Straight Connector 79">
            <a:extLst>
              <a:ext uri="{FF2B5EF4-FFF2-40B4-BE49-F238E27FC236}">
                <a16:creationId xmlns:a16="http://schemas.microsoft.com/office/drawing/2014/main" id="{A1B03909-4829-5BC5-35D9-C2E9171BAA99}"/>
              </a:ext>
            </a:extLst>
          </p:cNvPr>
          <p:cNvCxnSpPr>
            <a:cxnSpLocks/>
            <a:endCxn id="79" idx="0"/>
          </p:cNvCxnSpPr>
          <p:nvPr/>
        </p:nvCxnSpPr>
        <p:spPr>
          <a:xfrm>
            <a:off x="9265137" y="450404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3BA854A6-85C4-AA8E-7293-57283701D3D1}"/>
              </a:ext>
            </a:extLst>
          </p:cNvPr>
          <p:cNvSpPr/>
          <p:nvPr/>
        </p:nvSpPr>
        <p:spPr>
          <a:xfrm>
            <a:off x="10742245" y="404662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82" name="Straight Connector 81">
            <a:extLst>
              <a:ext uri="{FF2B5EF4-FFF2-40B4-BE49-F238E27FC236}">
                <a16:creationId xmlns:a16="http://schemas.microsoft.com/office/drawing/2014/main" id="{7D32D70D-F046-29CF-C80A-3004DA223B1F}"/>
              </a:ext>
            </a:extLst>
          </p:cNvPr>
          <p:cNvCxnSpPr>
            <a:cxnSpLocks/>
            <a:endCxn id="81" idx="0"/>
          </p:cNvCxnSpPr>
          <p:nvPr/>
        </p:nvCxnSpPr>
        <p:spPr>
          <a:xfrm>
            <a:off x="11133014" y="374079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Rectangle 82">
            <a:extLst>
              <a:ext uri="{FF2B5EF4-FFF2-40B4-BE49-F238E27FC236}">
                <a16:creationId xmlns:a16="http://schemas.microsoft.com/office/drawing/2014/main" id="{D298F532-1193-5CB0-519F-EC6595472F2D}"/>
              </a:ext>
            </a:extLst>
          </p:cNvPr>
          <p:cNvSpPr/>
          <p:nvPr/>
        </p:nvSpPr>
        <p:spPr>
          <a:xfrm>
            <a:off x="7820273" y="404681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3E3C2930-134A-A119-8CA6-72DF82E0D4E2}"/>
              </a:ext>
            </a:extLst>
          </p:cNvPr>
          <p:cNvCxnSpPr>
            <a:cxnSpLocks/>
            <a:endCxn id="83" idx="0"/>
          </p:cNvCxnSpPr>
          <p:nvPr/>
        </p:nvCxnSpPr>
        <p:spPr>
          <a:xfrm>
            <a:off x="8211042" y="374097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Rectangle 86">
            <a:extLst>
              <a:ext uri="{FF2B5EF4-FFF2-40B4-BE49-F238E27FC236}">
                <a16:creationId xmlns:a16="http://schemas.microsoft.com/office/drawing/2014/main" id="{465BD30A-D997-DBBF-C0D1-3CA7E2F11D6F}"/>
              </a:ext>
            </a:extLst>
          </p:cNvPr>
          <p:cNvSpPr/>
          <p:nvPr/>
        </p:nvSpPr>
        <p:spPr>
          <a:xfrm>
            <a:off x="10742244" y="482478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9</a:t>
            </a:r>
            <a:endParaRPr lang="en-SG" dirty="0"/>
          </a:p>
        </p:txBody>
      </p: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B7EDC2E8-C188-B272-92F3-67528FFE0283}"/>
              </a:ext>
            </a:extLst>
          </p:cNvPr>
          <p:cNvCxnSpPr>
            <a:cxnSpLocks/>
            <a:endCxn id="87" idx="0"/>
          </p:cNvCxnSpPr>
          <p:nvPr/>
        </p:nvCxnSpPr>
        <p:spPr>
          <a:xfrm>
            <a:off x="11133013" y="451894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Rectangle 92">
            <a:extLst>
              <a:ext uri="{FF2B5EF4-FFF2-40B4-BE49-F238E27FC236}">
                <a16:creationId xmlns:a16="http://schemas.microsoft.com/office/drawing/2014/main" id="{92B4576F-5369-308A-CBA7-F3090C69203E}"/>
              </a:ext>
            </a:extLst>
          </p:cNvPr>
          <p:cNvSpPr/>
          <p:nvPr/>
        </p:nvSpPr>
        <p:spPr>
          <a:xfrm>
            <a:off x="7819297" y="326405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Num</a:t>
            </a:r>
            <a:endParaRPr lang="en-SG" dirty="0"/>
          </a:p>
        </p:txBody>
      </p:sp>
      <p:cxnSp>
        <p:nvCxnSpPr>
          <p:cNvPr id="94" name="Straight Connector 93">
            <a:extLst>
              <a:ext uri="{FF2B5EF4-FFF2-40B4-BE49-F238E27FC236}">
                <a16:creationId xmlns:a16="http://schemas.microsoft.com/office/drawing/2014/main" id="{761DC995-6165-5DBA-769F-1026E924B366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8210066" y="295821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BF766C6-7429-8371-7FAD-A92D299C70B2}"/>
              </a:ext>
            </a:extLst>
          </p:cNvPr>
          <p:cNvSpPr txBox="1"/>
          <p:nvPr/>
        </p:nvSpPr>
        <p:spPr>
          <a:xfrm>
            <a:off x="4337536" y="1773776"/>
            <a:ext cx="32824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800" b="1" dirty="0"/>
              <a:t>Remember…</a:t>
            </a:r>
          </a:p>
          <a:p>
            <a:pPr algn="ctr"/>
            <a:endParaRPr lang="en-GB" sz="2800" b="1" dirty="0"/>
          </a:p>
          <a:p>
            <a:pPr algn="ctr"/>
            <a:r>
              <a:rPr lang="en-GB" sz="2800" b="1" dirty="0"/>
              <a:t>Ambiguity is not good for us!</a:t>
            </a:r>
            <a:endParaRPr lang="en-SG" sz="2800" b="1" dirty="0"/>
          </a:p>
        </p:txBody>
      </p:sp>
    </p:spTree>
    <p:extLst>
      <p:ext uri="{BB962C8B-B14F-4D97-AF65-F5344CB8AC3E}">
        <p14:creationId xmlns:p14="http://schemas.microsoft.com/office/powerpoint/2010/main" val="28775058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first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Now, consider this second CFG for simplified arithmetic expressions using positive integers, additions and multiplications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b="1" dirty="0"/>
                  <a:t>Now, try using this second CFG and build a parse tree for the string 2*3+7.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  <a:blipFill>
                <a:blip r:embed="rId2"/>
                <a:stretch>
                  <a:fillRect l="-2471" t="-1937" r="-2000" b="-18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9541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first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Now, consider this second CFG for simplified arithmetic expressions using positive integers, additions and multiplications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r>
                  <a:rPr lang="en-SG" b="1" dirty="0"/>
                  <a:t>Now, try using this second CFG and build a parse tree for the string 2*3+7.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5"/>
                <a:ext cx="5181600" cy="5032374"/>
              </a:xfrm>
              <a:blipFill>
                <a:blip r:embed="rId2"/>
                <a:stretch>
                  <a:fillRect l="-2471" t="-1937" r="-2000" b="-1816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4">
            <a:extLst>
              <a:ext uri="{FF2B5EF4-FFF2-40B4-BE49-F238E27FC236}">
                <a16:creationId xmlns:a16="http://schemas.microsoft.com/office/drawing/2014/main" id="{A7458969-13A5-406D-E6E8-BA92B4A1A68A}"/>
              </a:ext>
            </a:extLst>
          </p:cNvPr>
          <p:cNvSpPr/>
          <p:nvPr/>
        </p:nvSpPr>
        <p:spPr>
          <a:xfrm>
            <a:off x="9491783" y="237203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04B081E-F5FD-EC6C-1110-2F9F31DD37D4}"/>
              </a:ext>
            </a:extLst>
          </p:cNvPr>
          <p:cNvSpPr/>
          <p:nvPr/>
        </p:nvSpPr>
        <p:spPr>
          <a:xfrm>
            <a:off x="8557845" y="315460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35FB555-A743-77C7-69CC-5D45A707128F}"/>
              </a:ext>
            </a:extLst>
          </p:cNvPr>
          <p:cNvSpPr/>
          <p:nvPr/>
        </p:nvSpPr>
        <p:spPr>
          <a:xfrm>
            <a:off x="9491784" y="315460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53DD73-E121-399C-0038-AB620BBB67AD}"/>
              </a:ext>
            </a:extLst>
          </p:cNvPr>
          <p:cNvSpPr/>
          <p:nvPr/>
        </p:nvSpPr>
        <p:spPr>
          <a:xfrm>
            <a:off x="10425723" y="315460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  <a:endParaRPr lang="en-SG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1813688-7110-F285-3BC0-6F16918D19DB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8948615" y="2848769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F6369FC-2FD7-7967-A2CF-07E1BC10E40E}"/>
              </a:ext>
            </a:extLst>
          </p:cNvPr>
          <p:cNvCxnSpPr>
            <a:cxnSpLocks/>
            <a:stCxn id="5" idx="2"/>
            <a:endCxn id="9" idx="0"/>
          </p:cNvCxnSpPr>
          <p:nvPr/>
        </p:nvCxnSpPr>
        <p:spPr>
          <a:xfrm>
            <a:off x="9882553" y="2848769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824B40-F264-5C69-08F2-D57D72F571FC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9882553" y="284876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61EF080-2C04-4F42-B8F7-1C7C58DA96E9}"/>
              </a:ext>
            </a:extLst>
          </p:cNvPr>
          <p:cNvSpPr/>
          <p:nvPr/>
        </p:nvSpPr>
        <p:spPr>
          <a:xfrm>
            <a:off x="7623907" y="39506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T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C78FF5B-1AD1-1D6F-31DF-3B8171B12397}"/>
              </a:ext>
            </a:extLst>
          </p:cNvPr>
          <p:cNvSpPr/>
          <p:nvPr/>
        </p:nvSpPr>
        <p:spPr>
          <a:xfrm>
            <a:off x="8557846" y="39506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9EF4BD-2C7D-0534-0292-84FAD62223D5}"/>
              </a:ext>
            </a:extLst>
          </p:cNvPr>
          <p:cNvSpPr/>
          <p:nvPr/>
        </p:nvSpPr>
        <p:spPr>
          <a:xfrm>
            <a:off x="9491785" y="3950647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6E44D9A-28A1-ACC3-AE94-9480BC9E4148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014677" y="3644810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D2884B7-CDE0-1D38-8E75-6E85598E68EA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8948615" y="3644810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F6DFA-B3DF-B3E3-37B6-D8A91EA9998A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948615" y="3644810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A792A0C5-478E-D6B0-FC65-AE9284605B4A}"/>
              </a:ext>
            </a:extLst>
          </p:cNvPr>
          <p:cNvSpPr/>
          <p:nvPr/>
        </p:nvSpPr>
        <p:spPr>
          <a:xfrm>
            <a:off x="7623907" y="4733222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06EE1A5-C702-9A16-9AB4-F7F76945AF8F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8014676" y="4427385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70166843-487B-5249-CF63-FAE4E81E2ED3}"/>
              </a:ext>
            </a:extLst>
          </p:cNvPr>
          <p:cNvSpPr/>
          <p:nvPr/>
        </p:nvSpPr>
        <p:spPr>
          <a:xfrm>
            <a:off x="7623906" y="549647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SG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380B9B6-2A2F-022B-0BA7-9FDB0F7D1309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8014675" y="519063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AEE3552-5A32-5444-AC09-0A977EA1FC22}"/>
              </a:ext>
            </a:extLst>
          </p:cNvPr>
          <p:cNvSpPr/>
          <p:nvPr/>
        </p:nvSpPr>
        <p:spPr>
          <a:xfrm>
            <a:off x="9491783" y="4733222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SG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301577A-2A4D-FCA6-44EB-9CF290EDD5E8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882552" y="4427385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33004421-D87B-12D8-C666-B2155C23D1EA}"/>
              </a:ext>
            </a:extLst>
          </p:cNvPr>
          <p:cNvSpPr/>
          <p:nvPr/>
        </p:nvSpPr>
        <p:spPr>
          <a:xfrm>
            <a:off x="10450144" y="473435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</a:t>
            </a:r>
            <a:endParaRPr lang="en-SG" dirty="0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73C531BB-164B-28CB-C993-5937368DCA34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10840913" y="442851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B162F88-AA59-79E9-7BA8-2EDCABA13868}"/>
              </a:ext>
            </a:extLst>
          </p:cNvPr>
          <p:cNvSpPr/>
          <p:nvPr/>
        </p:nvSpPr>
        <p:spPr>
          <a:xfrm>
            <a:off x="10453074" y="552340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1C6305-366E-660F-4AB0-E307A8DDD9D6}"/>
              </a:ext>
            </a:extLst>
          </p:cNvPr>
          <p:cNvCxnSpPr>
            <a:cxnSpLocks/>
            <a:endCxn id="27" idx="0"/>
          </p:cNvCxnSpPr>
          <p:nvPr/>
        </p:nvCxnSpPr>
        <p:spPr>
          <a:xfrm>
            <a:off x="10843843" y="521756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19F83F40-BA54-D43D-ED5F-9EA4ADFBBB14}"/>
              </a:ext>
            </a:extLst>
          </p:cNvPr>
          <p:cNvSpPr/>
          <p:nvPr/>
        </p:nvSpPr>
        <p:spPr>
          <a:xfrm>
            <a:off x="9491782" y="551137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F3D17BC-CA63-3A0F-8FC2-702815538E44}"/>
              </a:ext>
            </a:extLst>
          </p:cNvPr>
          <p:cNvCxnSpPr>
            <a:cxnSpLocks/>
            <a:endCxn id="29" idx="0"/>
          </p:cNvCxnSpPr>
          <p:nvPr/>
        </p:nvCxnSpPr>
        <p:spPr>
          <a:xfrm>
            <a:off x="9882551" y="520553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6C24E1F9-ED15-D7DB-77A6-7D032EE1855A}"/>
              </a:ext>
            </a:extLst>
          </p:cNvPr>
          <p:cNvSpPr/>
          <p:nvPr/>
        </p:nvSpPr>
        <p:spPr>
          <a:xfrm>
            <a:off x="7623906" y="627587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10EF5E95-E16E-2913-E8AE-D5E531E4CD2F}"/>
              </a:ext>
            </a:extLst>
          </p:cNvPr>
          <p:cNvCxnSpPr>
            <a:cxnSpLocks/>
            <a:endCxn id="31" idx="0"/>
          </p:cNvCxnSpPr>
          <p:nvPr/>
        </p:nvCxnSpPr>
        <p:spPr>
          <a:xfrm>
            <a:off x="8014675" y="5970038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DCB3690-30FE-2275-FE5B-B164DAAFF5CF}"/>
              </a:ext>
            </a:extLst>
          </p:cNvPr>
          <p:cNvSpPr/>
          <p:nvPr/>
        </p:nvSpPr>
        <p:spPr>
          <a:xfrm>
            <a:off x="10449168" y="3951593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54D1E20-AD8F-23EE-F12E-D28354501A66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0839937" y="3645756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D956F10-1A1E-9094-DD86-F6FA1FCDF624}"/>
              </a:ext>
            </a:extLst>
          </p:cNvPr>
          <p:cNvSpPr txBox="1"/>
          <p:nvPr/>
        </p:nvSpPr>
        <p:spPr>
          <a:xfrm>
            <a:off x="6628422" y="1494737"/>
            <a:ext cx="54794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800" b="1" dirty="0">
                <a:solidFill>
                  <a:srgbClr val="7030A0"/>
                </a:solidFill>
              </a:rPr>
              <a:t>Only one possible tree and correct precedence!</a:t>
            </a:r>
            <a:endParaRPr lang="en-SG" sz="2800" b="1" dirty="0">
              <a:solidFill>
                <a:srgbClr val="7030A0"/>
              </a:solidFill>
            </a:endParaRP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BEE30DB-857D-E73C-FDF9-1382177410C0}"/>
              </a:ext>
            </a:extLst>
          </p:cNvPr>
          <p:cNvCxnSpPr/>
          <p:nvPr/>
        </p:nvCxnSpPr>
        <p:spPr>
          <a:xfrm flipV="1">
            <a:off x="11619186" y="2286000"/>
            <a:ext cx="0" cy="4367048"/>
          </a:xfrm>
          <a:prstGeom prst="straightConnector1">
            <a:avLst/>
          </a:prstGeom>
          <a:ln w="38100">
            <a:solidFill>
              <a:srgbClr val="7030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3429414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first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Now, consider this second CFG for simplified arithmetic expressions using positive integers, additions and multiplications below.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+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SG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𝑁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→0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1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2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 …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b="1" dirty="0"/>
              </a:p>
              <a:p>
                <a:pPr marL="0" indent="0">
                  <a:buNone/>
                </a:pPr>
                <a:r>
                  <a:rPr lang="en-SG" b="1" dirty="0"/>
                  <a:t>Now, try using this second CFG and build a parse tree for the string 2*3+7.</a:t>
                </a:r>
              </a:p>
              <a:p>
                <a:pPr marL="0" indent="0">
                  <a:buNone/>
                </a:pPr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  <a:p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1937" r="-2000" b="-181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F2664-B4C4-7AEF-F107-55426EA1E7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509727" cy="50323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/>
              <a:t>How?! Why is this second CFG non-ambiguous now?</a:t>
            </a:r>
          </a:p>
          <a:p>
            <a:r>
              <a:rPr lang="en-GB" dirty="0"/>
              <a:t>New non-terminal symbols T and F to represent terms and factors.</a:t>
            </a:r>
          </a:p>
          <a:p>
            <a:r>
              <a:rPr lang="en-GB" b="1" dirty="0"/>
              <a:t>Effectively established that multiplication has higher precedence than addition, as the * operator is now closer to the leaves of the parse tree.</a:t>
            </a:r>
          </a:p>
          <a:p>
            <a:r>
              <a:rPr lang="en-GB" dirty="0"/>
              <a:t>Only one parse tree for the arithmetic expression </a:t>
            </a:r>
            <a:r>
              <a:rPr lang="en-SG" dirty="0"/>
              <a:t>2*3+7</a:t>
            </a:r>
            <a:r>
              <a:rPr lang="en-GB" dirty="0"/>
              <a:t>!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86091288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second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a second example… </a:t>
                </a:r>
              </a:p>
              <a:p>
                <a:pPr marL="0" indent="0">
                  <a:buNone/>
                </a:pPr>
                <a:r>
                  <a:rPr lang="en-GB" dirty="0"/>
                  <a:t>Consider the CFG below, which can be used for defining a (nested) if else statement.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→"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𝑎𝑛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𝑒𝑥𝑝𝑟𝑒𝑠𝑠𝑖𝑜𝑛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𝑠𝑡𝑎𝑡𝑒𝑚𝑒𝑛𝑡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 r="-37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grammar is ambiguous and can lead to a problem called the </a:t>
            </a:r>
            <a:r>
              <a:rPr lang="en-GB" b="1" dirty="0"/>
              <a:t>dangling else problem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Consider the string of tokens “if a then if b then s1 else s2”.</a:t>
            </a:r>
          </a:p>
          <a:p>
            <a:pPr marL="0" indent="0">
              <a:buNone/>
            </a:pPr>
            <a:r>
              <a:rPr lang="en-GB" b="1" dirty="0"/>
              <a:t>Which if does the else refer to?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188220496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second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As a second example… </a:t>
                </a:r>
              </a:p>
              <a:p>
                <a:pPr marL="0" indent="0">
                  <a:buNone/>
                </a:pPr>
                <a:r>
                  <a:rPr lang="en-GB" dirty="0"/>
                  <a:t>Consider the CFG below, which can be used for defining a (nested) if else statement.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→"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𝑎𝑛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𝑒𝑥𝑝𝑟𝑒𝑠𝑠𝑖𝑜𝑛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𝑠𝑡𝑎𝑡𝑒𝑚𝑒𝑛𝑡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blipFill>
                <a:blip r:embed="rId2"/>
                <a:stretch>
                  <a:fillRect l="-2471" t="-2241" r="-3765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grammar is ambiguous and can lead to a problem called the </a:t>
            </a:r>
            <a:r>
              <a:rPr lang="en-GB" b="1" dirty="0"/>
              <a:t>dangling else problem</a:t>
            </a:r>
            <a:r>
              <a:rPr lang="en-GB" dirty="0"/>
              <a:t>.</a:t>
            </a:r>
          </a:p>
          <a:p>
            <a:pPr marL="0" indent="0">
              <a:buNone/>
            </a:pPr>
            <a:r>
              <a:rPr lang="en-GB" b="1" dirty="0"/>
              <a:t>Consider the string of tokens “if a then if b then s1 else s2”.</a:t>
            </a:r>
          </a:p>
          <a:p>
            <a:pPr marL="0" indent="0">
              <a:buNone/>
            </a:pPr>
            <a:r>
              <a:rPr lang="en-GB" b="1" dirty="0"/>
              <a:t>Which if does the else refer to?</a:t>
            </a:r>
            <a:endParaRPr lang="en-SG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901727-CC97-3A9B-6C7C-D34AA3B31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958" y="4591887"/>
            <a:ext cx="2143349" cy="212934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291D99A-ACEC-5653-13DD-2E2006E1F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7089" y="4591886"/>
            <a:ext cx="2171929" cy="21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860435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second disambiguation example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GB" dirty="0"/>
                  <a:t>Let us we rewrite the CFG as this now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→"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"</m:t>
                      </m:r>
                    </m:oMath>
                    <m:oMath xmlns:m="http://schemas.openxmlformats.org/officeDocument/2006/math">
                      <m:r>
                        <a:rPr lang="en-GB" i="1" dirty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𝑜𝑟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𝑀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𝑒𝑙𝑠𝑒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→"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𝑖𝑓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𝑡h𝑒𝑛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i="1" dirty="0">
                          <a:latin typeface="Cambria Math" panose="02040503050406030204" pitchFamily="18" charset="0"/>
                        </a:rPr>
                        <m:t>"</m:t>
                      </m:r>
                    </m:oMath>
                  </m:oMathPara>
                </a14:m>
                <a:br>
                  <a:rPr lang="en-GB" i="1" dirty="0">
                    <a:latin typeface="Cambria Math" panose="02040503050406030204" pitchFamily="18" charset="0"/>
                  </a:rPr>
                </a:br>
                <a:br>
                  <a:rPr lang="en-GB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𝑎𝑛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𝑒𝑥𝑝𝑟𝑒𝑠𝑠𝑖𝑜𝑛</m:t>
                          </m:r>
                        </m:e>
                      </m:d>
                    </m:oMath>
                  </m:oMathPara>
                </a14:m>
                <a:endParaRPr lang="en-GB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→(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𝑠𝑡𝑎𝑡𝑒𝑚𝑒𝑛𝑡</m:t>
                      </m:r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5C991408-F6BA-D776-A226-AF7DA19512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"/>
              </p:nvPr>
            </p:nvSpPr>
            <p:spPr>
              <a:xfrm>
                <a:off x="838200" y="1825624"/>
                <a:ext cx="5181600" cy="5032375"/>
              </a:xfrm>
              <a:blipFill>
                <a:blip r:embed="rId2"/>
                <a:stretch>
                  <a:fillRect l="-2471" t="-2663"/>
                </a:stretch>
              </a:blipFill>
            </p:spPr>
            <p:txBody>
              <a:bodyPr/>
              <a:lstStyle/>
              <a:p>
                <a:r>
                  <a:rPr lang="en-SG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/>
              <a:t>This CFG is no longer ambiguous, as it now establishes a precedence.</a:t>
            </a:r>
          </a:p>
          <a:p>
            <a:pPr marL="0" indent="0">
              <a:buNone/>
            </a:pPr>
            <a:r>
              <a:rPr lang="en-GB" b="1" dirty="0"/>
              <a:t>The first if that has not yet a matching else will now receive the else clause.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D876E-B00B-67FD-9527-A859BE569F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958" y="4591887"/>
            <a:ext cx="2143349" cy="2129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E0BFA8-51AF-D4C3-15CA-B61BD28BA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7089" y="4591886"/>
            <a:ext cx="2171929" cy="21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04314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second disambiguation example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91408-F6BA-D776-A226-AF7DA1951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>
                <a:solidFill>
                  <a:srgbClr val="C00000"/>
                </a:solidFill>
              </a:rPr>
              <a:t>But wait, is that even correct to have such a precedence rule?!</a:t>
            </a:r>
          </a:p>
          <a:p>
            <a:pPr marL="0" indent="0">
              <a:buNone/>
            </a:pP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CFG is no longer ambiguous, as it now establishes a precedence.</a:t>
            </a:r>
          </a:p>
          <a:p>
            <a:pPr marL="0" indent="0">
              <a:buNone/>
            </a:pPr>
            <a:r>
              <a:rPr lang="en-GB" b="1" dirty="0"/>
              <a:t>The first if that has not yet a matching else will now receive the else clause.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D876E-B00B-67FD-9527-A859BE56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958" y="4591887"/>
            <a:ext cx="2143349" cy="2129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E0BFA8-51AF-D4C3-15CA-B61BD28BA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089" y="4591886"/>
            <a:ext cx="2171929" cy="21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4689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BA917-402E-2606-1695-9901E78FE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second disambiguation example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991408-F6BA-D776-A226-AF7DA19512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SG" b="1" dirty="0">
                <a:solidFill>
                  <a:srgbClr val="C00000"/>
                </a:solidFill>
              </a:rPr>
              <a:t>But wait, is that even correct to have such a precedence rule?!</a:t>
            </a:r>
          </a:p>
          <a:p>
            <a:pPr marL="0" indent="0">
              <a:buNone/>
            </a:pPr>
            <a:r>
              <a:rPr lang="en-SG" dirty="0"/>
              <a:t>No, it is not.</a:t>
            </a:r>
          </a:p>
          <a:p>
            <a:pPr marL="0" indent="0">
              <a:buNone/>
            </a:pPr>
            <a:r>
              <a:rPr lang="en-SG" dirty="0"/>
              <a:t>In fact, that is the reason why programming languages will use </a:t>
            </a:r>
            <a:r>
              <a:rPr lang="en-SG" b="1" dirty="0"/>
              <a:t>additional delimiters </a:t>
            </a:r>
            <a:r>
              <a:rPr lang="en-SG" dirty="0"/>
              <a:t>for such statements.</a:t>
            </a:r>
          </a:p>
          <a:p>
            <a:r>
              <a:rPr lang="en-SG" dirty="0"/>
              <a:t>In C, { and }.</a:t>
            </a:r>
          </a:p>
          <a:p>
            <a:r>
              <a:rPr lang="en-SG" dirty="0"/>
              <a:t>In Python, indentation.</a:t>
            </a:r>
          </a:p>
          <a:p>
            <a:pPr marL="0" indent="0">
              <a:buNone/>
            </a:pPr>
            <a:r>
              <a:rPr lang="en-SG" b="1" dirty="0"/>
              <a:t>These delimiters should appear in the CFG production rules!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AC58566-5606-1E59-2E44-DF196556EA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CFG is no longer ambiguous, as it now establishes a precedence.</a:t>
            </a:r>
          </a:p>
          <a:p>
            <a:pPr marL="0" indent="0">
              <a:buNone/>
            </a:pPr>
            <a:r>
              <a:rPr lang="en-GB" b="1" dirty="0"/>
              <a:t>The first if that has not yet a matching else will now receive the else clause.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95D876E-B00B-67FD-9527-A859BE569F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8958" y="4591887"/>
            <a:ext cx="2143349" cy="21293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3E0BFA8-51AF-D4C3-15CA-B61BD28BA2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7089" y="4591886"/>
            <a:ext cx="2171929" cy="2129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681909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3D11-CC02-0561-D3F5-CDE28154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CFG for if-else with delimiters</a:t>
            </a:r>
            <a:endParaRPr lang="en-S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75E6F-EE7B-24A1-1F31-546674EB585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GB" dirty="0"/>
                  <a:t>A “simplified” (sigh…) CFG for if/else statements in C, with delimiters is: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SG" sz="2600" i="1" dirty="0" err="1" smtClean="0">
                          <a:latin typeface="Cambria Math" panose="02040503050406030204" pitchFamily="18" charset="0"/>
                        </a:rPr>
                        <m:t>𝑖𝑓𝑠𝑡𝑚𝑡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>
                          <a:latin typeface="Cambria Math" panose="02040503050406030204" pitchFamily="18" charset="0"/>
                        </a:rPr>
                        <m:t>𝑖𝑓𝑠𝑡𝑚𝑡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"</m:t>
                      </m:r>
                      <m:r>
                        <m:rPr>
                          <m:sty m:val="p"/>
                        </m:rPr>
                        <a:rPr lang="en-SG" sz="2600" i="1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" "("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𝑐𝑜𝑛𝑑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")"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𝑏𝑙𝑜𝑐𝑘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>
                          <a:latin typeface="Cambria Math" panose="02040503050406030204" pitchFamily="18" charset="0"/>
                        </a:rPr>
                        <m:t>𝑖𝑓𝑠𝑡𝑚𝑡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"</m:t>
                      </m:r>
                      <m:r>
                        <m:rPr>
                          <m:sty m:val="p"/>
                        </m:rPr>
                        <a:rPr lang="en-SG" sz="2600" i="1" dirty="0" smtClean="0"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" "("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𝑐𝑜𝑛𝑑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")"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𝑏𝑙𝑜𝑐𝑘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"</m:t>
                      </m:r>
                      <m:r>
                        <m:rPr>
                          <m:sty m:val="p"/>
                        </m:rPr>
                        <a:rPr lang="en-SG" sz="2600" i="1" dirty="0" smtClean="0">
                          <a:latin typeface="Cambria Math" panose="02040503050406030204" pitchFamily="18" charset="0"/>
                        </a:rPr>
                        <m:t>else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"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𝑏𝑙𝑜𝑐𝑘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𝑏𝑙𝑜𝑐𝑘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"{" </m:t>
                      </m:r>
                      <m:r>
                        <a:rPr lang="en-SG" sz="2600" i="1" dirty="0" err="1" smtClean="0">
                          <a:latin typeface="Cambria Math" panose="02040503050406030204" pitchFamily="18" charset="0"/>
                        </a:rPr>
                        <m:t>𝑠𝑡𝑚𝑡𝑙𝑖𝑠𝑡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"}"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𝑏𝑙𝑜𝑐𝑘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𝑠𝑡𝑚𝑡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sz="2600" b="0" i="1" dirty="0" smtClean="0">
                          <a:latin typeface="Cambria Math" panose="02040503050406030204" pitchFamily="18" charset="0"/>
                        </a:rPr>
                        <m:t>𝑚𝑡𝑡𝑙𝑖𝑠𝑡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𝑠𝑡𝑚𝑡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sz="2600" b="0" i="1" dirty="0" smtClean="0">
                          <a:latin typeface="Cambria Math" panose="02040503050406030204" pitchFamily="18" charset="0"/>
                        </a:rPr>
                        <m:t>𝑚𝑡𝑙𝑖𝑠𝑡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</m:t>
                      </m:r>
                      <m:r>
                        <a:rPr lang="en-SG" sz="2600" i="1" dirty="0" err="1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sz="26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SG" sz="2600" i="1" dirty="0" err="1" smtClean="0">
                          <a:latin typeface="Cambria Math" panose="02040503050406030204" pitchFamily="18" charset="0"/>
                        </a:rPr>
                        <m:t>𝑡𝑙𝑖𝑠𝑡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𝑠𝑡𝑚𝑡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sz="26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−&gt;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𝑒𝑥𝑝𝑟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";"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𝑠𝑡</m:t>
                      </m:r>
                      <m:r>
                        <a:rPr lang="en-GB" sz="2600" b="0" i="1" dirty="0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−&gt; </m:t>
                      </m:r>
                      <m:r>
                        <a:rPr lang="en-SG" sz="2600" i="1" dirty="0" err="1" smtClean="0">
                          <a:latin typeface="Cambria Math" panose="02040503050406030204" pitchFamily="18" charset="0"/>
                        </a:rPr>
                        <m:t>𝑖𝑓𝑠𝑡𝑚𝑡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𝑒𝑥𝑝𝑟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−&gt; (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𝑎𝑛𝑦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𝑎𝑙𝑖𝑑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𝑒𝑥𝑝𝑟𝑒𝑠𝑠𝑖𝑜𝑛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𝑐𝑜𝑛𝑑𝑖𝑡𝑖𝑜𝑛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→ (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𝑎𝑛𝑦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𝑣𝑎𝑙𝑖𝑑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𝑐𝑜𝑛𝑑𝑖𝑡𝑖𝑜𝑛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𝑖𝑛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SG" sz="26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SG" sz="2600" dirty="0"/>
              </a:p>
              <a:p>
                <a:pPr marL="0" indent="0">
                  <a:buNone/>
                </a:pPr>
                <a:endParaRPr lang="en-SG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DC75E6F-EE7B-24A1-1F31-546674EB585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5032375"/>
              </a:xfrm>
              <a:blipFill>
                <a:blip r:embed="rId2"/>
                <a:stretch>
                  <a:fillRect l="-1217" t="-1937" r="-5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1145541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43D11-CC02-0561-D3F5-CDE2815409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CFG for if-else with delimiters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C75E6F-EE7B-24A1-1F31-546674EB58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This “simplified” CFG:</a:t>
            </a:r>
          </a:p>
          <a:p>
            <a:r>
              <a:rPr lang="en-GB" dirty="0"/>
              <a:t>Lifts ambiguity by introducing delimiters (the { and } symbols).</a:t>
            </a:r>
          </a:p>
          <a:p>
            <a:r>
              <a:rPr lang="en-GB" dirty="0"/>
              <a:t>Reuses also the CFG for checking what a valid statement in C might be,</a:t>
            </a:r>
          </a:p>
          <a:p>
            <a:r>
              <a:rPr lang="en-GB" dirty="0"/>
              <a:t>Would reuse the CFG checking what a valid condition/Boolean could look like (which is what?)</a:t>
            </a:r>
          </a:p>
          <a:p>
            <a:pPr marL="0" indent="0">
              <a:buNone/>
            </a:pPr>
            <a:r>
              <a:rPr lang="en-GB" dirty="0"/>
              <a:t>Eventually, we have something similar for while, for, etc.</a:t>
            </a:r>
          </a:p>
          <a:p>
            <a:pPr marL="0" indent="0">
              <a:buNone/>
            </a:pPr>
            <a:endParaRPr lang="en-SG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2E313B-1F40-27E5-9D90-8D4E9E04E6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4429" y="2341984"/>
            <a:ext cx="5419585" cy="333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48022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5A50-E532-5E79-CA30-2BEECC22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Associativity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A958-38BC-5E47-7575-9ECCB116B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Associativity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b="1" dirty="0">
                <a:solidFill>
                  <a:srgbClr val="00B050"/>
                </a:solidFill>
              </a:rPr>
              <a:t>Left-associativity</a:t>
            </a:r>
            <a:r>
              <a:rPr lang="en-GB" dirty="0"/>
              <a:t> and </a:t>
            </a:r>
            <a:r>
              <a:rPr lang="en-GB" b="1" dirty="0">
                <a:solidFill>
                  <a:srgbClr val="00B050"/>
                </a:solidFill>
              </a:rPr>
              <a:t>right-associativity</a:t>
            </a:r>
            <a:r>
              <a:rPr lang="en-GB" dirty="0"/>
              <a:t> refer to the order in which operations of the same precedence level are evaluated in an expression.</a:t>
            </a:r>
          </a:p>
          <a:p>
            <a:pPr marL="0" indent="0">
              <a:buNone/>
            </a:pPr>
            <a:r>
              <a:rPr lang="en-GB" b="1" dirty="0"/>
              <a:t>These concepts are important when designing CFGs for programming languages</a:t>
            </a:r>
            <a:r>
              <a:rPr lang="en-GB" dirty="0"/>
              <a:t> (or other formal languages), as they determine how expressions involving multiple occurrences of the same operator should be parsed and evaluated.</a:t>
            </a:r>
          </a:p>
          <a:p>
            <a:pPr marL="0" indent="0">
              <a:buNone/>
            </a:pPr>
            <a:r>
              <a:rPr lang="en-GB" dirty="0"/>
              <a:t>This can be reflected in the way to write CFGs, so that </a:t>
            </a:r>
            <a:r>
              <a:rPr lang="en-GB" b="1" dirty="0"/>
              <a:t>derivations will generate parse trees with the correct sequence of operations</a:t>
            </a:r>
            <a:r>
              <a:rPr lang="en-GB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491567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5A50-E532-5E79-CA30-2BEECC22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Associativity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A958-38BC-5E47-7575-9ECCB116B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Associativity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An operator is </a:t>
            </a:r>
            <a:r>
              <a:rPr lang="en-GB" b="1" dirty="0">
                <a:solidFill>
                  <a:srgbClr val="00B050"/>
                </a:solidFill>
              </a:rPr>
              <a:t>left-associative </a:t>
            </a:r>
            <a:r>
              <a:rPr lang="en-GB" dirty="0"/>
              <a:t>if operations are </a:t>
            </a:r>
            <a:r>
              <a:rPr lang="en-GB" b="1" dirty="0"/>
              <a:t>evaluated from left to right</a:t>
            </a:r>
            <a:r>
              <a:rPr lang="en-GB" dirty="0"/>
              <a:t>. When multiple occurrences of operators with same precedence appear in an expression, the leftmost operators are evaluated first.</a:t>
            </a:r>
          </a:p>
          <a:p>
            <a:pPr marL="0" indent="0">
              <a:buNone/>
            </a:pPr>
            <a:r>
              <a:rPr lang="en-GB" b="1" dirty="0"/>
              <a:t>This is the default associativity for most arithmetic operators in programming languages, such as addition.</a:t>
            </a:r>
          </a:p>
          <a:p>
            <a:pPr marL="0" indent="0">
              <a:buNone/>
            </a:pPr>
            <a:r>
              <a:rPr lang="en-GB" dirty="0"/>
              <a:t>For instance, in the expression 3 + 2 + 1, the first addition operation would be evaluated first because of left-associativity, which would be equivalent to (3 + 2) + 1.</a:t>
            </a:r>
          </a:p>
        </p:txBody>
      </p:sp>
    </p:spTree>
    <p:extLst>
      <p:ext uri="{BB962C8B-B14F-4D97-AF65-F5344CB8AC3E}">
        <p14:creationId xmlns:p14="http://schemas.microsoft.com/office/powerpoint/2010/main" val="187782206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35A50-E532-5E79-CA30-2BEECC22B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Associativity rules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74A958-38BC-5E47-7575-9ECCB116B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50323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b="1" dirty="0"/>
              <a:t>Definition (</a:t>
            </a:r>
            <a:r>
              <a:rPr lang="en-GB" b="1" dirty="0">
                <a:solidFill>
                  <a:srgbClr val="00B050"/>
                </a:solidFill>
              </a:rPr>
              <a:t>Right-associativity</a:t>
            </a:r>
            <a:r>
              <a:rPr lang="en-GB" b="1" dirty="0"/>
              <a:t>):</a:t>
            </a:r>
          </a:p>
          <a:p>
            <a:pPr marL="0" indent="0">
              <a:buNone/>
            </a:pPr>
            <a:r>
              <a:rPr lang="en-GB" dirty="0"/>
              <a:t>An operator is </a:t>
            </a:r>
            <a:r>
              <a:rPr lang="en-GB" b="1" dirty="0">
                <a:solidFill>
                  <a:srgbClr val="00B050"/>
                </a:solidFill>
              </a:rPr>
              <a:t>right-associative</a:t>
            </a:r>
            <a:r>
              <a:rPr lang="en-GB" dirty="0"/>
              <a:t>, if operations are </a:t>
            </a:r>
            <a:r>
              <a:rPr lang="en-GB" b="1" dirty="0"/>
              <a:t>evaluated from right to left</a:t>
            </a:r>
            <a:r>
              <a:rPr lang="en-GB" dirty="0"/>
              <a:t>. When multiple occurrences of operators with same precedence appear in an expression, the rightmost operators are evaluated first.</a:t>
            </a:r>
          </a:p>
          <a:p>
            <a:pPr marL="0" indent="0">
              <a:buNone/>
            </a:pPr>
            <a:r>
              <a:rPr lang="en-GB" b="1" dirty="0"/>
              <a:t>This is typically the associativity used for exponentiation or assignment operators in programming languages.</a:t>
            </a:r>
          </a:p>
          <a:p>
            <a:pPr marL="0" indent="0">
              <a:buNone/>
            </a:pPr>
            <a:r>
              <a:rPr lang="en-GB" dirty="0"/>
              <a:t>For instance, in the expression 2**3**2 (in Python, because C does not have an </a:t>
            </a:r>
            <a:r>
              <a:rPr lang="en-GB"/>
              <a:t>exponentiation operator), </a:t>
            </a:r>
            <a:r>
              <a:rPr lang="en-GB" dirty="0"/>
              <a:t>the second exponentiation operation would be evaluated first because of right-associativity.</a:t>
            </a:r>
            <a:br>
              <a:rPr lang="en-GB" dirty="0"/>
            </a:br>
            <a:r>
              <a:rPr lang="en-GB" dirty="0"/>
              <a:t>This would be equivalent to 2**(3**2).</a:t>
            </a:r>
          </a:p>
        </p:txBody>
      </p:sp>
    </p:spTree>
    <p:extLst>
      <p:ext uri="{BB962C8B-B14F-4D97-AF65-F5344CB8AC3E}">
        <p14:creationId xmlns:p14="http://schemas.microsoft.com/office/powerpoint/2010/main" val="262395643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2D3C-A982-93D8-FA67-243CCBB3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left-associative example: addition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E3D1B-D4F0-C4C4-F3AA-DF3BE85A3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6309852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Addition should be left-associative (could also be right-associative, but would prefer if it was not).</a:t>
            </a:r>
          </a:p>
          <a:p>
            <a:r>
              <a:rPr lang="en-GB" dirty="0"/>
              <a:t>7+2+3 should be computed as (7+2)+3.</a:t>
            </a:r>
          </a:p>
          <a:p>
            <a:r>
              <a:rPr lang="en-GB" dirty="0"/>
              <a:t>Can be implemented with</a:t>
            </a:r>
          </a:p>
          <a:p>
            <a:pPr marL="0" indent="0" algn="ctr">
              <a:buNone/>
            </a:pPr>
            <a:r>
              <a:rPr lang="en-GB" i="1" dirty="0"/>
              <a:t>E </a:t>
            </a:r>
            <a:r>
              <a:rPr lang="en-GB" i="1" dirty="0">
                <a:sym typeface="Wingdings" panose="05000000000000000000" pitchFamily="2" charset="2"/>
              </a:rPr>
              <a:t></a:t>
            </a:r>
            <a:r>
              <a:rPr lang="en-GB" i="1" dirty="0"/>
              <a:t> E + F</a:t>
            </a:r>
          </a:p>
          <a:p>
            <a:pPr marL="0" indent="0" algn="ctr">
              <a:buNone/>
            </a:pPr>
            <a:r>
              <a:rPr lang="en-GB" i="1" dirty="0"/>
              <a:t>E </a:t>
            </a:r>
            <a:r>
              <a:rPr lang="en-GB" i="1" dirty="0">
                <a:sym typeface="Wingdings" panose="05000000000000000000" pitchFamily="2" charset="2"/>
              </a:rPr>
              <a:t></a:t>
            </a:r>
            <a:r>
              <a:rPr lang="en-GB" i="1" dirty="0"/>
              <a:t> F</a:t>
            </a:r>
          </a:p>
          <a:p>
            <a:pPr marL="0" indent="0" algn="ctr">
              <a:buNone/>
            </a:pPr>
            <a:r>
              <a:rPr lang="en-GB" i="1" dirty="0"/>
              <a:t>F </a:t>
            </a:r>
            <a:r>
              <a:rPr lang="en-GB" i="1" dirty="0">
                <a:sym typeface="Wingdings" panose="05000000000000000000" pitchFamily="2" charset="2"/>
              </a:rPr>
              <a:t></a:t>
            </a:r>
            <a:r>
              <a:rPr lang="en-GB" i="1" dirty="0"/>
              <a:t> (a number)</a:t>
            </a:r>
          </a:p>
          <a:p>
            <a:pPr marL="0" indent="0">
              <a:buNone/>
            </a:pPr>
            <a:r>
              <a:rPr lang="en-GB" dirty="0"/>
              <a:t>Using E+F instead of F+E makes derivations and parsing trees implement left-associativity.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1ACC6-A6BA-3EB4-1C6D-8111B43858CB}"/>
              </a:ext>
            </a:extLst>
          </p:cNvPr>
          <p:cNvSpPr/>
          <p:nvPr/>
        </p:nvSpPr>
        <p:spPr>
          <a:xfrm>
            <a:off x="9296397" y="19251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D462AB-CE8C-D724-17FA-315B4ED2D76B}"/>
              </a:ext>
            </a:extLst>
          </p:cNvPr>
          <p:cNvSpPr/>
          <p:nvPr/>
        </p:nvSpPr>
        <p:spPr>
          <a:xfrm>
            <a:off x="8362459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7B482B-DBA7-7CA8-68E4-1D04C5B53B9A}"/>
              </a:ext>
            </a:extLst>
          </p:cNvPr>
          <p:cNvSpPr/>
          <p:nvPr/>
        </p:nvSpPr>
        <p:spPr>
          <a:xfrm>
            <a:off x="9296398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E3C53-2BBF-B163-368E-84D2CD292B6E}"/>
              </a:ext>
            </a:extLst>
          </p:cNvPr>
          <p:cNvSpPr/>
          <p:nvPr/>
        </p:nvSpPr>
        <p:spPr>
          <a:xfrm>
            <a:off x="10230337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5ECD1E-883E-28CC-5D33-AF7708906C4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8753229" y="2401888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3593B-D4F1-4725-B278-2F6BFE2743CE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9687167" y="2401888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E824E-5D27-3B74-3198-4C21BE222966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9687167" y="2401888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BCF452B-2731-E737-9A1B-C51F9BB61528}"/>
              </a:ext>
            </a:extLst>
          </p:cNvPr>
          <p:cNvSpPr/>
          <p:nvPr/>
        </p:nvSpPr>
        <p:spPr>
          <a:xfrm>
            <a:off x="7428521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956CF-1880-F3F9-E90F-22547CF0FF12}"/>
              </a:ext>
            </a:extLst>
          </p:cNvPr>
          <p:cNvSpPr/>
          <p:nvPr/>
        </p:nvSpPr>
        <p:spPr>
          <a:xfrm>
            <a:off x="8362460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+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BFF5BC-AFDB-A2A0-52B5-9DE7F4FA87C0}"/>
              </a:ext>
            </a:extLst>
          </p:cNvPr>
          <p:cNvSpPr/>
          <p:nvPr/>
        </p:nvSpPr>
        <p:spPr>
          <a:xfrm>
            <a:off x="9296399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9DCA4F-CD09-6CD7-02A0-2E08CCDA3861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7819291" y="3197929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3A9B66-2DAF-C85B-756C-6CE5B5F2F4C6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8753229" y="3197929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F7BA40-67B8-719F-43EB-4F83AB3A3292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8753229" y="319792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B41D2-0986-8B42-0F46-518ED99D12E5}"/>
              </a:ext>
            </a:extLst>
          </p:cNvPr>
          <p:cNvSpPr/>
          <p:nvPr/>
        </p:nvSpPr>
        <p:spPr>
          <a:xfrm>
            <a:off x="7428521" y="42863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F0CA35-7EDA-2D30-FCB8-30CF7BD35E8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7819290" y="39805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FC7E487-3677-9376-C6EE-2B2899DA8DD8}"/>
              </a:ext>
            </a:extLst>
          </p:cNvPr>
          <p:cNvSpPr/>
          <p:nvPr/>
        </p:nvSpPr>
        <p:spPr>
          <a:xfrm>
            <a:off x="7428520" y="504959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FED785-6685-A64B-63A2-4CFAAF489973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7819289" y="4743758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D8CD68C-2512-A836-04B6-A7F1B030CC99}"/>
              </a:ext>
            </a:extLst>
          </p:cNvPr>
          <p:cNvSpPr/>
          <p:nvPr/>
        </p:nvSpPr>
        <p:spPr>
          <a:xfrm>
            <a:off x="9296397" y="42863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2AE3CF-F8CD-263E-2920-E376ACC0A0C3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687166" y="39805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801D026-593E-78E3-0074-E3040F8C735A}"/>
              </a:ext>
            </a:extLst>
          </p:cNvPr>
          <p:cNvSpPr/>
          <p:nvPr/>
        </p:nvSpPr>
        <p:spPr>
          <a:xfrm>
            <a:off x="10253782" y="3504712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E8A168-3915-8124-DC40-5056F7C003CC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10644551" y="3198875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53412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B2D3C-A982-93D8-FA67-243CCBB3C6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 left-associative example: addition</a:t>
            </a:r>
            <a:endParaRPr lang="en-SG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E3D1B-D4F0-C4C4-F3AA-DF3BE85A3E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4"/>
            <a:ext cx="5181600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Exponentiation should be right-associative, not left-associative.</a:t>
            </a:r>
          </a:p>
          <a:p>
            <a:r>
              <a:rPr lang="en-GB" dirty="0"/>
              <a:t>7**2**3 should be computed as 7**(2**3).</a:t>
            </a:r>
          </a:p>
          <a:p>
            <a:r>
              <a:rPr lang="en-GB" dirty="0"/>
              <a:t>Can be implemented with</a:t>
            </a:r>
          </a:p>
          <a:p>
            <a:pPr marL="0" indent="0" algn="ctr">
              <a:buNone/>
            </a:pPr>
            <a:r>
              <a:rPr lang="pt-BR" dirty="0"/>
              <a:t>E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F ** E</a:t>
            </a:r>
          </a:p>
          <a:p>
            <a:pPr marL="0" indent="0" algn="ctr">
              <a:buNone/>
            </a:pPr>
            <a:r>
              <a:rPr lang="pt-BR" dirty="0"/>
              <a:t>E </a:t>
            </a:r>
            <a:r>
              <a:rPr lang="pt-BR" dirty="0">
                <a:sym typeface="Wingdings" panose="05000000000000000000" pitchFamily="2" charset="2"/>
              </a:rPr>
              <a:t></a:t>
            </a:r>
            <a:r>
              <a:rPr lang="pt-BR" dirty="0"/>
              <a:t> F</a:t>
            </a:r>
          </a:p>
          <a:p>
            <a:pPr marL="0" indent="0" algn="ctr">
              <a:buNone/>
            </a:pPr>
            <a:r>
              <a:rPr lang="en-GB" i="1" dirty="0"/>
              <a:t>F </a:t>
            </a:r>
            <a:r>
              <a:rPr lang="en-GB" i="1" dirty="0">
                <a:sym typeface="Wingdings" panose="05000000000000000000" pitchFamily="2" charset="2"/>
              </a:rPr>
              <a:t></a:t>
            </a:r>
            <a:r>
              <a:rPr lang="en-GB" i="1" dirty="0"/>
              <a:t> (a number)</a:t>
            </a:r>
          </a:p>
          <a:p>
            <a:pPr marL="0" indent="0">
              <a:buNone/>
            </a:pPr>
            <a:r>
              <a:rPr lang="en-GB" dirty="0"/>
              <a:t>Using F**E instead of E**F makes derivations and parsing trees implement right-associativity.</a:t>
            </a:r>
          </a:p>
          <a:p>
            <a:pPr marL="0" indent="0">
              <a:buNone/>
            </a:pPr>
            <a:endParaRPr lang="en-SG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8D1ACC6-A6BA-3EB4-1C6D-8111B43858CB}"/>
              </a:ext>
            </a:extLst>
          </p:cNvPr>
          <p:cNvSpPr/>
          <p:nvPr/>
        </p:nvSpPr>
        <p:spPr>
          <a:xfrm>
            <a:off x="9296397" y="1925150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5D462AB-CE8C-D724-17FA-315B4ED2D76B}"/>
              </a:ext>
            </a:extLst>
          </p:cNvPr>
          <p:cNvSpPr/>
          <p:nvPr/>
        </p:nvSpPr>
        <p:spPr>
          <a:xfrm>
            <a:off x="8362459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E7B482B-DBA7-7CA8-68E4-1D04C5B53B9A}"/>
              </a:ext>
            </a:extLst>
          </p:cNvPr>
          <p:cNvSpPr/>
          <p:nvPr/>
        </p:nvSpPr>
        <p:spPr>
          <a:xfrm>
            <a:off x="9296398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</a:t>
            </a:r>
            <a:endParaRPr lang="en-SG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A8E3C53-2BBF-B163-368E-84D2CD292B6E}"/>
              </a:ext>
            </a:extLst>
          </p:cNvPr>
          <p:cNvSpPr/>
          <p:nvPr/>
        </p:nvSpPr>
        <p:spPr>
          <a:xfrm>
            <a:off x="10230337" y="270772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5ECD1E-883E-28CC-5D33-AF7708906C40}"/>
              </a:ext>
            </a:extLst>
          </p:cNvPr>
          <p:cNvCxnSpPr>
            <a:cxnSpLocks/>
            <a:stCxn id="6" idx="2"/>
            <a:endCxn id="7" idx="0"/>
          </p:cNvCxnSpPr>
          <p:nvPr/>
        </p:nvCxnSpPr>
        <p:spPr>
          <a:xfrm flipH="1">
            <a:off x="8753229" y="2401888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93593B-D4F1-4725-B278-2F6BFE2743CE}"/>
              </a:ext>
            </a:extLst>
          </p:cNvPr>
          <p:cNvCxnSpPr>
            <a:cxnSpLocks/>
            <a:stCxn id="6" idx="2"/>
            <a:endCxn id="9" idx="0"/>
          </p:cNvCxnSpPr>
          <p:nvPr/>
        </p:nvCxnSpPr>
        <p:spPr>
          <a:xfrm>
            <a:off x="9687167" y="2401888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BFE824E-5D27-3B74-3198-4C21BE222966}"/>
              </a:ext>
            </a:extLst>
          </p:cNvPr>
          <p:cNvCxnSpPr>
            <a:cxnSpLocks/>
            <a:stCxn id="6" idx="2"/>
            <a:endCxn id="8" idx="0"/>
          </p:cNvCxnSpPr>
          <p:nvPr/>
        </p:nvCxnSpPr>
        <p:spPr>
          <a:xfrm>
            <a:off x="9687167" y="2401888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0BCF452B-2731-E737-9A1B-C51F9BB61528}"/>
              </a:ext>
            </a:extLst>
          </p:cNvPr>
          <p:cNvSpPr/>
          <p:nvPr/>
        </p:nvSpPr>
        <p:spPr>
          <a:xfrm>
            <a:off x="9327665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34956CF-1880-F3F9-E90F-22547CF0FF12}"/>
              </a:ext>
            </a:extLst>
          </p:cNvPr>
          <p:cNvSpPr/>
          <p:nvPr/>
        </p:nvSpPr>
        <p:spPr>
          <a:xfrm>
            <a:off x="10261604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**</a:t>
            </a:r>
            <a:endParaRPr lang="en-SG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FBFF5BC-AFDB-A2A0-52B5-9DE7F4FA87C0}"/>
              </a:ext>
            </a:extLst>
          </p:cNvPr>
          <p:cNvSpPr/>
          <p:nvPr/>
        </p:nvSpPr>
        <p:spPr>
          <a:xfrm>
            <a:off x="11195543" y="3503766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</a:t>
            </a:r>
            <a:endParaRPr lang="en-SG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09DCA4F-CD09-6CD7-02A0-2E08CCDA3861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9718435" y="3197929"/>
            <a:ext cx="933938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C3A9B66-2DAF-C85B-756C-6CE5B5F2F4C6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10652373" y="3197929"/>
            <a:ext cx="933940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DF7BA40-67B8-719F-43EB-4F83AB3A3292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0652373" y="3197929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70FB41D2-0986-8B42-0F46-518ED99D12E5}"/>
              </a:ext>
            </a:extLst>
          </p:cNvPr>
          <p:cNvSpPr/>
          <p:nvPr/>
        </p:nvSpPr>
        <p:spPr>
          <a:xfrm>
            <a:off x="11195544" y="4286341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</a:t>
            </a:r>
            <a:endParaRPr lang="en-SG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91F0CA35-7EDA-2D30-FCB8-30CF7BD35E85}"/>
              </a:ext>
            </a:extLst>
          </p:cNvPr>
          <p:cNvCxnSpPr>
            <a:cxnSpLocks/>
            <a:endCxn id="19" idx="0"/>
          </p:cNvCxnSpPr>
          <p:nvPr/>
        </p:nvCxnSpPr>
        <p:spPr>
          <a:xfrm>
            <a:off x="11586313" y="3980504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EFC7E487-3677-9376-C6EE-2B2899DA8DD8}"/>
              </a:ext>
            </a:extLst>
          </p:cNvPr>
          <p:cNvSpPr/>
          <p:nvPr/>
        </p:nvSpPr>
        <p:spPr>
          <a:xfrm>
            <a:off x="11195543" y="5049595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3</a:t>
            </a:r>
            <a:endParaRPr lang="en-SG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4FED785-6685-A64B-63A2-4CFAAF489973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11586312" y="4743758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5D8CD68C-2512-A836-04B6-A7F1B030CC99}"/>
              </a:ext>
            </a:extLst>
          </p:cNvPr>
          <p:cNvSpPr/>
          <p:nvPr/>
        </p:nvSpPr>
        <p:spPr>
          <a:xfrm>
            <a:off x="9327665" y="4284239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2</a:t>
            </a:r>
            <a:endParaRPr lang="en-SG" dirty="0"/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E2AE3CF-F8CD-263E-2920-E376ACC0A0C3}"/>
              </a:ext>
            </a:extLst>
          </p:cNvPr>
          <p:cNvCxnSpPr>
            <a:cxnSpLocks/>
            <a:endCxn id="23" idx="0"/>
          </p:cNvCxnSpPr>
          <p:nvPr/>
        </p:nvCxnSpPr>
        <p:spPr>
          <a:xfrm>
            <a:off x="9718434" y="3978402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801D026-593E-78E3-0074-E3040F8C735A}"/>
              </a:ext>
            </a:extLst>
          </p:cNvPr>
          <p:cNvSpPr/>
          <p:nvPr/>
        </p:nvSpPr>
        <p:spPr>
          <a:xfrm>
            <a:off x="8362459" y="3501664"/>
            <a:ext cx="781539" cy="47673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7</a:t>
            </a:r>
            <a:endParaRPr lang="en-SG" dirty="0"/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E8A168-3915-8124-DC40-5056F7C003CC}"/>
              </a:ext>
            </a:extLst>
          </p:cNvPr>
          <p:cNvCxnSpPr>
            <a:cxnSpLocks/>
            <a:endCxn id="35" idx="0"/>
          </p:cNvCxnSpPr>
          <p:nvPr/>
        </p:nvCxnSpPr>
        <p:spPr>
          <a:xfrm>
            <a:off x="8753228" y="3195827"/>
            <a:ext cx="1" cy="3058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755483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Multiplication, e.g. 2 * 5 * 3.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Boolean or, e.g. x or y or z.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3480728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Multiplication, e.g. 2 * 5 * 3.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Boolean or, e.g. x or y or z.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79013359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70C0"/>
                </a:solidFill>
              </a:rPr>
              <a:t>Multiplication, e.g. 2 * 5 * 3. (left)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Boolean or, e.g. x or y or z.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01496280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70C0"/>
                </a:solidFill>
              </a:rPr>
              <a:t>Multiplication, e.g. 2 * 5 * 3. (left)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Boolean or, e.g. x or y or z.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17286827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70C0"/>
                </a:solidFill>
              </a:rPr>
              <a:t>Multiplication, e.g. 2 * 5 * 3. (left)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7030A0"/>
                </a:solidFill>
              </a:rPr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dirty="0"/>
              <a:t>Boolean or, e.g. x or y or z.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39025309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C9E26-774C-6746-3BAC-5BA7A7C4E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Quiz time!</a:t>
            </a:r>
            <a:endParaRPr lang="en-SG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CECFEA-296A-C809-C09E-A9D0841C5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197492" cy="4351338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Consider the operation below, in </a:t>
            </a:r>
            <a:r>
              <a:rPr lang="en-GB" b="1" dirty="0">
                <a:solidFill>
                  <a:srgbClr val="C00000"/>
                </a:solidFill>
              </a:rPr>
              <a:t>Python</a:t>
            </a:r>
            <a:r>
              <a:rPr lang="en-GB" b="1" dirty="0"/>
              <a:t>. Which one are </a:t>
            </a:r>
            <a:r>
              <a:rPr lang="en-GB" b="1" dirty="0">
                <a:solidFill>
                  <a:srgbClr val="00B050"/>
                </a:solidFill>
              </a:rPr>
              <a:t>Left-Associative</a:t>
            </a:r>
            <a:r>
              <a:rPr lang="en-GB" b="1" dirty="0"/>
              <a:t>? </a:t>
            </a:r>
            <a:r>
              <a:rPr lang="en-GB" b="1" dirty="0">
                <a:solidFill>
                  <a:srgbClr val="7030A0"/>
                </a:solidFill>
              </a:rPr>
              <a:t>Right-Associative</a:t>
            </a:r>
            <a:r>
              <a:rPr lang="en-GB" b="1" dirty="0"/>
              <a:t>? Which ones could be </a:t>
            </a:r>
            <a:r>
              <a:rPr lang="en-GB" b="1" dirty="0">
                <a:solidFill>
                  <a:srgbClr val="0070C0"/>
                </a:solidFill>
              </a:rPr>
              <a:t>Both</a:t>
            </a:r>
            <a:r>
              <a:rPr lang="en-GB" b="1" dirty="0"/>
              <a:t>? If both, which is preferable?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Subtraction, e.g. 7 – 2 – 3 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70C0"/>
                </a:solidFill>
              </a:rPr>
              <a:t>Multiplication, e.g. 2 * 5 * 3. (left)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B050"/>
                </a:solidFill>
              </a:rPr>
              <a:t>Division, e.g. 8 / 4 / 2.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7030A0"/>
                </a:solidFill>
              </a:rPr>
              <a:t>Assignment, e.g. x = y = z = 7.</a:t>
            </a:r>
          </a:p>
          <a:p>
            <a:pPr marL="514350" indent="-514350">
              <a:buFont typeface="+mj-lt"/>
              <a:buAutoNum type="alphaUcPeriod"/>
            </a:pPr>
            <a:r>
              <a:rPr lang="en-GB" b="1" dirty="0">
                <a:solidFill>
                  <a:srgbClr val="0070C0"/>
                </a:solidFill>
              </a:rPr>
              <a:t>Boolean or, e.g. x or y or z. (left, for short circuit evaluation!)</a:t>
            </a:r>
          </a:p>
          <a:p>
            <a:pPr marL="514350" indent="-514350">
              <a:buFont typeface="+mj-lt"/>
              <a:buAutoNum type="alphaUcPeriod"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4166280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2393</TotalTime>
  <Words>6283</Words>
  <Application>Microsoft Office PowerPoint</Application>
  <PresentationFormat>Widescreen</PresentationFormat>
  <Paragraphs>869</Paragraphs>
  <Slides>83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83</vt:i4>
      </vt:variant>
    </vt:vector>
  </HeadingPairs>
  <TitlesOfParts>
    <vt:vector size="89" baseType="lpstr">
      <vt:lpstr>Arial</vt:lpstr>
      <vt:lpstr>Calibri</vt:lpstr>
      <vt:lpstr>Calibri Light</vt:lpstr>
      <vt:lpstr>Cambria Math</vt:lpstr>
      <vt:lpstr>Wingdings</vt:lpstr>
      <vt:lpstr>Office Theme</vt:lpstr>
      <vt:lpstr>50.051 Programming Language Concepts  W9-S1 Context Free Grammars (CFG)</vt:lpstr>
      <vt:lpstr>Let us start with a problem</vt:lpstr>
      <vt:lpstr>Let us start with a problem</vt:lpstr>
      <vt:lpstr>Let us start with a problem</vt:lpstr>
      <vt:lpstr>Let us start with a problem</vt:lpstr>
      <vt:lpstr>Let us start with a problem</vt:lpstr>
      <vt:lpstr>I never expected I would be saying this in a CS course, but…</vt:lpstr>
      <vt:lpstr>I never expected I would be saying this in a CS course, but…</vt:lpstr>
      <vt:lpstr>I never expected I would be saying this in a CS course, but…</vt:lpstr>
      <vt:lpstr>A chemical problem</vt:lpstr>
      <vt:lpstr>A chemical problem</vt:lpstr>
      <vt:lpstr>A chemical problem</vt:lpstr>
      <vt:lpstr>A chemical problem</vt:lpstr>
      <vt:lpstr>Introducing Context Free Grammars</vt:lpstr>
      <vt:lpstr>Elements of Context Free Grammars</vt:lpstr>
      <vt:lpstr>Elements of Context Free Grammars</vt:lpstr>
      <vt:lpstr>Back to our Chemistry</vt:lpstr>
      <vt:lpstr>Back to our Chemistry</vt:lpstr>
      <vt:lpstr>Back to our Chemistry</vt:lpstr>
      <vt:lpstr>Back to our Chemistry</vt:lpstr>
      <vt:lpstr>Back to our Chemistry</vt:lpstr>
      <vt:lpstr>Back to our Chemistry</vt:lpstr>
      <vt:lpstr>Back to our Chemistry</vt:lpstr>
      <vt:lpstr>Practice 1 and 2</vt:lpstr>
      <vt:lpstr>Practice 1 and 2</vt:lpstr>
      <vt:lpstr>Practice 1 and 2</vt:lpstr>
      <vt:lpstr>Practice 1 and 2</vt:lpstr>
      <vt:lpstr>Derivation and Syntax Validity</vt:lpstr>
      <vt:lpstr>Derivation and Syntax Validity</vt:lpstr>
      <vt:lpstr>How is that useful for compilers?</vt:lpstr>
      <vt:lpstr>How is that useful for compilers?</vt:lpstr>
      <vt:lpstr>Practice 3</vt:lpstr>
      <vt:lpstr>Practice 3</vt:lpstr>
      <vt:lpstr>Parse tree of a derivation</vt:lpstr>
      <vt:lpstr>Parse tree of a derivation</vt:lpstr>
      <vt:lpstr>Parse tree of a derivation</vt:lpstr>
      <vt:lpstr>Quick question</vt:lpstr>
      <vt:lpstr>Quick question</vt:lpstr>
      <vt:lpstr>Two parse trees for 2+7+9</vt:lpstr>
      <vt:lpstr>Two parse trees for 2+7+9</vt:lpstr>
      <vt:lpstr>Two parse trees for 2+7*9</vt:lpstr>
      <vt:lpstr>Two parse trees for 2+7*9</vt:lpstr>
      <vt:lpstr>Ambiguity</vt:lpstr>
      <vt:lpstr>Checking ambiguity algorithmically</vt:lpstr>
      <vt:lpstr>Checking ambiguity algorithmically</vt:lpstr>
      <vt:lpstr>Checking ambiguity algorithmically</vt:lpstr>
      <vt:lpstr>Ambiguous grammars and compilers</vt:lpstr>
      <vt:lpstr>Ambiguous grammars and compilers</vt:lpstr>
      <vt:lpstr>Ambiguous grammars and compilers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Quiz time!</vt:lpstr>
      <vt:lpstr>Rewriting a CFG</vt:lpstr>
      <vt:lpstr>A first disambiguation example</vt:lpstr>
      <vt:lpstr>Two parse trees for 2+7*9</vt:lpstr>
      <vt:lpstr>A first disambiguation example</vt:lpstr>
      <vt:lpstr>A first disambiguation example</vt:lpstr>
      <vt:lpstr>A first disambiguation example</vt:lpstr>
      <vt:lpstr>A second disambiguation example</vt:lpstr>
      <vt:lpstr>A second disambiguation example</vt:lpstr>
      <vt:lpstr>A second disambiguation example</vt:lpstr>
      <vt:lpstr>A second disambiguation example</vt:lpstr>
      <vt:lpstr>A second disambiguation example</vt:lpstr>
      <vt:lpstr>A CFG for if-else with delimiters</vt:lpstr>
      <vt:lpstr>A CFG for if-else with delimiters</vt:lpstr>
      <vt:lpstr>Associativity rules</vt:lpstr>
      <vt:lpstr>Associativity rules</vt:lpstr>
      <vt:lpstr>Associativity rules</vt:lpstr>
      <vt:lpstr>A left-associative example: addition</vt:lpstr>
      <vt:lpstr>A left-associative example: addition</vt:lpstr>
      <vt:lpstr>Quiz time!</vt:lpstr>
      <vt:lpstr>Quiz time!</vt:lpstr>
      <vt:lpstr>Quiz time!</vt:lpstr>
      <vt:lpstr>Quiz time!</vt:lpstr>
      <vt:lpstr>Quiz time!</vt:lpstr>
      <vt:lpstr>Quiz time!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50.051 Programming Language Concepts  W1-S1 Introduction to Compilers and Course Outline</dc:title>
  <dc:creator>Matthieu DE MARI</dc:creator>
  <cp:lastModifiedBy>Matthieu De Mari</cp:lastModifiedBy>
  <cp:revision>1</cp:revision>
  <dcterms:created xsi:type="dcterms:W3CDTF">2023-03-02T06:54:24Z</dcterms:created>
  <dcterms:modified xsi:type="dcterms:W3CDTF">2026-03-17T04:43:21Z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fde23a9-9a05-4714-826f-57380a17bd9d_Enabled">
    <vt:lpwstr>true</vt:lpwstr>
  </property>
  <property fmtid="{D5CDD505-2E9C-101B-9397-08002B2CF9AE}" pid="3" name="MSIP_Label_7fde23a9-9a05-4714-826f-57380a17bd9d_SetDate">
    <vt:lpwstr>2023-03-02T06:54:28Z</vt:lpwstr>
  </property>
  <property fmtid="{D5CDD505-2E9C-101B-9397-08002B2CF9AE}" pid="4" name="MSIP_Label_7fde23a9-9a05-4714-826f-57380a17bd9d_Method">
    <vt:lpwstr>Privileged</vt:lpwstr>
  </property>
  <property fmtid="{D5CDD505-2E9C-101B-9397-08002B2CF9AE}" pid="5" name="MSIP_Label_7fde23a9-9a05-4714-826f-57380a17bd9d_Name">
    <vt:lpwstr>Restricted</vt:lpwstr>
  </property>
  <property fmtid="{D5CDD505-2E9C-101B-9397-08002B2CF9AE}" pid="6" name="MSIP_Label_7fde23a9-9a05-4714-826f-57380a17bd9d_SiteId">
    <vt:lpwstr>3476b776-e990-4f72-b950-62489831623d</vt:lpwstr>
  </property>
  <property fmtid="{D5CDD505-2E9C-101B-9397-08002B2CF9AE}" pid="7" name="MSIP_Label_7fde23a9-9a05-4714-826f-57380a17bd9d_ActionId">
    <vt:lpwstr>d53d049c-34cc-4ec9-a6d9-543a36f42364</vt:lpwstr>
  </property>
  <property fmtid="{D5CDD505-2E9C-101B-9397-08002B2CF9AE}" pid="8" name="MSIP_Label_7fde23a9-9a05-4714-826f-57380a17bd9d_ContentBits">
    <vt:lpwstr>3</vt:lpwstr>
  </property>
  <property fmtid="{D5CDD505-2E9C-101B-9397-08002B2CF9AE}" pid="9" name="ClassificationContentMarkingFooterLocations">
    <vt:lpwstr>Office Theme:10</vt:lpwstr>
  </property>
  <property fmtid="{D5CDD505-2E9C-101B-9397-08002B2CF9AE}" pid="10" name="ClassificationContentMarkingFooterText">
    <vt:lpwstr>Restricted</vt:lpwstr>
  </property>
  <property fmtid="{D5CDD505-2E9C-101B-9397-08002B2CF9AE}" pid="11" name="ClassificationContentMarkingHeaderLocations">
    <vt:lpwstr>Office Theme:9</vt:lpwstr>
  </property>
  <property fmtid="{D5CDD505-2E9C-101B-9397-08002B2CF9AE}" pid="12" name="ClassificationContentMarkingHeaderText">
    <vt:lpwstr>Restricted</vt:lpwstr>
  </property>
</Properties>
</file>