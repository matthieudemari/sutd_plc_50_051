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7"/>
  </p:notesMasterIdLst>
  <p:sldIdLst>
    <p:sldId id="377" r:id="rId2"/>
    <p:sldId id="274" r:id="rId3"/>
    <p:sldId id="275" r:id="rId4"/>
    <p:sldId id="278" r:id="rId5"/>
    <p:sldId id="279" r:id="rId6"/>
    <p:sldId id="379" r:id="rId7"/>
    <p:sldId id="280" r:id="rId8"/>
    <p:sldId id="281" r:id="rId9"/>
    <p:sldId id="285" r:id="rId10"/>
    <p:sldId id="410" r:id="rId11"/>
    <p:sldId id="387" r:id="rId12"/>
    <p:sldId id="412" r:id="rId13"/>
    <p:sldId id="413" r:id="rId14"/>
    <p:sldId id="414" r:id="rId15"/>
    <p:sldId id="388" r:id="rId16"/>
    <p:sldId id="417" r:id="rId17"/>
    <p:sldId id="415" r:id="rId18"/>
    <p:sldId id="416" r:id="rId19"/>
    <p:sldId id="418" r:id="rId20"/>
    <p:sldId id="389" r:id="rId21"/>
    <p:sldId id="419" r:id="rId22"/>
    <p:sldId id="420" r:id="rId23"/>
    <p:sldId id="422" r:id="rId24"/>
    <p:sldId id="423" r:id="rId25"/>
    <p:sldId id="421" r:id="rId26"/>
    <p:sldId id="390" r:id="rId27"/>
    <p:sldId id="424" r:id="rId28"/>
    <p:sldId id="391" r:id="rId29"/>
    <p:sldId id="425" r:id="rId30"/>
    <p:sldId id="426" r:id="rId31"/>
    <p:sldId id="392" r:id="rId32"/>
    <p:sldId id="461" r:id="rId33"/>
    <p:sldId id="427" r:id="rId34"/>
    <p:sldId id="394" r:id="rId35"/>
    <p:sldId id="429" r:id="rId36"/>
    <p:sldId id="395" r:id="rId37"/>
    <p:sldId id="396" r:id="rId38"/>
    <p:sldId id="397" r:id="rId39"/>
    <p:sldId id="428" r:id="rId40"/>
    <p:sldId id="400" r:id="rId41"/>
    <p:sldId id="432" r:id="rId42"/>
    <p:sldId id="462" r:id="rId43"/>
    <p:sldId id="431" r:id="rId44"/>
    <p:sldId id="434" r:id="rId45"/>
    <p:sldId id="436" r:id="rId46"/>
    <p:sldId id="437" r:id="rId47"/>
    <p:sldId id="463" r:id="rId48"/>
    <p:sldId id="438" r:id="rId49"/>
    <p:sldId id="439" r:id="rId50"/>
    <p:sldId id="440" r:id="rId51"/>
    <p:sldId id="441" r:id="rId52"/>
    <p:sldId id="445" r:id="rId53"/>
    <p:sldId id="446" r:id="rId54"/>
    <p:sldId id="442" r:id="rId55"/>
    <p:sldId id="443" r:id="rId56"/>
    <p:sldId id="444" r:id="rId57"/>
    <p:sldId id="453" r:id="rId58"/>
    <p:sldId id="449" r:id="rId59"/>
    <p:sldId id="452" r:id="rId60"/>
    <p:sldId id="464" r:id="rId61"/>
    <p:sldId id="465" r:id="rId62"/>
    <p:sldId id="466" r:id="rId63"/>
    <p:sldId id="468" r:id="rId64"/>
    <p:sldId id="467" r:id="rId65"/>
    <p:sldId id="433" r:id="rId66"/>
    <p:sldId id="386" r:id="rId67"/>
    <p:sldId id="454" r:id="rId68"/>
    <p:sldId id="455" r:id="rId69"/>
    <p:sldId id="459" r:id="rId70"/>
    <p:sldId id="458" r:id="rId71"/>
    <p:sldId id="456" r:id="rId72"/>
    <p:sldId id="460" r:id="rId73"/>
    <p:sldId id="469" r:id="rId74"/>
    <p:sldId id="470" r:id="rId75"/>
    <p:sldId id="471" r:id="rId7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B78B9027-D5BB-40A0-9AF0-3B950F71C46E}">
          <p14:sldIdLst>
            <p14:sldId id="377"/>
          </p14:sldIdLst>
        </p14:section>
        <p14:section name="Reminder on tokenization objectives" id="{E39CD959-0E72-466E-A1FB-1EFED2D2A995}">
          <p14:sldIdLst>
            <p14:sldId id="274"/>
            <p14:sldId id="275"/>
            <p14:sldId id="278"/>
            <p14:sldId id="279"/>
            <p14:sldId id="379"/>
            <p14:sldId id="280"/>
            <p14:sldId id="281"/>
            <p14:sldId id="285"/>
          </p14:sldIdLst>
        </p14:section>
        <p14:section name="Scanning a source code file" id="{AB3BCAC9-1F25-45FD-9E91-7977E1CEE60C}">
          <p14:sldIdLst>
            <p14:sldId id="410"/>
            <p14:sldId id="387"/>
            <p14:sldId id="412"/>
            <p14:sldId id="413"/>
            <p14:sldId id="414"/>
          </p14:sldIdLst>
        </p14:section>
        <p14:section name="Defining a Token Object" id="{069D4AEA-A318-4573-B5CC-179DF93FDE6C}">
          <p14:sldIdLst>
            <p14:sldId id="388"/>
            <p14:sldId id="417"/>
            <p14:sldId id="415"/>
            <p14:sldId id="416"/>
            <p14:sldId id="418"/>
            <p14:sldId id="389"/>
            <p14:sldId id="419"/>
          </p14:sldIdLst>
        </p14:section>
        <p14:section name="Recognizing keywords" id="{4EE5B39E-F152-468B-B7E8-1F4CA51C15F3}">
          <p14:sldIdLst>
            <p14:sldId id="420"/>
            <p14:sldId id="422"/>
            <p14:sldId id="423"/>
            <p14:sldId id="421"/>
            <p14:sldId id="390"/>
            <p14:sldId id="424"/>
            <p14:sldId id="391"/>
            <p14:sldId id="425"/>
            <p14:sldId id="426"/>
          </p14:sldIdLst>
        </p14:section>
        <p14:section name="Scanning file and recognizing keywords" id="{31005FCB-1C48-4497-925A-D24476D6DF89}">
          <p14:sldIdLst>
            <p14:sldId id="392"/>
            <p14:sldId id="461"/>
            <p14:sldId id="427"/>
          </p14:sldIdLst>
        </p14:section>
        <p14:section name="Recognizing end of line characters" id="{1EBA2A9A-C965-4ECE-9F3D-241A0FFA07FD}">
          <p14:sldIdLst>
            <p14:sldId id="394"/>
            <p14:sldId id="429"/>
            <p14:sldId id="395"/>
            <p14:sldId id="396"/>
            <p14:sldId id="397"/>
            <p14:sldId id="428"/>
          </p14:sldIdLst>
        </p14:section>
        <p14:section name="Recognizing operators" id="{7A9A233D-2C25-4CFB-9229-BD1F6AAE52E1}">
          <p14:sldIdLst>
            <p14:sldId id="400"/>
            <p14:sldId id="432"/>
            <p14:sldId id="462"/>
            <p14:sldId id="431"/>
          </p14:sldIdLst>
        </p14:section>
        <p14:section name="Recognizing identifiers" id="{CDF40FB8-3CB5-4988-B2F3-4A3FB361C3EF}">
          <p14:sldIdLst>
            <p14:sldId id="434"/>
            <p14:sldId id="436"/>
            <p14:sldId id="437"/>
            <p14:sldId id="463"/>
            <p14:sldId id="438"/>
            <p14:sldId id="439"/>
            <p14:sldId id="440"/>
          </p14:sldIdLst>
        </p14:section>
        <p14:section name="Recognizing literals" id="{58F96ECD-CF24-4DD7-A6D2-4311754C95CE}">
          <p14:sldIdLst>
            <p14:sldId id="441"/>
            <p14:sldId id="445"/>
            <p14:sldId id="446"/>
            <p14:sldId id="442"/>
            <p14:sldId id="443"/>
            <p14:sldId id="444"/>
            <p14:sldId id="453"/>
            <p14:sldId id="449"/>
            <p14:sldId id="452"/>
          </p14:sldIdLst>
        </p14:section>
        <p14:section name="Error handling" id="{4D37341A-511D-415B-9CB6-7CE17B0DB9FA}">
          <p14:sldIdLst>
            <p14:sldId id="464"/>
            <p14:sldId id="465"/>
            <p14:sldId id="466"/>
            <p14:sldId id="468"/>
            <p14:sldId id="467"/>
          </p14:sldIdLst>
        </p14:section>
        <p14:section name="Conclusion" id="{51468D2E-715C-4CDD-BDEC-A6B0484CF5B8}">
          <p14:sldIdLst>
            <p14:sldId id="433"/>
          </p14:sldIdLst>
        </p14:section>
        <p14:section name="Practice" id="{F87FAEA4-6D7E-4F13-BD18-76435A868A3B}">
          <p14:sldIdLst>
            <p14:sldId id="386"/>
            <p14:sldId id="454"/>
            <p14:sldId id="455"/>
            <p14:sldId id="459"/>
            <p14:sldId id="458"/>
            <p14:sldId id="456"/>
            <p14:sldId id="460"/>
          </p14:sldIdLst>
        </p14:section>
        <p14:section name="Coding Practice" id="{54977B6B-05A2-4074-BCC4-C682F7EF209C}">
          <p14:sldIdLst>
            <p14:sldId id="469"/>
            <p14:sldId id="470"/>
            <p14:sldId id="4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BB37E7B-2C63-881E-D1CD-0B80C5165243}" name="Matthieu DE MARI" initials="MDM" userId="15f9bd7465eafadb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81E9B007-0C2C-493E-9B93-55A62C9C1F12}"/>
    <pc:docChg chg="modSld">
      <pc:chgData name="Matthieu De Mari" userId="dfb708c9-d8dc-439f-9a3b-c772bf4a311c" providerId="ADAL" clId="{81E9B007-0C2C-493E-9B93-55A62C9C1F12}" dt="2026-03-05T04:45:32.466" v="14" actId="20577"/>
      <pc:docMkLst>
        <pc:docMk/>
      </pc:docMkLst>
      <pc:sldChg chg="modSp mod">
        <pc:chgData name="Matthieu De Mari" userId="dfb708c9-d8dc-439f-9a3b-c772bf4a311c" providerId="ADAL" clId="{81E9B007-0C2C-493E-9B93-55A62C9C1F12}" dt="2026-03-03T10:07:45.476" v="3" actId="20577"/>
        <pc:sldMkLst>
          <pc:docMk/>
          <pc:sldMk cId="1040156172" sldId="377"/>
        </pc:sldMkLst>
        <pc:spChg chg="mod">
          <ac:chgData name="Matthieu De Mari" userId="dfb708c9-d8dc-439f-9a3b-c772bf4a311c" providerId="ADAL" clId="{81E9B007-0C2C-493E-9B93-55A62C9C1F12}" dt="2026-03-03T10:07:45.476" v="3" actId="20577"/>
          <ac:spMkLst>
            <pc:docMk/>
            <pc:sldMk cId="1040156172" sldId="377"/>
            <ac:spMk id="2" creationId="{080CEB46-CC16-4D19-8C2C-AEE9471D8168}"/>
          </ac:spMkLst>
        </pc:spChg>
      </pc:sldChg>
      <pc:sldChg chg="modSp mod">
        <pc:chgData name="Matthieu De Mari" userId="dfb708c9-d8dc-439f-9a3b-c772bf4a311c" providerId="ADAL" clId="{81E9B007-0C2C-493E-9B93-55A62C9C1F12}" dt="2026-03-05T04:31:49.787" v="4" actId="20577"/>
        <pc:sldMkLst>
          <pc:docMk/>
          <pc:sldMk cId="3287206519" sldId="445"/>
        </pc:sldMkLst>
        <pc:spChg chg="mod">
          <ac:chgData name="Matthieu De Mari" userId="dfb708c9-d8dc-439f-9a3b-c772bf4a311c" providerId="ADAL" clId="{81E9B007-0C2C-493E-9B93-55A62C9C1F12}" dt="2026-03-05T04:31:49.787" v="4" actId="20577"/>
          <ac:spMkLst>
            <pc:docMk/>
            <pc:sldMk cId="3287206519" sldId="445"/>
            <ac:spMk id="3" creationId="{A6FA23DB-2026-F938-2B1A-401CADD258D7}"/>
          </ac:spMkLst>
        </pc:spChg>
      </pc:sldChg>
      <pc:sldChg chg="modSp mod">
        <pc:chgData name="Matthieu De Mari" userId="dfb708c9-d8dc-439f-9a3b-c772bf4a311c" providerId="ADAL" clId="{81E9B007-0C2C-493E-9B93-55A62C9C1F12}" dt="2026-03-05T04:37:37.040" v="6" actId="20577"/>
        <pc:sldMkLst>
          <pc:docMk/>
          <pc:sldMk cId="783589184" sldId="449"/>
        </pc:sldMkLst>
        <pc:spChg chg="mod">
          <ac:chgData name="Matthieu De Mari" userId="dfb708c9-d8dc-439f-9a3b-c772bf4a311c" providerId="ADAL" clId="{81E9B007-0C2C-493E-9B93-55A62C9C1F12}" dt="2026-03-05T04:37:37.040" v="6" actId="20577"/>
          <ac:spMkLst>
            <pc:docMk/>
            <pc:sldMk cId="783589184" sldId="449"/>
            <ac:spMk id="3" creationId="{A6FA23DB-2026-F938-2B1A-401CADD258D7}"/>
          </ac:spMkLst>
        </pc:spChg>
      </pc:sldChg>
      <pc:sldChg chg="modSp mod">
        <pc:chgData name="Matthieu De Mari" userId="dfb708c9-d8dc-439f-9a3b-c772bf4a311c" providerId="ADAL" clId="{81E9B007-0C2C-493E-9B93-55A62C9C1F12}" dt="2026-03-05T04:38:08.316" v="11" actId="20577"/>
        <pc:sldMkLst>
          <pc:docMk/>
          <pc:sldMk cId="3093658865" sldId="452"/>
        </pc:sldMkLst>
        <pc:spChg chg="mod">
          <ac:chgData name="Matthieu De Mari" userId="dfb708c9-d8dc-439f-9a3b-c772bf4a311c" providerId="ADAL" clId="{81E9B007-0C2C-493E-9B93-55A62C9C1F12}" dt="2026-03-05T04:38:08.316" v="11" actId="20577"/>
          <ac:spMkLst>
            <pc:docMk/>
            <pc:sldMk cId="3093658865" sldId="452"/>
            <ac:spMk id="3" creationId="{A6FA23DB-2026-F938-2B1A-401CADD258D7}"/>
          </ac:spMkLst>
        </pc:spChg>
      </pc:sldChg>
      <pc:sldChg chg="modSp mod">
        <pc:chgData name="Matthieu De Mari" userId="dfb708c9-d8dc-439f-9a3b-c772bf4a311c" providerId="ADAL" clId="{81E9B007-0C2C-493E-9B93-55A62C9C1F12}" dt="2026-03-05T04:45:32.466" v="14" actId="20577"/>
        <pc:sldMkLst>
          <pc:docMk/>
          <pc:sldMk cId="1432686963" sldId="468"/>
        </pc:sldMkLst>
        <pc:spChg chg="mod">
          <ac:chgData name="Matthieu De Mari" userId="dfb708c9-d8dc-439f-9a3b-c772bf4a311c" providerId="ADAL" clId="{81E9B007-0C2C-493E-9B93-55A62C9C1F12}" dt="2026-03-05T04:45:32.466" v="14" actId="20577"/>
          <ac:spMkLst>
            <pc:docMk/>
            <pc:sldMk cId="1432686963" sldId="468"/>
            <ac:spMk id="4" creationId="{5D0D450B-C201-FDB7-239F-6DE0626BCB2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CFC6A4-B085-437B-8084-693BEB2A32DE}" type="datetimeFigureOut">
              <a:rPr lang="en-SG" smtClean="0"/>
              <a:t>5/3/2026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1275F3-0744-4B3F-986A-B720E2CE051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22986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A04E3-9B9E-0B91-AA29-B356F19B72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F6A716-5C7D-F23B-5221-64E9C8264B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A554BE-C464-1858-7CE8-EE087B7165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5/3/2026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BC678C-234A-A12A-C292-CF7A8FE3B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558BCA-A573-1FAE-54DF-9261AECB3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490454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9CDC6-8674-88A5-68BA-4DF3EF7F3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CBD233-6835-D2C8-D4B6-2377CA6957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2CB200-8CA3-3D50-247E-E16948501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5/3/2026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43C4F2-0C9D-182B-FAF9-7AF1B77A4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8EC91B-956F-EA73-BCF4-F07962880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030550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2F325-7251-4FD9-5A0A-482D96752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D4414C-39F5-968A-8953-D6E4A4BBB7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2787D6-E021-15BD-3F47-6B3A2CEAA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5/3/2026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513CE0-0459-2E8E-3279-EF5B62DD6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049588-601F-7C26-2A07-334BD5E2D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287041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7D91B-BBA0-866E-9BF6-0971AE779B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F788D2-0925-B3F9-22BD-A25915E04D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74DBE8-2CD0-1238-EE02-0801D12E70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5C1A08-9D08-4757-4860-2175B179D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5/3/2026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BB010B-6483-0B1F-5B0B-B68323882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4C635F-808F-F58D-6EB6-0AE5EFDB5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64249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80DC9-E3FF-E219-0E49-D7D20A951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DE6D7B-100B-C183-40D4-96803F1BB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42DE0A-2907-D16A-F14E-54AFDA36AC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10E894-7CE5-F017-AA15-A24E5281DF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920203-5A0A-1AF2-47B3-27418EB2DA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6BA0826-6B70-B30F-F054-248E26E2E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5/3/2026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C3948B-56AE-8DB5-883D-7E0ADA595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C00A08-E897-BB96-0E14-88D07380B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1105081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3D70C-4ED2-C81B-9AC6-3791B4661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59A99B7-97F4-423D-BDAF-4827705CF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5/3/2026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CED9FE-3730-E498-E87E-C5D4F1C98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6A7511-9EBE-2037-4332-F5B0B6AA9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183300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68D6E9-5B1E-E414-B4BB-A00EAB4AF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5/3/2026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E7774D-CDCD-146B-FC2D-28E83A75B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859B5-E4B6-9852-BE06-6B29AE883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9303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E1E7E-7FFC-7D20-B361-9F3B52ADFE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9E599-603D-2F32-D4D8-DBAFE7625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2CE027-AF2D-0C5B-C650-3D1DF50CE9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BA35D9-EACF-710A-C495-B386C26255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5/3/2026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8C95A1-CCC7-8794-CBB7-67865E6AB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08442F-C062-76CF-A283-7F9D40066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08207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F101F-436C-78D4-3353-52675D705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9DD766-D53E-402F-6ABB-7220593A41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481012-864C-DA8A-6BE2-C7E016EFB2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14AF22-E284-A04F-35FA-BAC8CC467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5/3/2026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BDB1FE-2F11-940A-0D5F-F3D399A48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7109B1-55CB-156E-CD60-2B1EB9DE1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813271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699D2-6E79-0D65-DB6E-B0BBE96B9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29EEA9-80A3-BE9A-FF93-6F71EBDA45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2AC008-F0D0-891C-DAED-28B00F77F5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5/3/2026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A338D0-440C-2B3C-B840-065F12172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6B32F4-0DEA-EC93-20BA-8671A4F5A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68879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E7E0DD-AE40-51F8-67ED-2757B9CE83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A65760-CB0B-CCF8-974D-AF21024981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20DC16-6EB9-6693-25EE-22631FBD0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5/3/2026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AF9D08-60B1-AC3E-15DA-EDB52EDE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259838-C42F-58BE-18FC-85DBA5C2A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147084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1A22612-53E9-1472-DE56-3B9BA8CBC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B0B86C-45DF-4306-D1E8-1719261092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0B4949-C105-D7A3-A521-C8123DF3D7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35F6B0-D468-4997-9CE3-CF2A1AE5E3F9}" type="datetimeFigureOut">
              <a:rPr lang="en-SG" smtClean="0"/>
              <a:t>5/3/2026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BC09B9-0678-1AEF-93C0-B1A3A7CDB6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93F84A-B605-98F7-7694-62AFD7A6E2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7321BB-4993-C3D7-45BA-3941EB0C1E3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781675" y="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EF943D-E5F8-C50D-F37B-649E0AB3F320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81675" y="667512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11628953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CEB46-CC16-4D19-8C2C-AEE9471D8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139" y="942610"/>
            <a:ext cx="11441722" cy="238760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50.051 Programming Language Concepts</a:t>
            </a:r>
            <a:br>
              <a:rPr lang="en-US" b="1" dirty="0"/>
            </a:br>
            <a:br>
              <a:rPr lang="en-US"/>
            </a:br>
            <a:r>
              <a:rPr lang="en-US"/>
              <a:t>W6-S3 Lexical Analysis</a:t>
            </a:r>
            <a:br>
              <a:rPr lang="en-US"/>
            </a:br>
            <a:r>
              <a:rPr lang="en-US"/>
              <a:t>and </a:t>
            </a:r>
            <a:r>
              <a:rPr lang="en-US" dirty="0"/>
              <a:t>Tokenization (Part 1)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6ABDE1-A047-4B53-92F2-67282914DD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Matthieu De Mari</a:t>
            </a:r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EEFD138E-FF3C-4975-898F-3137195236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484243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156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57C29-1A3B-9090-2528-30E69AB94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front-end of a compiler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B13EA12-F42E-A14F-570D-C7B3FB0BA6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(The front-end part of a compiler):</a:t>
            </a:r>
          </a:p>
          <a:p>
            <a:pPr marL="0" indent="0">
              <a:buNone/>
            </a:pPr>
            <a:r>
              <a:rPr lang="en-GB" dirty="0"/>
              <a:t>The </a:t>
            </a:r>
            <a:r>
              <a:rPr lang="en-GB" b="1" dirty="0"/>
              <a:t>front-end of a compiler </a:t>
            </a:r>
            <a:r>
              <a:rPr lang="en-GB" dirty="0"/>
              <a:t>is responsible for analysing the source code, and converting it into a form that can be used by the rest of the compiler.</a:t>
            </a:r>
          </a:p>
          <a:p>
            <a:pPr marL="0" indent="0">
              <a:buNone/>
            </a:pPr>
            <a:r>
              <a:rPr lang="en-GB" dirty="0"/>
              <a:t>It involves tasks, such as:</a:t>
            </a:r>
          </a:p>
          <a:p>
            <a:r>
              <a:rPr lang="en-GB" b="1" dirty="0"/>
              <a:t>Lexical analysis</a:t>
            </a:r>
            <a:r>
              <a:rPr lang="en-GB" dirty="0"/>
              <a:t>,</a:t>
            </a:r>
          </a:p>
          <a:p>
            <a:r>
              <a:rPr lang="en-GB" b="1" dirty="0"/>
              <a:t>Syntax analysis</a:t>
            </a:r>
            <a:r>
              <a:rPr lang="en-GB" dirty="0"/>
              <a:t>,</a:t>
            </a:r>
          </a:p>
          <a:p>
            <a:r>
              <a:rPr lang="en-GB" dirty="0"/>
              <a:t>and </a:t>
            </a:r>
            <a:r>
              <a:rPr lang="en-GB" b="1" dirty="0"/>
              <a:t>Semantic analysis</a:t>
            </a:r>
            <a:r>
              <a:rPr lang="en-GB" dirty="0"/>
              <a:t>. </a:t>
            </a:r>
            <a:endParaRPr lang="en-SG" dirty="0"/>
          </a:p>
        </p:txBody>
      </p:sp>
      <p:pic>
        <p:nvPicPr>
          <p:cNvPr id="7" name="Picture 6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8D7AE188-3FCF-9638-BCBC-D80FAEB837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0219" y="1547446"/>
            <a:ext cx="5154106" cy="5310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4552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57C29-1A3B-9090-2528-30E69AB94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Lexical Analysis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B13EA12-F42E-A14F-570D-C7B3FB0BA6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Lexical Analysis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During </a:t>
            </a:r>
            <a:r>
              <a:rPr lang="en-GB" b="1" dirty="0">
                <a:solidFill>
                  <a:srgbClr val="00B050"/>
                </a:solidFill>
              </a:rPr>
              <a:t>lexical</a:t>
            </a:r>
            <a:r>
              <a:rPr lang="en-GB" dirty="0">
                <a:solidFill>
                  <a:srgbClr val="00B050"/>
                </a:solidFill>
              </a:rPr>
              <a:t> </a:t>
            </a:r>
            <a:r>
              <a:rPr lang="en-GB" b="1" dirty="0">
                <a:solidFill>
                  <a:srgbClr val="00B050"/>
                </a:solidFill>
              </a:rPr>
              <a:t>analysis</a:t>
            </a:r>
            <a:r>
              <a:rPr lang="en-GB" dirty="0"/>
              <a:t>, the source code is broken down into </a:t>
            </a:r>
            <a:r>
              <a:rPr lang="en-GB" b="1" dirty="0">
                <a:solidFill>
                  <a:srgbClr val="7030A0"/>
                </a:solidFill>
              </a:rPr>
              <a:t>tokens</a:t>
            </a:r>
            <a:r>
              <a:rPr lang="en-GB" dirty="0"/>
              <a:t>, which represent the individual components of the language.</a:t>
            </a:r>
          </a:p>
          <a:p>
            <a:pPr marL="0" indent="0">
              <a:buNone/>
            </a:pPr>
            <a:r>
              <a:rPr lang="en-GB" dirty="0"/>
              <a:t>It is sometimes referred to as </a:t>
            </a:r>
            <a:r>
              <a:rPr lang="en-GB" b="1" dirty="0"/>
              <a:t>scanning</a:t>
            </a:r>
            <a:r>
              <a:rPr lang="en-GB" dirty="0"/>
              <a:t> or </a:t>
            </a:r>
            <a:r>
              <a:rPr lang="en-GB" b="1" dirty="0"/>
              <a:t>tokenization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b="1" dirty="0"/>
          </a:p>
        </p:txBody>
      </p:sp>
      <p:pic>
        <p:nvPicPr>
          <p:cNvPr id="4" name="Picture 3" descr="Application, shape, arrow&#10;&#10;Description automatically generated">
            <a:extLst>
              <a:ext uri="{FF2B5EF4-FFF2-40B4-BE49-F238E27FC236}">
                <a16:creationId xmlns:a16="http://schemas.microsoft.com/office/drawing/2014/main" id="{516B1709-7CCB-DAA9-4D13-D59FB8BB26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181048"/>
            <a:ext cx="10539306" cy="236824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7C7ED51-0A97-1822-42FD-5AA2C9F30400}"/>
              </a:ext>
            </a:extLst>
          </p:cNvPr>
          <p:cNvSpPr txBox="1"/>
          <p:nvPr/>
        </p:nvSpPr>
        <p:spPr>
          <a:xfrm>
            <a:off x="8154955" y="4181048"/>
            <a:ext cx="3526972" cy="230832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GB" sz="2400" dirty="0"/>
              <a:t>KEYWORD (int)</a:t>
            </a:r>
          </a:p>
          <a:p>
            <a:r>
              <a:rPr lang="en-GB" sz="2400" dirty="0"/>
              <a:t>IDENTIFIER (min)</a:t>
            </a:r>
          </a:p>
          <a:p>
            <a:r>
              <a:rPr lang="en-GB" sz="2400" dirty="0"/>
              <a:t>PUNCTUATION (</a:t>
            </a:r>
            <a:r>
              <a:rPr lang="en-GB" sz="2400" dirty="0" err="1"/>
              <a:t>open_par</a:t>
            </a:r>
            <a:r>
              <a:rPr lang="en-GB" sz="2400" dirty="0"/>
              <a:t>)</a:t>
            </a:r>
          </a:p>
          <a:p>
            <a:r>
              <a:rPr lang="en-GB" sz="2400" dirty="0"/>
              <a:t>KEYWORD (int)</a:t>
            </a:r>
          </a:p>
          <a:p>
            <a:r>
              <a:rPr lang="en-GB" sz="2400" dirty="0"/>
              <a:t>VARIABLE (</a:t>
            </a:r>
            <a:r>
              <a:rPr lang="en-GB" sz="2400" dirty="0" err="1"/>
              <a:t>firstNumber</a:t>
            </a:r>
            <a:r>
              <a:rPr lang="en-GB" sz="2400" dirty="0"/>
              <a:t>)</a:t>
            </a:r>
          </a:p>
          <a:p>
            <a:r>
              <a:rPr lang="en-GB" sz="2400" dirty="0"/>
              <a:t>…</a:t>
            </a:r>
            <a:endParaRPr lang="en-SG" sz="2400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ECF836CD-AD6D-AE6D-BD12-76C872F50BA1}"/>
              </a:ext>
            </a:extLst>
          </p:cNvPr>
          <p:cNvSpPr/>
          <p:nvPr/>
        </p:nvSpPr>
        <p:spPr>
          <a:xfrm>
            <a:off x="5947508" y="4681415"/>
            <a:ext cx="1820984" cy="1414585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49543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57C29-1A3B-9090-2528-30E69AB94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Lexical Analysis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B13EA12-F42E-A14F-570D-C7B3FB0BA67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7030A0"/>
                </a:solidFill>
              </a:rPr>
              <a:t>Tokens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b="1" dirty="0">
                <a:solidFill>
                  <a:srgbClr val="7030A0"/>
                </a:solidFill>
              </a:rPr>
              <a:t>Tokens</a:t>
            </a:r>
            <a:r>
              <a:rPr lang="en-GB" dirty="0"/>
              <a:t> are the </a:t>
            </a:r>
            <a:r>
              <a:rPr lang="en-GB" b="1" dirty="0"/>
              <a:t>smallest individual units of a programming language </a:t>
            </a:r>
            <a:r>
              <a:rPr lang="en-GB" dirty="0"/>
              <a:t>that the compiler can recognize and understand.</a:t>
            </a:r>
            <a:br>
              <a:rPr lang="en-GB" dirty="0"/>
            </a:br>
            <a:r>
              <a:rPr lang="en-GB" dirty="0"/>
              <a:t>A token is a sequence of characters that has a specific meaning in the language, such as a </a:t>
            </a:r>
            <a:r>
              <a:rPr lang="en-GB" b="1" dirty="0"/>
              <a:t>keyword</a:t>
            </a:r>
            <a:r>
              <a:rPr lang="en-GB" dirty="0"/>
              <a:t>, </a:t>
            </a:r>
            <a:r>
              <a:rPr lang="en-GB" b="1" dirty="0"/>
              <a:t>identifier</a:t>
            </a:r>
            <a:r>
              <a:rPr lang="en-GB" dirty="0"/>
              <a:t>, </a:t>
            </a:r>
            <a:r>
              <a:rPr lang="en-GB" b="1" dirty="0"/>
              <a:t>operator</a:t>
            </a:r>
            <a:r>
              <a:rPr lang="en-GB" dirty="0"/>
              <a:t>, or </a:t>
            </a:r>
            <a:r>
              <a:rPr lang="en-GB" b="1" dirty="0"/>
              <a:t>punctuation</a:t>
            </a:r>
            <a:r>
              <a:rPr lang="en-GB" dirty="0"/>
              <a:t> </a:t>
            </a:r>
            <a:r>
              <a:rPr lang="en-GB" b="1" dirty="0"/>
              <a:t>symbol</a:t>
            </a:r>
            <a:r>
              <a:rPr lang="en-GB" dirty="0"/>
              <a:t>.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F7AF25-2360-31D8-D5BF-56EDDD3100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GB" b="1" dirty="0"/>
              <a:t>Keyword: </a:t>
            </a:r>
            <a:r>
              <a:rPr lang="en-GB" dirty="0"/>
              <a:t>A keyword is </a:t>
            </a:r>
            <a:r>
              <a:rPr lang="en-GB" b="1" dirty="0"/>
              <a:t>a reserved word </a:t>
            </a:r>
            <a:r>
              <a:rPr lang="en-GB" dirty="0"/>
              <a:t>in a programming language that </a:t>
            </a:r>
            <a:r>
              <a:rPr lang="en-GB" b="1" dirty="0"/>
              <a:t>has a special meaning</a:t>
            </a:r>
            <a:r>
              <a:rPr lang="en-GB" dirty="0"/>
              <a:t> and cannot be used as an identifier.</a:t>
            </a:r>
          </a:p>
          <a:p>
            <a:pPr marL="0" indent="0">
              <a:buNone/>
            </a:pPr>
            <a:r>
              <a:rPr lang="en-GB" dirty="0"/>
              <a:t>Examples of keywords in the C programming language:</a:t>
            </a:r>
          </a:p>
          <a:p>
            <a:r>
              <a:rPr lang="en-GB" dirty="0"/>
              <a:t>int, double, long, ...</a:t>
            </a:r>
          </a:p>
          <a:p>
            <a:r>
              <a:rPr lang="en-GB" dirty="0"/>
              <a:t>if, else, while, …</a:t>
            </a:r>
          </a:p>
          <a:p>
            <a:r>
              <a:rPr lang="en-GB" dirty="0"/>
              <a:t>return, ...</a:t>
            </a:r>
          </a:p>
          <a:p>
            <a:r>
              <a:rPr lang="en-GB" dirty="0"/>
              <a:t>etc.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8856070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57C29-1A3B-9090-2528-30E69AB94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Lexical Analysis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B13EA12-F42E-A14F-570D-C7B3FB0BA67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7030A0"/>
                </a:solidFill>
              </a:rPr>
              <a:t>Tokens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b="1" dirty="0">
                <a:solidFill>
                  <a:srgbClr val="7030A0"/>
                </a:solidFill>
              </a:rPr>
              <a:t>Tokens</a:t>
            </a:r>
            <a:r>
              <a:rPr lang="en-GB" dirty="0"/>
              <a:t> are the </a:t>
            </a:r>
            <a:r>
              <a:rPr lang="en-GB" b="1" dirty="0"/>
              <a:t>smallest individual units of a programming language </a:t>
            </a:r>
            <a:r>
              <a:rPr lang="en-GB" dirty="0"/>
              <a:t>that the compiler can recognize and understand.</a:t>
            </a:r>
            <a:br>
              <a:rPr lang="en-GB" dirty="0"/>
            </a:br>
            <a:r>
              <a:rPr lang="en-GB" dirty="0"/>
              <a:t>A token is a sequence of characters that has a specific meaning in the language, such as a </a:t>
            </a:r>
            <a:r>
              <a:rPr lang="en-GB" b="1" dirty="0"/>
              <a:t>keyword</a:t>
            </a:r>
            <a:r>
              <a:rPr lang="en-GB" dirty="0"/>
              <a:t>, </a:t>
            </a:r>
            <a:r>
              <a:rPr lang="en-GB" b="1" dirty="0"/>
              <a:t>identifier</a:t>
            </a:r>
            <a:r>
              <a:rPr lang="en-GB" dirty="0"/>
              <a:t>, </a:t>
            </a:r>
            <a:r>
              <a:rPr lang="en-GB" b="1" dirty="0"/>
              <a:t>operator</a:t>
            </a:r>
            <a:r>
              <a:rPr lang="en-GB" dirty="0"/>
              <a:t>, or </a:t>
            </a:r>
            <a:r>
              <a:rPr lang="en-GB" b="1" dirty="0"/>
              <a:t>punctuation</a:t>
            </a:r>
            <a:r>
              <a:rPr lang="en-GB" dirty="0"/>
              <a:t> </a:t>
            </a:r>
            <a:r>
              <a:rPr lang="en-GB" b="1" dirty="0"/>
              <a:t>symbol</a:t>
            </a:r>
            <a:r>
              <a:rPr lang="en-GB" dirty="0"/>
              <a:t>.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F7AF25-2360-31D8-D5BF-56EDDD3100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GB" b="1" dirty="0"/>
              <a:t>Identifier: </a:t>
            </a:r>
            <a:r>
              <a:rPr lang="en-GB" dirty="0"/>
              <a:t>An identifier is a </a:t>
            </a:r>
            <a:r>
              <a:rPr lang="en-GB" b="1" dirty="0"/>
              <a:t>name given to a variable</a:t>
            </a:r>
            <a:r>
              <a:rPr lang="en-GB" dirty="0"/>
              <a:t>, </a:t>
            </a:r>
            <a:r>
              <a:rPr lang="en-GB" b="1" dirty="0"/>
              <a:t>function</a:t>
            </a:r>
            <a:r>
              <a:rPr lang="en-GB" dirty="0"/>
              <a:t>, or </a:t>
            </a:r>
            <a:r>
              <a:rPr lang="en-GB" b="1" dirty="0"/>
              <a:t>other</a:t>
            </a:r>
            <a:r>
              <a:rPr lang="en-GB" dirty="0"/>
              <a:t> </a:t>
            </a:r>
            <a:r>
              <a:rPr lang="en-GB" b="1" dirty="0"/>
              <a:t>entity</a:t>
            </a:r>
            <a:r>
              <a:rPr lang="en-GB" dirty="0"/>
              <a:t> in a program. Will follow rules, such as starting with a letter or underscore and consisting of letters, digits, and underscores.</a:t>
            </a:r>
          </a:p>
          <a:p>
            <a:pPr marL="0" indent="0">
              <a:buNone/>
            </a:pPr>
            <a:r>
              <a:rPr lang="en-GB" dirty="0"/>
              <a:t>Examples of identifiers:</a:t>
            </a:r>
          </a:p>
          <a:p>
            <a:r>
              <a:rPr lang="en-GB" dirty="0"/>
              <a:t>x, counter, variable_1,</a:t>
            </a:r>
          </a:p>
          <a:p>
            <a:r>
              <a:rPr lang="en-GB" dirty="0" err="1"/>
              <a:t>myFunction</a:t>
            </a:r>
            <a:r>
              <a:rPr lang="en-GB" dirty="0"/>
              <a:t>, </a:t>
            </a:r>
          </a:p>
          <a:p>
            <a:r>
              <a:rPr lang="en-GB" dirty="0"/>
              <a:t>etc.</a:t>
            </a:r>
          </a:p>
        </p:txBody>
      </p:sp>
    </p:spTree>
    <p:extLst>
      <p:ext uri="{BB962C8B-B14F-4D97-AF65-F5344CB8AC3E}">
        <p14:creationId xmlns:p14="http://schemas.microsoft.com/office/powerpoint/2010/main" val="39411416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57C29-1A3B-9090-2528-30E69AB94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Lexical Analysis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B13EA12-F42E-A14F-570D-C7B3FB0BA67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7030A0"/>
                </a:solidFill>
              </a:rPr>
              <a:t>Tokens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b="1" dirty="0">
                <a:solidFill>
                  <a:srgbClr val="7030A0"/>
                </a:solidFill>
              </a:rPr>
              <a:t>Tokens</a:t>
            </a:r>
            <a:r>
              <a:rPr lang="en-GB" dirty="0"/>
              <a:t> are the </a:t>
            </a:r>
            <a:r>
              <a:rPr lang="en-GB" b="1" dirty="0"/>
              <a:t>smallest individual units of a programming language </a:t>
            </a:r>
            <a:r>
              <a:rPr lang="en-GB" dirty="0"/>
              <a:t>that the compiler can recognize and understand.</a:t>
            </a:r>
            <a:br>
              <a:rPr lang="en-GB" dirty="0"/>
            </a:br>
            <a:r>
              <a:rPr lang="en-GB" dirty="0"/>
              <a:t>A token is a sequence of characters that has a specific meaning in the language, such as a </a:t>
            </a:r>
            <a:r>
              <a:rPr lang="en-GB" b="1" dirty="0"/>
              <a:t>keyword</a:t>
            </a:r>
            <a:r>
              <a:rPr lang="en-GB" dirty="0"/>
              <a:t>, </a:t>
            </a:r>
            <a:r>
              <a:rPr lang="en-GB" b="1" dirty="0"/>
              <a:t>identifier</a:t>
            </a:r>
            <a:r>
              <a:rPr lang="en-GB" dirty="0"/>
              <a:t>, </a:t>
            </a:r>
            <a:r>
              <a:rPr lang="en-GB" b="1" dirty="0"/>
              <a:t>operator</a:t>
            </a:r>
            <a:r>
              <a:rPr lang="en-GB" dirty="0"/>
              <a:t>, or </a:t>
            </a:r>
            <a:r>
              <a:rPr lang="en-GB" b="1" dirty="0"/>
              <a:t>punctuation</a:t>
            </a:r>
            <a:r>
              <a:rPr lang="en-GB" dirty="0"/>
              <a:t> </a:t>
            </a:r>
            <a:r>
              <a:rPr lang="en-GB" b="1" dirty="0"/>
              <a:t>symbol</a:t>
            </a:r>
            <a:r>
              <a:rPr lang="en-GB" dirty="0"/>
              <a:t>.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F7AF25-2360-31D8-D5BF-56EDDD3100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GB" b="1" dirty="0"/>
              <a:t>Literal: </a:t>
            </a:r>
            <a:r>
              <a:rPr lang="en-GB" dirty="0"/>
              <a:t>A </a:t>
            </a:r>
            <a:r>
              <a:rPr lang="en-GB" b="1" dirty="0"/>
              <a:t>value</a:t>
            </a:r>
            <a:r>
              <a:rPr lang="en-GB" dirty="0"/>
              <a:t> of some sort to be </a:t>
            </a:r>
            <a:r>
              <a:rPr lang="en-GB" b="1" dirty="0"/>
              <a:t>assigned to a variable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Examples of literals in the C programming language: </a:t>
            </a:r>
          </a:p>
          <a:p>
            <a:r>
              <a:rPr lang="en-GB" dirty="0"/>
              <a:t>12542</a:t>
            </a:r>
          </a:p>
          <a:p>
            <a:r>
              <a:rPr lang="en-GB" dirty="0"/>
              <a:t>12654165.52</a:t>
            </a:r>
          </a:p>
          <a:p>
            <a:r>
              <a:rPr lang="en-GB" dirty="0"/>
              <a:t>“hello”</a:t>
            </a:r>
          </a:p>
          <a:p>
            <a:r>
              <a:rPr lang="en-GB" dirty="0"/>
              <a:t>Etc.</a:t>
            </a:r>
          </a:p>
        </p:txBody>
      </p:sp>
    </p:spTree>
    <p:extLst>
      <p:ext uri="{BB962C8B-B14F-4D97-AF65-F5344CB8AC3E}">
        <p14:creationId xmlns:p14="http://schemas.microsoft.com/office/powerpoint/2010/main" val="38562102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57C29-1A3B-9090-2528-30E69AB94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Lexical Analysis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B13EA12-F42E-A14F-570D-C7B3FB0BA67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7030A0"/>
                </a:solidFill>
              </a:rPr>
              <a:t>Tokens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b="1" dirty="0">
                <a:solidFill>
                  <a:srgbClr val="7030A0"/>
                </a:solidFill>
              </a:rPr>
              <a:t>Tokens</a:t>
            </a:r>
            <a:r>
              <a:rPr lang="en-GB" dirty="0"/>
              <a:t> are the </a:t>
            </a:r>
            <a:r>
              <a:rPr lang="en-GB" b="1" dirty="0"/>
              <a:t>smallest individual units of a programming language </a:t>
            </a:r>
            <a:r>
              <a:rPr lang="en-GB" dirty="0"/>
              <a:t>that the compiler can recognize and understand.</a:t>
            </a:r>
            <a:br>
              <a:rPr lang="en-GB" dirty="0"/>
            </a:br>
            <a:r>
              <a:rPr lang="en-GB" dirty="0"/>
              <a:t>A token is a sequence of characters that has a specific meaning in the language, such as a </a:t>
            </a:r>
            <a:r>
              <a:rPr lang="en-GB" b="1" dirty="0"/>
              <a:t>keyword</a:t>
            </a:r>
            <a:r>
              <a:rPr lang="en-GB" dirty="0"/>
              <a:t>, </a:t>
            </a:r>
            <a:r>
              <a:rPr lang="en-GB" b="1" dirty="0"/>
              <a:t>identifier</a:t>
            </a:r>
            <a:r>
              <a:rPr lang="en-GB" dirty="0"/>
              <a:t>, </a:t>
            </a:r>
            <a:r>
              <a:rPr lang="en-GB" b="1" dirty="0"/>
              <a:t>operator</a:t>
            </a:r>
            <a:r>
              <a:rPr lang="en-GB" dirty="0"/>
              <a:t>, or </a:t>
            </a:r>
            <a:r>
              <a:rPr lang="en-GB" b="1" dirty="0"/>
              <a:t>punctuation</a:t>
            </a:r>
            <a:r>
              <a:rPr lang="en-GB" dirty="0"/>
              <a:t> </a:t>
            </a:r>
            <a:r>
              <a:rPr lang="en-GB" b="1" dirty="0"/>
              <a:t>symbol</a:t>
            </a:r>
            <a:r>
              <a:rPr lang="en-GB" dirty="0"/>
              <a:t>.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F7AF25-2360-31D8-D5BF-56EDDD3100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GB" b="1" dirty="0"/>
              <a:t>Operator: </a:t>
            </a:r>
            <a:r>
              <a:rPr lang="en-GB" dirty="0"/>
              <a:t>An operator is a </a:t>
            </a:r>
            <a:r>
              <a:rPr lang="en-GB" b="1" dirty="0"/>
              <a:t>symbol</a:t>
            </a:r>
            <a:r>
              <a:rPr lang="en-GB" dirty="0"/>
              <a:t> </a:t>
            </a:r>
            <a:r>
              <a:rPr lang="en-GB" b="1" dirty="0"/>
              <a:t>that performs a specific operation </a:t>
            </a:r>
            <a:r>
              <a:rPr lang="en-GB" dirty="0"/>
              <a:t>on one or more values. </a:t>
            </a:r>
          </a:p>
          <a:p>
            <a:pPr marL="0" indent="0">
              <a:buNone/>
            </a:pPr>
            <a:r>
              <a:rPr lang="en-GB" dirty="0"/>
              <a:t>Examples of operators in the C programming language: </a:t>
            </a:r>
          </a:p>
          <a:p>
            <a:r>
              <a:rPr lang="en-GB" dirty="0"/>
              <a:t>+, -, *, /,</a:t>
            </a:r>
          </a:p>
          <a:p>
            <a:r>
              <a:rPr lang="en-GB" dirty="0"/>
              <a:t>=,</a:t>
            </a:r>
          </a:p>
          <a:p>
            <a:r>
              <a:rPr lang="en-GB" dirty="0"/>
              <a:t>&amp;&amp;,</a:t>
            </a:r>
          </a:p>
          <a:p>
            <a:r>
              <a:rPr lang="en-GB" dirty="0"/>
              <a:t>etc.</a:t>
            </a:r>
          </a:p>
        </p:txBody>
      </p:sp>
    </p:spTree>
    <p:extLst>
      <p:ext uri="{BB962C8B-B14F-4D97-AF65-F5344CB8AC3E}">
        <p14:creationId xmlns:p14="http://schemas.microsoft.com/office/powerpoint/2010/main" val="24093042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57C29-1A3B-9090-2528-30E69AB94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Lexical Analysis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B13EA12-F42E-A14F-570D-C7B3FB0BA67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7030A0"/>
                </a:solidFill>
              </a:rPr>
              <a:t>Tokens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b="1" dirty="0">
                <a:solidFill>
                  <a:srgbClr val="7030A0"/>
                </a:solidFill>
              </a:rPr>
              <a:t>Tokens</a:t>
            </a:r>
            <a:r>
              <a:rPr lang="en-GB" dirty="0"/>
              <a:t> are the </a:t>
            </a:r>
            <a:r>
              <a:rPr lang="en-GB" b="1" dirty="0"/>
              <a:t>smallest individual units of a programming language </a:t>
            </a:r>
            <a:r>
              <a:rPr lang="en-GB" dirty="0"/>
              <a:t>that the compiler can recognize and understand.</a:t>
            </a:r>
            <a:br>
              <a:rPr lang="en-GB" dirty="0"/>
            </a:br>
            <a:r>
              <a:rPr lang="en-GB" dirty="0"/>
              <a:t>A token is a sequence of characters that has a specific meaning in the language, such as a </a:t>
            </a:r>
            <a:r>
              <a:rPr lang="en-GB" b="1" dirty="0"/>
              <a:t>keyword</a:t>
            </a:r>
            <a:r>
              <a:rPr lang="en-GB" dirty="0"/>
              <a:t>, </a:t>
            </a:r>
            <a:r>
              <a:rPr lang="en-GB" b="1" dirty="0"/>
              <a:t>identifier</a:t>
            </a:r>
            <a:r>
              <a:rPr lang="en-GB" dirty="0"/>
              <a:t>, </a:t>
            </a:r>
            <a:r>
              <a:rPr lang="en-GB" b="1" dirty="0"/>
              <a:t>operator</a:t>
            </a:r>
            <a:r>
              <a:rPr lang="en-GB" dirty="0"/>
              <a:t>, or </a:t>
            </a:r>
            <a:r>
              <a:rPr lang="en-GB" b="1" dirty="0"/>
              <a:t>punctuation</a:t>
            </a:r>
            <a:r>
              <a:rPr lang="en-GB" dirty="0"/>
              <a:t> </a:t>
            </a:r>
            <a:r>
              <a:rPr lang="en-GB" b="1" dirty="0"/>
              <a:t>symbol</a:t>
            </a:r>
            <a:r>
              <a:rPr lang="en-GB" dirty="0"/>
              <a:t>.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F7AF25-2360-31D8-D5BF-56EDDD3100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GB" b="1" dirty="0"/>
              <a:t>Punctuation symbol: </a:t>
            </a:r>
            <a:r>
              <a:rPr lang="en-GB" dirty="0"/>
              <a:t>A punctuation symbol is a </a:t>
            </a:r>
            <a:r>
              <a:rPr lang="en-GB" b="1" dirty="0"/>
              <a:t>symbol used to separate or group different parts of a program</a:t>
            </a:r>
          </a:p>
          <a:p>
            <a:pPr marL="0" indent="0">
              <a:buNone/>
            </a:pPr>
            <a:r>
              <a:rPr lang="en-GB" dirty="0"/>
              <a:t>Examples of punctuation symbols in the C programming language</a:t>
            </a:r>
          </a:p>
          <a:p>
            <a:r>
              <a:rPr lang="en-GB" dirty="0"/>
              <a:t>Braces {} and parentheses ()</a:t>
            </a:r>
          </a:p>
          <a:p>
            <a:r>
              <a:rPr lang="en-GB" dirty="0"/>
              <a:t>Commas, semicolons,</a:t>
            </a:r>
          </a:p>
          <a:p>
            <a:r>
              <a:rPr lang="en-GB" dirty="0"/>
              <a:t>Quotation marks,</a:t>
            </a:r>
          </a:p>
          <a:p>
            <a:r>
              <a:rPr lang="en-GB" dirty="0"/>
              <a:t>Etc.</a:t>
            </a:r>
          </a:p>
        </p:txBody>
      </p:sp>
    </p:spTree>
    <p:extLst>
      <p:ext uri="{BB962C8B-B14F-4D97-AF65-F5344CB8AC3E}">
        <p14:creationId xmlns:p14="http://schemas.microsoft.com/office/powerpoint/2010/main" val="29493758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57C29-1A3B-9090-2528-30E69AB94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Steps for Lexical Analysis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B13EA12-F42E-A14F-570D-C7B3FB0BA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(Steps for </a:t>
            </a:r>
            <a:r>
              <a:rPr lang="en-GB" b="1" dirty="0">
                <a:solidFill>
                  <a:srgbClr val="00B050"/>
                </a:solidFill>
              </a:rPr>
              <a:t>Lexical Analysis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During lexical analysis, the compiler </a:t>
            </a:r>
            <a:r>
              <a:rPr lang="en-GB" b="1" dirty="0"/>
              <a:t>reads the source code character by character</a:t>
            </a:r>
            <a:r>
              <a:rPr lang="en-GB" dirty="0"/>
              <a:t> and identifies each token.</a:t>
            </a:r>
          </a:p>
          <a:p>
            <a:r>
              <a:rPr lang="en-GB" dirty="0"/>
              <a:t>It does so, based on its </a:t>
            </a:r>
            <a:r>
              <a:rPr lang="en-GB" b="1" dirty="0"/>
              <a:t>position</a:t>
            </a:r>
            <a:r>
              <a:rPr lang="en-GB" dirty="0"/>
              <a:t> and </a:t>
            </a:r>
            <a:r>
              <a:rPr lang="en-GB" b="1" dirty="0"/>
              <a:t>context</a:t>
            </a:r>
            <a:r>
              <a:rPr lang="en-GB" dirty="0"/>
              <a:t> within the code.</a:t>
            </a:r>
          </a:p>
          <a:p>
            <a:r>
              <a:rPr lang="en-GB" dirty="0"/>
              <a:t>The compiler also uses </a:t>
            </a:r>
            <a:r>
              <a:rPr lang="en-GB" b="1" dirty="0"/>
              <a:t>a set of rules or patterns </a:t>
            </a:r>
            <a:r>
              <a:rPr lang="en-GB" dirty="0"/>
              <a:t>called </a:t>
            </a:r>
            <a:r>
              <a:rPr lang="en-GB" b="1" dirty="0">
                <a:solidFill>
                  <a:srgbClr val="7030A0"/>
                </a:solidFill>
              </a:rPr>
              <a:t>regular expressions </a:t>
            </a:r>
            <a:r>
              <a:rPr lang="en-GB" dirty="0"/>
              <a:t>(as seen in a previous week).</a:t>
            </a:r>
          </a:p>
          <a:p>
            <a:r>
              <a:rPr lang="en-GB" dirty="0"/>
              <a:t>These can be used </a:t>
            </a:r>
            <a:r>
              <a:rPr lang="en-GB" b="1" dirty="0"/>
              <a:t>to recognize different types of tokens</a:t>
            </a:r>
            <a:r>
              <a:rPr lang="en-GB" dirty="0"/>
              <a:t>, such as keywords, identifiers, operators, and punctuation symbols, etc.</a:t>
            </a:r>
          </a:p>
          <a:p>
            <a:pPr marL="0" indent="0">
              <a:buNone/>
            </a:pPr>
            <a:r>
              <a:rPr lang="en-GB" dirty="0"/>
              <a:t>Once the compiler has identified the tokens, it </a:t>
            </a:r>
            <a:r>
              <a:rPr lang="en-GB" b="1" dirty="0"/>
              <a:t>assigns each token a specific type/category</a:t>
            </a:r>
            <a:r>
              <a:rPr lang="en-GB" dirty="0"/>
              <a:t>, based on its role and meaning in the program.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15674452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5CCD47-A8F2-1485-816F-357F1B9F7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First assumptions for our tokenizer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60649E-03DA-CE5D-11A1-5545CF0C27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To keep things simple, we will make basic assumptions about the source code to be tokenized and how it has been written.</a:t>
            </a:r>
          </a:p>
          <a:p>
            <a:pPr marL="0" indent="0">
              <a:buNone/>
            </a:pPr>
            <a:r>
              <a:rPr lang="en-GB" dirty="0"/>
              <a:t>Some of them might be unrealistic, but we will relax them later on.</a:t>
            </a:r>
          </a:p>
          <a:p>
            <a:r>
              <a:rPr lang="en-GB" b="1" dirty="0"/>
              <a:t>White spaces between all tokens</a:t>
            </a:r>
            <a:r>
              <a:rPr lang="en-GB" dirty="0"/>
              <a:t>, so that we can use a simple split operation using whitespaces and \n symbols as separators, to produce all the substrings to be analysed and used as tokens.</a:t>
            </a:r>
            <a:br>
              <a:rPr lang="en-GB" dirty="0"/>
            </a:br>
            <a:r>
              <a:rPr lang="en-GB" b="1" dirty="0"/>
              <a:t>We will eventually relax this constraint later on.</a:t>
            </a:r>
          </a:p>
          <a:p>
            <a:r>
              <a:rPr lang="en-GB" dirty="0"/>
              <a:t>Start with basic tokens, e.g. keywords only.</a:t>
            </a:r>
            <a:br>
              <a:rPr lang="en-GB" dirty="0"/>
            </a:br>
            <a:r>
              <a:rPr lang="en-GB" dirty="0"/>
              <a:t>Later on, we will add new token types, starting with simple punctuations/operators (+ * - / ;), and then identifiers/literals.</a:t>
            </a:r>
          </a:p>
          <a:p>
            <a:r>
              <a:rPr lang="en-GB" dirty="0"/>
              <a:t>No comments or include/pre-processing operations for now.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2776891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AFFF3-987A-98F9-2066-15EA4BC85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Scanning the source code, step by step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42D93-CD6F-47FD-CFC4-21D7D6C38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503237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In this example, we demonstrate how to read a source code string from a source file named "</a:t>
            </a:r>
            <a:r>
              <a:rPr lang="en-GB" dirty="0" err="1"/>
              <a:t>source.c</a:t>
            </a:r>
            <a:r>
              <a:rPr lang="en-GB" dirty="0"/>
              <a:t>“. For instance, the code could simply consist of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i="1" dirty="0"/>
              <a:t>int x = 1023 ;</a:t>
            </a:r>
          </a:p>
          <a:p>
            <a:pPr marL="0" indent="0">
              <a:buNone/>
            </a:pPr>
            <a:r>
              <a:rPr lang="en-GB" dirty="0"/>
              <a:t>Or</a:t>
            </a:r>
          </a:p>
          <a:p>
            <a:pPr marL="0" indent="0">
              <a:buNone/>
            </a:pPr>
            <a:r>
              <a:rPr lang="en-GB" i="1" dirty="0"/>
              <a:t>int while for if return </a:t>
            </a:r>
            <a:r>
              <a:rPr lang="en-GB" i="1" dirty="0" err="1"/>
              <a:t>intwhile</a:t>
            </a:r>
            <a:endParaRPr lang="en-GB" i="1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We use simple file I/O operations, as described on the right.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564EEB-4B87-7BA0-796B-E93ABF9315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Open the file with </a:t>
            </a:r>
            <a:r>
              <a:rPr lang="en-GB" dirty="0" err="1"/>
              <a:t>fopen</a:t>
            </a:r>
            <a:r>
              <a:rPr lang="en-GB" dirty="0"/>
              <a:t>().</a:t>
            </a:r>
          </a:p>
          <a:p>
            <a:r>
              <a:rPr lang="en-GB" dirty="0"/>
              <a:t>Find the file size by seeking to the end and getting the current position with </a:t>
            </a:r>
            <a:r>
              <a:rPr lang="en-GB" dirty="0" err="1"/>
              <a:t>ftell</a:t>
            </a:r>
            <a:r>
              <a:rPr lang="en-GB" dirty="0"/>
              <a:t>().</a:t>
            </a:r>
          </a:p>
          <a:p>
            <a:r>
              <a:rPr lang="en-GB" dirty="0"/>
              <a:t>Rewind the file position to the beginning with rewind().</a:t>
            </a:r>
          </a:p>
          <a:p>
            <a:r>
              <a:rPr lang="en-GB" dirty="0"/>
              <a:t>Allocate memory for the source code string.</a:t>
            </a:r>
          </a:p>
          <a:p>
            <a:r>
              <a:rPr lang="en-GB" dirty="0"/>
              <a:t>Read the content of the file into the string with </a:t>
            </a:r>
            <a:r>
              <a:rPr lang="en-GB" dirty="0" err="1"/>
              <a:t>fread</a:t>
            </a:r>
            <a:r>
              <a:rPr lang="en-GB" dirty="0"/>
              <a:t>().</a:t>
            </a:r>
          </a:p>
          <a:p>
            <a:r>
              <a:rPr lang="en-GB" dirty="0"/>
              <a:t>Null-terminate the string.</a:t>
            </a:r>
          </a:p>
          <a:p>
            <a:r>
              <a:rPr lang="en-GB" dirty="0"/>
              <a:t>Close the file with </a:t>
            </a:r>
            <a:r>
              <a:rPr lang="en-GB" dirty="0" err="1"/>
              <a:t>fclose</a:t>
            </a:r>
            <a:r>
              <a:rPr lang="en-GB" dirty="0"/>
              <a:t>().</a:t>
            </a:r>
            <a:endParaRPr lang="en-SG" dirty="0"/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1924287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325E04E-A98F-5938-7A7D-CBCFBCF092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112" y="828312"/>
            <a:ext cx="10755226" cy="520137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F22394D-21D6-B76B-1747-EDAE4B71F6F4}"/>
              </a:ext>
            </a:extLst>
          </p:cNvPr>
          <p:cNvSpPr txBox="1"/>
          <p:nvPr/>
        </p:nvSpPr>
        <p:spPr>
          <a:xfrm>
            <a:off x="8624426" y="597479"/>
            <a:ext cx="27744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chemeClr val="accent2"/>
                </a:solidFill>
              </a:rPr>
              <a:t>From Code files/1.</a:t>
            </a:r>
            <a:endParaRPr lang="en-SG" sz="24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0380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FCD6EA-16CC-F0E7-AF2F-576B140686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992" y="785443"/>
            <a:ext cx="10860016" cy="5287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4883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7301772-0E4B-2674-AD40-1BC6E8CAE6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78652"/>
            <a:ext cx="12192000" cy="41006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355198D-A4BD-36D4-3969-C72488CDC7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2338" y="5244104"/>
            <a:ext cx="2781688" cy="70494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833904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0C5AD-631A-816E-E90F-B0F1A25F5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Defining a token object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E5F9A-A6C0-EBC4-74AC-E0BA5CAAF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So far,</a:t>
            </a:r>
          </a:p>
          <a:p>
            <a:r>
              <a:rPr lang="en-GB" dirty="0"/>
              <a:t>We have a function that reads source code from an external file and stores the code in a string. Later on, we will split this string of code using whitespaces and \n symbols as separators.</a:t>
            </a:r>
          </a:p>
          <a:p>
            <a:r>
              <a:rPr lang="en-GB" dirty="0"/>
              <a:t>It will decompose the source code string into </a:t>
            </a:r>
            <a:r>
              <a:rPr lang="en-GB" b="1" dirty="0">
                <a:solidFill>
                  <a:srgbClr val="00B050"/>
                </a:solidFill>
              </a:rPr>
              <a:t>lexemes</a:t>
            </a:r>
            <a:r>
              <a:rPr lang="en-GB" dirty="0"/>
              <a:t>, i.e. </a:t>
            </a:r>
            <a:r>
              <a:rPr lang="en-GB" b="1" dirty="0"/>
              <a:t>substrings of the source code corresponding to the different elements of the source code.</a:t>
            </a:r>
          </a:p>
          <a:p>
            <a:r>
              <a:rPr lang="en-GB" dirty="0"/>
              <a:t>These lexemes then need to be </a:t>
            </a:r>
            <a:r>
              <a:rPr lang="en-GB" b="1" dirty="0"/>
              <a:t>classified</a:t>
            </a:r>
            <a:r>
              <a:rPr lang="en-GB" dirty="0"/>
              <a:t> </a:t>
            </a:r>
            <a:r>
              <a:rPr lang="en-GB" b="1" dirty="0"/>
              <a:t>as</a:t>
            </a:r>
            <a:r>
              <a:rPr lang="en-GB" dirty="0"/>
              <a:t> </a:t>
            </a:r>
            <a:r>
              <a:rPr lang="en-GB" b="1" dirty="0"/>
              <a:t>keywords, identifiers, literals, operators or punctuation</a:t>
            </a:r>
            <a:r>
              <a:rPr lang="en-GB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5195C1-C277-6772-03BA-2AFD35DF5DCF}"/>
              </a:ext>
            </a:extLst>
          </p:cNvPr>
          <p:cNvSpPr txBox="1"/>
          <p:nvPr/>
        </p:nvSpPr>
        <p:spPr>
          <a:xfrm>
            <a:off x="2135554" y="6066637"/>
            <a:ext cx="199878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400" i="1" dirty="0"/>
              <a:t>int x = 1023 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D872D8-B04C-608E-9714-826A21CA86C3}"/>
              </a:ext>
            </a:extLst>
          </p:cNvPr>
          <p:cNvSpPr txBox="1"/>
          <p:nvPr/>
        </p:nvSpPr>
        <p:spPr>
          <a:xfrm>
            <a:off x="5828324" y="6068536"/>
            <a:ext cx="44586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GB" sz="2400" i="1" dirty="0"/>
              <a:t>“int”, “x”, “=“, “1023”, “;”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AA781B3-B820-279A-609F-6AE4B91401C2}"/>
              </a:ext>
            </a:extLst>
          </p:cNvPr>
          <p:cNvCxnSpPr>
            <a:stCxn id="5" idx="3"/>
          </p:cNvCxnSpPr>
          <p:nvPr/>
        </p:nvCxnSpPr>
        <p:spPr>
          <a:xfrm flipV="1">
            <a:off x="4134339" y="6297469"/>
            <a:ext cx="2547815" cy="1"/>
          </a:xfrm>
          <a:prstGeom prst="straightConnector1">
            <a:avLst/>
          </a:prstGeom>
          <a:ln w="381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27569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0C5AD-631A-816E-E90F-B0F1A25F5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Defining a token object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E5F9A-A6C0-EBC4-74AC-E0BA5CAAF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Speaking of, we need to define Token Types (keyword, operators, etc.)</a:t>
            </a:r>
          </a:p>
          <a:p>
            <a:r>
              <a:rPr lang="en-GB" dirty="0"/>
              <a:t>For simplicity, use an enumeration for different token types and list them with explicit names, in order.</a:t>
            </a:r>
          </a:p>
          <a:p>
            <a:r>
              <a:rPr lang="en-GB" dirty="0"/>
              <a:t>Start simple, with KEWORD, IDENTIFIER, NUMBER, OPERATOR and UNKNOWN Token Types.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883E62-75C0-DAC1-4DB7-92C24456469E}"/>
              </a:ext>
            </a:extLst>
          </p:cNvPr>
          <p:cNvSpPr txBox="1"/>
          <p:nvPr/>
        </p:nvSpPr>
        <p:spPr>
          <a:xfrm>
            <a:off x="0" y="4966567"/>
            <a:ext cx="44586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GB" sz="2400" i="1" dirty="0"/>
              <a:t>“int”, “x”, “=“, “1023”, “;”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FA1DBC3-972C-91C4-4F67-5A6DE8A4EF34}"/>
              </a:ext>
            </a:extLst>
          </p:cNvPr>
          <p:cNvCxnSpPr>
            <a:cxnSpLocks/>
          </p:cNvCxnSpPr>
          <p:nvPr/>
        </p:nvCxnSpPr>
        <p:spPr>
          <a:xfrm>
            <a:off x="4611078" y="5197400"/>
            <a:ext cx="1602153" cy="0"/>
          </a:xfrm>
          <a:prstGeom prst="straightConnector1">
            <a:avLst/>
          </a:prstGeom>
          <a:ln w="381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945E3A2-E470-87E2-DA54-9E4DE46E3675}"/>
              </a:ext>
            </a:extLst>
          </p:cNvPr>
          <p:cNvSpPr txBox="1"/>
          <p:nvPr/>
        </p:nvSpPr>
        <p:spPr>
          <a:xfrm>
            <a:off x="6096000" y="4274906"/>
            <a:ext cx="445867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GB" sz="2400" i="1" dirty="0"/>
              <a:t>TOKEN(KEYWORD_INT, “int”),</a:t>
            </a:r>
            <a:br>
              <a:rPr lang="en-GB" sz="2400" i="1" dirty="0"/>
            </a:br>
            <a:r>
              <a:rPr lang="en-GB" sz="2400" i="1" dirty="0"/>
              <a:t>TOKEN(IDENTIFIER, “x” ),</a:t>
            </a:r>
            <a:br>
              <a:rPr lang="en-GB" sz="2400" i="1" dirty="0"/>
            </a:br>
            <a:r>
              <a:rPr lang="en-GB" sz="2400" i="1" dirty="0"/>
              <a:t>TOKEN(OPERATOR_ASSIGN, “=“),</a:t>
            </a:r>
            <a:br>
              <a:rPr lang="en-GB" sz="2400" i="1" dirty="0"/>
            </a:br>
            <a:r>
              <a:rPr lang="en-GB" sz="2400" i="1" dirty="0"/>
              <a:t>TOKEN(LITERAL_INT, “1023” ),</a:t>
            </a:r>
            <a:br>
              <a:rPr lang="en-GB" sz="2400" i="1" dirty="0"/>
            </a:br>
            <a:r>
              <a:rPr lang="en-GB" sz="2400" i="1" dirty="0"/>
              <a:t>TOKEN(END_OF_LINE, “;” )</a:t>
            </a:r>
          </a:p>
        </p:txBody>
      </p:sp>
    </p:spTree>
    <p:extLst>
      <p:ext uri="{BB962C8B-B14F-4D97-AF65-F5344CB8AC3E}">
        <p14:creationId xmlns:p14="http://schemas.microsoft.com/office/powerpoint/2010/main" val="11587486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6A9459-50B1-B6BA-41F3-6981EAB548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80311"/>
            <a:ext cx="12192000" cy="389737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F012A9-BAC1-A811-295B-002327087994}"/>
              </a:ext>
            </a:extLst>
          </p:cNvPr>
          <p:cNvSpPr txBox="1"/>
          <p:nvPr/>
        </p:nvSpPr>
        <p:spPr>
          <a:xfrm>
            <a:off x="8624426" y="597479"/>
            <a:ext cx="27744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chemeClr val="accent2"/>
                </a:solidFill>
              </a:rPr>
              <a:t>From Code files/2.</a:t>
            </a:r>
            <a:endParaRPr lang="en-SG" sz="24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84299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0C5AD-631A-816E-E90F-B0F1A25F5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Defining a token object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E5F9A-A6C0-EBC4-74AC-E0BA5CAAF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Then, we need to define a Token object.</a:t>
            </a:r>
          </a:p>
          <a:p>
            <a:r>
              <a:rPr lang="en-GB" dirty="0"/>
              <a:t>For simplicity, let us define a struct Token.</a:t>
            </a:r>
          </a:p>
          <a:p>
            <a:r>
              <a:rPr lang="en-GB" dirty="0"/>
              <a:t>It will hold the token type and the lexeme for each of the substrings we have defined after the split.</a:t>
            </a:r>
          </a:p>
          <a:p>
            <a:r>
              <a:rPr lang="en-GB" dirty="0"/>
              <a:t>For good practice we will also define a constructor function </a:t>
            </a:r>
            <a:r>
              <a:rPr lang="en-GB" i="1" dirty="0" err="1"/>
              <a:t>create_token</a:t>
            </a:r>
            <a:r>
              <a:rPr lang="en-GB" i="1" dirty="0"/>
              <a:t>() </a:t>
            </a:r>
            <a:r>
              <a:rPr lang="en-GB" dirty="0"/>
              <a:t>and a destructor function </a:t>
            </a:r>
            <a:r>
              <a:rPr lang="en-GB" i="1" dirty="0" err="1"/>
              <a:t>free_token</a:t>
            </a:r>
            <a:r>
              <a:rPr lang="en-GB" i="1" dirty="0"/>
              <a:t>() </a:t>
            </a:r>
            <a:r>
              <a:rPr lang="en-GB" dirty="0"/>
              <a:t>for these </a:t>
            </a:r>
            <a:r>
              <a:rPr lang="en-GB" dirty="0" err="1"/>
              <a:t>TokenType</a:t>
            </a:r>
            <a:r>
              <a:rPr lang="en-GB" dirty="0"/>
              <a:t> variables.</a:t>
            </a:r>
          </a:p>
        </p:txBody>
      </p:sp>
    </p:spTree>
    <p:extLst>
      <p:ext uri="{BB962C8B-B14F-4D97-AF65-F5344CB8AC3E}">
        <p14:creationId xmlns:p14="http://schemas.microsoft.com/office/powerpoint/2010/main" val="15820224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E4B50B8-F722-65BE-56D2-7122C7EAB5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230" y="604443"/>
            <a:ext cx="8697539" cy="5649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85836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8FA90-FABC-C4ED-D2CF-27D39B80E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the Token object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A62C0-5FF6-1AB4-D40C-22233B3BF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In the main() function,</a:t>
            </a:r>
          </a:p>
          <a:p>
            <a:r>
              <a:rPr lang="en-GB" dirty="0"/>
              <a:t>We start by defining an array of sample lexemes for each token type,</a:t>
            </a:r>
          </a:p>
          <a:p>
            <a:r>
              <a:rPr lang="en-GB" dirty="0"/>
              <a:t>We then iterate through the </a:t>
            </a:r>
            <a:r>
              <a:rPr lang="en-GB" dirty="0" err="1"/>
              <a:t>TokenType</a:t>
            </a:r>
            <a:r>
              <a:rPr lang="en-GB" dirty="0"/>
              <a:t> enumeration,</a:t>
            </a:r>
          </a:p>
          <a:p>
            <a:r>
              <a:rPr lang="en-GB" dirty="0"/>
              <a:t>Create tokens using the </a:t>
            </a:r>
            <a:r>
              <a:rPr lang="en-GB" dirty="0" err="1"/>
              <a:t>create_token</a:t>
            </a:r>
            <a:r>
              <a:rPr lang="en-GB" dirty="0"/>
              <a:t>() function,</a:t>
            </a:r>
          </a:p>
          <a:p>
            <a:r>
              <a:rPr lang="en-GB" dirty="0"/>
              <a:t>And print the token information. </a:t>
            </a:r>
          </a:p>
          <a:p>
            <a:r>
              <a:rPr lang="en-GB" dirty="0"/>
              <a:t>After printing the information, we free the memory allocated for the tokens using the </a:t>
            </a:r>
            <a:r>
              <a:rPr lang="en-GB" dirty="0" err="1"/>
              <a:t>free_token</a:t>
            </a:r>
            <a:r>
              <a:rPr lang="en-GB" dirty="0"/>
              <a:t>() function.</a:t>
            </a:r>
          </a:p>
          <a:p>
            <a:pPr marL="0" indent="0">
              <a:buNone/>
            </a:pPr>
            <a:r>
              <a:rPr lang="en-GB" b="1" i="1" dirty="0"/>
              <a:t>Important: </a:t>
            </a:r>
            <a:r>
              <a:rPr lang="en-GB" i="1" dirty="0"/>
              <a:t>at the moment, we are not yet able to recognize the Token types correctly! (That will be our next step!)</a:t>
            </a:r>
          </a:p>
        </p:txBody>
      </p:sp>
    </p:spTree>
    <p:extLst>
      <p:ext uri="{BB962C8B-B14F-4D97-AF65-F5344CB8AC3E}">
        <p14:creationId xmlns:p14="http://schemas.microsoft.com/office/powerpoint/2010/main" val="19221114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B54DB61-74DF-2AC6-23F3-5F6F1B3D08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624" y="123363"/>
            <a:ext cx="10402752" cy="661127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C2D5E98-1E27-9125-CB5D-9918B7BE43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2452" y="917364"/>
            <a:ext cx="4258269" cy="156231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532995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D8BA8-06BB-81C2-F7BD-934FD0791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Recognizing Token Types </a:t>
            </a:r>
            <a:r>
              <a:rPr lang="en-GB"/>
              <a:t>for given Lexemes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9FBE2E-CF8A-1160-529C-0143CAD8F3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Our next step is then to logically write functions that will </a:t>
            </a:r>
            <a:r>
              <a:rPr lang="en-GB" b="1" dirty="0"/>
              <a:t>recognize the Token Type of a given lexeme.</a:t>
            </a:r>
          </a:p>
          <a:p>
            <a:r>
              <a:rPr lang="en-GB" dirty="0"/>
              <a:t>We need a function that receives a lexeme as input,</a:t>
            </a:r>
          </a:p>
          <a:p>
            <a:r>
              <a:rPr lang="en-GB" dirty="0"/>
              <a:t>Checks if the lexeme matches the pattern of a given category,</a:t>
            </a:r>
          </a:p>
          <a:p>
            <a:r>
              <a:rPr lang="en-GB" dirty="0"/>
              <a:t>And if it does, creates a Token entry with the </a:t>
            </a:r>
            <a:r>
              <a:rPr lang="en-GB" dirty="0" err="1"/>
              <a:t>TokenType</a:t>
            </a:r>
            <a:r>
              <a:rPr lang="en-GB" dirty="0"/>
              <a:t> that has been recognized and the given lexeme.</a:t>
            </a:r>
          </a:p>
        </p:txBody>
      </p:sp>
    </p:spTree>
    <p:extLst>
      <p:ext uri="{BB962C8B-B14F-4D97-AF65-F5344CB8AC3E}">
        <p14:creationId xmlns:p14="http://schemas.microsoft.com/office/powerpoint/2010/main" val="24559245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D8BA8-06BB-81C2-F7BD-934FD0791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Recognizing Token Types </a:t>
            </a:r>
            <a:r>
              <a:rPr lang="en-GB"/>
              <a:t>for given Lexemes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9FBE2E-CF8A-1160-529C-0143CAD8F3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Let us begin with the simplest Token Type to recognize: </a:t>
            </a:r>
            <a:r>
              <a:rPr lang="en-GB" b="1" dirty="0"/>
              <a:t>Keywords</a:t>
            </a:r>
            <a:r>
              <a:rPr lang="en-GB" dirty="0"/>
              <a:t>.</a:t>
            </a:r>
          </a:p>
          <a:p>
            <a:r>
              <a:rPr lang="en-SG" b="1" dirty="0"/>
              <a:t>A lexeme </a:t>
            </a:r>
            <a:r>
              <a:rPr lang="en-SG" b="1" i="1" dirty="0"/>
              <a:t>x</a:t>
            </a:r>
            <a:r>
              <a:rPr lang="en-SG" b="1" dirty="0"/>
              <a:t> will be recognized as a Keyword Token Type if and only if there is an exact match between the lexeme </a:t>
            </a:r>
            <a:r>
              <a:rPr lang="en-SG" b="1" i="1" dirty="0"/>
              <a:t>x</a:t>
            </a:r>
            <a:r>
              <a:rPr lang="en-SG" b="1" dirty="0"/>
              <a:t> and one of the possible keywords of C (“int”, “while”, “if”, “for”, “return”, etc.).</a:t>
            </a:r>
          </a:p>
          <a:p>
            <a:r>
              <a:rPr lang="en-SG" dirty="0"/>
              <a:t>This means that we need to know about the full list of keywords to recognize in the C language.</a:t>
            </a:r>
          </a:p>
          <a:p>
            <a:r>
              <a:rPr lang="en-SG" dirty="0"/>
              <a:t>Also, as a side note, this explains why keywords are reserved and cannot be used for variable names/functions in many programming languages.</a:t>
            </a:r>
          </a:p>
        </p:txBody>
      </p:sp>
    </p:spTree>
    <p:extLst>
      <p:ext uri="{BB962C8B-B14F-4D97-AF65-F5344CB8AC3E}">
        <p14:creationId xmlns:p14="http://schemas.microsoft.com/office/powerpoint/2010/main" val="20677178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D8BA8-06BB-81C2-F7BD-934FD0791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Recognizing Token Types </a:t>
            </a:r>
            <a:r>
              <a:rPr lang="en-GB"/>
              <a:t>for given Lexemes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9FBE2E-CF8A-1160-529C-0143CAD8F3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80976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As we have seen earlier in a Practice activity,</a:t>
            </a:r>
          </a:p>
          <a:p>
            <a:r>
              <a:rPr lang="en-GB" dirty="0"/>
              <a:t>This could be done with a simple </a:t>
            </a:r>
            <a:r>
              <a:rPr lang="en-GB" b="1" dirty="0"/>
              <a:t>FSM</a:t>
            </a:r>
            <a:r>
              <a:rPr lang="en-GB" dirty="0"/>
              <a:t>, which considers as </a:t>
            </a:r>
            <a:r>
              <a:rPr lang="en-GB" b="1" dirty="0"/>
              <a:t>acceptable inputs </a:t>
            </a:r>
            <a:r>
              <a:rPr lang="en-GB" b="1" i="1" dirty="0"/>
              <a:t>x</a:t>
            </a:r>
            <a:r>
              <a:rPr lang="en-GB" b="1" dirty="0"/>
              <a:t> the exact string “SUTD”, and nothing else.</a:t>
            </a:r>
          </a:p>
          <a:p>
            <a:r>
              <a:rPr lang="en-GB" dirty="0"/>
              <a:t>As seen in the previous lecture, this FSM is exactly what happens behind the scenes for to the </a:t>
            </a:r>
            <a:r>
              <a:rPr lang="en-GB" b="1" dirty="0" err="1"/>
              <a:t>RegEx</a:t>
            </a:r>
            <a:r>
              <a:rPr lang="en-GB" dirty="0"/>
              <a:t> </a:t>
            </a:r>
            <a:r>
              <a:rPr lang="en-GB" b="1" i="1" dirty="0"/>
              <a:t>“^SUTD$”.</a:t>
            </a:r>
          </a:p>
          <a:p>
            <a:endParaRPr lang="en-GB" dirty="0"/>
          </a:p>
          <a:p>
            <a:pPr marL="0" indent="0">
              <a:buNone/>
            </a:pPr>
            <a:r>
              <a:rPr lang="en-SG" dirty="0"/>
              <a:t>We start by implementing a Keyword recognition function, based on </a:t>
            </a:r>
            <a:r>
              <a:rPr lang="en-SG" dirty="0" err="1"/>
              <a:t>RegEx</a:t>
            </a:r>
            <a:r>
              <a:rPr lang="en-SG" dirty="0"/>
              <a:t>, and consider some of the possible keywords to demonstrate.</a:t>
            </a:r>
          </a:p>
          <a:p>
            <a:r>
              <a:rPr lang="en-SG" b="1" dirty="0"/>
              <a:t>Our </a:t>
            </a:r>
            <a:r>
              <a:rPr lang="en-SG" b="1" dirty="0" err="1"/>
              <a:t>RegEx</a:t>
            </a:r>
            <a:r>
              <a:rPr lang="en-SG" b="1" dirty="0"/>
              <a:t>: “^(</a:t>
            </a:r>
            <a:r>
              <a:rPr lang="en-SG" b="1" dirty="0" err="1"/>
              <a:t>int|while|for|if|return</a:t>
            </a:r>
            <a:r>
              <a:rPr lang="en-SG" b="1" dirty="0"/>
              <a:t>)$”</a:t>
            </a:r>
          </a:p>
          <a:p>
            <a:r>
              <a:rPr lang="en-SG" dirty="0"/>
              <a:t>(Normally, we should list way more keywords, but let us keep it simple.)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5421890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8856BB7-E43A-7466-AE4A-1AEB5A8A93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500" y="0"/>
            <a:ext cx="8122999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5075BEA-2E89-3BF4-4207-2E426F6132BF}"/>
              </a:ext>
            </a:extLst>
          </p:cNvPr>
          <p:cNvSpPr txBox="1"/>
          <p:nvPr/>
        </p:nvSpPr>
        <p:spPr>
          <a:xfrm>
            <a:off x="8624426" y="597479"/>
            <a:ext cx="27744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chemeClr val="accent2"/>
                </a:solidFill>
              </a:rPr>
              <a:t>From Code files/3.</a:t>
            </a:r>
            <a:endParaRPr lang="en-SG" sz="24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92372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F52193-2431-8D9C-A358-5BF6CF8DF9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Recognizing keywords using </a:t>
            </a:r>
            <a:r>
              <a:rPr lang="en-GB" dirty="0" err="1"/>
              <a:t>strcmp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170C63-D9D3-3C0C-7A89-EE7CE9303B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Since we are comparing strings and looking for exact matches here, we could also consider an alternate implementation,</a:t>
            </a:r>
          </a:p>
          <a:p>
            <a:r>
              <a:rPr lang="en-GB" dirty="0"/>
              <a:t>Using </a:t>
            </a:r>
            <a:r>
              <a:rPr lang="en-GB" b="1" i="1" dirty="0" err="1"/>
              <a:t>strcmp</a:t>
            </a:r>
            <a:r>
              <a:rPr lang="en-GB" b="1" i="1" dirty="0"/>
              <a:t>()</a:t>
            </a:r>
            <a:r>
              <a:rPr lang="en-GB" dirty="0"/>
              <a:t>,</a:t>
            </a:r>
          </a:p>
          <a:p>
            <a:r>
              <a:rPr lang="en-GB" dirty="0"/>
              <a:t>To compare our lexeme </a:t>
            </a:r>
            <a:r>
              <a:rPr lang="en-GB" i="1" dirty="0"/>
              <a:t>x</a:t>
            </a:r>
          </a:p>
          <a:p>
            <a:r>
              <a:rPr lang="en-GB" dirty="0"/>
              <a:t>To all the possible keywords of the language that we would have previously assembled in a list.</a:t>
            </a:r>
          </a:p>
          <a:p>
            <a:pPr marL="0" indent="0">
              <a:buNone/>
            </a:pPr>
            <a:r>
              <a:rPr lang="en-GB" i="1" dirty="0"/>
              <a:t>(But to be honest, these </a:t>
            </a:r>
            <a:r>
              <a:rPr lang="en-GB" i="1" dirty="0" err="1"/>
              <a:t>strcmp</a:t>
            </a:r>
            <a:r>
              <a:rPr lang="en-GB" i="1" dirty="0"/>
              <a:t>() operations would be roughly similar to an FSM of some sort anyway, so not a big difference…)</a:t>
            </a:r>
          </a:p>
          <a:p>
            <a:pPr marL="0" indent="0">
              <a:buNone/>
            </a:pPr>
            <a:endParaRPr lang="en-SG" dirty="0"/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6648743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2A3D830-D4C0-3C57-17FE-D72860C1B0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387" y="971207"/>
            <a:ext cx="11117226" cy="4915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421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CFF7E-F94A-0180-0F8F-A1B296DDA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Strcmp</a:t>
            </a:r>
            <a:r>
              <a:rPr lang="en-GB" dirty="0"/>
              <a:t> vs. </a:t>
            </a:r>
            <a:r>
              <a:rPr lang="en-GB" dirty="0" err="1"/>
              <a:t>RegEx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48F343-DA2D-4FE6-AFD6-DC3D56C30E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113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In practice, should we prefer the </a:t>
            </a:r>
            <a:r>
              <a:rPr lang="en-GB" b="1" dirty="0" err="1"/>
              <a:t>strcmp</a:t>
            </a:r>
            <a:r>
              <a:rPr lang="en-GB" b="1" dirty="0"/>
              <a:t>() implementation over the </a:t>
            </a:r>
            <a:r>
              <a:rPr lang="en-GB" b="1" dirty="0" err="1"/>
              <a:t>RegEx</a:t>
            </a:r>
            <a:r>
              <a:rPr lang="en-GB" b="1" dirty="0"/>
              <a:t> one, if the number of keywords to recognize is small?</a:t>
            </a:r>
          </a:p>
          <a:p>
            <a:r>
              <a:rPr lang="en-GB" dirty="0"/>
              <a:t>Using regular expressions for this specific “exact match” case might be less efficient than using a </a:t>
            </a:r>
            <a:r>
              <a:rPr lang="en-GB" i="1" dirty="0" err="1"/>
              <a:t>strcmp</a:t>
            </a:r>
            <a:r>
              <a:rPr lang="en-GB" i="1" dirty="0"/>
              <a:t>() </a:t>
            </a:r>
            <a:r>
              <a:rPr lang="en-GB" dirty="0"/>
              <a:t>implementation.</a:t>
            </a:r>
          </a:p>
          <a:p>
            <a:r>
              <a:rPr lang="en-GB" dirty="0"/>
              <a:t>Especially considering that the number of keywords is small, and they have a simple structure.</a:t>
            </a:r>
          </a:p>
          <a:p>
            <a:r>
              <a:rPr lang="en-GB" b="1" dirty="0"/>
              <a:t>Keep in mind, however, that regular expressions will be required for more complex token recognition tasks, such as recognizing identifiers or literals with specific patterns.</a:t>
            </a:r>
          </a:p>
          <a:p>
            <a:r>
              <a:rPr lang="en-GB" dirty="0"/>
              <a:t>Either way, let us assemble and try to recognize keywords lexemes.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0306894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F4679F7-C17D-822A-453E-511EC7D392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4920"/>
            <a:ext cx="12192000" cy="5422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113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F4679F7-C17D-822A-453E-511EC7D392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4920"/>
            <a:ext cx="12192000" cy="542225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1048332-7796-4A5C-2578-46E311539F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7550" y="856891"/>
            <a:ext cx="2676899" cy="514421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519591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AC226-A027-C401-B260-18D0CB57C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first Tokenizer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F9D663-7009-B4BD-3AC7-CAF87C7E3B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Let us assemble everything we have so far</a:t>
            </a:r>
          </a:p>
          <a:p>
            <a:r>
              <a:rPr lang="en-SG" dirty="0"/>
              <a:t>A code that reads the code in a </a:t>
            </a:r>
            <a:r>
              <a:rPr lang="en-SG" dirty="0" err="1"/>
              <a:t>source.c</a:t>
            </a:r>
            <a:r>
              <a:rPr lang="en-SG" dirty="0"/>
              <a:t> file and puts it in a big string,</a:t>
            </a:r>
          </a:p>
          <a:p>
            <a:r>
              <a:rPr lang="en-SG" dirty="0"/>
              <a:t>A code that splits the big string into lexemes, using whitespaces and \n symbols as separators.</a:t>
            </a:r>
          </a:p>
          <a:p>
            <a:r>
              <a:rPr lang="en-SG" dirty="0"/>
              <a:t>An </a:t>
            </a:r>
            <a:r>
              <a:rPr lang="en-SG" dirty="0" err="1"/>
              <a:t>enum</a:t>
            </a:r>
            <a:r>
              <a:rPr lang="en-SG" dirty="0"/>
              <a:t> structure for storing the different </a:t>
            </a:r>
            <a:r>
              <a:rPr lang="en-SG" dirty="0" err="1"/>
              <a:t>TokenTypes</a:t>
            </a:r>
            <a:r>
              <a:rPr lang="en-SG" dirty="0"/>
              <a:t>,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1B063-5AD8-584F-5C74-AAA9BCF9B5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SG" dirty="0"/>
              <a:t>A Token struct to store each lexeme and </a:t>
            </a:r>
            <a:r>
              <a:rPr lang="en-SG" dirty="0" err="1"/>
              <a:t>TokenType</a:t>
            </a:r>
            <a:r>
              <a:rPr lang="en-SG" dirty="0"/>
              <a:t> corresponding to the lexemes,</a:t>
            </a:r>
          </a:p>
          <a:p>
            <a:r>
              <a:rPr lang="en-SG" dirty="0"/>
              <a:t>A code that can recognize if a lexeme is a KEYWORD or if it should be considered an UNKNOWN Token Type instead,</a:t>
            </a:r>
          </a:p>
          <a:p>
            <a:r>
              <a:rPr lang="en-SG" dirty="0"/>
              <a:t>A code that repeats this operation for each lexeme and creates Tokens accordingly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7154606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AC226-A027-C401-B260-18D0CB57C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first Tokenizer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F9D663-7009-B4BD-3AC7-CAF87C7E3B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Let us assemble everything we have so far</a:t>
            </a:r>
          </a:p>
          <a:p>
            <a:r>
              <a:rPr lang="en-SG" dirty="0">
                <a:solidFill>
                  <a:schemeClr val="bg1">
                    <a:lumMod val="65000"/>
                  </a:schemeClr>
                </a:solidFill>
              </a:rPr>
              <a:t>A code that reads the code in a </a:t>
            </a:r>
            <a:r>
              <a:rPr lang="en-SG" dirty="0" err="1">
                <a:solidFill>
                  <a:schemeClr val="bg1">
                    <a:lumMod val="65000"/>
                  </a:schemeClr>
                </a:solidFill>
              </a:rPr>
              <a:t>source.c</a:t>
            </a:r>
            <a:r>
              <a:rPr lang="en-SG" dirty="0">
                <a:solidFill>
                  <a:schemeClr val="bg1">
                    <a:lumMod val="65000"/>
                  </a:schemeClr>
                </a:solidFill>
              </a:rPr>
              <a:t> file and puts it in a big string,</a:t>
            </a:r>
          </a:p>
          <a:p>
            <a:r>
              <a:rPr lang="en-SG" dirty="0">
                <a:solidFill>
                  <a:schemeClr val="bg1">
                    <a:lumMod val="65000"/>
                  </a:schemeClr>
                </a:solidFill>
              </a:rPr>
              <a:t>A code that splits the big string into lexemes, using whitespaces and \n symbols as separators.</a:t>
            </a:r>
          </a:p>
          <a:p>
            <a:r>
              <a:rPr lang="en-SG" dirty="0">
                <a:solidFill>
                  <a:schemeClr val="bg1">
                    <a:lumMod val="65000"/>
                  </a:schemeClr>
                </a:solidFill>
              </a:rPr>
              <a:t>An </a:t>
            </a:r>
            <a:r>
              <a:rPr lang="en-SG" dirty="0" err="1">
                <a:solidFill>
                  <a:schemeClr val="bg1">
                    <a:lumMod val="65000"/>
                  </a:schemeClr>
                </a:solidFill>
              </a:rPr>
              <a:t>enum</a:t>
            </a:r>
            <a:r>
              <a:rPr lang="en-SG" dirty="0">
                <a:solidFill>
                  <a:schemeClr val="bg1">
                    <a:lumMod val="65000"/>
                  </a:schemeClr>
                </a:solidFill>
              </a:rPr>
              <a:t> structure for storing the different </a:t>
            </a:r>
            <a:r>
              <a:rPr lang="en-SG" dirty="0" err="1">
                <a:solidFill>
                  <a:schemeClr val="bg1">
                    <a:lumMod val="65000"/>
                  </a:schemeClr>
                </a:solidFill>
              </a:rPr>
              <a:t>TokenTypes</a:t>
            </a:r>
            <a:r>
              <a:rPr lang="en-SG" dirty="0">
                <a:solidFill>
                  <a:schemeClr val="bg1">
                    <a:lumMod val="65000"/>
                  </a:schemeClr>
                </a:solidFill>
              </a:rPr>
              <a:t>,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1B063-5AD8-584F-5C74-AAA9BCF9B5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SG" dirty="0">
                <a:solidFill>
                  <a:schemeClr val="bg1">
                    <a:lumMod val="65000"/>
                  </a:schemeClr>
                </a:solidFill>
              </a:rPr>
              <a:t>A Token struct to store each lexeme and </a:t>
            </a:r>
            <a:r>
              <a:rPr lang="en-SG" dirty="0" err="1">
                <a:solidFill>
                  <a:schemeClr val="bg1">
                    <a:lumMod val="65000"/>
                  </a:schemeClr>
                </a:solidFill>
              </a:rPr>
              <a:t>TokenType</a:t>
            </a:r>
            <a:r>
              <a:rPr lang="en-SG" dirty="0">
                <a:solidFill>
                  <a:schemeClr val="bg1">
                    <a:lumMod val="65000"/>
                  </a:schemeClr>
                </a:solidFill>
              </a:rPr>
              <a:t> corresponding to the lexemes,</a:t>
            </a:r>
          </a:p>
          <a:p>
            <a:r>
              <a:rPr lang="en-SG" dirty="0">
                <a:solidFill>
                  <a:schemeClr val="bg1">
                    <a:lumMod val="65000"/>
                  </a:schemeClr>
                </a:solidFill>
              </a:rPr>
              <a:t>A code that can recognize if a lexeme is a KEYWORD or if it should be considered an UNKNOWN Token Type instead,</a:t>
            </a:r>
          </a:p>
          <a:p>
            <a:r>
              <a:rPr lang="en-SG" dirty="0">
                <a:solidFill>
                  <a:schemeClr val="bg1">
                    <a:lumMod val="65000"/>
                  </a:schemeClr>
                </a:solidFill>
              </a:rPr>
              <a:t>A code that repeats this operation for each lexemes and creates Tokens accordingly</a:t>
            </a:r>
          </a:p>
          <a:p>
            <a:endParaRPr lang="en-SG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561AD2-72C3-30AA-09F8-ACB5F5BDAF0F}"/>
              </a:ext>
            </a:extLst>
          </p:cNvPr>
          <p:cNvSpPr txBox="1"/>
          <p:nvPr/>
        </p:nvSpPr>
        <p:spPr>
          <a:xfrm rot="20466896">
            <a:off x="536005" y="3564670"/>
            <a:ext cx="102445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800" b="1" dirty="0">
                <a:ln w="22225">
                  <a:solidFill>
                    <a:schemeClr val="tx1"/>
                  </a:solidFill>
                  <a:prstDash val="solid"/>
                </a:ln>
                <a:solidFill>
                  <a:schemeClr val="accent1">
                    <a:lumMod val="50000"/>
                  </a:schemeClr>
                </a:solidFill>
              </a:rPr>
              <a:t>Let us assemble everything now!</a:t>
            </a:r>
            <a:endParaRPr lang="en-SG" sz="4800" b="1" dirty="0">
              <a:ln w="22225">
                <a:solidFill>
                  <a:schemeClr val="tx1"/>
                </a:solidFill>
                <a:prstDash val="solid"/>
              </a:ln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3310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F4C1F74-50BE-CBE1-582A-BAAA30C516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592" y="0"/>
            <a:ext cx="9084816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535F9C4-2379-E44E-3826-E38D89C4B719}"/>
              </a:ext>
            </a:extLst>
          </p:cNvPr>
          <p:cNvSpPr txBox="1"/>
          <p:nvPr/>
        </p:nvSpPr>
        <p:spPr>
          <a:xfrm>
            <a:off x="9417538" y="245787"/>
            <a:ext cx="27744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chemeClr val="accent2"/>
                </a:solidFill>
              </a:rPr>
              <a:t>From Code files/4.</a:t>
            </a:r>
            <a:endParaRPr lang="en-SG" sz="24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273194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EEF69-BBB1-3B46-8D5B-ED626354D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Recognizing Punctuation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C38D36-2E91-8CCE-E067-FFDC9AA254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Our next step will be to recognize punctuation, for instance the “;” used at the end of each line.</a:t>
            </a:r>
          </a:p>
          <a:p>
            <a:r>
              <a:rPr lang="en-GB" dirty="0"/>
              <a:t>Technically, this is identical to recognizing keywords, except that we look for a match with the string “;” instead of – say – “int”.</a:t>
            </a:r>
          </a:p>
          <a:p>
            <a:pPr marL="0" indent="0">
              <a:buNone/>
            </a:pPr>
            <a:r>
              <a:rPr lang="en-GB" dirty="0"/>
              <a:t>This can be easily implemented by</a:t>
            </a:r>
          </a:p>
          <a:p>
            <a:r>
              <a:rPr lang="en-GB" dirty="0"/>
              <a:t>Adjusting the Token Types to include a TOKEN_END_OF_LINE type,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8743FB-BA01-6390-88A6-4158029E6A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519" y="4845907"/>
            <a:ext cx="9392961" cy="1714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9982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EEF69-BBB1-3B46-8D5B-ED626354D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Recognizing Punctuation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C38D36-2E91-8CCE-E067-FFDC9AA254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Our next step will be to recognize punctuation, for instance the “;” used at the end of each line.</a:t>
            </a:r>
          </a:p>
          <a:p>
            <a:r>
              <a:rPr lang="en-GB" dirty="0"/>
              <a:t>Technically, this is identical to recognizing keywords, except that we look for a match with the string “;” instead of – say – “int”.</a:t>
            </a:r>
          </a:p>
          <a:p>
            <a:pPr marL="0" indent="0">
              <a:buNone/>
            </a:pPr>
            <a:r>
              <a:rPr lang="en-GB" dirty="0"/>
              <a:t>This can be easily implemented by</a:t>
            </a:r>
          </a:p>
          <a:p>
            <a:r>
              <a:rPr lang="en-GB" dirty="0"/>
              <a:t>Adjusting the Token Types to include a TOKEN_END_OF_LINE type,</a:t>
            </a:r>
          </a:p>
          <a:p>
            <a:r>
              <a:rPr lang="en-GB" dirty="0"/>
              <a:t>To do so, we again use a </a:t>
            </a:r>
            <a:r>
              <a:rPr lang="en-GB" dirty="0" err="1"/>
              <a:t>strcmp</a:t>
            </a:r>
            <a:r>
              <a:rPr lang="en-GB" dirty="0"/>
              <a:t>() operation to check if the lexeme exactly matches the punctuation “;” , </a:t>
            </a:r>
          </a:p>
          <a:p>
            <a:r>
              <a:rPr lang="en-GB" dirty="0"/>
              <a:t>And if so, we will create a Token accordingly,</a:t>
            </a:r>
          </a:p>
          <a:p>
            <a:r>
              <a:rPr lang="en-GB" dirty="0"/>
              <a:t>Otherwise check if it is a KEYWORD or UNKNOWN Token like before.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2814081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A4808B8-8DA7-952B-8D6C-C2A7D95F2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280" y="0"/>
            <a:ext cx="977344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714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9FFB6-5259-963A-1794-190952BF5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Quick question, why do we need ; anyway?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CE2BB1-31A1-BF4A-A5B2-AB63784D6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C, the semicolon (;) typically serves as a statement delimiter, indicating the end of a statement or line.</a:t>
            </a:r>
          </a:p>
          <a:p>
            <a:r>
              <a:rPr lang="en-GB" dirty="0"/>
              <a:t>It must be used and cannot be omitted, or the compiler will crash.</a:t>
            </a:r>
          </a:p>
          <a:p>
            <a:r>
              <a:rPr lang="en-GB" dirty="0"/>
              <a:t>At the moment, we suspect that this will help the compiler to understand the structure of the code and determine where each statement begins and ends.</a:t>
            </a:r>
          </a:p>
          <a:p>
            <a:r>
              <a:rPr lang="en-GB" dirty="0"/>
              <a:t>If C did not require semicolons, it would still be possible for a compiler to process the code, but the language would need to be designed differently, and additional rules would have to be introduced to determine the end of a statement.</a:t>
            </a:r>
            <a:br>
              <a:rPr lang="en-GB" dirty="0"/>
            </a:br>
            <a:r>
              <a:rPr lang="en-GB" dirty="0"/>
              <a:t>(as a counterexample, Python relies on indentation).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9734800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9FFB6-5259-963A-1794-190952BF5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Quick question, why do we need ; anyway?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CE2BB1-31A1-BF4A-A5B2-AB63784D6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To be honest, the semicolon (;) symbol does not significantly affect the tokenization process.</a:t>
            </a:r>
          </a:p>
          <a:p>
            <a:r>
              <a:rPr lang="en-GB" dirty="0"/>
              <a:t>The sole purpose of the tokenizer is to break the input source code into individual lexemes,</a:t>
            </a:r>
          </a:p>
          <a:p>
            <a:r>
              <a:rPr lang="en-GB" dirty="0"/>
              <a:t>Recognize the types of these lexemes and create Tokens with the appropriate types accordingly,</a:t>
            </a:r>
          </a:p>
          <a:p>
            <a:r>
              <a:rPr lang="en-GB" dirty="0"/>
              <a:t>And the tokenizer does so, regardless of whether the syntax makes sense or not </a:t>
            </a:r>
            <a:r>
              <a:rPr lang="en-GB" i="1" dirty="0"/>
              <a:t>(I mean “int for while if return </a:t>
            </a:r>
            <a:r>
              <a:rPr lang="en-GB" i="1" dirty="0" err="1"/>
              <a:t>intwhile</a:t>
            </a:r>
            <a:r>
              <a:rPr lang="en-GB" i="1" dirty="0"/>
              <a:t>” seriously?).</a:t>
            </a:r>
          </a:p>
          <a:p>
            <a:r>
              <a:rPr lang="en-GB" dirty="0"/>
              <a:t>For the same reason, it will not bother checking that each line correctly finishes with semicolons (or not). 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9021595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A8E5D-D62D-6849-97C5-C6FAB8162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Quick question, why do we need ; anyway?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81BEC2-7644-FF3D-3865-CE873EBA7B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r>
              <a:rPr lang="en-GB" dirty="0"/>
              <a:t>The semicolon, however, serves as a statement delimiter, which will help the </a:t>
            </a:r>
            <a:r>
              <a:rPr lang="en-GB" b="1" dirty="0"/>
              <a:t>PARSER</a:t>
            </a:r>
            <a:r>
              <a:rPr lang="en-GB" dirty="0"/>
              <a:t> (our next step after tokenization) to correctly identify and group tokens corresponding to statements in the code.</a:t>
            </a:r>
          </a:p>
          <a:p>
            <a:r>
              <a:rPr lang="en-GB" dirty="0"/>
              <a:t>This will typically allow the compiler to identify syntax errors, or sequences of tokens that are incorrect.</a:t>
            </a:r>
          </a:p>
          <a:p>
            <a:r>
              <a:rPr lang="en-GB" dirty="0"/>
              <a:t>The semicolon symbol (;) then plays a crucial role in the </a:t>
            </a:r>
            <a:r>
              <a:rPr lang="en-GB" b="1" dirty="0"/>
              <a:t>PARSING</a:t>
            </a:r>
            <a:r>
              <a:rPr lang="en-GB" dirty="0"/>
              <a:t> phase by helping the compiler to correctly understand and represent the structure of the code.</a:t>
            </a:r>
          </a:p>
          <a:p>
            <a:r>
              <a:rPr lang="en-GB" dirty="0"/>
              <a:t>But this </a:t>
            </a:r>
            <a:r>
              <a:rPr lang="en-GB" b="1" dirty="0"/>
              <a:t>SYNTAX</a:t>
            </a:r>
            <a:r>
              <a:rPr lang="en-GB" dirty="0"/>
              <a:t> analysis comes later, and it is </a:t>
            </a:r>
            <a:r>
              <a:rPr lang="en-GB" u="sng" dirty="0"/>
              <a:t>not the job</a:t>
            </a:r>
            <a:r>
              <a:rPr lang="en-GB" dirty="0"/>
              <a:t> of the </a:t>
            </a:r>
            <a:r>
              <a:rPr lang="en-GB" b="1" dirty="0"/>
              <a:t>LEXICAL </a:t>
            </a:r>
            <a:r>
              <a:rPr lang="en-GB" dirty="0"/>
              <a:t>analysis </a:t>
            </a:r>
            <a:r>
              <a:rPr lang="en-GB" b="1" dirty="0"/>
              <a:t>(or TOKENIZATION)</a:t>
            </a:r>
            <a:r>
              <a:rPr lang="en-GB" dirty="0"/>
              <a:t> part.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43495689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0F080-5AE6-BE06-1477-59814861F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Recognizing additional punctuation/operators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C2E044-D0C1-8668-6F70-6B3FC04F04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4351215" cy="5032375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As with the “;” symbol, most</a:t>
            </a:r>
          </a:p>
          <a:p>
            <a:r>
              <a:rPr lang="en-GB" dirty="0"/>
              <a:t>punctuation signs (curly braces, parentheses, etc.)</a:t>
            </a:r>
          </a:p>
          <a:p>
            <a:r>
              <a:rPr lang="en-GB" dirty="0"/>
              <a:t>or operators (e.g. “+”, “-”, “*”, “/”, etc.)</a:t>
            </a:r>
          </a:p>
          <a:p>
            <a:pPr marL="0" indent="0">
              <a:buNone/>
            </a:pPr>
            <a:r>
              <a:rPr lang="en-GB" dirty="0"/>
              <a:t>will consist of a single special character</a:t>
            </a:r>
          </a:p>
          <a:p>
            <a:pPr marL="0" indent="0">
              <a:buNone/>
            </a:pPr>
            <a:r>
              <a:rPr lang="en-GB" dirty="0"/>
              <a:t>We can then create Token Types for each of these operators, as before.</a:t>
            </a:r>
            <a:endParaRPr lang="en-S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06422F-39BB-7AE0-BDFD-9C010C04F4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2622" y="2510227"/>
            <a:ext cx="6649378" cy="3181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52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0F080-5AE6-BE06-1477-59814861F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 to our additional punctuation/operators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C2E044-D0C1-8668-6F70-6B3FC04F04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4351215" cy="5032375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Another quick note: </a:t>
            </a:r>
          </a:p>
          <a:p>
            <a:r>
              <a:rPr lang="en-GB" dirty="0"/>
              <a:t>Checking that each opened parenthesis gets closed is NOT the job of the TOKENIZER.</a:t>
            </a:r>
          </a:p>
          <a:p>
            <a:r>
              <a:rPr lang="en-GB" dirty="0"/>
              <a:t>Just like before with “;”, this falls under the SYNTAX analysis category.</a:t>
            </a:r>
          </a:p>
          <a:p>
            <a:r>
              <a:rPr lang="en-GB" dirty="0"/>
              <a:t>And will therefore be the job of the PARSING phase.</a:t>
            </a:r>
            <a:endParaRPr lang="en-S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06422F-39BB-7AE0-BDFD-9C010C04F4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2622" y="2510227"/>
            <a:ext cx="6649378" cy="3181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35763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0F080-5AE6-BE06-1477-59814861F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 to our additional punctuation/operators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C2E044-D0C1-8668-6F70-6B3FC04F04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4351215" cy="5032375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Another quick note: </a:t>
            </a:r>
          </a:p>
          <a:p>
            <a:r>
              <a:rPr lang="en-GB" dirty="0"/>
              <a:t>Checking that each opened parenthesis gets closed is NOT the job of the TOKENIZER.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b="1" dirty="0"/>
              <a:t>Question: </a:t>
            </a:r>
            <a:r>
              <a:rPr lang="en-GB" dirty="0"/>
              <a:t>BTW, is there any </a:t>
            </a:r>
            <a:r>
              <a:rPr lang="en-GB" dirty="0" err="1"/>
              <a:t>RegEx</a:t>
            </a:r>
            <a:r>
              <a:rPr lang="en-GB" dirty="0"/>
              <a:t> that could check that any opened parenthesis found in the string </a:t>
            </a:r>
            <a:r>
              <a:rPr lang="en-GB" i="1" dirty="0"/>
              <a:t>x</a:t>
            </a:r>
            <a:r>
              <a:rPr lang="en-GB" dirty="0"/>
              <a:t> has been closed?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06422F-39BB-7AE0-BDFD-9C010C04F4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2622" y="2510227"/>
            <a:ext cx="6649378" cy="3181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96241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CC7F84D-21D8-8FB2-B322-420A295C24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7074" y="109074"/>
            <a:ext cx="6277851" cy="663985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1E4220C-AA1B-D510-F3AE-DD716B8A6862}"/>
              </a:ext>
            </a:extLst>
          </p:cNvPr>
          <p:cNvSpPr txBox="1"/>
          <p:nvPr/>
        </p:nvSpPr>
        <p:spPr>
          <a:xfrm>
            <a:off x="9234925" y="1715080"/>
            <a:ext cx="2774462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chemeClr val="accent2"/>
                </a:solidFill>
              </a:rPr>
              <a:t>Found in main() function to match operators and additional punctuation symbols.</a:t>
            </a:r>
          </a:p>
          <a:p>
            <a:endParaRPr lang="en-GB" sz="2400" b="1" dirty="0">
              <a:solidFill>
                <a:schemeClr val="accent2"/>
              </a:solidFill>
            </a:endParaRPr>
          </a:p>
          <a:p>
            <a:r>
              <a:rPr lang="en-GB" sz="2400" b="1" dirty="0">
                <a:solidFill>
                  <a:schemeClr val="accent2"/>
                </a:solidFill>
              </a:rPr>
              <a:t>From Code files/6.</a:t>
            </a:r>
            <a:endParaRPr lang="en-SG" sz="24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897037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3FA18-3F90-1FC0-D489-A6EAA52FD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Recognizing identifiers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CC6A8-58AA-24CC-CF50-3A252364E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Identifier: </a:t>
            </a:r>
            <a:r>
              <a:rPr lang="en-GB" dirty="0"/>
              <a:t>An identifier is a </a:t>
            </a:r>
            <a:r>
              <a:rPr lang="en-GB" b="1" dirty="0"/>
              <a:t>name given to a variable</a:t>
            </a:r>
            <a:r>
              <a:rPr lang="en-GB" dirty="0"/>
              <a:t>, </a:t>
            </a:r>
            <a:r>
              <a:rPr lang="en-GB" b="1" dirty="0"/>
              <a:t>function</a:t>
            </a:r>
            <a:r>
              <a:rPr lang="en-GB" dirty="0"/>
              <a:t>, or </a:t>
            </a:r>
            <a:r>
              <a:rPr lang="en-GB" b="1" dirty="0"/>
              <a:t>other</a:t>
            </a:r>
            <a:r>
              <a:rPr lang="en-GB" dirty="0"/>
              <a:t> </a:t>
            </a:r>
            <a:r>
              <a:rPr lang="en-GB" b="1" dirty="0"/>
              <a:t>entity</a:t>
            </a:r>
            <a:r>
              <a:rPr lang="en-GB" dirty="0"/>
              <a:t> in a program.</a:t>
            </a:r>
          </a:p>
          <a:p>
            <a:pPr marL="0" indent="0">
              <a:buNone/>
            </a:pPr>
            <a:r>
              <a:rPr lang="en-GB" dirty="0"/>
              <a:t>In C, a valid identifier name should follow rules, such as</a:t>
            </a:r>
          </a:p>
          <a:p>
            <a:r>
              <a:rPr lang="en-GB" dirty="0"/>
              <a:t>starting with a letter or underscore,</a:t>
            </a:r>
          </a:p>
          <a:p>
            <a:r>
              <a:rPr lang="en-GB" dirty="0"/>
              <a:t>and consisting of letters, digits, and underscores.</a:t>
            </a:r>
          </a:p>
          <a:p>
            <a:pPr marL="0" indent="0">
              <a:buNone/>
            </a:pPr>
            <a:r>
              <a:rPr lang="en-GB" dirty="0"/>
              <a:t>Examples of valid identifiers:</a:t>
            </a:r>
          </a:p>
          <a:p>
            <a:r>
              <a:rPr lang="en-GB" dirty="0"/>
              <a:t>x, counter, variable_1,</a:t>
            </a:r>
          </a:p>
          <a:p>
            <a:r>
              <a:rPr lang="en-GB" dirty="0" err="1"/>
              <a:t>myFunction</a:t>
            </a:r>
            <a:r>
              <a:rPr lang="en-GB" dirty="0"/>
              <a:t>, </a:t>
            </a:r>
          </a:p>
          <a:p>
            <a:r>
              <a:rPr lang="en-GB" dirty="0"/>
              <a:t>etc.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02247118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A6C370-714F-EAA0-209A-ABF6741BC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Recognizing identifiers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F5F9890-E0E0-F49A-3E26-C62B81849C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Question: Is there a finite list of possible identifiers like for keywords, operators and punctuation signs?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No. And because of that reason, we cannot use a list of possible strings to match and a </a:t>
            </a:r>
            <a:r>
              <a:rPr lang="en-GB" i="1" dirty="0" err="1"/>
              <a:t>strcmp</a:t>
            </a:r>
            <a:r>
              <a:rPr lang="en-GB" i="1" dirty="0"/>
              <a:t>() </a:t>
            </a:r>
            <a:r>
              <a:rPr lang="en-GB" dirty="0"/>
              <a:t>method like before. We have no other choice, but to rely on </a:t>
            </a:r>
            <a:r>
              <a:rPr lang="en-GB" dirty="0" err="1"/>
              <a:t>RegEx</a:t>
            </a:r>
            <a:r>
              <a:rPr lang="en-GB" dirty="0"/>
              <a:t> to transcribe the grammar rules for identifiers.</a:t>
            </a:r>
          </a:p>
          <a:p>
            <a:r>
              <a:rPr lang="en-GB" dirty="0"/>
              <a:t>Start with a letter or underscore,</a:t>
            </a:r>
          </a:p>
          <a:p>
            <a:r>
              <a:rPr lang="en-GB" dirty="0"/>
              <a:t>And consist of letters, digits, and underscores (or use the shortcut for word characters \w).</a:t>
            </a:r>
          </a:p>
          <a:p>
            <a:pPr marL="0" indent="0">
              <a:buNone/>
            </a:pPr>
            <a:endParaRPr lang="en-SG" dirty="0"/>
          </a:p>
          <a:p>
            <a:pPr marL="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77658499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A6C370-714F-EAA0-209A-ABF6741BC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Recognizing identifiers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F5F9890-E0E0-F49A-3E26-C62B81849C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Question: Is there a finite list of possible identifiers like for keywords, operators and punctuation signs?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No. And because of that reason, we cannot use a list of possible strings to match and a </a:t>
            </a:r>
            <a:r>
              <a:rPr lang="en-GB" i="1" dirty="0" err="1"/>
              <a:t>strcmp</a:t>
            </a:r>
            <a:r>
              <a:rPr lang="en-GB" i="1" dirty="0"/>
              <a:t>() </a:t>
            </a:r>
            <a:r>
              <a:rPr lang="en-GB" dirty="0"/>
              <a:t>method like before. We have no other choice, but to rely on </a:t>
            </a:r>
            <a:r>
              <a:rPr lang="en-GB" dirty="0" err="1"/>
              <a:t>RegEx</a:t>
            </a:r>
            <a:r>
              <a:rPr lang="en-GB" dirty="0"/>
              <a:t> to transcribe the grammar rules for identifiers.</a:t>
            </a:r>
          </a:p>
          <a:p>
            <a:r>
              <a:rPr lang="en-GB" dirty="0"/>
              <a:t>Start with a letter or underscore,</a:t>
            </a:r>
          </a:p>
          <a:p>
            <a:r>
              <a:rPr lang="en-GB" dirty="0"/>
              <a:t>And consist of letters, digits, and underscores (or use the shortcut for word characters \w).</a:t>
            </a:r>
          </a:p>
          <a:p>
            <a:pPr marL="0" indent="0">
              <a:buNone/>
            </a:pPr>
            <a:r>
              <a:rPr lang="en-GB" b="1" dirty="0"/>
              <a:t>Possible </a:t>
            </a:r>
            <a:r>
              <a:rPr lang="en-GB" b="1" dirty="0" err="1"/>
              <a:t>RegEx</a:t>
            </a:r>
            <a:r>
              <a:rPr lang="en-GB" b="1" dirty="0"/>
              <a:t> for identifiers:</a:t>
            </a:r>
          </a:p>
          <a:p>
            <a:pPr marL="0" indent="0" algn="ctr">
              <a:buNone/>
            </a:pPr>
            <a:r>
              <a:rPr lang="en-GB" b="1" i="1" dirty="0">
                <a:solidFill>
                  <a:srgbClr val="7030A0"/>
                </a:solidFill>
              </a:rPr>
              <a:t>“^[a-</a:t>
            </a:r>
            <a:r>
              <a:rPr lang="en-GB" b="1" i="1" dirty="0" err="1">
                <a:solidFill>
                  <a:srgbClr val="7030A0"/>
                </a:solidFill>
              </a:rPr>
              <a:t>zA</a:t>
            </a:r>
            <a:r>
              <a:rPr lang="en-GB" b="1" i="1" dirty="0">
                <a:solidFill>
                  <a:srgbClr val="7030A0"/>
                </a:solidFill>
              </a:rPr>
              <a:t>-Z_][a-zA-Z0-9_]*$”   </a:t>
            </a:r>
            <a:r>
              <a:rPr lang="en-GB" i="1" dirty="0"/>
              <a:t>or equivalently   </a:t>
            </a:r>
            <a:r>
              <a:rPr lang="en-GB" b="1" i="1" dirty="0">
                <a:solidFill>
                  <a:srgbClr val="7030A0"/>
                </a:solidFill>
              </a:rPr>
              <a:t>“^[a-</a:t>
            </a:r>
            <a:r>
              <a:rPr lang="en-GB" b="1" i="1" dirty="0" err="1">
                <a:solidFill>
                  <a:srgbClr val="7030A0"/>
                </a:solidFill>
              </a:rPr>
              <a:t>zA</a:t>
            </a:r>
            <a:r>
              <a:rPr lang="en-GB" b="1" i="1" dirty="0">
                <a:solidFill>
                  <a:srgbClr val="7030A0"/>
                </a:solidFill>
              </a:rPr>
              <a:t>-Z_]\\w*$”</a:t>
            </a:r>
          </a:p>
          <a:p>
            <a:pPr marL="0" indent="0">
              <a:buNone/>
            </a:pPr>
            <a:endParaRPr lang="en-SG" dirty="0"/>
          </a:p>
          <a:p>
            <a:pPr marL="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88584112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998ED-F054-256F-84E0-82494D80A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Quick note on \\w and \w in </a:t>
            </a:r>
            <a:r>
              <a:rPr lang="en-GB" dirty="0" err="1"/>
              <a:t>RegEx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BD06E2-E197-E5AA-FA7E-A6F1067D2D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On some machine, the C </a:t>
            </a:r>
            <a:r>
              <a:rPr lang="en-GB" dirty="0" err="1"/>
              <a:t>RegEx</a:t>
            </a:r>
            <a:r>
              <a:rPr lang="en-GB" dirty="0"/>
              <a:t> library sometimes expects two escape characters to be used. That is, you should use \\w (or any other similar notation like \\d, \\s, etc.) instead of just \w...</a:t>
            </a:r>
          </a:p>
          <a:p>
            <a:pPr marL="0" indent="0">
              <a:buNone/>
            </a:pPr>
            <a:r>
              <a:rPr lang="en-GB" dirty="0"/>
              <a:t>Not sure why though.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Anyway, this means that the </a:t>
            </a:r>
            <a:r>
              <a:rPr lang="en-GB" b="1" dirty="0"/>
              <a:t>\\w </a:t>
            </a:r>
            <a:r>
              <a:rPr lang="en-GB" dirty="0"/>
              <a:t>in the </a:t>
            </a:r>
            <a:r>
              <a:rPr lang="en-GB" dirty="0" err="1"/>
              <a:t>RegEx</a:t>
            </a:r>
            <a:r>
              <a:rPr lang="en-GB" dirty="0"/>
              <a:t> below is not a typo.</a:t>
            </a:r>
          </a:p>
          <a:p>
            <a:pPr marL="0" indent="0" algn="ctr">
              <a:buNone/>
            </a:pPr>
            <a:r>
              <a:rPr lang="en-GB" b="1" i="1" dirty="0">
                <a:solidFill>
                  <a:srgbClr val="7030A0"/>
                </a:solidFill>
              </a:rPr>
              <a:t>“^[a-</a:t>
            </a:r>
            <a:r>
              <a:rPr lang="en-GB" b="1" i="1" dirty="0" err="1">
                <a:solidFill>
                  <a:srgbClr val="7030A0"/>
                </a:solidFill>
              </a:rPr>
              <a:t>zA</a:t>
            </a:r>
            <a:r>
              <a:rPr lang="en-GB" b="1" i="1" dirty="0">
                <a:solidFill>
                  <a:srgbClr val="7030A0"/>
                </a:solidFill>
              </a:rPr>
              <a:t>-Z_]\\w*$”</a:t>
            </a:r>
          </a:p>
          <a:p>
            <a:pPr marL="0" indent="0">
              <a:buNone/>
            </a:pPr>
            <a:r>
              <a:rPr lang="en-GB" dirty="0"/>
              <a:t>In some other </a:t>
            </a:r>
            <a:r>
              <a:rPr lang="en-GB" dirty="0" err="1"/>
              <a:t>RegEx</a:t>
            </a:r>
            <a:r>
              <a:rPr lang="en-GB" dirty="0"/>
              <a:t> engines, a simple </a:t>
            </a:r>
            <a:r>
              <a:rPr lang="en-GB" b="1" dirty="0"/>
              <a:t>\w </a:t>
            </a:r>
            <a:r>
              <a:rPr lang="en-GB" dirty="0"/>
              <a:t>might do (try it and figure it out for your machine?).</a:t>
            </a:r>
          </a:p>
          <a:p>
            <a:pPr marL="0" indent="0" algn="ctr">
              <a:buNone/>
            </a:pPr>
            <a:r>
              <a:rPr lang="en-GB" b="1" i="1" dirty="0">
                <a:solidFill>
                  <a:srgbClr val="7030A0"/>
                </a:solidFill>
              </a:rPr>
              <a:t>“^[a-</a:t>
            </a:r>
            <a:r>
              <a:rPr lang="en-GB" b="1" i="1" dirty="0" err="1">
                <a:solidFill>
                  <a:srgbClr val="7030A0"/>
                </a:solidFill>
              </a:rPr>
              <a:t>zA</a:t>
            </a:r>
            <a:r>
              <a:rPr lang="en-GB" b="1" i="1" dirty="0">
                <a:solidFill>
                  <a:srgbClr val="7030A0"/>
                </a:solidFill>
              </a:rPr>
              <a:t>-Z_]\w*$”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51195066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FC463B-97D6-61CC-9441-7D3EAD44E0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6520" y="0"/>
            <a:ext cx="9378959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03D3A28-E55B-A9A9-4130-DC4A8D33A219}"/>
              </a:ext>
            </a:extLst>
          </p:cNvPr>
          <p:cNvSpPr txBox="1"/>
          <p:nvPr/>
        </p:nvSpPr>
        <p:spPr>
          <a:xfrm>
            <a:off x="9378466" y="1113294"/>
            <a:ext cx="27744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chemeClr val="accent2"/>
                </a:solidFill>
              </a:rPr>
              <a:t>From Code files/7.</a:t>
            </a:r>
            <a:endParaRPr lang="en-SG" sz="24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263345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DE9F4A1-6934-219B-C970-9B4FD297D6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13879"/>
            <a:ext cx="12192000" cy="3795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54737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DE9F4A1-6934-219B-C970-9B4FD297D6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13879"/>
            <a:ext cx="12192000" cy="379504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5BBE009-FB43-8ADD-D3CA-C5D9FD8BDD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8606" y="1882271"/>
            <a:ext cx="3671363" cy="459800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2156464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B84FF-F706-D3E8-C649-1A8A9C4D7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Recognizing literals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FA23DB-2026-F938-2B1A-401CADD258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Literal: </a:t>
            </a:r>
            <a:r>
              <a:rPr lang="en-GB" dirty="0"/>
              <a:t>A </a:t>
            </a:r>
            <a:r>
              <a:rPr lang="en-GB" b="1" dirty="0"/>
              <a:t>value</a:t>
            </a:r>
            <a:r>
              <a:rPr lang="en-GB" dirty="0"/>
              <a:t> of some sort to be </a:t>
            </a:r>
            <a:r>
              <a:rPr lang="en-GB" b="1" dirty="0"/>
              <a:t>assigned to a variable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Examples of literals in the C programming language: </a:t>
            </a:r>
          </a:p>
          <a:p>
            <a:r>
              <a:rPr lang="en-GB" dirty="0"/>
              <a:t>12542</a:t>
            </a:r>
          </a:p>
          <a:p>
            <a:r>
              <a:rPr lang="en-GB" dirty="0"/>
              <a:t>12654165.52</a:t>
            </a:r>
          </a:p>
          <a:p>
            <a:r>
              <a:rPr lang="en-GB" dirty="0"/>
              <a:t>“hello”</a:t>
            </a:r>
          </a:p>
          <a:p>
            <a:r>
              <a:rPr lang="en-GB" dirty="0"/>
              <a:t>Etc.</a:t>
            </a:r>
          </a:p>
        </p:txBody>
      </p:sp>
    </p:spTree>
    <p:extLst>
      <p:ext uri="{BB962C8B-B14F-4D97-AF65-F5344CB8AC3E}">
        <p14:creationId xmlns:p14="http://schemas.microsoft.com/office/powerpoint/2010/main" val="330728554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B84FF-F706-D3E8-C649-1A8A9C4D7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Recognizing integer literals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FA23DB-2026-F938-2B1A-401CADD258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(Unsigned </a:t>
            </a:r>
            <a:r>
              <a:rPr lang="en-GB" b="1" dirty="0">
                <a:solidFill>
                  <a:srgbClr val="7030A0"/>
                </a:solidFill>
              </a:rPr>
              <a:t>Integer</a:t>
            </a:r>
            <a:r>
              <a:rPr lang="en-GB" b="1" dirty="0"/>
              <a:t>) Literal: </a:t>
            </a:r>
            <a:r>
              <a:rPr lang="en-GB" dirty="0"/>
              <a:t>A </a:t>
            </a:r>
            <a:r>
              <a:rPr lang="en-GB" b="1" dirty="0">
                <a:solidFill>
                  <a:srgbClr val="7030A0"/>
                </a:solidFill>
              </a:rPr>
              <a:t>numerical</a:t>
            </a:r>
            <a:r>
              <a:rPr lang="en-GB" dirty="0"/>
              <a:t> </a:t>
            </a:r>
            <a:r>
              <a:rPr lang="en-GB" b="1" dirty="0"/>
              <a:t>value</a:t>
            </a:r>
            <a:r>
              <a:rPr lang="en-GB" dirty="0"/>
              <a:t> of some sort to be </a:t>
            </a:r>
            <a:r>
              <a:rPr lang="en-GB" b="1" dirty="0"/>
              <a:t>assigned to an unsigned </a:t>
            </a:r>
            <a:r>
              <a:rPr lang="en-GB" b="1" dirty="0">
                <a:solidFill>
                  <a:srgbClr val="7030A0"/>
                </a:solidFill>
              </a:rPr>
              <a:t>integer</a:t>
            </a:r>
            <a:r>
              <a:rPr lang="en-GB" b="1" dirty="0"/>
              <a:t> variable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Examples of integer literals in the C programming language: </a:t>
            </a:r>
          </a:p>
          <a:p>
            <a:r>
              <a:rPr lang="en-GB" dirty="0"/>
              <a:t>0, 42, 856841, Etc.</a:t>
            </a:r>
          </a:p>
          <a:p>
            <a:pPr marL="0" indent="0">
              <a:buNone/>
            </a:pPr>
            <a:r>
              <a:rPr lang="en-GB" dirty="0"/>
              <a:t>Examples of invalid unsigned integer literals in the C language: </a:t>
            </a:r>
          </a:p>
          <a:p>
            <a:r>
              <a:rPr lang="en-GB" dirty="0"/>
              <a:t>-7</a:t>
            </a:r>
          </a:p>
          <a:p>
            <a:r>
              <a:rPr lang="en-GB" dirty="0"/>
              <a:t>42.0</a:t>
            </a:r>
          </a:p>
          <a:p>
            <a:r>
              <a:rPr lang="en-GB" dirty="0"/>
              <a:t>00123</a:t>
            </a:r>
          </a:p>
          <a:p>
            <a:r>
              <a:rPr lang="en-GB" dirty="0"/>
              <a:t>123followedbyletters</a:t>
            </a:r>
          </a:p>
        </p:txBody>
      </p:sp>
    </p:spTree>
    <p:extLst>
      <p:ext uri="{BB962C8B-B14F-4D97-AF65-F5344CB8AC3E}">
        <p14:creationId xmlns:p14="http://schemas.microsoft.com/office/powerpoint/2010/main" val="32872065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B84FF-F706-D3E8-C649-1A8A9C4D7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Recognizing unsigned integer literals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FA23DB-2026-F938-2B1A-401CADD258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To recognize integer literals, we will have to rely on regular expression patterns to match</a:t>
            </a:r>
          </a:p>
          <a:p>
            <a:r>
              <a:rPr lang="en-GB" dirty="0"/>
              <a:t>either a zero,</a:t>
            </a:r>
          </a:p>
          <a:p>
            <a:r>
              <a:rPr lang="en-GB" dirty="0"/>
              <a:t>or a non-zero digit followed by a sequence of zero or more digits.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Possible </a:t>
            </a:r>
            <a:r>
              <a:rPr lang="en-GB" dirty="0" err="1"/>
              <a:t>RegEx</a:t>
            </a:r>
            <a:r>
              <a:rPr lang="en-GB" dirty="0"/>
              <a:t> for unsigned integer literals:</a:t>
            </a:r>
          </a:p>
          <a:p>
            <a:pPr marL="0" indent="0">
              <a:buNone/>
            </a:pPr>
            <a:endParaRPr lang="en-GB" dirty="0"/>
          </a:p>
          <a:p>
            <a:pPr marL="0" indent="0" algn="ctr">
              <a:buNone/>
            </a:pPr>
            <a:r>
              <a:rPr lang="en-GB" i="1" dirty="0">
                <a:solidFill>
                  <a:srgbClr val="7030A0"/>
                </a:solidFill>
              </a:rPr>
              <a:t>“^(0|[1-9][0-9]*)$”   </a:t>
            </a:r>
            <a:r>
              <a:rPr lang="en-GB" i="1" dirty="0"/>
              <a:t>or</a:t>
            </a:r>
            <a:r>
              <a:rPr lang="en-GB" i="1" dirty="0">
                <a:solidFill>
                  <a:srgbClr val="7030A0"/>
                </a:solidFill>
              </a:rPr>
              <a:t>   “^(0|[1-9]\\d*)$”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60262165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F1D0270-F593-11E5-4C61-DDD253C5E9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646" y="0"/>
            <a:ext cx="9848707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B3A9417-8007-99CC-B14D-85DBC508B05D}"/>
              </a:ext>
            </a:extLst>
          </p:cNvPr>
          <p:cNvSpPr txBox="1"/>
          <p:nvPr/>
        </p:nvSpPr>
        <p:spPr>
          <a:xfrm>
            <a:off x="9378466" y="1113294"/>
            <a:ext cx="27744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chemeClr val="accent2"/>
                </a:solidFill>
              </a:rPr>
              <a:t>From Code files/8.</a:t>
            </a:r>
            <a:endParaRPr lang="en-SG" sz="24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485849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69C851E-2E9C-D1DA-E5D9-CDB8CD0563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91" y="828312"/>
            <a:ext cx="12127017" cy="5201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64331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69C851E-2E9C-D1DA-E5D9-CDB8CD0563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91" y="828312"/>
            <a:ext cx="12127017" cy="520137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D8D96B5-4D15-194C-914A-E5F954DEC7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3204" y="3268962"/>
            <a:ext cx="4171653" cy="322562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1340273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B84FF-F706-D3E8-C649-1A8A9C4D7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Practice: Recognizing more types of literals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FA23DB-2026-F938-2B1A-401CADD258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Possible </a:t>
            </a:r>
            <a:r>
              <a:rPr lang="en-GB" dirty="0" err="1"/>
              <a:t>RegEx</a:t>
            </a:r>
            <a:r>
              <a:rPr lang="en-GB" dirty="0"/>
              <a:t> for unsigned integer literals:</a:t>
            </a:r>
          </a:p>
          <a:p>
            <a:pPr marL="0" indent="0">
              <a:buNone/>
            </a:pPr>
            <a:endParaRPr lang="en-GB" dirty="0"/>
          </a:p>
          <a:p>
            <a:pPr marL="0" indent="0" algn="ctr">
              <a:buNone/>
            </a:pPr>
            <a:r>
              <a:rPr lang="en-GB" i="1" dirty="0">
                <a:solidFill>
                  <a:srgbClr val="7030A0"/>
                </a:solidFill>
              </a:rPr>
              <a:t>“^(0|[1-9][0-9]*)$”   </a:t>
            </a:r>
            <a:r>
              <a:rPr lang="en-GB" i="1" dirty="0"/>
              <a:t>or</a:t>
            </a:r>
            <a:r>
              <a:rPr lang="en-GB" i="1" dirty="0">
                <a:solidFill>
                  <a:srgbClr val="7030A0"/>
                </a:solidFill>
              </a:rPr>
              <a:t>   “^(0|[1-9]\\d*)$”</a:t>
            </a:r>
          </a:p>
          <a:p>
            <a:pPr marL="0" indent="0" algn="ctr">
              <a:buNone/>
            </a:pPr>
            <a:endParaRPr lang="en-GB" i="1" dirty="0">
              <a:solidFill>
                <a:srgbClr val="7030A0"/>
              </a:solidFill>
            </a:endParaRPr>
          </a:p>
          <a:p>
            <a:pPr marL="0" indent="0">
              <a:buNone/>
            </a:pPr>
            <a:r>
              <a:rPr lang="en-GB" b="1" dirty="0"/>
              <a:t>What would the </a:t>
            </a:r>
            <a:r>
              <a:rPr lang="en-GB" b="1" dirty="0" err="1"/>
              <a:t>RegEx</a:t>
            </a:r>
            <a:r>
              <a:rPr lang="en-GB" b="1" dirty="0"/>
              <a:t> look like if we wanted to recognize a signed float literal then?</a:t>
            </a:r>
          </a:p>
          <a:p>
            <a:pPr marL="0" indent="0">
              <a:buNone/>
            </a:pPr>
            <a:r>
              <a:rPr lang="en-GB" dirty="0"/>
              <a:t>Valid: 0, 0.0, 7, -7, -4.25, +7.32, 147.687000, etc.</a:t>
            </a:r>
          </a:p>
          <a:p>
            <a:pPr marL="0" indent="0">
              <a:buNone/>
            </a:pPr>
            <a:r>
              <a:rPr lang="en-GB" dirty="0"/>
              <a:t>Invalid: 1.2.3, 03.14, 34t.023, 2.4f7, etc.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64279809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B84FF-F706-D3E8-C649-1A8A9C4D7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Practice: Recognizing more types of literals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FA23DB-2026-F938-2B1A-401CADD258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Possible </a:t>
            </a:r>
            <a:r>
              <a:rPr lang="en-GB" dirty="0" err="1"/>
              <a:t>RegEx</a:t>
            </a:r>
            <a:r>
              <a:rPr lang="en-GB" dirty="0"/>
              <a:t> for unsigned integer literals:</a:t>
            </a:r>
          </a:p>
          <a:p>
            <a:pPr marL="0" indent="0">
              <a:buNone/>
            </a:pPr>
            <a:endParaRPr lang="en-GB" dirty="0"/>
          </a:p>
          <a:p>
            <a:pPr marL="0" indent="0" algn="ctr">
              <a:buNone/>
            </a:pPr>
            <a:r>
              <a:rPr lang="en-GB" i="1" dirty="0">
                <a:solidFill>
                  <a:srgbClr val="7030A0"/>
                </a:solidFill>
              </a:rPr>
              <a:t>“^(0|[1-9][0-9]*)$”   </a:t>
            </a:r>
            <a:r>
              <a:rPr lang="en-GB" i="1" dirty="0"/>
              <a:t>or</a:t>
            </a:r>
            <a:r>
              <a:rPr lang="en-GB" i="1" dirty="0">
                <a:solidFill>
                  <a:srgbClr val="7030A0"/>
                </a:solidFill>
              </a:rPr>
              <a:t>   “^(0|[1-9]\\d*)$”</a:t>
            </a:r>
          </a:p>
          <a:p>
            <a:pPr marL="0" indent="0" algn="ctr">
              <a:buNone/>
            </a:pPr>
            <a:endParaRPr lang="en-GB" i="1" dirty="0">
              <a:solidFill>
                <a:srgbClr val="7030A0"/>
              </a:solidFill>
            </a:endParaRPr>
          </a:p>
          <a:p>
            <a:pPr marL="0" indent="0">
              <a:buNone/>
            </a:pPr>
            <a:r>
              <a:rPr lang="en-GB" b="1" dirty="0"/>
              <a:t>What would the </a:t>
            </a:r>
            <a:r>
              <a:rPr lang="en-GB" b="1" dirty="0" err="1"/>
              <a:t>RegEx</a:t>
            </a:r>
            <a:r>
              <a:rPr lang="en-GB" b="1" dirty="0"/>
              <a:t> look like if we wanted to recognize a signed float literal then?</a:t>
            </a:r>
          </a:p>
          <a:p>
            <a:pPr marL="0" indent="0">
              <a:buNone/>
            </a:pPr>
            <a:endParaRPr lang="en-GB" b="1" dirty="0"/>
          </a:p>
          <a:p>
            <a:pPr marL="0" indent="0" algn="ctr">
              <a:buNone/>
            </a:pPr>
            <a:r>
              <a:rPr lang="en-GB" i="1" dirty="0">
                <a:solidFill>
                  <a:srgbClr val="7030A0"/>
                </a:solidFill>
              </a:rPr>
              <a:t>“^[-\\+]?((0|[1-9]\\d*)(\\.\\d*)?)$”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78358918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B84FF-F706-D3E8-C649-1A8A9C4D7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Practice: Recognizing more types of literals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FA23DB-2026-F938-2B1A-401CADD258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Possible </a:t>
            </a:r>
            <a:r>
              <a:rPr lang="en-GB" dirty="0" err="1"/>
              <a:t>RegEx</a:t>
            </a:r>
            <a:r>
              <a:rPr lang="en-GB" dirty="0"/>
              <a:t> for unsigned integer literals:</a:t>
            </a:r>
          </a:p>
          <a:p>
            <a:pPr marL="0" indent="0">
              <a:buNone/>
            </a:pPr>
            <a:endParaRPr lang="en-GB" dirty="0"/>
          </a:p>
          <a:p>
            <a:pPr marL="0" indent="0" algn="ctr">
              <a:buNone/>
            </a:pPr>
            <a:r>
              <a:rPr lang="en-GB" i="1" dirty="0">
                <a:solidFill>
                  <a:srgbClr val="7030A0"/>
                </a:solidFill>
              </a:rPr>
              <a:t>“^(0|[1-9][0-9]*)$”   </a:t>
            </a:r>
            <a:r>
              <a:rPr lang="en-GB" i="1" dirty="0"/>
              <a:t>or</a:t>
            </a:r>
            <a:r>
              <a:rPr lang="en-GB" i="1" dirty="0">
                <a:solidFill>
                  <a:srgbClr val="7030A0"/>
                </a:solidFill>
              </a:rPr>
              <a:t>   “^(0|[1-9]\\d*)$”</a:t>
            </a:r>
          </a:p>
          <a:p>
            <a:pPr marL="0" indent="0" algn="ctr">
              <a:buNone/>
            </a:pPr>
            <a:endParaRPr lang="en-GB" i="1" dirty="0">
              <a:solidFill>
                <a:srgbClr val="7030A0"/>
              </a:solidFill>
            </a:endParaRPr>
          </a:p>
          <a:p>
            <a:pPr marL="0" indent="0">
              <a:buNone/>
            </a:pPr>
            <a:r>
              <a:rPr lang="en-GB" b="1" dirty="0"/>
              <a:t>What would the </a:t>
            </a:r>
            <a:r>
              <a:rPr lang="en-GB" b="1" dirty="0" err="1"/>
              <a:t>RegEx</a:t>
            </a:r>
            <a:r>
              <a:rPr lang="en-GB" b="1" dirty="0"/>
              <a:t> look like if we wanted to recognize a signed float literal then?</a:t>
            </a:r>
          </a:p>
          <a:p>
            <a:pPr marL="0" indent="0">
              <a:buNone/>
            </a:pPr>
            <a:r>
              <a:rPr lang="en-GB" b="1" dirty="0">
                <a:sym typeface="Wingdings" panose="05000000000000000000" pitchFamily="2" charset="2"/>
              </a:rPr>
              <a:t> </a:t>
            </a:r>
            <a:r>
              <a:rPr lang="en-GB" b="1" dirty="0"/>
              <a:t>But what about exponential notations for signed float literals,</a:t>
            </a:r>
            <a:br>
              <a:rPr lang="en-GB" b="1" dirty="0"/>
            </a:br>
            <a:r>
              <a:rPr lang="en-GB" b="1" dirty="0"/>
              <a:t>e.g. 1e+5, 0.25e-17, .25, etc.?</a:t>
            </a:r>
          </a:p>
          <a:p>
            <a:pPr marL="0" indent="0">
              <a:buNone/>
            </a:pPr>
            <a:r>
              <a:rPr lang="en-SG" i="1" dirty="0"/>
              <a:t>(Answer not provided, leaving it as a challenge!)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309365886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F0B81-D387-C7BF-C5F1-15AF244B0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Additional information in Tokens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0D450B-C201-FDB7-239F-6DE0626BCB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On top of the Token Type and lexeme, additional attributes could be added to the Token object, for instance:</a:t>
            </a:r>
          </a:p>
          <a:p>
            <a:r>
              <a:rPr lang="en-GB" dirty="0"/>
              <a:t>The line number (which can be tracked by counting the number of \n that have been scanned during the splitting)</a:t>
            </a:r>
          </a:p>
          <a:p>
            <a:r>
              <a:rPr lang="en-GB" dirty="0"/>
              <a:t>A positional index (indicating that the lexeme starts on position 7 of line 2, for instance).</a:t>
            </a:r>
            <a:endParaRPr lang="en-S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7B16A38-9679-B6EE-93D4-F75C06DC85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2" y="2980776"/>
            <a:ext cx="5747288" cy="2175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804898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F0B81-D387-C7BF-C5F1-15AF244B0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Additional information in Tokens, and Errors!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0D450B-C201-FDB7-239F-6DE0626BCB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421923" cy="5032375"/>
          </a:xfrm>
        </p:spPr>
        <p:txBody>
          <a:bodyPr>
            <a:normAutofit/>
          </a:bodyPr>
          <a:lstStyle/>
          <a:p>
            <a:r>
              <a:rPr lang="en-GB" dirty="0"/>
              <a:t>This additional information could typically be used when a certain type of problematic token (e.g. invalid decimal literals) is recognized. Use it to produce a more specific error message.</a:t>
            </a:r>
          </a:p>
          <a:p>
            <a:r>
              <a:rPr lang="en-GB" dirty="0"/>
              <a:t>Python does that well, indicates the line at which the error occurred and – on the latest Python versions – might even indicate the location of the error using a ^ symbol.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7B16A38-9679-B6EE-93D4-F75C06DC85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2" y="2980776"/>
            <a:ext cx="5747288" cy="2175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703309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F0B81-D387-C7BF-C5F1-15AF244B0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Additional information in Tokens, and Errors!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0D450B-C201-FDB7-239F-6DE0626BCB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421923" cy="5032375"/>
          </a:xfrm>
        </p:spPr>
        <p:txBody>
          <a:bodyPr>
            <a:normAutofit lnSpcReduction="10000"/>
          </a:bodyPr>
          <a:lstStyle/>
          <a:p>
            <a:r>
              <a:rPr lang="en-GB" dirty="0"/>
              <a:t>These Error messages may in turn require more </a:t>
            </a:r>
            <a:r>
              <a:rPr lang="en-GB" dirty="0" err="1"/>
              <a:t>RegEx</a:t>
            </a:r>
            <a:r>
              <a:rPr lang="en-GB" dirty="0"/>
              <a:t> to recognize typical errors</a:t>
            </a:r>
            <a:r>
              <a:rPr lang="en-SG" dirty="0"/>
              <a:t>.</a:t>
            </a:r>
          </a:p>
          <a:p>
            <a:r>
              <a:rPr lang="en-SG" dirty="0"/>
              <a:t>E.g. here, we are trying to add a decimal variable (x), with a literal reading as 10followedbyletters.</a:t>
            </a:r>
          </a:p>
          <a:p>
            <a:r>
              <a:rPr lang="en-SG" dirty="0"/>
              <a:t>This 10followedbyletters lexeme violates the </a:t>
            </a:r>
            <a:r>
              <a:rPr lang="en-SG" dirty="0" err="1"/>
              <a:t>RegEx</a:t>
            </a:r>
            <a:r>
              <a:rPr lang="en-SG" dirty="0"/>
              <a:t> defined for int and float literals and gets caught. </a:t>
            </a:r>
          </a:p>
          <a:p>
            <a:r>
              <a:rPr lang="en-SG" dirty="0"/>
              <a:t>The error message then displays an explicit message instead of a generic one.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7B16A38-9679-B6EE-93D4-F75C06DC85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2" y="2980776"/>
            <a:ext cx="5747288" cy="2175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28973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F0B81-D387-C7BF-C5F1-15AF244B0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Additional information in Tokens, and Errors!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0D450B-C201-FDB7-239F-6DE0626BCB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421923" cy="5032375"/>
          </a:xfrm>
        </p:spPr>
        <p:txBody>
          <a:bodyPr>
            <a:normAutofit/>
          </a:bodyPr>
          <a:lstStyle/>
          <a:p>
            <a:r>
              <a:rPr lang="en-GB" dirty="0"/>
              <a:t>For instance, </a:t>
            </a:r>
            <a:r>
              <a:rPr lang="en-GB" dirty="0" err="1"/>
              <a:t>RegEx</a:t>
            </a:r>
            <a:r>
              <a:rPr lang="en-GB" dirty="0"/>
              <a:t> for an invalid decimal literal that starts with at least one digit and is then followed by at least one non-digit character is defined as:</a:t>
            </a:r>
          </a:p>
          <a:p>
            <a:pPr marL="0" indent="0" algn="ctr">
              <a:buNone/>
            </a:pPr>
            <a:r>
              <a:rPr lang="en-GB" b="1" dirty="0">
                <a:solidFill>
                  <a:srgbClr val="7030A0"/>
                </a:solidFill>
              </a:rPr>
              <a:t>“^[0-9]+[^</a:t>
            </a:r>
            <a:r>
              <a:rPr lang="en-GB" b="1">
                <a:solidFill>
                  <a:srgbClr val="7030A0"/>
                </a:solidFill>
              </a:rPr>
              <a:t>0-9].*”</a:t>
            </a:r>
            <a:endParaRPr lang="en-GB" b="1" dirty="0">
              <a:solidFill>
                <a:srgbClr val="7030A0"/>
              </a:solidFill>
            </a:endParaRPr>
          </a:p>
          <a:p>
            <a:endParaRPr lang="en-GB" dirty="0"/>
          </a:p>
          <a:p>
            <a:r>
              <a:rPr lang="en-GB" dirty="0"/>
              <a:t>Extra: How about one that can catch “00123” as an invalid int?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7B16A38-9679-B6EE-93D4-F75C06DC85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2" y="2980776"/>
            <a:ext cx="5747288" cy="2175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268696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F0B81-D387-C7BF-C5F1-15AF244B0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Additional information in Tokens, and Errors!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0D450B-C201-FDB7-239F-6DE0626BCB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42192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Note: </a:t>
            </a:r>
            <a:r>
              <a:rPr lang="en-GB" dirty="0"/>
              <a:t>In some simple cases, this type of simple and predictable errors can be caught during tokenization.</a:t>
            </a:r>
          </a:p>
          <a:p>
            <a:pPr marL="0" indent="0">
              <a:buNone/>
            </a:pPr>
            <a:r>
              <a:rPr lang="en-GB" dirty="0"/>
              <a:t>And error messages can then be implemented during Tokenization. 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i="1" dirty="0"/>
              <a:t>(Not shown, leaving it as a challenge for students to come up with </a:t>
            </a:r>
            <a:r>
              <a:rPr lang="en-GB" i="1" dirty="0" err="1"/>
              <a:t>RegEx</a:t>
            </a:r>
            <a:r>
              <a:rPr lang="en-GB" i="1" dirty="0"/>
              <a:t> capable of catching common errors!)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7B16A38-9679-B6EE-93D4-F75C06DC85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2" y="2980776"/>
            <a:ext cx="5747288" cy="2175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948598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723EF-56B8-4C1C-9BA0-271237D86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Conclusion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80C83-C934-5699-D703-63ADBD7434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Let us call it a day for now. On the next lecture,</a:t>
            </a:r>
          </a:p>
          <a:p>
            <a:r>
              <a:rPr lang="en-SG" dirty="0"/>
              <a:t>Conflict resolution in the case of ambiguous tokens that could be classified as more than one type.</a:t>
            </a:r>
          </a:p>
          <a:p>
            <a:r>
              <a:rPr lang="en-SG" dirty="0"/>
              <a:t>Relaxing the hypothesis that all elements/lexemes in the code are nicely separated with whitespaces or \n symbols.</a:t>
            </a:r>
          </a:p>
          <a:p>
            <a:r>
              <a:rPr lang="en-SG" dirty="0"/>
              <a:t>Error handling in the case of incorrect and unknown lexemes.</a:t>
            </a:r>
          </a:p>
          <a:p>
            <a:r>
              <a:rPr lang="en-SG" dirty="0"/>
              <a:t>Recognizing and discarding comments from the source code.</a:t>
            </a:r>
          </a:p>
          <a:p>
            <a:r>
              <a:rPr lang="en-SG" dirty="0"/>
              <a:t>And more (e.g. pre-processing operations, </a:t>
            </a:r>
            <a:r>
              <a:rPr lang="en-SG"/>
              <a:t>such include, define, etc.)</a:t>
            </a:r>
            <a:endParaRPr lang="en-SG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946554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8A45D-5E7D-ADD7-164B-328A152B3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E398D8-3B3B-9BBB-F0C4-A93A76CBF1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What is the primary purpose of tokenization in compilers?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Parsing source code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Converting source code to machine code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Breaking source code into meaningful elements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Optimizing source code for performance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54061927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8A45D-5E7D-ADD7-164B-328A152B3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E398D8-3B3B-9BBB-F0C4-A93A76CBF1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What is the primary purpose of tokenization in compilers?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Parsing source code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Converting source code to machine code</a:t>
            </a:r>
          </a:p>
          <a:p>
            <a:pPr marL="514350" indent="-514350">
              <a:buFont typeface="+mj-lt"/>
              <a:buAutoNum type="alphaUcPeriod"/>
            </a:pPr>
            <a:r>
              <a:rPr lang="en-GB" b="1" dirty="0">
                <a:solidFill>
                  <a:srgbClr val="00B050"/>
                </a:solidFill>
              </a:rPr>
              <a:t>Breaking source code into meaningful elements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Optimizing source code for performance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55406837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8A45D-5E7D-ADD7-164B-328A152B3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E398D8-3B3B-9BBB-F0C4-A93A76CBF1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Which of the following is NOT a typical step in tokenization?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Reading source code from a file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Identifying lexemes in the source code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Classifying tokens by type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Checking that each opening parenthesis is matching a closing parenthesis</a:t>
            </a:r>
          </a:p>
        </p:txBody>
      </p:sp>
    </p:spTree>
    <p:extLst>
      <p:ext uri="{BB962C8B-B14F-4D97-AF65-F5344CB8AC3E}">
        <p14:creationId xmlns:p14="http://schemas.microsoft.com/office/powerpoint/2010/main" val="302500280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8A45D-5E7D-ADD7-164B-328A152B3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E398D8-3B3B-9BBB-F0C4-A93A76CBF1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Which of the following is NOT a typical step in tokenization?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Reading source code from a file</a:t>
            </a:r>
          </a:p>
          <a:p>
            <a:pPr marL="514350" indent="-514350">
              <a:buFont typeface="+mj-lt"/>
              <a:buAutoNum type="alphaUcPeriod"/>
            </a:pPr>
            <a:r>
              <a:rPr lang="en-GB"/>
              <a:t>Identifying lexemes in the source code</a:t>
            </a:r>
          </a:p>
          <a:p>
            <a:pPr marL="514350" indent="-514350">
              <a:buFont typeface="+mj-lt"/>
              <a:buAutoNum type="alphaUcPeriod"/>
            </a:pPr>
            <a:r>
              <a:rPr lang="en-GB"/>
              <a:t>Classifying </a:t>
            </a:r>
            <a:r>
              <a:rPr lang="en-GB" dirty="0"/>
              <a:t>tokens by type</a:t>
            </a:r>
          </a:p>
          <a:p>
            <a:pPr marL="514350" indent="-514350">
              <a:buFont typeface="+mj-lt"/>
              <a:buAutoNum type="alphaUcPeriod"/>
            </a:pPr>
            <a:r>
              <a:rPr lang="en-GB" b="1" dirty="0">
                <a:solidFill>
                  <a:srgbClr val="00B050"/>
                </a:solidFill>
              </a:rPr>
              <a:t>Checking that each opening parenthesis is matching a closing parenthesis (that would be the job of the SYNTAX analysis/PARSER)</a:t>
            </a:r>
            <a:endParaRPr lang="en-SG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536550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8A45D-5E7D-ADD7-164B-328A152B3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E398D8-3B3B-9BBB-F0C4-A93A76CBF1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Which of the following is NOT a common token type in programming languages?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Keyword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Punctuation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Operator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Comment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Whitespace 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46620718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8A45D-5E7D-ADD7-164B-328A152B3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E398D8-3B3B-9BBB-F0C4-A93A76CBF1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Which of the following is NOT a common token type in programming languages?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Keyword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Punctuation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Operator</a:t>
            </a:r>
          </a:p>
          <a:p>
            <a:pPr marL="514350" indent="-514350">
              <a:buFont typeface="+mj-lt"/>
              <a:buAutoNum type="alphaUcPeriod"/>
            </a:pPr>
            <a:r>
              <a:rPr lang="en-GB" b="1" dirty="0">
                <a:solidFill>
                  <a:srgbClr val="00B050"/>
                </a:solidFill>
              </a:rPr>
              <a:t>Comment (We will not even bother writing tokens for code that has been commented!)</a:t>
            </a:r>
          </a:p>
          <a:p>
            <a:pPr marL="514350" indent="-514350">
              <a:buFont typeface="+mj-lt"/>
              <a:buAutoNum type="alphaUcPeriod"/>
            </a:pPr>
            <a:r>
              <a:rPr lang="en-GB" b="1" dirty="0">
                <a:solidFill>
                  <a:schemeClr val="accent2"/>
                </a:solidFill>
              </a:rPr>
              <a:t>Whitespaces (?)</a:t>
            </a:r>
          </a:p>
        </p:txBody>
      </p:sp>
    </p:spTree>
    <p:extLst>
      <p:ext uri="{BB962C8B-B14F-4D97-AF65-F5344CB8AC3E}">
        <p14:creationId xmlns:p14="http://schemas.microsoft.com/office/powerpoint/2010/main" val="23675230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8A45D-5E7D-ADD7-164B-328A152B3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E398D8-3B3B-9BBB-F0C4-A93A76CBF1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Which of the following is NOT a common token type in programming languages?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Keyword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Punctuation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Operator</a:t>
            </a:r>
          </a:p>
          <a:p>
            <a:pPr marL="514350" indent="-514350">
              <a:buFont typeface="+mj-lt"/>
              <a:buAutoNum type="alphaUcPeriod"/>
            </a:pPr>
            <a:r>
              <a:rPr lang="en-GB" b="1" dirty="0">
                <a:solidFill>
                  <a:srgbClr val="00B050"/>
                </a:solidFill>
              </a:rPr>
              <a:t>Comment (We will not even bother writing tokens for code that has been commented!)</a:t>
            </a:r>
          </a:p>
          <a:p>
            <a:pPr marL="514350" indent="-514350">
              <a:buFont typeface="+mj-lt"/>
              <a:buAutoNum type="alphaUcPeriod"/>
            </a:pPr>
            <a:r>
              <a:rPr lang="en-GB" b="1" dirty="0">
                <a:solidFill>
                  <a:schemeClr val="accent2"/>
                </a:solidFill>
              </a:rPr>
              <a:t>Whitespace (We usually discard them, unless the language is Python, as they </a:t>
            </a:r>
            <a:r>
              <a:rPr lang="en-GB" b="1">
                <a:solidFill>
                  <a:schemeClr val="accent2"/>
                </a:solidFill>
              </a:rPr>
              <a:t>could be used </a:t>
            </a:r>
            <a:r>
              <a:rPr lang="en-GB" b="1" dirty="0">
                <a:solidFill>
                  <a:schemeClr val="accent2"/>
                </a:solidFill>
              </a:rPr>
              <a:t>for indentation?)</a:t>
            </a:r>
            <a:endParaRPr lang="en-SG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113755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32CAE-C072-3422-F222-D598990D8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If time allows, let us define our Tokenizer v1.0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807926-5A85-2B0A-E0A9-3D6A993803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Assemble all concepts from earlier to produce a Tokenizer v1.0, which:</a:t>
            </a:r>
          </a:p>
          <a:p>
            <a:r>
              <a:rPr lang="en-GB" dirty="0"/>
              <a:t>Will receive a string “</a:t>
            </a:r>
            <a:r>
              <a:rPr lang="en-GB" dirty="0" err="1"/>
              <a:t>source.c</a:t>
            </a:r>
            <a:r>
              <a:rPr lang="en-GB" dirty="0"/>
              <a:t>” to indicate the name of the file to be tokenized.</a:t>
            </a:r>
          </a:p>
          <a:p>
            <a:r>
              <a:rPr lang="en-GB" dirty="0"/>
              <a:t>Will read the code from the file and split it into lexemes assuming whitespaces and \n are used to separate all lexemes in code.</a:t>
            </a:r>
          </a:p>
          <a:p>
            <a:r>
              <a:rPr lang="en-SG" dirty="0"/>
              <a:t>Will classify the lexemes, one at a time, and </a:t>
            </a:r>
            <a:r>
              <a:rPr lang="en-SG"/>
              <a:t>will create </a:t>
            </a:r>
            <a:r>
              <a:rPr lang="en-SG" dirty="0"/>
              <a:t>a Token struct for each lexeme, which will contain:</a:t>
            </a:r>
          </a:p>
          <a:p>
            <a:pPr lvl="1"/>
            <a:r>
              <a:rPr lang="en-SG" dirty="0"/>
              <a:t>The </a:t>
            </a:r>
            <a:r>
              <a:rPr lang="en-SG" dirty="0" err="1"/>
              <a:t>TokenType</a:t>
            </a:r>
            <a:r>
              <a:rPr lang="en-SG" dirty="0"/>
              <a:t>,</a:t>
            </a:r>
          </a:p>
          <a:p>
            <a:pPr lvl="1"/>
            <a:r>
              <a:rPr lang="en-SG" dirty="0"/>
              <a:t>The lexeme.</a:t>
            </a:r>
          </a:p>
          <a:p>
            <a:r>
              <a:rPr lang="en-SG" dirty="0"/>
              <a:t>Eventually, will assemble all Token structs in an array of structs, which we are going to call our </a:t>
            </a:r>
            <a:r>
              <a:rPr lang="en-SG" b="1" dirty="0"/>
              <a:t>Tokens Stream</a:t>
            </a:r>
            <a:r>
              <a:rPr lang="en-SG" dirty="0"/>
              <a:t>, and is the output of the Tokenization task.</a:t>
            </a:r>
          </a:p>
        </p:txBody>
      </p:sp>
    </p:spTree>
    <p:extLst>
      <p:ext uri="{BB962C8B-B14F-4D97-AF65-F5344CB8AC3E}">
        <p14:creationId xmlns:p14="http://schemas.microsoft.com/office/powerpoint/2010/main" val="265589566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32CAE-C072-3422-F222-D598990D8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Then: Tokenizer 1.</a:t>
            </a:r>
            <a:r>
              <a:rPr lang="en-GB" dirty="0">
                <a:solidFill>
                  <a:srgbClr val="7030A0"/>
                </a:solidFill>
              </a:rPr>
              <a:t>0</a:t>
            </a:r>
            <a:r>
              <a:rPr lang="en-GB" dirty="0"/>
              <a:t> </a:t>
            </a:r>
            <a:r>
              <a:rPr lang="en-GB" dirty="0">
                <a:sym typeface="Wingdings" panose="05000000000000000000" pitchFamily="2" charset="2"/>
              </a:rPr>
              <a:t> </a:t>
            </a:r>
            <a:r>
              <a:rPr lang="en-GB" dirty="0"/>
              <a:t>Tokenizer v1.</a:t>
            </a:r>
            <a:r>
              <a:rPr lang="en-GB" dirty="0">
                <a:solidFill>
                  <a:srgbClr val="7030A0"/>
                </a:solidFill>
              </a:rPr>
              <a:t>1</a:t>
            </a:r>
            <a:endParaRPr lang="en-SG" dirty="0">
              <a:solidFill>
                <a:srgbClr val="7030A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807926-5A85-2B0A-E0A9-3D6A993803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Additional features of Tokenizer v1.1 (for extra challenge):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The Tokenizer should now use more token types.</a:t>
            </a:r>
          </a:p>
          <a:p>
            <a:pPr marL="971550" lvl="1" indent="-514350">
              <a:buFont typeface="+mj-lt"/>
              <a:buAutoNum type="alphaLcPeriod"/>
            </a:pPr>
            <a:r>
              <a:rPr lang="en-GB" dirty="0"/>
              <a:t>Instead of having a single TOKEN_KEYWORD, it should have more Token types for keywords, such as TOKEN_KEYWORD_WHILE, TOKEN_KEYWORD_IF, etc.</a:t>
            </a:r>
          </a:p>
          <a:p>
            <a:pPr marL="971550" lvl="1" indent="-514350">
              <a:buFont typeface="+mj-lt"/>
              <a:buAutoNum type="alphaLcPeriod"/>
            </a:pPr>
            <a:r>
              <a:rPr lang="en-GB" dirty="0"/>
              <a:t>Instead of a single TOKEN_OPERATOR, it should have TOKEN_OPERATOR_ADD, TOKEN_OPERATOR_MUL, etc.</a:t>
            </a:r>
          </a:p>
          <a:p>
            <a:pPr marL="971550" lvl="1" indent="-514350">
              <a:buFont typeface="+mj-lt"/>
              <a:buAutoNum type="alphaLcPeriod"/>
            </a:pPr>
            <a:r>
              <a:rPr lang="en-GB" dirty="0"/>
              <a:t>Instead of a single TOKEN_PUNCTUATION, it should have TOKEN_PUNCT_OPENPAR, TOKEN_PUNCT_SEMICOLON, etc.</a:t>
            </a:r>
          </a:p>
          <a:p>
            <a:pPr marL="971550" lvl="1" indent="-514350">
              <a:buFont typeface="+mj-lt"/>
              <a:buAutoNum type="alphaLcPeriod"/>
            </a:pPr>
            <a:r>
              <a:rPr lang="en-GB" dirty="0"/>
              <a:t>Instead of a single TOKEN_LITERAL, it should have several possible types of literals such as TOKEN_LITERAL_INT, TOKEN_LITERAL_FLOAT, TOKEN_LITERAL_CHAR, TOKEN_LITERAL_STRING.</a:t>
            </a:r>
          </a:p>
          <a:p>
            <a:pPr marL="971550" lvl="1" indent="-514350">
              <a:buFont typeface="+mj-lt"/>
              <a:buAutoNum type="alphaLcPeriod"/>
            </a:pPr>
            <a:r>
              <a:rPr lang="en-GB" dirty="0"/>
              <a:t>This last part will probably require to come up with additional functions and </a:t>
            </a:r>
            <a:r>
              <a:rPr lang="en-GB" dirty="0" err="1"/>
              <a:t>RegEx</a:t>
            </a:r>
            <a:r>
              <a:rPr lang="en-GB" dirty="0"/>
              <a:t> to recognize new types such </a:t>
            </a:r>
            <a:r>
              <a:rPr lang="en-GB"/>
              <a:t>as floats, chars and strings.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2744302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32CAE-C072-3422-F222-D598990D8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Challenge: Tokenizer 1.</a:t>
            </a:r>
            <a:r>
              <a:rPr lang="en-GB" dirty="0">
                <a:solidFill>
                  <a:srgbClr val="7030A0"/>
                </a:solidFill>
              </a:rPr>
              <a:t>1</a:t>
            </a:r>
            <a:r>
              <a:rPr lang="en-GB" dirty="0"/>
              <a:t> </a:t>
            </a:r>
            <a:r>
              <a:rPr lang="en-GB" dirty="0">
                <a:sym typeface="Wingdings" panose="05000000000000000000" pitchFamily="2" charset="2"/>
              </a:rPr>
              <a:t> </a:t>
            </a:r>
            <a:r>
              <a:rPr lang="en-GB" dirty="0"/>
              <a:t>Tokenizer v1.</a:t>
            </a:r>
            <a:r>
              <a:rPr lang="en-GB" dirty="0">
                <a:solidFill>
                  <a:srgbClr val="7030A0"/>
                </a:solidFill>
              </a:rPr>
              <a:t>2</a:t>
            </a:r>
            <a:endParaRPr lang="en-SG" dirty="0">
              <a:solidFill>
                <a:srgbClr val="7030A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807926-5A85-2B0A-E0A9-3D6A993803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Additional features of Tokenizer v1.2 (for extra challenge):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The Token struct should now include a third attribute, of type int, corresponding to the line index on which the lexeme was found in the source code.</a:t>
            </a:r>
          </a:p>
          <a:p>
            <a:pPr marL="971550" lvl="1" indent="-514350">
              <a:buFont typeface="+mj-lt"/>
              <a:buAutoNum type="alphaLcPeriod"/>
            </a:pPr>
            <a:r>
              <a:rPr lang="en-GB" dirty="0"/>
              <a:t>This will require to rework the string splitting part a bit and using a counter to keep track of the line index at which each lexeme was found.</a:t>
            </a:r>
          </a:p>
          <a:p>
            <a:pPr marL="971550" lvl="1" indent="-514350">
              <a:buFont typeface="+mj-lt"/>
              <a:buAutoNum type="alphaLcPeriod"/>
            </a:pPr>
            <a:r>
              <a:rPr lang="en-GB" dirty="0"/>
              <a:t>Later on, we will also rework the Token struct definition as well as the constructor and destructor functions to include the </a:t>
            </a:r>
            <a:r>
              <a:rPr lang="en-GB" dirty="0" err="1"/>
              <a:t>line_number</a:t>
            </a:r>
            <a:r>
              <a:rPr lang="en-GB" dirty="0"/>
              <a:t> attribute.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Along with the stream of tokens the Tokenizer 1.0 should return a bool with value True if no Tokens of types UNKNOWN appear in the Tokens Stream; and False otherwise.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If a Token of type UNKNOWN appears, there should be an error message showing the problematic lexeme and the line index at which it appears in the source code.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6948740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2004</TotalTime>
  <Words>4823</Words>
  <Application>Microsoft Office PowerPoint</Application>
  <PresentationFormat>Widescreen</PresentationFormat>
  <Paragraphs>392</Paragraphs>
  <Slides>75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80" baseType="lpstr">
      <vt:lpstr>Arial</vt:lpstr>
      <vt:lpstr>Calibri</vt:lpstr>
      <vt:lpstr>Calibri Light</vt:lpstr>
      <vt:lpstr>Wingdings</vt:lpstr>
      <vt:lpstr>Office Theme</vt:lpstr>
      <vt:lpstr>50.051 Programming Language Concepts  W6-S3 Lexical Analysis and Tokenization (Part 1)</vt:lpstr>
      <vt:lpstr>The front-end of a compiler</vt:lpstr>
      <vt:lpstr>Lexical Analysis</vt:lpstr>
      <vt:lpstr>Lexical Analysis</vt:lpstr>
      <vt:lpstr>Lexical Analysis</vt:lpstr>
      <vt:lpstr>Lexical Analysis</vt:lpstr>
      <vt:lpstr>Lexical Analysis</vt:lpstr>
      <vt:lpstr>Lexical Analysis</vt:lpstr>
      <vt:lpstr>Steps for Lexical Analysis</vt:lpstr>
      <vt:lpstr>First assumptions for our tokenizer</vt:lpstr>
      <vt:lpstr>Scanning the source code, step by step</vt:lpstr>
      <vt:lpstr>PowerPoint Presentation</vt:lpstr>
      <vt:lpstr>PowerPoint Presentation</vt:lpstr>
      <vt:lpstr>PowerPoint Presentation</vt:lpstr>
      <vt:lpstr>Defining a token object</vt:lpstr>
      <vt:lpstr>Defining a token object</vt:lpstr>
      <vt:lpstr>PowerPoint Presentation</vt:lpstr>
      <vt:lpstr>Defining a token object</vt:lpstr>
      <vt:lpstr>PowerPoint Presentation</vt:lpstr>
      <vt:lpstr>Using the Token object</vt:lpstr>
      <vt:lpstr>PowerPoint Presentation</vt:lpstr>
      <vt:lpstr>Recognizing Token Types for given Lexemes</vt:lpstr>
      <vt:lpstr>Recognizing Token Types for given Lexemes</vt:lpstr>
      <vt:lpstr>Recognizing Token Types for given Lexemes</vt:lpstr>
      <vt:lpstr>PowerPoint Presentation</vt:lpstr>
      <vt:lpstr>Recognizing keywords using strcmp</vt:lpstr>
      <vt:lpstr>PowerPoint Presentation</vt:lpstr>
      <vt:lpstr>Strcmp vs. RegEx</vt:lpstr>
      <vt:lpstr>PowerPoint Presentation</vt:lpstr>
      <vt:lpstr>PowerPoint Presentation</vt:lpstr>
      <vt:lpstr>Our first Tokenizer</vt:lpstr>
      <vt:lpstr>Our first Tokenizer</vt:lpstr>
      <vt:lpstr>PowerPoint Presentation</vt:lpstr>
      <vt:lpstr>Recognizing Punctuation</vt:lpstr>
      <vt:lpstr>Recognizing Punctuation</vt:lpstr>
      <vt:lpstr>PowerPoint Presentation</vt:lpstr>
      <vt:lpstr>Quick question, why do we need ; anyway?</vt:lpstr>
      <vt:lpstr>Quick question, why do we need ; anyway?</vt:lpstr>
      <vt:lpstr>Quick question, why do we need ; anyway?</vt:lpstr>
      <vt:lpstr>Recognizing additional punctuation/operators</vt:lpstr>
      <vt:lpstr>Back to our additional punctuation/operators</vt:lpstr>
      <vt:lpstr>Back to our additional punctuation/operators</vt:lpstr>
      <vt:lpstr>PowerPoint Presentation</vt:lpstr>
      <vt:lpstr>Recognizing identifiers</vt:lpstr>
      <vt:lpstr>Recognizing identifiers</vt:lpstr>
      <vt:lpstr>Recognizing identifiers</vt:lpstr>
      <vt:lpstr>Quick note on \\w and \w in RegEx</vt:lpstr>
      <vt:lpstr>PowerPoint Presentation</vt:lpstr>
      <vt:lpstr>PowerPoint Presentation</vt:lpstr>
      <vt:lpstr>PowerPoint Presentation</vt:lpstr>
      <vt:lpstr>Recognizing literals</vt:lpstr>
      <vt:lpstr>Recognizing integer literals</vt:lpstr>
      <vt:lpstr>Recognizing unsigned integer literals</vt:lpstr>
      <vt:lpstr>PowerPoint Presentation</vt:lpstr>
      <vt:lpstr>PowerPoint Presentation</vt:lpstr>
      <vt:lpstr>PowerPoint Presentation</vt:lpstr>
      <vt:lpstr>Practice: Recognizing more types of literals</vt:lpstr>
      <vt:lpstr>Practice: Recognizing more types of literals</vt:lpstr>
      <vt:lpstr>Practice: Recognizing more types of literals</vt:lpstr>
      <vt:lpstr>Additional information in Tokens</vt:lpstr>
      <vt:lpstr>Additional information in Tokens, and Errors!</vt:lpstr>
      <vt:lpstr>Additional information in Tokens, and Errors!</vt:lpstr>
      <vt:lpstr>Additional information in Tokens, and Errors!</vt:lpstr>
      <vt:lpstr>Additional information in Tokens, and Errors!</vt:lpstr>
      <vt:lpstr>Conclusion</vt:lpstr>
      <vt:lpstr>Quiz time!</vt:lpstr>
      <vt:lpstr>Quiz time!</vt:lpstr>
      <vt:lpstr>Quiz time!</vt:lpstr>
      <vt:lpstr>Quiz time!</vt:lpstr>
      <vt:lpstr>Quiz time!</vt:lpstr>
      <vt:lpstr>Quiz time!</vt:lpstr>
      <vt:lpstr>Quiz time!</vt:lpstr>
      <vt:lpstr>If time allows, let us define our Tokenizer v1.0</vt:lpstr>
      <vt:lpstr>Then: Tokenizer 1.0  Tokenizer v1.1</vt:lpstr>
      <vt:lpstr>Challenge: Tokenizer 1.1  Tokenizer v1.2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50.051 Programming Language Concepts  W1-S1 Introduction to Compilers and Course Outline</dc:title>
  <dc:creator>Matthieu DE MARI</dc:creator>
  <cp:lastModifiedBy>Matthieu De Mari</cp:lastModifiedBy>
  <cp:revision>1</cp:revision>
  <dcterms:created xsi:type="dcterms:W3CDTF">2023-03-02T06:54:24Z</dcterms:created>
  <dcterms:modified xsi:type="dcterms:W3CDTF">2026-03-05T04:45:33Z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fde23a9-9a05-4714-826f-57380a17bd9d_Enabled">
    <vt:lpwstr>true</vt:lpwstr>
  </property>
  <property fmtid="{D5CDD505-2E9C-101B-9397-08002B2CF9AE}" pid="3" name="MSIP_Label_7fde23a9-9a05-4714-826f-57380a17bd9d_SetDate">
    <vt:lpwstr>2023-03-02T06:54:28Z</vt:lpwstr>
  </property>
  <property fmtid="{D5CDD505-2E9C-101B-9397-08002B2CF9AE}" pid="4" name="MSIP_Label_7fde23a9-9a05-4714-826f-57380a17bd9d_Method">
    <vt:lpwstr>Privileged</vt:lpwstr>
  </property>
  <property fmtid="{D5CDD505-2E9C-101B-9397-08002B2CF9AE}" pid="5" name="MSIP_Label_7fde23a9-9a05-4714-826f-57380a17bd9d_Name">
    <vt:lpwstr>Restricted</vt:lpwstr>
  </property>
  <property fmtid="{D5CDD505-2E9C-101B-9397-08002B2CF9AE}" pid="6" name="MSIP_Label_7fde23a9-9a05-4714-826f-57380a17bd9d_SiteId">
    <vt:lpwstr>3476b776-e990-4f72-b950-62489831623d</vt:lpwstr>
  </property>
  <property fmtid="{D5CDD505-2E9C-101B-9397-08002B2CF9AE}" pid="7" name="MSIP_Label_7fde23a9-9a05-4714-826f-57380a17bd9d_ActionId">
    <vt:lpwstr>d53d049c-34cc-4ec9-a6d9-543a36f42364</vt:lpwstr>
  </property>
  <property fmtid="{D5CDD505-2E9C-101B-9397-08002B2CF9AE}" pid="8" name="MSIP_Label_7fde23a9-9a05-4714-826f-57380a17bd9d_ContentBits">
    <vt:lpwstr>3</vt:lpwstr>
  </property>
  <property fmtid="{D5CDD505-2E9C-101B-9397-08002B2CF9AE}" pid="9" name="ClassificationContentMarkingFooterLocations">
    <vt:lpwstr>Office Theme:10</vt:lpwstr>
  </property>
  <property fmtid="{D5CDD505-2E9C-101B-9397-08002B2CF9AE}" pid="10" name="ClassificationContentMarkingFooterText">
    <vt:lpwstr>Restricted</vt:lpwstr>
  </property>
  <property fmtid="{D5CDD505-2E9C-101B-9397-08002B2CF9AE}" pid="11" name="ClassificationContentMarkingHeaderLocations">
    <vt:lpwstr>Office Theme:9</vt:lpwstr>
  </property>
  <property fmtid="{D5CDD505-2E9C-101B-9397-08002B2CF9AE}" pid="12" name="ClassificationContentMarkingHeaderText">
    <vt:lpwstr>Restricted</vt:lpwstr>
  </property>
</Properties>
</file>