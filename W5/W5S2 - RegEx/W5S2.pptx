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377" r:id="rId2"/>
    <p:sldId id="378" r:id="rId3"/>
    <p:sldId id="425" r:id="rId4"/>
    <p:sldId id="423" r:id="rId5"/>
    <p:sldId id="424" r:id="rId6"/>
    <p:sldId id="379" r:id="rId7"/>
    <p:sldId id="426" r:id="rId8"/>
    <p:sldId id="427" r:id="rId9"/>
    <p:sldId id="429" r:id="rId10"/>
    <p:sldId id="428" r:id="rId11"/>
    <p:sldId id="380" r:id="rId12"/>
    <p:sldId id="452" r:id="rId13"/>
    <p:sldId id="430" r:id="rId14"/>
    <p:sldId id="431" r:id="rId15"/>
    <p:sldId id="433" r:id="rId16"/>
    <p:sldId id="382" r:id="rId17"/>
    <p:sldId id="434" r:id="rId18"/>
    <p:sldId id="487" r:id="rId19"/>
    <p:sldId id="484" r:id="rId20"/>
    <p:sldId id="437" r:id="rId21"/>
    <p:sldId id="381" r:id="rId22"/>
    <p:sldId id="453" r:id="rId23"/>
    <p:sldId id="454" r:id="rId24"/>
    <p:sldId id="486" r:id="rId25"/>
    <p:sldId id="488" r:id="rId26"/>
    <p:sldId id="438" r:id="rId27"/>
    <p:sldId id="440" r:id="rId28"/>
    <p:sldId id="383" r:id="rId29"/>
    <p:sldId id="491" r:id="rId30"/>
    <p:sldId id="490" r:id="rId31"/>
    <p:sldId id="489" r:id="rId32"/>
    <p:sldId id="492" r:id="rId33"/>
    <p:sldId id="496" r:id="rId34"/>
    <p:sldId id="463" r:id="rId35"/>
    <p:sldId id="497" r:id="rId36"/>
    <p:sldId id="495" r:id="rId37"/>
    <p:sldId id="494" r:id="rId38"/>
    <p:sldId id="457" r:id="rId39"/>
    <p:sldId id="458" r:id="rId40"/>
    <p:sldId id="384" r:id="rId41"/>
    <p:sldId id="441" r:id="rId42"/>
    <p:sldId id="443" r:id="rId43"/>
    <p:sldId id="444" r:id="rId44"/>
    <p:sldId id="445" r:id="rId45"/>
    <p:sldId id="449" r:id="rId46"/>
    <p:sldId id="448" r:id="rId47"/>
    <p:sldId id="450" r:id="rId48"/>
    <p:sldId id="451" r:id="rId49"/>
    <p:sldId id="459" r:id="rId50"/>
    <p:sldId id="460" r:id="rId51"/>
    <p:sldId id="461" r:id="rId52"/>
    <p:sldId id="462" r:id="rId53"/>
    <p:sldId id="465" r:id="rId54"/>
    <p:sldId id="466" r:id="rId55"/>
    <p:sldId id="467" r:id="rId56"/>
    <p:sldId id="468" r:id="rId57"/>
    <p:sldId id="469" r:id="rId58"/>
    <p:sldId id="478" r:id="rId59"/>
    <p:sldId id="471" r:id="rId60"/>
    <p:sldId id="472" r:id="rId61"/>
    <p:sldId id="385" r:id="rId62"/>
    <p:sldId id="477" r:id="rId63"/>
    <p:sldId id="476" r:id="rId64"/>
    <p:sldId id="479" r:id="rId65"/>
    <p:sldId id="464" r:id="rId66"/>
    <p:sldId id="473" r:id="rId67"/>
    <p:sldId id="483" r:id="rId68"/>
    <p:sldId id="481" r:id="rId69"/>
    <p:sldId id="48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Concept of RegEx" id="{ADBE3254-A48D-47F1-93ED-7D756E1BBA66}">
          <p14:sldIdLst>
            <p14:sldId id="378"/>
            <p14:sldId id="425"/>
            <p14:sldId id="423"/>
            <p14:sldId id="424"/>
          </p14:sldIdLst>
        </p14:section>
        <p14:section name="Most basic regex" id="{EEFA1E94-1F11-414F-8CB0-2EF8EC2CFE89}">
          <p14:sldIdLst>
            <p14:sldId id="379"/>
            <p14:sldId id="426"/>
            <p14:sldId id="427"/>
            <p14:sldId id="429"/>
            <p14:sldId id="428"/>
          </p14:sldIdLst>
        </p14:section>
        <p14:section name="The epsilon transition" id="{D5A44E45-5A92-46DD-A660-571189CDE5D8}">
          <p14:sldIdLst>
            <p14:sldId id="380"/>
            <p14:sldId id="452"/>
            <p14:sldId id="430"/>
            <p14:sldId id="431"/>
            <p14:sldId id="433"/>
          </p14:sldIdLst>
        </p14:section>
        <p14:section name="Concatenation ab and FSM representation" id="{8F0D7DE2-87C9-49B6-B04C-6B2DAB55D4AC}">
          <p14:sldIdLst>
            <p14:sldId id="382"/>
            <p14:sldId id="434"/>
            <p14:sldId id="487"/>
            <p14:sldId id="484"/>
            <p14:sldId id="437"/>
          </p14:sldIdLst>
        </p14:section>
        <p14:section name="Choice a|b and FSM representation" id="{DC6D7F2E-FA58-407E-9867-7BC0E83C65D0}">
          <p14:sldIdLst>
            <p14:sldId id="381"/>
            <p14:sldId id="453"/>
            <p14:sldId id="454"/>
            <p14:sldId id="486"/>
            <p14:sldId id="488"/>
            <p14:sldId id="438"/>
            <p14:sldId id="440"/>
          </p14:sldIdLst>
        </p14:section>
        <p14:section name="Closure a* and FSM representation" id="{CC18724A-1CA6-4087-AE36-7FEE503A2852}">
          <p14:sldIdLst>
            <p14:sldId id="383"/>
            <p14:sldId id="491"/>
            <p14:sldId id="490"/>
            <p14:sldId id="489"/>
            <p14:sldId id="492"/>
            <p14:sldId id="496"/>
          </p14:sldIdLst>
        </p14:section>
        <p14:section name="Begin and End matchers" id="{2D0BC775-19E2-4352-A57A-1FDDE2548BB5}">
          <p14:sldIdLst>
            <p14:sldId id="463"/>
            <p14:sldId id="497"/>
            <p14:sldId id="495"/>
            <p14:sldId id="494"/>
          </p14:sldIdLst>
        </p14:section>
        <p14:section name="Variations of Kleene" id="{DAED653F-06A5-4239-9F6D-702729D65EA1}">
          <p14:sldIdLst>
            <p14:sldId id="457"/>
            <p14:sldId id="458"/>
          </p14:sldIdLst>
        </p14:section>
        <p14:section name="Additional operations in RegEx" id="{389A6549-4601-43F0-8869-FA461D085F25}">
          <p14:sldIdLst>
            <p14:sldId id="384"/>
          </p14:sldIdLst>
        </p14:section>
        <p14:section name="First quiz break" id="{FD6A8573-0BB1-4179-BAF8-A4CDF6D15875}">
          <p14:sldIdLst>
            <p14:sldId id="441"/>
            <p14:sldId id="443"/>
            <p14:sldId id="444"/>
            <p14:sldId id="445"/>
            <p14:sldId id="449"/>
            <p14:sldId id="448"/>
            <p14:sldId id="450"/>
            <p14:sldId id="451"/>
          </p14:sldIdLst>
        </p14:section>
        <p14:section name="Grouping characters" id="{E010C06C-8EB6-4AF5-A118-89CD07F7336D}">
          <p14:sldIdLst>
            <p14:sldId id="459"/>
            <p14:sldId id="460"/>
            <p14:sldId id="461"/>
            <p14:sldId id="462"/>
          </p14:sldIdLst>
        </p14:section>
        <p14:section name="Second quiz break" id="{12E09B5A-0794-45B4-908A-073FA55375A6}">
          <p14:sldIdLst>
            <p14:sldId id="465"/>
            <p14:sldId id="466"/>
            <p14:sldId id="467"/>
            <p14:sldId id="468"/>
            <p14:sldId id="469"/>
            <p14:sldId id="478"/>
            <p14:sldId id="471"/>
            <p14:sldId id="472"/>
          </p14:sldIdLst>
        </p14:section>
        <p14:section name="The RegEx library in C" id="{B4708577-D3CD-44BC-9C18-79BCDD64F017}">
          <p14:sldIdLst>
            <p14:sldId id="385"/>
            <p14:sldId id="477"/>
            <p14:sldId id="476"/>
          </p14:sldIdLst>
        </p14:section>
        <p14:section name="More stuff, if curious" id="{CECEF240-2EC7-49D7-8AF6-3EF77C151A64}">
          <p14:sldIdLst>
            <p14:sldId id="479"/>
            <p14:sldId id="464"/>
            <p14:sldId id="473"/>
          </p14:sldIdLst>
        </p14:section>
        <p14:section name="Some extra practice on RegEx" id="{C3B0D168-DCE6-4709-BF67-965FE8B59FA6}">
          <p14:sldIdLst>
            <p14:sldId id="483"/>
            <p14:sldId id="481"/>
            <p14:sldId id="48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1CBE4F-CC71-4C63-997E-D1757BF8379E}" v="2" dt="2026-01-14T08:47:23.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78"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modSld">
      <pc:chgData name="Matthieu De Mari" userId="dfb708c9-d8dc-439f-9a3b-c772bf4a311c" providerId="ADAL" clId="{81E9B007-0C2C-493E-9B93-55A62C9C1F12}" dt="2026-01-14T08:48:42.334" v="155" actId="14100"/>
      <pc:docMkLst>
        <pc:docMk/>
      </pc:docMkLst>
      <pc:sldChg chg="modSp mod">
        <pc:chgData name="Matthieu De Mari" userId="dfb708c9-d8dc-439f-9a3b-c772bf4a311c" providerId="ADAL" clId="{81E9B007-0C2C-493E-9B93-55A62C9C1F12}" dt="2026-01-14T08:42:00.123" v="10" actId="20577"/>
        <pc:sldMkLst>
          <pc:docMk/>
          <pc:sldMk cId="1448790682" sldId="441"/>
        </pc:sldMkLst>
        <pc:spChg chg="mod">
          <ac:chgData name="Matthieu De Mari" userId="dfb708c9-d8dc-439f-9a3b-c772bf4a311c" providerId="ADAL" clId="{81E9B007-0C2C-493E-9B93-55A62C9C1F12}" dt="2026-01-14T08:42:00.123" v="10" actId="20577"/>
          <ac:spMkLst>
            <pc:docMk/>
            <pc:sldMk cId="1448790682" sldId="441"/>
            <ac:spMk id="3" creationId="{0A9CA01A-4500-13DA-32DD-0418598356B9}"/>
          </ac:spMkLst>
        </pc:spChg>
      </pc:sldChg>
      <pc:sldChg chg="modSp mod">
        <pc:chgData name="Matthieu De Mari" userId="dfb708c9-d8dc-439f-9a3b-c772bf4a311c" providerId="ADAL" clId="{81E9B007-0C2C-493E-9B93-55A62C9C1F12}" dt="2026-01-14T08:42:51.360" v="102" actId="20577"/>
        <pc:sldMkLst>
          <pc:docMk/>
          <pc:sldMk cId="110232736" sldId="443"/>
        </pc:sldMkLst>
        <pc:spChg chg="mod">
          <ac:chgData name="Matthieu De Mari" userId="dfb708c9-d8dc-439f-9a3b-c772bf4a311c" providerId="ADAL" clId="{81E9B007-0C2C-493E-9B93-55A62C9C1F12}" dt="2026-01-14T08:42:51.360" v="102" actId="20577"/>
          <ac:spMkLst>
            <pc:docMk/>
            <pc:sldMk cId="110232736" sldId="443"/>
            <ac:spMk id="3" creationId="{0A9CA01A-4500-13DA-32DD-0418598356B9}"/>
          </ac:spMkLst>
        </pc:spChg>
      </pc:sldChg>
      <pc:sldChg chg="modSp mod">
        <pc:chgData name="Matthieu De Mari" userId="dfb708c9-d8dc-439f-9a3b-c772bf4a311c" providerId="ADAL" clId="{81E9B007-0C2C-493E-9B93-55A62C9C1F12}" dt="2026-01-14T08:43:09.779" v="104" actId="115"/>
        <pc:sldMkLst>
          <pc:docMk/>
          <pc:sldMk cId="4016554108" sldId="448"/>
        </pc:sldMkLst>
        <pc:spChg chg="mod">
          <ac:chgData name="Matthieu De Mari" userId="dfb708c9-d8dc-439f-9a3b-c772bf4a311c" providerId="ADAL" clId="{81E9B007-0C2C-493E-9B93-55A62C9C1F12}" dt="2026-01-14T08:43:09.779" v="104" actId="115"/>
          <ac:spMkLst>
            <pc:docMk/>
            <pc:sldMk cId="4016554108" sldId="448"/>
            <ac:spMk id="3" creationId="{98C8E745-17FA-0972-8665-9C637236AA5B}"/>
          </ac:spMkLst>
        </pc:spChg>
      </pc:sldChg>
      <pc:sldChg chg="modSp mod">
        <pc:chgData name="Matthieu De Mari" userId="dfb708c9-d8dc-439f-9a3b-c772bf4a311c" providerId="ADAL" clId="{81E9B007-0C2C-493E-9B93-55A62C9C1F12}" dt="2026-01-14T08:43:06.584" v="103" actId="115"/>
        <pc:sldMkLst>
          <pc:docMk/>
          <pc:sldMk cId="512281156" sldId="449"/>
        </pc:sldMkLst>
        <pc:spChg chg="mod">
          <ac:chgData name="Matthieu De Mari" userId="dfb708c9-d8dc-439f-9a3b-c772bf4a311c" providerId="ADAL" clId="{81E9B007-0C2C-493E-9B93-55A62C9C1F12}" dt="2026-01-14T08:43:06.584" v="103" actId="115"/>
          <ac:spMkLst>
            <pc:docMk/>
            <pc:sldMk cId="512281156" sldId="449"/>
            <ac:spMk id="3" creationId="{98C8E745-17FA-0972-8665-9C637236AA5B}"/>
          </ac:spMkLst>
        </pc:spChg>
      </pc:sldChg>
      <pc:sldChg chg="addSp delSp modSp mod">
        <pc:chgData name="Matthieu De Mari" userId="dfb708c9-d8dc-439f-9a3b-c772bf4a311c" providerId="ADAL" clId="{81E9B007-0C2C-493E-9B93-55A62C9C1F12}" dt="2026-01-14T08:37:57.734" v="2"/>
        <pc:sldMkLst>
          <pc:docMk/>
          <pc:sldMk cId="3824911825" sldId="453"/>
        </pc:sldMkLst>
        <pc:spChg chg="del">
          <ac:chgData name="Matthieu De Mari" userId="dfb708c9-d8dc-439f-9a3b-c772bf4a311c" providerId="ADAL" clId="{81E9B007-0C2C-493E-9B93-55A62C9C1F12}" dt="2026-01-14T08:37:55.300" v="0" actId="478"/>
          <ac:spMkLst>
            <pc:docMk/>
            <pc:sldMk cId="3824911825" sldId="453"/>
            <ac:spMk id="4" creationId="{A0FF4252-8E53-B941-EF50-7759A6112153}"/>
          </ac:spMkLst>
        </pc:spChg>
        <pc:spChg chg="add del mod">
          <ac:chgData name="Matthieu De Mari" userId="dfb708c9-d8dc-439f-9a3b-c772bf4a311c" providerId="ADAL" clId="{81E9B007-0C2C-493E-9B93-55A62C9C1F12}" dt="2026-01-14T08:37:57.138" v="1" actId="478"/>
          <ac:spMkLst>
            <pc:docMk/>
            <pc:sldMk cId="3824911825" sldId="453"/>
            <ac:spMk id="8" creationId="{3D530F01-50FF-BF4C-1977-D8BC1A2F697D}"/>
          </ac:spMkLst>
        </pc:spChg>
        <pc:spChg chg="add mod">
          <ac:chgData name="Matthieu De Mari" userId="dfb708c9-d8dc-439f-9a3b-c772bf4a311c" providerId="ADAL" clId="{81E9B007-0C2C-493E-9B93-55A62C9C1F12}" dt="2026-01-14T08:37:57.734" v="2"/>
          <ac:spMkLst>
            <pc:docMk/>
            <pc:sldMk cId="3824911825" sldId="453"/>
            <ac:spMk id="14" creationId="{BDDF3693-513D-940D-EFD1-AD78FE2B1690}"/>
          </ac:spMkLst>
        </pc:spChg>
      </pc:sldChg>
      <pc:sldChg chg="modSp mod">
        <pc:chgData name="Matthieu De Mari" userId="dfb708c9-d8dc-439f-9a3b-c772bf4a311c" providerId="ADAL" clId="{81E9B007-0C2C-493E-9B93-55A62C9C1F12}" dt="2026-01-14T08:43:40.542" v="106" actId="20577"/>
        <pc:sldMkLst>
          <pc:docMk/>
          <pc:sldMk cId="146061813" sldId="459"/>
        </pc:sldMkLst>
        <pc:spChg chg="mod">
          <ac:chgData name="Matthieu De Mari" userId="dfb708c9-d8dc-439f-9a3b-c772bf4a311c" providerId="ADAL" clId="{81E9B007-0C2C-493E-9B93-55A62C9C1F12}" dt="2026-01-14T08:43:40.542" v="106" actId="20577"/>
          <ac:spMkLst>
            <pc:docMk/>
            <pc:sldMk cId="146061813" sldId="459"/>
            <ac:spMk id="5" creationId="{B3F89993-8E2D-39C7-D73F-D6F5D0507F8F}"/>
          </ac:spMkLst>
        </pc:spChg>
      </pc:sldChg>
      <pc:sldChg chg="modSp mod">
        <pc:chgData name="Matthieu De Mari" userId="dfb708c9-d8dc-439f-9a3b-c772bf4a311c" providerId="ADAL" clId="{81E9B007-0C2C-493E-9B93-55A62C9C1F12}" dt="2026-01-14T08:43:58.855" v="107" actId="207"/>
        <pc:sldMkLst>
          <pc:docMk/>
          <pc:sldMk cId="2491784038" sldId="460"/>
        </pc:sldMkLst>
        <pc:spChg chg="mod">
          <ac:chgData name="Matthieu De Mari" userId="dfb708c9-d8dc-439f-9a3b-c772bf4a311c" providerId="ADAL" clId="{81E9B007-0C2C-493E-9B93-55A62C9C1F12}" dt="2026-01-14T08:43:58.855" v="107" actId="207"/>
          <ac:spMkLst>
            <pc:docMk/>
            <pc:sldMk cId="2491784038" sldId="460"/>
            <ac:spMk id="6" creationId="{9B6A00C8-E3FA-09B1-418B-292BC486CB87}"/>
          </ac:spMkLst>
        </pc:spChg>
      </pc:sldChg>
      <pc:sldChg chg="modSp mod">
        <pc:chgData name="Matthieu De Mari" userId="dfb708c9-d8dc-439f-9a3b-c772bf4a311c" providerId="ADAL" clId="{81E9B007-0C2C-493E-9B93-55A62C9C1F12}" dt="2026-01-14T08:44:29.252" v="108" actId="20577"/>
        <pc:sldMkLst>
          <pc:docMk/>
          <pc:sldMk cId="2636270797" sldId="461"/>
        </pc:sldMkLst>
        <pc:spChg chg="mod">
          <ac:chgData name="Matthieu De Mari" userId="dfb708c9-d8dc-439f-9a3b-c772bf4a311c" providerId="ADAL" clId="{81E9B007-0C2C-493E-9B93-55A62C9C1F12}" dt="2026-01-14T08:44:29.252" v="108" actId="20577"/>
          <ac:spMkLst>
            <pc:docMk/>
            <pc:sldMk cId="2636270797" sldId="461"/>
            <ac:spMk id="3" creationId="{8821F76F-B59B-FBFA-F2D2-1D9ABA97022B}"/>
          </ac:spMkLst>
        </pc:spChg>
      </pc:sldChg>
      <pc:sldChg chg="modSp mod">
        <pc:chgData name="Matthieu De Mari" userId="dfb708c9-d8dc-439f-9a3b-c772bf4a311c" providerId="ADAL" clId="{81E9B007-0C2C-493E-9B93-55A62C9C1F12}" dt="2026-01-14T08:47:29.164" v="150" actId="20577"/>
        <pc:sldMkLst>
          <pc:docMk/>
          <pc:sldMk cId="2960715248" sldId="464"/>
        </pc:sldMkLst>
        <pc:spChg chg="mod">
          <ac:chgData name="Matthieu De Mari" userId="dfb708c9-d8dc-439f-9a3b-c772bf4a311c" providerId="ADAL" clId="{81E9B007-0C2C-493E-9B93-55A62C9C1F12}" dt="2026-01-14T08:47:29.164" v="150" actId="20577"/>
          <ac:spMkLst>
            <pc:docMk/>
            <pc:sldMk cId="2960715248" sldId="464"/>
            <ac:spMk id="4" creationId="{7A2AC50E-1465-5908-D118-3F008F99595A}"/>
          </ac:spMkLst>
        </pc:spChg>
      </pc:sldChg>
      <pc:sldChg chg="modSp mod">
        <pc:chgData name="Matthieu De Mari" userId="dfb708c9-d8dc-439f-9a3b-c772bf4a311c" providerId="ADAL" clId="{81E9B007-0C2C-493E-9B93-55A62C9C1F12}" dt="2026-01-14T08:45:47.602" v="114" actId="313"/>
        <pc:sldMkLst>
          <pc:docMk/>
          <pc:sldMk cId="1643155833" sldId="469"/>
        </pc:sldMkLst>
        <pc:spChg chg="mod">
          <ac:chgData name="Matthieu De Mari" userId="dfb708c9-d8dc-439f-9a3b-c772bf4a311c" providerId="ADAL" clId="{81E9B007-0C2C-493E-9B93-55A62C9C1F12}" dt="2026-01-14T08:45:47.602" v="114" actId="313"/>
          <ac:spMkLst>
            <pc:docMk/>
            <pc:sldMk cId="1643155833" sldId="469"/>
            <ac:spMk id="3" creationId="{C88E7E02-41CA-5502-EC81-CC1584EA1981}"/>
          </ac:spMkLst>
        </pc:spChg>
      </pc:sldChg>
      <pc:sldChg chg="modSp mod">
        <pc:chgData name="Matthieu De Mari" userId="dfb708c9-d8dc-439f-9a3b-c772bf4a311c" providerId="ADAL" clId="{81E9B007-0C2C-493E-9B93-55A62C9C1F12}" dt="2026-01-14T08:45:41.017" v="111" actId="313"/>
        <pc:sldMkLst>
          <pc:docMk/>
          <pc:sldMk cId="3784750566" sldId="478"/>
        </pc:sldMkLst>
        <pc:spChg chg="mod">
          <ac:chgData name="Matthieu De Mari" userId="dfb708c9-d8dc-439f-9a3b-c772bf4a311c" providerId="ADAL" clId="{81E9B007-0C2C-493E-9B93-55A62C9C1F12}" dt="2026-01-14T08:45:41.017" v="111" actId="313"/>
          <ac:spMkLst>
            <pc:docMk/>
            <pc:sldMk cId="3784750566" sldId="478"/>
            <ac:spMk id="3" creationId="{C88E7E02-41CA-5502-EC81-CC1584EA1981}"/>
          </ac:spMkLst>
        </pc:spChg>
      </pc:sldChg>
      <pc:sldChg chg="modSp mod">
        <pc:chgData name="Matthieu De Mari" userId="dfb708c9-d8dc-439f-9a3b-c772bf4a311c" providerId="ADAL" clId="{81E9B007-0C2C-493E-9B93-55A62C9C1F12}" dt="2026-01-14T08:48:42.334" v="155" actId="14100"/>
        <pc:sldMkLst>
          <pc:docMk/>
          <pc:sldMk cId="3878320393" sldId="482"/>
        </pc:sldMkLst>
        <pc:spChg chg="mod">
          <ac:chgData name="Matthieu De Mari" userId="dfb708c9-d8dc-439f-9a3b-c772bf4a311c" providerId="ADAL" clId="{81E9B007-0C2C-493E-9B93-55A62C9C1F12}" dt="2026-01-14T08:48:42.334" v="155" actId="14100"/>
          <ac:spMkLst>
            <pc:docMk/>
            <pc:sldMk cId="3878320393" sldId="482"/>
            <ac:spMk id="3" creationId="{220F8BCD-1F74-0CCD-9D50-EB70D633319C}"/>
          </ac:spMkLst>
        </pc:spChg>
      </pc:sldChg>
      <pc:sldChg chg="modSp mod">
        <pc:chgData name="Matthieu De Mari" userId="dfb708c9-d8dc-439f-9a3b-c772bf4a311c" providerId="ADAL" clId="{81E9B007-0C2C-493E-9B93-55A62C9C1F12}" dt="2026-01-14T08:39:23.410" v="3" actId="115"/>
        <pc:sldMkLst>
          <pc:docMk/>
          <pc:sldMk cId="1267674129" sldId="490"/>
        </pc:sldMkLst>
        <pc:spChg chg="mod">
          <ac:chgData name="Matthieu De Mari" userId="dfb708c9-d8dc-439f-9a3b-c772bf4a311c" providerId="ADAL" clId="{81E9B007-0C2C-493E-9B93-55A62C9C1F12}" dt="2026-01-14T08:39:23.410" v="3" actId="115"/>
          <ac:spMkLst>
            <pc:docMk/>
            <pc:sldMk cId="1267674129" sldId="490"/>
            <ac:spMk id="5" creationId="{B0003562-B0F9-FC63-4F67-49F09BA7CBB2}"/>
          </ac:spMkLst>
        </pc:spChg>
      </pc:sldChg>
      <pc:sldChg chg="modSp mod">
        <pc:chgData name="Matthieu De Mari" userId="dfb708c9-d8dc-439f-9a3b-c772bf4a311c" providerId="ADAL" clId="{81E9B007-0C2C-493E-9B93-55A62C9C1F12}" dt="2026-01-14T08:40:31.644" v="7" actId="20577"/>
        <pc:sldMkLst>
          <pc:docMk/>
          <pc:sldMk cId="756526478" sldId="497"/>
        </pc:sldMkLst>
        <pc:spChg chg="mod">
          <ac:chgData name="Matthieu De Mari" userId="dfb708c9-d8dc-439f-9a3b-c772bf4a311c" providerId="ADAL" clId="{81E9B007-0C2C-493E-9B93-55A62C9C1F12}" dt="2026-01-14T08:40:31.644" v="7" actId="20577"/>
          <ac:spMkLst>
            <pc:docMk/>
            <pc:sldMk cId="756526478" sldId="497"/>
            <ac:spMk id="5" creationId="{E6A200B5-9C77-EEF0-29BA-30B546FFB1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14/1/2026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51275F3-0744-4B3F-986A-B720E2CE0519}" type="slidenum">
              <a:rPr lang="en-SG" smtClean="0"/>
              <a:t>28</a:t>
            </a:fld>
            <a:endParaRPr lang="en-SG"/>
          </a:p>
        </p:txBody>
      </p:sp>
    </p:spTree>
    <p:extLst>
      <p:ext uri="{BB962C8B-B14F-4D97-AF65-F5344CB8AC3E}">
        <p14:creationId xmlns:p14="http://schemas.microsoft.com/office/powerpoint/2010/main" val="1736092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5D5F-D919-820A-A248-C9632359E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E383D-E462-F0CD-B4F5-F62897798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4180C-F599-C597-2732-676865AD829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195B603-EF37-2967-7879-7B855754A5DC}"/>
              </a:ext>
            </a:extLst>
          </p:cNvPr>
          <p:cNvSpPr>
            <a:spLocks noGrp="1"/>
          </p:cNvSpPr>
          <p:nvPr>
            <p:ph type="sldNum" sz="quarter" idx="5"/>
          </p:nvPr>
        </p:nvSpPr>
        <p:spPr/>
        <p:txBody>
          <a:bodyPr/>
          <a:lstStyle/>
          <a:p>
            <a:fld id="{751275F3-0744-4B3F-986A-B720E2CE0519}" type="slidenum">
              <a:rPr lang="en-SG" smtClean="0"/>
              <a:t>29</a:t>
            </a:fld>
            <a:endParaRPr lang="en-SG"/>
          </a:p>
        </p:txBody>
      </p:sp>
    </p:spTree>
    <p:extLst>
      <p:ext uri="{BB962C8B-B14F-4D97-AF65-F5344CB8AC3E}">
        <p14:creationId xmlns:p14="http://schemas.microsoft.com/office/powerpoint/2010/main" val="3283100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E69EC-362F-8604-D464-8B0ABA06D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0E17-0171-00FC-DBBB-D123C3FB1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5EE9D-13E8-E74B-8915-ED48AC688C0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140DB3A-8977-59B2-994C-1CC7781B53E1}"/>
              </a:ext>
            </a:extLst>
          </p:cNvPr>
          <p:cNvSpPr>
            <a:spLocks noGrp="1"/>
          </p:cNvSpPr>
          <p:nvPr>
            <p:ph type="sldNum" sz="quarter" idx="5"/>
          </p:nvPr>
        </p:nvSpPr>
        <p:spPr/>
        <p:txBody>
          <a:bodyPr/>
          <a:lstStyle/>
          <a:p>
            <a:fld id="{751275F3-0744-4B3F-986A-B720E2CE0519}" type="slidenum">
              <a:rPr lang="en-SG" smtClean="0"/>
              <a:t>33</a:t>
            </a:fld>
            <a:endParaRPr lang="en-SG"/>
          </a:p>
        </p:txBody>
      </p:sp>
    </p:spTree>
    <p:extLst>
      <p:ext uri="{BB962C8B-B14F-4D97-AF65-F5344CB8AC3E}">
        <p14:creationId xmlns:p14="http://schemas.microsoft.com/office/powerpoint/2010/main" val="479880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E6546-8103-1845-364C-215B9D568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AA0A0-0360-0E27-D166-6B74D7947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7CC36-CDDF-9078-0AC2-292914F66D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BA5363B-4E27-C45F-C368-75A17631A2E0}"/>
              </a:ext>
            </a:extLst>
          </p:cNvPr>
          <p:cNvSpPr>
            <a:spLocks noGrp="1"/>
          </p:cNvSpPr>
          <p:nvPr>
            <p:ph type="sldNum" sz="quarter" idx="5"/>
          </p:nvPr>
        </p:nvSpPr>
        <p:spPr/>
        <p:txBody>
          <a:bodyPr/>
          <a:lstStyle/>
          <a:p>
            <a:fld id="{751275F3-0744-4B3F-986A-B720E2CE0519}" type="slidenum">
              <a:rPr lang="en-SG" smtClean="0"/>
              <a:t>36</a:t>
            </a:fld>
            <a:endParaRPr lang="en-SG"/>
          </a:p>
        </p:txBody>
      </p:sp>
    </p:spTree>
    <p:extLst>
      <p:ext uri="{BB962C8B-B14F-4D97-AF65-F5344CB8AC3E}">
        <p14:creationId xmlns:p14="http://schemas.microsoft.com/office/powerpoint/2010/main" val="3612580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W5-S2 </a:t>
            </a:r>
            <a:r>
              <a:rPr lang="en-US" dirty="0"/>
              <a:t>Regular Expressions and</a:t>
            </a:r>
            <a:br>
              <a:rPr lang="en-US" dirty="0"/>
            </a:br>
            <a:r>
              <a:rPr lang="en-US" dirty="0"/>
              <a:t>Pattern Recognition in C</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21D2-25BA-0FDE-CC96-0E31B2E634A4}"/>
              </a:ext>
            </a:extLst>
          </p:cNvPr>
          <p:cNvSpPr>
            <a:spLocks noGrp="1"/>
          </p:cNvSpPr>
          <p:nvPr>
            <p:ph type="title"/>
          </p:nvPr>
        </p:nvSpPr>
        <p:spPr/>
        <p:txBody>
          <a:bodyPr/>
          <a:lstStyle/>
          <a:p>
            <a:r>
              <a:rPr lang="en-GB" dirty="0"/>
              <a:t>Regular Expressions</a:t>
            </a:r>
            <a:endParaRPr lang="en-SG" dirty="0"/>
          </a:p>
        </p:txBody>
      </p:sp>
      <p:sp>
        <p:nvSpPr>
          <p:cNvPr id="3" name="Content Placeholder 2">
            <a:extLst>
              <a:ext uri="{FF2B5EF4-FFF2-40B4-BE49-F238E27FC236}">
                <a16:creationId xmlns:a16="http://schemas.microsoft.com/office/drawing/2014/main" id="{87F13EE9-BEBE-CF14-87D2-9673840B231D}"/>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Regular</a:t>
            </a:r>
            <a:r>
              <a:rPr lang="en-GB" b="1" dirty="0"/>
              <a:t> </a:t>
            </a:r>
            <a:r>
              <a:rPr lang="en-GB" b="1" dirty="0">
                <a:solidFill>
                  <a:srgbClr val="00B050"/>
                </a:solidFill>
              </a:rPr>
              <a:t>Expressions</a:t>
            </a:r>
            <a:r>
              <a:rPr lang="en-GB" b="1" dirty="0"/>
              <a:t>, or </a:t>
            </a:r>
            <a:r>
              <a:rPr lang="en-GB" b="1" dirty="0" err="1">
                <a:solidFill>
                  <a:srgbClr val="00B050"/>
                </a:solidFill>
              </a:rPr>
              <a:t>RegEx</a:t>
            </a:r>
            <a:r>
              <a:rPr lang="en-GB" b="1" dirty="0"/>
              <a:t>): </a:t>
            </a:r>
          </a:p>
          <a:p>
            <a:pPr marL="0" indent="0">
              <a:buNone/>
            </a:pPr>
            <a:r>
              <a:rPr lang="en-GB" b="1" dirty="0">
                <a:solidFill>
                  <a:srgbClr val="00B050"/>
                </a:solidFill>
              </a:rPr>
              <a:t>Regular</a:t>
            </a:r>
            <a:r>
              <a:rPr lang="en-GB" b="1" dirty="0"/>
              <a:t> </a:t>
            </a:r>
            <a:r>
              <a:rPr lang="en-GB" b="1" dirty="0">
                <a:solidFill>
                  <a:srgbClr val="00B050"/>
                </a:solidFill>
              </a:rPr>
              <a:t>Expressions</a:t>
            </a:r>
            <a:r>
              <a:rPr lang="en-GB" b="1" dirty="0"/>
              <a:t> (or </a:t>
            </a:r>
            <a:r>
              <a:rPr lang="en-GB" b="1" dirty="0">
                <a:solidFill>
                  <a:srgbClr val="00B050"/>
                </a:solidFill>
              </a:rPr>
              <a:t>Regex</a:t>
            </a:r>
            <a:r>
              <a:rPr lang="en-GB" b="1" dirty="0"/>
              <a:t>) </a:t>
            </a:r>
            <a:r>
              <a:rPr lang="en-GB" dirty="0"/>
              <a:t>are a powerful tool for pattern matching and searching in text.</a:t>
            </a:r>
          </a:p>
          <a:p>
            <a:pPr marL="0" indent="0">
              <a:buNone/>
            </a:pPr>
            <a:r>
              <a:rPr lang="en-GB" dirty="0"/>
              <a:t>They are used in many programming languages and applications to find, extract, and manipulate text based on specific patterns.</a:t>
            </a:r>
          </a:p>
          <a:p>
            <a:pPr marL="0" indent="0">
              <a:buNone/>
            </a:pPr>
            <a:r>
              <a:rPr lang="en-GB" dirty="0"/>
              <a:t>Regular expressions can be seen as a concise way of describing a set of strings that share a certain structure or patterns.</a:t>
            </a:r>
          </a:p>
          <a:p>
            <a:pPr marL="0" indent="0">
              <a:buNone/>
            </a:pPr>
            <a:r>
              <a:rPr lang="en-GB" i="1" dirty="0"/>
              <a:t>Later on, </a:t>
            </a:r>
            <a:r>
              <a:rPr lang="en-GB" i="1" dirty="0" err="1"/>
              <a:t>RegEx</a:t>
            </a:r>
            <a:r>
              <a:rPr lang="en-GB" i="1" dirty="0"/>
              <a:t> will be very useful for our compilers to recognize substrings of text that exhibit a certain pattern (e.g. they consist of a certain keyword, start/end with a certain character, etc.).</a:t>
            </a:r>
          </a:p>
          <a:p>
            <a:pPr marL="0" indent="0">
              <a:buNone/>
            </a:pPr>
            <a:endParaRPr lang="en-SG" dirty="0"/>
          </a:p>
        </p:txBody>
      </p:sp>
    </p:spTree>
    <p:extLst>
      <p:ext uri="{BB962C8B-B14F-4D97-AF65-F5344CB8AC3E}">
        <p14:creationId xmlns:p14="http://schemas.microsoft.com/office/powerpoint/2010/main" val="3431685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21D2-25BA-0FDE-CC96-0E31B2E634A4}"/>
              </a:ext>
            </a:extLst>
          </p:cNvPr>
          <p:cNvSpPr>
            <a:spLocks noGrp="1"/>
          </p:cNvSpPr>
          <p:nvPr>
            <p:ph type="title"/>
          </p:nvPr>
        </p:nvSpPr>
        <p:spPr/>
        <p:txBody>
          <a:bodyPr/>
          <a:lstStyle/>
          <a:p>
            <a:r>
              <a:rPr lang="en-GB" dirty="0"/>
              <a:t>Regular Expressions</a:t>
            </a:r>
            <a:endParaRPr lang="en-SG" dirty="0"/>
          </a:p>
        </p:txBody>
      </p:sp>
      <p:sp>
        <p:nvSpPr>
          <p:cNvPr id="3" name="Content Placeholder 2">
            <a:extLst>
              <a:ext uri="{FF2B5EF4-FFF2-40B4-BE49-F238E27FC236}">
                <a16:creationId xmlns:a16="http://schemas.microsoft.com/office/drawing/2014/main" id="{87F13EE9-BEBE-CF14-87D2-9673840B231D}"/>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Regular</a:t>
            </a:r>
            <a:r>
              <a:rPr lang="en-GB" b="1" dirty="0"/>
              <a:t> </a:t>
            </a:r>
            <a:r>
              <a:rPr lang="en-GB" b="1" dirty="0">
                <a:solidFill>
                  <a:srgbClr val="00B050"/>
                </a:solidFill>
              </a:rPr>
              <a:t>Language</a:t>
            </a:r>
            <a:r>
              <a:rPr lang="en-GB" b="1" dirty="0"/>
              <a:t>): </a:t>
            </a:r>
          </a:p>
          <a:p>
            <a:pPr marL="0" indent="0">
              <a:buNone/>
            </a:pPr>
            <a:r>
              <a:rPr lang="en-GB" b="1" dirty="0">
                <a:solidFill>
                  <a:srgbClr val="00B050"/>
                </a:solidFill>
              </a:rPr>
              <a:t>Regular</a:t>
            </a:r>
            <a:r>
              <a:rPr lang="en-GB" b="1" dirty="0"/>
              <a:t> </a:t>
            </a:r>
            <a:r>
              <a:rPr lang="en-GB" b="1" dirty="0">
                <a:solidFill>
                  <a:srgbClr val="00B050"/>
                </a:solidFill>
              </a:rPr>
              <a:t>Language </a:t>
            </a:r>
            <a:r>
              <a:rPr lang="en-GB" dirty="0"/>
              <a:t>consists of the possible strings that exhibit the pattern defined by a given </a:t>
            </a:r>
            <a:r>
              <a:rPr lang="en-GB" b="1" dirty="0"/>
              <a:t>Regular Expression</a:t>
            </a:r>
            <a:r>
              <a:rPr lang="en-GB" dirty="0"/>
              <a:t>.</a:t>
            </a:r>
          </a:p>
          <a:p>
            <a:pPr marL="0" indent="0">
              <a:buNone/>
            </a:pPr>
            <a:endParaRPr lang="en-GB" dirty="0"/>
          </a:p>
          <a:p>
            <a:pPr marL="0" indent="0">
              <a:buNone/>
            </a:pPr>
            <a:r>
              <a:rPr lang="en-GB" dirty="0"/>
              <a:t>For instance, if the Regular Expression describes all the binary strings finishing with a 0…</a:t>
            </a:r>
          </a:p>
          <a:p>
            <a:pPr marL="0" indent="0">
              <a:buNone/>
            </a:pPr>
            <a:r>
              <a:rPr lang="en-GB" dirty="0"/>
              <a:t>…Then, all of these strings (100, 10100, 1110, 10, 1101010011010, etc.)</a:t>
            </a:r>
            <a:r>
              <a:rPr lang="en-SG" dirty="0"/>
              <a:t> will be considered </a:t>
            </a:r>
            <a:r>
              <a:rPr lang="en-SG" b="1" dirty="0"/>
              <a:t>Regular Language </a:t>
            </a:r>
            <a:r>
              <a:rPr lang="en-SG" dirty="0"/>
              <a:t>for the given </a:t>
            </a:r>
            <a:r>
              <a:rPr lang="en-SG" b="1" dirty="0"/>
              <a:t>Regular Expression </a:t>
            </a:r>
            <a:r>
              <a:rPr lang="en-SG" dirty="0"/>
              <a:t>we have defined above.</a:t>
            </a:r>
            <a:endParaRPr lang="en-GB" dirty="0"/>
          </a:p>
        </p:txBody>
      </p:sp>
    </p:spTree>
    <p:extLst>
      <p:ext uri="{BB962C8B-B14F-4D97-AF65-F5344CB8AC3E}">
        <p14:creationId xmlns:p14="http://schemas.microsoft.com/office/powerpoint/2010/main" val="909573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E3CC-C2F1-D5F9-388A-E8378975AC12}"/>
              </a:ext>
            </a:extLst>
          </p:cNvPr>
          <p:cNvSpPr>
            <a:spLocks noGrp="1"/>
          </p:cNvSpPr>
          <p:nvPr>
            <p:ph type="title"/>
          </p:nvPr>
        </p:nvSpPr>
        <p:spPr/>
        <p:txBody>
          <a:bodyPr/>
          <a:lstStyle/>
          <a:p>
            <a:r>
              <a:rPr lang="en-GB" dirty="0"/>
              <a:t>Technically, we have already played with </a:t>
            </a:r>
            <a:r>
              <a:rPr lang="en-GB" dirty="0" err="1"/>
              <a:t>RegEx</a:t>
            </a:r>
            <a:r>
              <a:rPr lang="en-GB" dirty="0"/>
              <a:t> FSMs! (Remember previous activities).</a:t>
            </a:r>
            <a:endParaRPr lang="en-SG" dirty="0"/>
          </a:p>
        </p:txBody>
      </p:sp>
      <p:sp>
        <p:nvSpPr>
          <p:cNvPr id="3" name="Content Placeholder 2">
            <a:extLst>
              <a:ext uri="{FF2B5EF4-FFF2-40B4-BE49-F238E27FC236}">
                <a16:creationId xmlns:a16="http://schemas.microsoft.com/office/drawing/2014/main" id="{C51ADC3A-36BE-B86B-FA40-9DF3C5E68D0A}"/>
              </a:ext>
            </a:extLst>
          </p:cNvPr>
          <p:cNvSpPr>
            <a:spLocks noGrp="1"/>
          </p:cNvSpPr>
          <p:nvPr>
            <p:ph idx="1"/>
          </p:nvPr>
        </p:nvSpPr>
        <p:spPr>
          <a:xfrm>
            <a:off x="838200" y="1825624"/>
            <a:ext cx="10515600" cy="5032375"/>
          </a:xfrm>
        </p:spPr>
        <p:txBody>
          <a:bodyPr>
            <a:normAutofit/>
          </a:bodyPr>
          <a:lstStyle/>
          <a:p>
            <a:pPr marL="0" indent="0">
              <a:buNone/>
            </a:pPr>
            <a:endParaRPr lang="en-GB" dirty="0"/>
          </a:p>
          <a:p>
            <a:pPr marL="0" indent="0">
              <a:buNone/>
            </a:pPr>
            <a:r>
              <a:rPr lang="en-GB" b="1" dirty="0"/>
              <a:t>Can we use an FSM to implement a </a:t>
            </a:r>
            <a:r>
              <a:rPr lang="en-GB" b="1" dirty="0" err="1"/>
              <a:t>RegEx</a:t>
            </a:r>
            <a:r>
              <a:rPr lang="en-GB" b="1" dirty="0"/>
              <a:t>?</a:t>
            </a:r>
          </a:p>
          <a:p>
            <a:pPr marL="0" indent="0">
              <a:buNone/>
            </a:pPr>
            <a:endParaRPr lang="en-GB" dirty="0"/>
          </a:p>
          <a:p>
            <a:pPr marL="0" indent="0">
              <a:buNone/>
            </a:pPr>
            <a:r>
              <a:rPr lang="en-GB" b="1" dirty="0"/>
              <a:t>Yes!</a:t>
            </a:r>
          </a:p>
          <a:p>
            <a:pPr marL="0" indent="0">
              <a:buNone/>
            </a:pPr>
            <a:r>
              <a:rPr lang="en-GB" dirty="0"/>
              <a:t>Our Finite State Machines (FSM) from the previous lecture will be used to recognize regular languages, which are sets of strings that can be described by regular expressions.</a:t>
            </a:r>
          </a:p>
          <a:p>
            <a:pPr marL="0" indent="0">
              <a:buNone/>
            </a:pPr>
            <a:r>
              <a:rPr lang="en-GB" dirty="0"/>
              <a:t>There is a strong connection between regular expressions and FSMs: </a:t>
            </a:r>
            <a:r>
              <a:rPr lang="en-GB" b="1" dirty="0"/>
              <a:t>for every regular expression, there exists an equivalent FSM that recognizes the same language. And </a:t>
            </a:r>
            <a:r>
              <a:rPr lang="en-GB" b="1"/>
              <a:t>vice versa.</a:t>
            </a:r>
            <a:endParaRPr lang="en-SG" b="1" dirty="0"/>
          </a:p>
        </p:txBody>
      </p:sp>
    </p:spTree>
    <p:extLst>
      <p:ext uri="{BB962C8B-B14F-4D97-AF65-F5344CB8AC3E}">
        <p14:creationId xmlns:p14="http://schemas.microsoft.com/office/powerpoint/2010/main" val="4226169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E3CC-C2F1-D5F9-388A-E8378975AC12}"/>
              </a:ext>
            </a:extLst>
          </p:cNvPr>
          <p:cNvSpPr>
            <a:spLocks noGrp="1"/>
          </p:cNvSpPr>
          <p:nvPr>
            <p:ph type="title"/>
          </p:nvPr>
        </p:nvSpPr>
        <p:spPr/>
        <p:txBody>
          <a:bodyPr/>
          <a:lstStyle/>
          <a:p>
            <a:r>
              <a:rPr lang="en-GB" dirty="0"/>
              <a:t>Technically, we have already played with </a:t>
            </a:r>
            <a:r>
              <a:rPr lang="en-GB" dirty="0" err="1"/>
              <a:t>RegEx</a:t>
            </a:r>
            <a:r>
              <a:rPr lang="en-GB" dirty="0"/>
              <a:t> FSMs! (Practice 1).</a:t>
            </a:r>
            <a:endParaRPr lang="en-SG" dirty="0"/>
          </a:p>
        </p:txBody>
      </p:sp>
      <p:sp>
        <p:nvSpPr>
          <p:cNvPr id="3" name="Content Placeholder 2">
            <a:extLst>
              <a:ext uri="{FF2B5EF4-FFF2-40B4-BE49-F238E27FC236}">
                <a16:creationId xmlns:a16="http://schemas.microsoft.com/office/drawing/2014/main" id="{C51ADC3A-36BE-B86B-FA40-9DF3C5E68D0A}"/>
              </a:ext>
            </a:extLst>
          </p:cNvPr>
          <p:cNvSpPr>
            <a:spLocks noGrp="1"/>
          </p:cNvSpPr>
          <p:nvPr>
            <p:ph idx="1"/>
          </p:nvPr>
        </p:nvSpPr>
        <p:spPr>
          <a:xfrm>
            <a:off x="838200" y="1825624"/>
            <a:ext cx="10515600" cy="5032375"/>
          </a:xfrm>
        </p:spPr>
        <p:txBody>
          <a:bodyPr>
            <a:normAutofit/>
          </a:bodyPr>
          <a:lstStyle/>
          <a:p>
            <a:pPr marL="0" indent="0">
              <a:buNone/>
            </a:pPr>
            <a:r>
              <a:rPr lang="en-GB" dirty="0"/>
              <a:t>We would like to write an FSM with stopping states that will take strings </a:t>
            </a:r>
            <a:r>
              <a:rPr lang="en-GB" i="1" dirty="0"/>
              <a:t>x</a:t>
            </a:r>
            <a:r>
              <a:rPr lang="en-GB" dirty="0"/>
              <a:t> consisting of combinations of three characters: Z, A and M.</a:t>
            </a:r>
          </a:p>
          <a:p>
            <a:pPr marL="0" indent="0">
              <a:buNone/>
            </a:pPr>
            <a:r>
              <a:rPr lang="en-SG" dirty="0"/>
              <a:t>Possible combinations for the string </a:t>
            </a:r>
            <a:r>
              <a:rPr lang="en-SG" i="1" dirty="0"/>
              <a:t>x</a:t>
            </a:r>
            <a:r>
              <a:rPr lang="en-SG" dirty="0"/>
              <a:t> include, among many others, “ZAM”, “AMAZ”, “ZAMZAM”, etc.</a:t>
            </a:r>
          </a:p>
          <a:p>
            <a:pPr marL="0" indent="0">
              <a:buNone/>
            </a:pPr>
            <a:endParaRPr lang="en-SG" dirty="0"/>
          </a:p>
          <a:p>
            <a:pPr marL="0" indent="0">
              <a:buNone/>
            </a:pPr>
            <a:r>
              <a:rPr lang="en-SG" dirty="0"/>
              <a:t>Q1: Draw the FSM state diagram, where the FSM will accept an input string </a:t>
            </a:r>
            <a:r>
              <a:rPr lang="en-SG" i="1" dirty="0"/>
              <a:t>x</a:t>
            </a:r>
            <a:r>
              <a:rPr lang="en-SG" dirty="0"/>
              <a:t>, </a:t>
            </a:r>
            <a:r>
              <a:rPr lang="en-SG" u="sng" dirty="0"/>
              <a:t>if and only if the string </a:t>
            </a:r>
            <a:r>
              <a:rPr lang="en-SG" i="1" u="sng" dirty="0"/>
              <a:t>x</a:t>
            </a:r>
            <a:r>
              <a:rPr lang="en-SG" u="sng" dirty="0"/>
              <a:t> contains the substring ZAM.</a:t>
            </a:r>
          </a:p>
          <a:p>
            <a:pPr marL="0" indent="0">
              <a:buNone/>
            </a:pPr>
            <a:endParaRPr lang="en-SG" u="sng" dirty="0"/>
          </a:p>
          <a:p>
            <a:pPr marL="0" indent="0">
              <a:buNone/>
            </a:pPr>
            <a:r>
              <a:rPr lang="en-SG" dirty="0"/>
              <a:t>Q2 (cannot be solved for now, get back to it later): Could that be described using a </a:t>
            </a:r>
            <a:r>
              <a:rPr lang="en-SG" dirty="0" err="1"/>
              <a:t>RegEx</a:t>
            </a:r>
            <a:r>
              <a:rPr lang="en-SG" dirty="0"/>
              <a:t> of some sort?</a:t>
            </a:r>
          </a:p>
        </p:txBody>
      </p:sp>
    </p:spTree>
    <p:extLst>
      <p:ext uri="{BB962C8B-B14F-4D97-AF65-F5344CB8AC3E}">
        <p14:creationId xmlns:p14="http://schemas.microsoft.com/office/powerpoint/2010/main" val="1794465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A22DB-6CCD-207B-183C-76072A0F4EC7}"/>
              </a:ext>
            </a:extLst>
          </p:cNvPr>
          <p:cNvSpPr>
            <a:spLocks noGrp="1"/>
          </p:cNvSpPr>
          <p:nvPr>
            <p:ph type="title"/>
          </p:nvPr>
        </p:nvSpPr>
        <p:spPr/>
        <p:txBody>
          <a:bodyPr/>
          <a:lstStyle/>
          <a:p>
            <a:r>
              <a:rPr lang="en-GB" dirty="0"/>
              <a:t>The most basic </a:t>
            </a:r>
            <a:r>
              <a:rPr lang="en-GB" dirty="0" err="1"/>
              <a:t>RegEx</a:t>
            </a:r>
            <a:endParaRPr lang="en-SG" dirty="0"/>
          </a:p>
        </p:txBody>
      </p:sp>
      <p:sp>
        <p:nvSpPr>
          <p:cNvPr id="3" name="Content Placeholder 2">
            <a:extLst>
              <a:ext uri="{FF2B5EF4-FFF2-40B4-BE49-F238E27FC236}">
                <a16:creationId xmlns:a16="http://schemas.microsoft.com/office/drawing/2014/main" id="{3344F83E-9625-A0EF-9DEE-386E822DF0E7}"/>
              </a:ext>
            </a:extLst>
          </p:cNvPr>
          <p:cNvSpPr>
            <a:spLocks noGrp="1"/>
          </p:cNvSpPr>
          <p:nvPr>
            <p:ph sz="half" idx="1"/>
          </p:nvPr>
        </p:nvSpPr>
        <p:spPr>
          <a:xfrm>
            <a:off x="838200" y="1825624"/>
            <a:ext cx="5181600" cy="5032375"/>
          </a:xfrm>
        </p:spPr>
        <p:txBody>
          <a:bodyPr/>
          <a:lstStyle/>
          <a:p>
            <a:pPr marL="0" indent="0">
              <a:buNone/>
            </a:pPr>
            <a:r>
              <a:rPr lang="en-GB" b="1" dirty="0"/>
              <a:t>Definition (the most basic </a:t>
            </a:r>
            <a:r>
              <a:rPr lang="en-GB" b="1" dirty="0" err="1"/>
              <a:t>RegEx</a:t>
            </a:r>
            <a:r>
              <a:rPr lang="en-GB" b="1" dirty="0"/>
              <a:t>):</a:t>
            </a:r>
          </a:p>
          <a:p>
            <a:pPr marL="0" indent="0">
              <a:buNone/>
            </a:pPr>
            <a:r>
              <a:rPr lang="en-GB" dirty="0"/>
              <a:t>The most basic regex attempts to recognize </a:t>
            </a:r>
            <a:r>
              <a:rPr lang="en-GB" b="1" dirty="0"/>
              <a:t>a string </a:t>
            </a:r>
            <a:r>
              <a:rPr lang="en-GB" b="1" i="1" dirty="0"/>
              <a:t>x</a:t>
            </a:r>
            <a:r>
              <a:rPr lang="en-GB" b="1" dirty="0"/>
              <a:t> containing a single letter, e.g. "a"</a:t>
            </a:r>
            <a:r>
              <a:rPr lang="en-GB" dirty="0"/>
              <a:t>.</a:t>
            </a:r>
          </a:p>
          <a:p>
            <a:pPr marL="0" indent="0">
              <a:buNone/>
            </a:pPr>
            <a:r>
              <a:rPr lang="en-GB" dirty="0"/>
              <a:t>Any string that contains a (for instance, “a”, “aa”, “</a:t>
            </a:r>
            <a:r>
              <a:rPr lang="en-GB" dirty="0" err="1"/>
              <a:t>ba</a:t>
            </a:r>
            <a:r>
              <a:rPr lang="en-GB" dirty="0"/>
              <a:t>”, “</a:t>
            </a:r>
            <a:r>
              <a:rPr lang="en-GB" dirty="0" err="1"/>
              <a:t>singapore</a:t>
            </a:r>
            <a:r>
              <a:rPr lang="en-GB" dirty="0"/>
              <a:t>”, etc.) is then considered as regular language for this regular expression.</a:t>
            </a:r>
          </a:p>
          <a:p>
            <a:pPr marL="0" indent="0">
              <a:buNone/>
            </a:pPr>
            <a:r>
              <a:rPr lang="en-GB" b="1" dirty="0"/>
              <a:t>This regular expression is then simply denoted as “a”.</a:t>
            </a:r>
          </a:p>
        </p:txBody>
      </p:sp>
    </p:spTree>
    <p:extLst>
      <p:ext uri="{BB962C8B-B14F-4D97-AF65-F5344CB8AC3E}">
        <p14:creationId xmlns:p14="http://schemas.microsoft.com/office/powerpoint/2010/main" val="2656047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A22DB-6CCD-207B-183C-76072A0F4EC7}"/>
              </a:ext>
            </a:extLst>
          </p:cNvPr>
          <p:cNvSpPr>
            <a:spLocks noGrp="1"/>
          </p:cNvSpPr>
          <p:nvPr>
            <p:ph type="title"/>
          </p:nvPr>
        </p:nvSpPr>
        <p:spPr/>
        <p:txBody>
          <a:bodyPr/>
          <a:lstStyle/>
          <a:p>
            <a:r>
              <a:rPr lang="en-GB" dirty="0"/>
              <a:t>The most basic </a:t>
            </a:r>
            <a:r>
              <a:rPr lang="en-GB" dirty="0" err="1"/>
              <a:t>RegEx</a:t>
            </a:r>
            <a:endParaRPr lang="en-SG" dirty="0"/>
          </a:p>
        </p:txBody>
      </p:sp>
      <p:sp>
        <p:nvSpPr>
          <p:cNvPr id="3" name="Content Placeholder 2">
            <a:extLst>
              <a:ext uri="{FF2B5EF4-FFF2-40B4-BE49-F238E27FC236}">
                <a16:creationId xmlns:a16="http://schemas.microsoft.com/office/drawing/2014/main" id="{3344F83E-9625-A0EF-9DEE-386E822DF0E7}"/>
              </a:ext>
            </a:extLst>
          </p:cNvPr>
          <p:cNvSpPr>
            <a:spLocks noGrp="1"/>
          </p:cNvSpPr>
          <p:nvPr>
            <p:ph sz="half" idx="1"/>
          </p:nvPr>
        </p:nvSpPr>
        <p:spPr>
          <a:xfrm>
            <a:off x="838200" y="1825624"/>
            <a:ext cx="5181600" cy="5032375"/>
          </a:xfrm>
        </p:spPr>
        <p:txBody>
          <a:bodyPr>
            <a:normAutofit/>
          </a:bodyPr>
          <a:lstStyle/>
          <a:p>
            <a:pPr marL="0" indent="0">
              <a:buNone/>
            </a:pPr>
            <a:r>
              <a:rPr lang="en-GB" dirty="0"/>
              <a:t>This can be simply implemented using an FSM with outputs, as shown.</a:t>
            </a:r>
          </a:p>
          <a:p>
            <a:pPr marL="0" indent="0">
              <a:buNone/>
            </a:pPr>
            <a:r>
              <a:rPr lang="en-GB" dirty="0"/>
              <a:t>The FSM uses outputs and will stop early when an output 1 is produced.</a:t>
            </a:r>
          </a:p>
          <a:p>
            <a:pPr marL="0" indent="0">
              <a:buNone/>
            </a:pPr>
            <a:r>
              <a:rPr lang="en-GB" dirty="0"/>
              <a:t>The only acceptable input strings, will therefore be the ones that produce a 1 output at some point.</a:t>
            </a:r>
          </a:p>
        </p:txBody>
      </p:sp>
      <p:cxnSp>
        <p:nvCxnSpPr>
          <p:cNvPr id="4" name="Straight Arrow Connector 3">
            <a:extLst>
              <a:ext uri="{FF2B5EF4-FFF2-40B4-BE49-F238E27FC236}">
                <a16:creationId xmlns:a16="http://schemas.microsoft.com/office/drawing/2014/main" id="{42BEA398-2F25-0741-3E42-D31C8ADBC092}"/>
              </a:ext>
            </a:extLst>
          </p:cNvPr>
          <p:cNvCxnSpPr>
            <a:cxnSpLocks/>
          </p:cNvCxnSpPr>
          <p:nvPr/>
        </p:nvCxnSpPr>
        <p:spPr>
          <a:xfrm>
            <a:off x="11006149" y="3825551"/>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 name="Oval 4">
            <a:extLst>
              <a:ext uri="{FF2B5EF4-FFF2-40B4-BE49-F238E27FC236}">
                <a16:creationId xmlns:a16="http://schemas.microsoft.com/office/drawing/2014/main" id="{AD75815F-A2B6-95E5-CB98-F4F064EE7429}"/>
              </a:ext>
            </a:extLst>
          </p:cNvPr>
          <p:cNvSpPr/>
          <p:nvPr/>
        </p:nvSpPr>
        <p:spPr>
          <a:xfrm>
            <a:off x="7211154"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6" name="Oval 5">
            <a:extLst>
              <a:ext uri="{FF2B5EF4-FFF2-40B4-BE49-F238E27FC236}">
                <a16:creationId xmlns:a16="http://schemas.microsoft.com/office/drawing/2014/main" id="{1EA0D0D7-1977-1B7F-ADBD-3A05461CAFC0}"/>
              </a:ext>
            </a:extLst>
          </p:cNvPr>
          <p:cNvSpPr/>
          <p:nvPr/>
        </p:nvSpPr>
        <p:spPr>
          <a:xfrm>
            <a:off x="10609400"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7" name="Straight Arrow Connector 6">
            <a:extLst>
              <a:ext uri="{FF2B5EF4-FFF2-40B4-BE49-F238E27FC236}">
                <a16:creationId xmlns:a16="http://schemas.microsoft.com/office/drawing/2014/main" id="{4A918DDC-15A5-5094-6462-95DFFA502228}"/>
              </a:ext>
            </a:extLst>
          </p:cNvPr>
          <p:cNvCxnSpPr>
            <a:cxnSpLocks/>
            <a:stCxn id="6" idx="3"/>
            <a:endCxn id="5" idx="5"/>
          </p:cNvCxnSpPr>
          <p:nvPr/>
        </p:nvCxnSpPr>
        <p:spPr>
          <a:xfrm flipH="1">
            <a:off x="8132992" y="5555017"/>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5A176258-253A-00BA-2F49-CC7E0B21A1D2}"/>
              </a:ext>
            </a:extLst>
          </p:cNvPr>
          <p:cNvSpPr txBox="1"/>
          <p:nvPr/>
        </p:nvSpPr>
        <p:spPr>
          <a:xfrm>
            <a:off x="9288099" y="5752189"/>
            <a:ext cx="562095" cy="369332"/>
          </a:xfrm>
          <a:prstGeom prst="rect">
            <a:avLst/>
          </a:prstGeom>
          <a:noFill/>
        </p:spPr>
        <p:txBody>
          <a:bodyPr wrap="square" rtlCol="0">
            <a:spAutoFit/>
          </a:bodyPr>
          <a:lstStyle/>
          <a:p>
            <a:r>
              <a:rPr lang="en-GB" b="1" dirty="0"/>
              <a:t>a/1</a:t>
            </a:r>
            <a:endParaRPr lang="en-SG" b="1" dirty="0"/>
          </a:p>
        </p:txBody>
      </p:sp>
      <p:sp>
        <p:nvSpPr>
          <p:cNvPr id="10" name="TextBox 9">
            <a:extLst>
              <a:ext uri="{FF2B5EF4-FFF2-40B4-BE49-F238E27FC236}">
                <a16:creationId xmlns:a16="http://schemas.microsoft.com/office/drawing/2014/main" id="{D9D81C89-CE1E-7835-14EC-13307F284B20}"/>
              </a:ext>
            </a:extLst>
          </p:cNvPr>
          <p:cNvSpPr txBox="1"/>
          <p:nvPr/>
        </p:nvSpPr>
        <p:spPr>
          <a:xfrm>
            <a:off x="6298772" y="3823662"/>
            <a:ext cx="1824764" cy="369332"/>
          </a:xfrm>
          <a:prstGeom prst="rect">
            <a:avLst/>
          </a:prstGeom>
          <a:noFill/>
        </p:spPr>
        <p:txBody>
          <a:bodyPr wrap="square" rtlCol="0">
            <a:spAutoFit/>
          </a:bodyPr>
          <a:lstStyle/>
          <a:p>
            <a:r>
              <a:rPr lang="en-GB" b="1" dirty="0"/>
              <a:t>Any character/1</a:t>
            </a:r>
            <a:endParaRPr lang="en-SG" b="1" dirty="0"/>
          </a:p>
        </p:txBody>
      </p:sp>
      <p:sp>
        <p:nvSpPr>
          <p:cNvPr id="12" name="Freeform: Shape 11">
            <a:extLst>
              <a:ext uri="{FF2B5EF4-FFF2-40B4-BE49-F238E27FC236}">
                <a16:creationId xmlns:a16="http://schemas.microsoft.com/office/drawing/2014/main" id="{6C99956E-D41C-CB34-6650-1A3FA72C2AB1}"/>
              </a:ext>
            </a:extLst>
          </p:cNvPr>
          <p:cNvSpPr/>
          <p:nvPr/>
        </p:nvSpPr>
        <p:spPr>
          <a:xfrm rot="10800000">
            <a:off x="11148706" y="419299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FDC75D31-78D6-8ACA-983B-4E138EB92BF0}"/>
              </a:ext>
            </a:extLst>
          </p:cNvPr>
          <p:cNvSpPr txBox="1"/>
          <p:nvPr/>
        </p:nvSpPr>
        <p:spPr>
          <a:xfrm>
            <a:off x="10349712" y="6213313"/>
            <a:ext cx="2008176" cy="369332"/>
          </a:xfrm>
          <a:prstGeom prst="rect">
            <a:avLst/>
          </a:prstGeom>
          <a:noFill/>
        </p:spPr>
        <p:txBody>
          <a:bodyPr wrap="square" rtlCol="0">
            <a:spAutoFit/>
          </a:bodyPr>
          <a:lstStyle/>
          <a:p>
            <a:r>
              <a:rPr lang="en-GB" b="1" dirty="0"/>
              <a:t>Anything but a/0</a:t>
            </a:r>
            <a:endParaRPr lang="en-SG" b="1" dirty="0"/>
          </a:p>
        </p:txBody>
      </p:sp>
      <p:sp>
        <p:nvSpPr>
          <p:cNvPr id="11" name="Freeform: Shape 10">
            <a:extLst>
              <a:ext uri="{FF2B5EF4-FFF2-40B4-BE49-F238E27FC236}">
                <a16:creationId xmlns:a16="http://schemas.microsoft.com/office/drawing/2014/main" id="{0412F662-570E-4FE3-94A6-83BC7430262C}"/>
              </a:ext>
            </a:extLst>
          </p:cNvPr>
          <p:cNvSpPr/>
          <p:nvPr/>
        </p:nvSpPr>
        <p:spPr>
          <a:xfrm>
            <a:off x="6557274" y="4254933"/>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30515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DD98A3-472B-05A4-9EF1-D3E52B4CDF3C}"/>
              </a:ext>
            </a:extLst>
          </p:cNvPr>
          <p:cNvPicPr>
            <a:picLocks noChangeAspect="1"/>
          </p:cNvPicPr>
          <p:nvPr/>
        </p:nvPicPr>
        <p:blipFill>
          <a:blip r:embed="rId2"/>
          <a:stretch>
            <a:fillRect/>
          </a:stretch>
        </p:blipFill>
        <p:spPr>
          <a:xfrm>
            <a:off x="1712752" y="0"/>
            <a:ext cx="8766495" cy="6858000"/>
          </a:xfrm>
          <a:prstGeom prst="rect">
            <a:avLst/>
          </a:prstGeom>
        </p:spPr>
      </p:pic>
    </p:spTree>
    <p:extLst>
      <p:ext uri="{BB962C8B-B14F-4D97-AF65-F5344CB8AC3E}">
        <p14:creationId xmlns:p14="http://schemas.microsoft.com/office/powerpoint/2010/main" val="1865957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A22DB-6CCD-207B-183C-76072A0F4EC7}"/>
              </a:ext>
            </a:extLst>
          </p:cNvPr>
          <p:cNvSpPr>
            <a:spLocks noGrp="1"/>
          </p:cNvSpPr>
          <p:nvPr>
            <p:ph type="title"/>
          </p:nvPr>
        </p:nvSpPr>
        <p:spPr/>
        <p:txBody>
          <a:bodyPr/>
          <a:lstStyle/>
          <a:p>
            <a:r>
              <a:rPr lang="en-GB" dirty="0"/>
              <a:t>The most basic </a:t>
            </a:r>
            <a:r>
              <a:rPr lang="en-GB" dirty="0" err="1"/>
              <a:t>RegEx</a:t>
            </a:r>
            <a:endParaRPr lang="en-SG" dirty="0"/>
          </a:p>
        </p:txBody>
      </p:sp>
      <p:sp>
        <p:nvSpPr>
          <p:cNvPr id="3" name="Content Placeholder 2">
            <a:extLst>
              <a:ext uri="{FF2B5EF4-FFF2-40B4-BE49-F238E27FC236}">
                <a16:creationId xmlns:a16="http://schemas.microsoft.com/office/drawing/2014/main" id="{3344F83E-9625-A0EF-9DEE-386E822DF0E7}"/>
              </a:ext>
            </a:extLst>
          </p:cNvPr>
          <p:cNvSpPr>
            <a:spLocks noGrp="1"/>
          </p:cNvSpPr>
          <p:nvPr>
            <p:ph sz="half" idx="1"/>
          </p:nvPr>
        </p:nvSpPr>
        <p:spPr>
          <a:xfrm>
            <a:off x="838200" y="1825624"/>
            <a:ext cx="5181600" cy="5032375"/>
          </a:xfrm>
        </p:spPr>
        <p:txBody>
          <a:bodyPr/>
          <a:lstStyle/>
          <a:p>
            <a:pPr marL="0" indent="0">
              <a:buNone/>
            </a:pPr>
            <a:r>
              <a:rPr lang="en-GB" dirty="0"/>
              <a:t>This can also be implemented as an FSM with a single stopping state being VALID.</a:t>
            </a:r>
          </a:p>
          <a:p>
            <a:pPr marL="0" indent="0">
              <a:buNone/>
            </a:pPr>
            <a:r>
              <a:rPr lang="en-GB" dirty="0"/>
              <a:t>We can even decide to stop the FSM prematurely if the next state being produced at any given time is VALID.</a:t>
            </a:r>
          </a:p>
          <a:p>
            <a:pPr marL="0" indent="0">
              <a:buNone/>
            </a:pPr>
            <a:r>
              <a:rPr lang="en-GB" i="1" dirty="0"/>
              <a:t>This is roughly equivalent.</a:t>
            </a:r>
          </a:p>
          <a:p>
            <a:pPr marL="0" indent="0">
              <a:buNone/>
            </a:pPr>
            <a:endParaRPr lang="en-GB" dirty="0"/>
          </a:p>
          <a:p>
            <a:pPr marL="0" indent="0">
              <a:buNone/>
            </a:pPr>
            <a:endParaRPr lang="en-SG" dirty="0"/>
          </a:p>
          <a:p>
            <a:pPr marL="0" indent="0">
              <a:buNone/>
            </a:pPr>
            <a:endParaRPr lang="en-GB" dirty="0"/>
          </a:p>
        </p:txBody>
      </p:sp>
      <p:cxnSp>
        <p:nvCxnSpPr>
          <p:cNvPr id="4" name="Straight Arrow Connector 3">
            <a:extLst>
              <a:ext uri="{FF2B5EF4-FFF2-40B4-BE49-F238E27FC236}">
                <a16:creationId xmlns:a16="http://schemas.microsoft.com/office/drawing/2014/main" id="{42BEA398-2F25-0741-3E42-D31C8ADBC092}"/>
              </a:ext>
            </a:extLst>
          </p:cNvPr>
          <p:cNvCxnSpPr>
            <a:cxnSpLocks/>
          </p:cNvCxnSpPr>
          <p:nvPr/>
        </p:nvCxnSpPr>
        <p:spPr>
          <a:xfrm>
            <a:off x="11006149" y="3825551"/>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 name="Oval 4">
            <a:extLst>
              <a:ext uri="{FF2B5EF4-FFF2-40B4-BE49-F238E27FC236}">
                <a16:creationId xmlns:a16="http://schemas.microsoft.com/office/drawing/2014/main" id="{AD75815F-A2B6-95E5-CB98-F4F064EE7429}"/>
              </a:ext>
            </a:extLst>
          </p:cNvPr>
          <p:cNvSpPr/>
          <p:nvPr/>
        </p:nvSpPr>
        <p:spPr>
          <a:xfrm>
            <a:off x="7211154"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6" name="Oval 5">
            <a:extLst>
              <a:ext uri="{FF2B5EF4-FFF2-40B4-BE49-F238E27FC236}">
                <a16:creationId xmlns:a16="http://schemas.microsoft.com/office/drawing/2014/main" id="{1EA0D0D7-1977-1B7F-ADBD-3A05461CAFC0}"/>
              </a:ext>
            </a:extLst>
          </p:cNvPr>
          <p:cNvSpPr/>
          <p:nvPr/>
        </p:nvSpPr>
        <p:spPr>
          <a:xfrm>
            <a:off x="10609400"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7" name="Straight Arrow Connector 6">
            <a:extLst>
              <a:ext uri="{FF2B5EF4-FFF2-40B4-BE49-F238E27FC236}">
                <a16:creationId xmlns:a16="http://schemas.microsoft.com/office/drawing/2014/main" id="{4A918DDC-15A5-5094-6462-95DFFA502228}"/>
              </a:ext>
            </a:extLst>
          </p:cNvPr>
          <p:cNvCxnSpPr>
            <a:cxnSpLocks/>
            <a:stCxn id="6" idx="3"/>
            <a:endCxn id="5" idx="5"/>
          </p:cNvCxnSpPr>
          <p:nvPr/>
        </p:nvCxnSpPr>
        <p:spPr>
          <a:xfrm flipH="1">
            <a:off x="8132992" y="5555017"/>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5A176258-253A-00BA-2F49-CC7E0B21A1D2}"/>
              </a:ext>
            </a:extLst>
          </p:cNvPr>
          <p:cNvSpPr txBox="1"/>
          <p:nvPr/>
        </p:nvSpPr>
        <p:spPr>
          <a:xfrm>
            <a:off x="9288099" y="5752189"/>
            <a:ext cx="562095" cy="369332"/>
          </a:xfrm>
          <a:prstGeom prst="rect">
            <a:avLst/>
          </a:prstGeom>
          <a:noFill/>
        </p:spPr>
        <p:txBody>
          <a:bodyPr wrap="square" rtlCol="0">
            <a:spAutoFit/>
          </a:bodyPr>
          <a:lstStyle/>
          <a:p>
            <a:r>
              <a:rPr lang="en-GB" b="1" dirty="0"/>
              <a:t>a</a:t>
            </a:r>
            <a:endParaRPr lang="en-SG" b="1" dirty="0"/>
          </a:p>
        </p:txBody>
      </p:sp>
      <p:sp>
        <p:nvSpPr>
          <p:cNvPr id="10" name="TextBox 9">
            <a:extLst>
              <a:ext uri="{FF2B5EF4-FFF2-40B4-BE49-F238E27FC236}">
                <a16:creationId xmlns:a16="http://schemas.microsoft.com/office/drawing/2014/main" id="{D9D81C89-CE1E-7835-14EC-13307F284B20}"/>
              </a:ext>
            </a:extLst>
          </p:cNvPr>
          <p:cNvSpPr txBox="1"/>
          <p:nvPr/>
        </p:nvSpPr>
        <p:spPr>
          <a:xfrm>
            <a:off x="6871997" y="3629303"/>
            <a:ext cx="1824764" cy="369332"/>
          </a:xfrm>
          <a:prstGeom prst="rect">
            <a:avLst/>
          </a:prstGeom>
          <a:noFill/>
        </p:spPr>
        <p:txBody>
          <a:bodyPr wrap="square" rtlCol="0">
            <a:spAutoFit/>
          </a:bodyPr>
          <a:lstStyle/>
          <a:p>
            <a:r>
              <a:rPr lang="en-GB" b="1" dirty="0"/>
              <a:t>Any character</a:t>
            </a:r>
            <a:endParaRPr lang="en-SG" b="1" dirty="0"/>
          </a:p>
        </p:txBody>
      </p:sp>
      <p:sp>
        <p:nvSpPr>
          <p:cNvPr id="12" name="Freeform: Shape 11">
            <a:extLst>
              <a:ext uri="{FF2B5EF4-FFF2-40B4-BE49-F238E27FC236}">
                <a16:creationId xmlns:a16="http://schemas.microsoft.com/office/drawing/2014/main" id="{6C99956E-D41C-CB34-6650-1A3FA72C2AB1}"/>
              </a:ext>
            </a:extLst>
          </p:cNvPr>
          <p:cNvSpPr/>
          <p:nvPr/>
        </p:nvSpPr>
        <p:spPr>
          <a:xfrm rot="10800000">
            <a:off x="11148706" y="419299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FDC75D31-78D6-8ACA-983B-4E138EB92BF0}"/>
              </a:ext>
            </a:extLst>
          </p:cNvPr>
          <p:cNvSpPr txBox="1"/>
          <p:nvPr/>
        </p:nvSpPr>
        <p:spPr>
          <a:xfrm>
            <a:off x="10472818" y="6096379"/>
            <a:ext cx="2008176" cy="369332"/>
          </a:xfrm>
          <a:prstGeom prst="rect">
            <a:avLst/>
          </a:prstGeom>
          <a:noFill/>
        </p:spPr>
        <p:txBody>
          <a:bodyPr wrap="square" rtlCol="0">
            <a:spAutoFit/>
          </a:bodyPr>
          <a:lstStyle/>
          <a:p>
            <a:r>
              <a:rPr lang="en-GB" b="1" dirty="0"/>
              <a:t>Anything but a</a:t>
            </a:r>
            <a:endParaRPr lang="en-SG" b="1" dirty="0"/>
          </a:p>
        </p:txBody>
      </p:sp>
      <p:sp>
        <p:nvSpPr>
          <p:cNvPr id="11" name="Oval 10">
            <a:extLst>
              <a:ext uri="{FF2B5EF4-FFF2-40B4-BE49-F238E27FC236}">
                <a16:creationId xmlns:a16="http://schemas.microsoft.com/office/drawing/2014/main" id="{82CB382C-BB60-59DD-FE03-2E7F9258618C}"/>
              </a:ext>
            </a:extLst>
          </p:cNvPr>
          <p:cNvSpPr/>
          <p:nvPr/>
        </p:nvSpPr>
        <p:spPr>
          <a:xfrm>
            <a:off x="7258508" y="4684809"/>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14" name="Freeform: Shape 13">
            <a:extLst>
              <a:ext uri="{FF2B5EF4-FFF2-40B4-BE49-F238E27FC236}">
                <a16:creationId xmlns:a16="http://schemas.microsoft.com/office/drawing/2014/main" id="{74115CCC-756E-20F0-4EBB-FD72673CD572}"/>
              </a:ext>
            </a:extLst>
          </p:cNvPr>
          <p:cNvSpPr/>
          <p:nvPr/>
        </p:nvSpPr>
        <p:spPr>
          <a:xfrm rot="5400000">
            <a:off x="7247476" y="3617054"/>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49216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0F2204-CBE3-030D-ED07-95AE1CF38BAB}"/>
              </a:ext>
            </a:extLst>
          </p:cNvPr>
          <p:cNvPicPr>
            <a:picLocks noChangeAspect="1"/>
          </p:cNvPicPr>
          <p:nvPr/>
        </p:nvPicPr>
        <p:blipFill>
          <a:blip r:embed="rId2"/>
          <a:stretch>
            <a:fillRect/>
          </a:stretch>
        </p:blipFill>
        <p:spPr>
          <a:xfrm>
            <a:off x="1434935" y="0"/>
            <a:ext cx="9322130" cy="6858000"/>
          </a:xfrm>
          <a:prstGeom prst="rect">
            <a:avLst/>
          </a:prstGeom>
        </p:spPr>
      </p:pic>
    </p:spTree>
    <p:extLst>
      <p:ext uri="{BB962C8B-B14F-4D97-AF65-F5344CB8AC3E}">
        <p14:creationId xmlns:p14="http://schemas.microsoft.com/office/powerpoint/2010/main" val="2022369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D010-8F73-A762-F8B6-8B573C7F924D}"/>
              </a:ext>
            </a:extLst>
          </p:cNvPr>
          <p:cNvSpPr>
            <a:spLocks noGrp="1"/>
          </p:cNvSpPr>
          <p:nvPr>
            <p:ph type="title"/>
          </p:nvPr>
        </p:nvSpPr>
        <p:spPr/>
        <p:txBody>
          <a:bodyPr/>
          <a:lstStyle/>
          <a:p>
            <a:r>
              <a:rPr lang="en-GB" dirty="0"/>
              <a:t>The infamous Epsilon transition</a:t>
            </a:r>
            <a:endParaRPr lang="en-SG" dirty="0"/>
          </a:p>
        </p:txBody>
      </p:sp>
      <p:sp>
        <p:nvSpPr>
          <p:cNvPr id="3" name="Content Placeholder 2">
            <a:extLst>
              <a:ext uri="{FF2B5EF4-FFF2-40B4-BE49-F238E27FC236}">
                <a16:creationId xmlns:a16="http://schemas.microsoft.com/office/drawing/2014/main" id="{7586C7BF-7E23-BF24-130D-02F2E8451505}"/>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00B050"/>
                </a:solidFill>
              </a:rPr>
              <a:t>Epsilon transition</a:t>
            </a:r>
            <a:r>
              <a:rPr lang="en-GB" b="1" dirty="0"/>
              <a:t>):</a:t>
            </a:r>
            <a:endParaRPr lang="en-GB" b="1" dirty="0">
              <a:effectLst/>
            </a:endParaRPr>
          </a:p>
          <a:p>
            <a:pPr marL="0" indent="0">
              <a:buNone/>
            </a:pPr>
            <a:r>
              <a:rPr lang="en-GB" dirty="0"/>
              <a:t>In (Non-deterministic) Finite State Machines, the </a:t>
            </a:r>
            <a:r>
              <a:rPr lang="en-GB" b="1" dirty="0">
                <a:solidFill>
                  <a:srgbClr val="00B050"/>
                </a:solidFill>
              </a:rPr>
              <a:t>Epsilon transition </a:t>
            </a:r>
            <a:r>
              <a:rPr lang="en-GB" dirty="0"/>
              <a:t>is an optional transition which offers to advance to a next state, without consuming any character from the input string </a:t>
            </a:r>
            <a:r>
              <a:rPr lang="en-GB" i="1" dirty="0"/>
              <a:t>s</a:t>
            </a:r>
            <a:r>
              <a:rPr lang="en-GB" dirty="0"/>
              <a:t>.</a:t>
            </a:r>
          </a:p>
          <a:p>
            <a:pPr marL="0" indent="0">
              <a:buNone/>
            </a:pPr>
            <a:r>
              <a:rPr lang="en-GB" b="1" dirty="0"/>
              <a:t>In Layman terms, an epsilon transition literally means “you may choose to go to the next state (or not) without using the next input character yet”.</a:t>
            </a:r>
          </a:p>
          <a:p>
            <a:pPr marL="0" indent="0">
              <a:buNone/>
            </a:pPr>
            <a:r>
              <a:rPr lang="en-GB" b="1" dirty="0"/>
              <a:t>Important note:</a:t>
            </a:r>
            <a:r>
              <a:rPr lang="en-GB" dirty="0"/>
              <a:t> When using an </a:t>
            </a:r>
            <a:r>
              <a:rPr lang="en-GB" b="1" dirty="0">
                <a:solidFill>
                  <a:srgbClr val="00B050"/>
                </a:solidFill>
              </a:rPr>
              <a:t>Epsilon transition</a:t>
            </a:r>
            <a:r>
              <a:rPr lang="en-GB" dirty="0"/>
              <a:t>, you do NOT skip the current input character. It is simply a free transition you may or may not decide to use when given the opportunity. </a:t>
            </a:r>
            <a:endParaRPr lang="en-GB" b="1" dirty="0"/>
          </a:p>
        </p:txBody>
      </p:sp>
    </p:spTree>
    <p:extLst>
      <p:ext uri="{BB962C8B-B14F-4D97-AF65-F5344CB8AC3E}">
        <p14:creationId xmlns:p14="http://schemas.microsoft.com/office/powerpoint/2010/main" val="3478712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D010-8F73-A762-F8B6-8B573C7F924D}"/>
              </a:ext>
            </a:extLst>
          </p:cNvPr>
          <p:cNvSpPr>
            <a:spLocks noGrp="1"/>
          </p:cNvSpPr>
          <p:nvPr>
            <p:ph type="title"/>
          </p:nvPr>
        </p:nvSpPr>
        <p:spPr/>
        <p:txBody>
          <a:bodyPr/>
          <a:lstStyle/>
          <a:p>
            <a:r>
              <a:rPr lang="en-GB" dirty="0"/>
              <a:t>About the Non-Deterministic FSMs</a:t>
            </a:r>
            <a:endParaRPr lang="en-SG" dirty="0"/>
          </a:p>
        </p:txBody>
      </p:sp>
      <p:sp>
        <p:nvSpPr>
          <p:cNvPr id="3" name="Content Placeholder 2">
            <a:extLst>
              <a:ext uri="{FF2B5EF4-FFF2-40B4-BE49-F238E27FC236}">
                <a16:creationId xmlns:a16="http://schemas.microsoft.com/office/drawing/2014/main" id="{7586C7BF-7E23-BF24-130D-02F2E845150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Non-Deterministic Finite State Machines</a:t>
            </a:r>
            <a:r>
              <a:rPr lang="en-GB" b="1" dirty="0"/>
              <a:t>):</a:t>
            </a:r>
          </a:p>
          <a:p>
            <a:pPr marL="0" indent="0">
              <a:buNone/>
            </a:pPr>
            <a:r>
              <a:rPr lang="en-GB" dirty="0"/>
              <a:t>The Epsilon transitions are optional, and you may or may not decide to take them at a given time.</a:t>
            </a:r>
          </a:p>
          <a:p>
            <a:pPr marL="0" indent="0">
              <a:buNone/>
            </a:pPr>
            <a:r>
              <a:rPr lang="en-GB" dirty="0"/>
              <a:t>This basically means that for a given input string </a:t>
            </a:r>
            <a:r>
              <a:rPr lang="en-GB" i="1" dirty="0"/>
              <a:t>x</a:t>
            </a:r>
            <a:r>
              <a:rPr lang="en-GB" dirty="0"/>
              <a:t>, </a:t>
            </a:r>
            <a:r>
              <a:rPr lang="en-GB" b="1" dirty="0"/>
              <a:t>there might be multiple possible paths in the FSM that can be taken</a:t>
            </a:r>
            <a:r>
              <a:rPr lang="en-GB" dirty="0"/>
              <a:t>.</a:t>
            </a:r>
          </a:p>
          <a:p>
            <a:pPr marL="0" indent="0">
              <a:buNone/>
            </a:pPr>
            <a:r>
              <a:rPr lang="en-GB" b="1" dirty="0"/>
              <a:t>These types of FSM are commonly referred to as </a:t>
            </a:r>
            <a:r>
              <a:rPr lang="en-GB" b="1" dirty="0">
                <a:solidFill>
                  <a:srgbClr val="00B050"/>
                </a:solidFill>
              </a:rPr>
              <a:t>Non-Deterministic Finite State Machines</a:t>
            </a:r>
            <a:r>
              <a:rPr lang="en-GB" b="1" dirty="0"/>
              <a:t>, or </a:t>
            </a:r>
            <a:r>
              <a:rPr lang="en-GB" b="1" dirty="0">
                <a:solidFill>
                  <a:srgbClr val="00B050"/>
                </a:solidFill>
              </a:rPr>
              <a:t>NDFSM</a:t>
            </a:r>
            <a:r>
              <a:rPr lang="en-GB" b="1" dirty="0"/>
              <a:t>.</a:t>
            </a:r>
          </a:p>
          <a:p>
            <a:pPr marL="0" indent="0">
              <a:buNone/>
            </a:pPr>
            <a:r>
              <a:rPr lang="en-GB" dirty="0"/>
              <a:t>A given NDFSM will then consider a string </a:t>
            </a:r>
            <a:r>
              <a:rPr lang="en-GB" i="1" dirty="0"/>
              <a:t>x</a:t>
            </a:r>
            <a:r>
              <a:rPr lang="en-GB" dirty="0"/>
              <a:t> to be </a:t>
            </a:r>
            <a:r>
              <a:rPr lang="en-GB" b="1" dirty="0"/>
              <a:t>acceptable</a:t>
            </a:r>
            <a:r>
              <a:rPr lang="en-GB" dirty="0"/>
              <a:t> if and only if </a:t>
            </a:r>
            <a:r>
              <a:rPr lang="en-GB" b="1" dirty="0"/>
              <a:t>there exists at least one path in the FSM that satisfies conditions in terms of stopping states or valid outputs being produced</a:t>
            </a:r>
            <a:r>
              <a:rPr lang="en-GB" dirty="0"/>
              <a:t>. </a:t>
            </a:r>
          </a:p>
        </p:txBody>
      </p:sp>
    </p:spTree>
    <p:extLst>
      <p:ext uri="{BB962C8B-B14F-4D97-AF65-F5344CB8AC3E}">
        <p14:creationId xmlns:p14="http://schemas.microsoft.com/office/powerpoint/2010/main" val="216138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146C9-78B1-3A6D-0AC7-D2B4EB90B0A6}"/>
              </a:ext>
            </a:extLst>
          </p:cNvPr>
          <p:cNvSpPr>
            <a:spLocks noGrp="1"/>
          </p:cNvSpPr>
          <p:nvPr>
            <p:ph type="title"/>
          </p:nvPr>
        </p:nvSpPr>
        <p:spPr/>
        <p:txBody>
          <a:bodyPr/>
          <a:lstStyle/>
          <a:p>
            <a:r>
              <a:rPr lang="en-GB" dirty="0"/>
              <a:t>A use case for Epsilon (Practice 2)</a:t>
            </a:r>
            <a:endParaRPr lang="en-SG" dirty="0"/>
          </a:p>
        </p:txBody>
      </p:sp>
      <p:sp>
        <p:nvSpPr>
          <p:cNvPr id="4" name="Content Placeholder 3">
            <a:extLst>
              <a:ext uri="{FF2B5EF4-FFF2-40B4-BE49-F238E27FC236}">
                <a16:creationId xmlns:a16="http://schemas.microsoft.com/office/drawing/2014/main" id="{6BD4828C-2087-AD37-6F4E-5D94C0454845}"/>
              </a:ext>
            </a:extLst>
          </p:cNvPr>
          <p:cNvSpPr>
            <a:spLocks noGrp="1"/>
          </p:cNvSpPr>
          <p:nvPr>
            <p:ph sz="half" idx="1"/>
          </p:nvPr>
        </p:nvSpPr>
        <p:spPr/>
        <p:txBody>
          <a:bodyPr/>
          <a:lstStyle/>
          <a:p>
            <a:pPr marL="0" indent="0">
              <a:buNone/>
            </a:pPr>
            <a:endParaRPr lang="en-GB" dirty="0"/>
          </a:p>
          <a:p>
            <a:pPr marL="0" indent="0">
              <a:buNone/>
            </a:pPr>
            <a:r>
              <a:rPr lang="en-GB" dirty="0"/>
              <a:t>As an example of the use for the Epsilon transition, consider the NDFSM on the right.</a:t>
            </a:r>
          </a:p>
          <a:p>
            <a:pPr marL="0" indent="0">
              <a:buNone/>
            </a:pPr>
            <a:r>
              <a:rPr lang="en-GB" b="1" dirty="0"/>
              <a:t>Question: </a:t>
            </a:r>
            <a:r>
              <a:rPr lang="en-GB" dirty="0"/>
              <a:t>What are acceptable inputs for this NDFSM?</a:t>
            </a:r>
          </a:p>
          <a:p>
            <a:endParaRPr lang="en-SG" dirty="0"/>
          </a:p>
        </p:txBody>
      </p:sp>
      <p:cxnSp>
        <p:nvCxnSpPr>
          <p:cNvPr id="6" name="Straight Arrow Connector 5">
            <a:extLst>
              <a:ext uri="{FF2B5EF4-FFF2-40B4-BE49-F238E27FC236}">
                <a16:creationId xmlns:a16="http://schemas.microsoft.com/office/drawing/2014/main" id="{287B0395-ACC4-FA73-08A1-5169457860EC}"/>
              </a:ext>
            </a:extLst>
          </p:cNvPr>
          <p:cNvCxnSpPr>
            <a:cxnSpLocks/>
          </p:cNvCxnSpPr>
          <p:nvPr/>
        </p:nvCxnSpPr>
        <p:spPr>
          <a:xfrm>
            <a:off x="11006149" y="3825551"/>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68FD1452-4415-90D5-F108-A8ACB214F730}"/>
              </a:ext>
            </a:extLst>
          </p:cNvPr>
          <p:cNvSpPr/>
          <p:nvPr/>
        </p:nvSpPr>
        <p:spPr>
          <a:xfrm>
            <a:off x="7211154"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s2</a:t>
            </a:r>
            <a:endParaRPr lang="en-SG" sz="1600" b="1" dirty="0">
              <a:solidFill>
                <a:schemeClr val="bg1"/>
              </a:solidFill>
            </a:endParaRPr>
          </a:p>
        </p:txBody>
      </p:sp>
      <p:sp>
        <p:nvSpPr>
          <p:cNvPr id="8" name="Oval 7">
            <a:extLst>
              <a:ext uri="{FF2B5EF4-FFF2-40B4-BE49-F238E27FC236}">
                <a16:creationId xmlns:a16="http://schemas.microsoft.com/office/drawing/2014/main" id="{38D5A2A9-371B-CF55-599F-12F2AD18B11C}"/>
              </a:ext>
            </a:extLst>
          </p:cNvPr>
          <p:cNvSpPr/>
          <p:nvPr/>
        </p:nvSpPr>
        <p:spPr>
          <a:xfrm>
            <a:off x="10609400"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s0</a:t>
            </a:r>
            <a:endParaRPr lang="en-SG" sz="1600" b="1" dirty="0">
              <a:solidFill>
                <a:schemeClr val="bg1"/>
              </a:solidFill>
            </a:endParaRPr>
          </a:p>
        </p:txBody>
      </p:sp>
      <p:cxnSp>
        <p:nvCxnSpPr>
          <p:cNvPr id="9" name="Straight Arrow Connector 8">
            <a:extLst>
              <a:ext uri="{FF2B5EF4-FFF2-40B4-BE49-F238E27FC236}">
                <a16:creationId xmlns:a16="http://schemas.microsoft.com/office/drawing/2014/main" id="{CCEAD84F-9276-9BA2-09EF-474CE199F074}"/>
              </a:ext>
            </a:extLst>
          </p:cNvPr>
          <p:cNvCxnSpPr>
            <a:cxnSpLocks/>
            <a:stCxn id="8" idx="2"/>
          </p:cNvCxnSpPr>
          <p:nvPr/>
        </p:nvCxnSpPr>
        <p:spPr>
          <a:xfrm flipH="1">
            <a:off x="10022508" y="5173179"/>
            <a:ext cx="586892"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02F9A307-1DB2-BFD3-80EE-6477F55B0C59}"/>
              </a:ext>
            </a:extLst>
          </p:cNvPr>
          <p:cNvSpPr txBox="1"/>
          <p:nvPr/>
        </p:nvSpPr>
        <p:spPr>
          <a:xfrm>
            <a:off x="11513228" y="6048119"/>
            <a:ext cx="562095" cy="369332"/>
          </a:xfrm>
          <a:prstGeom prst="rect">
            <a:avLst/>
          </a:prstGeom>
          <a:noFill/>
        </p:spPr>
        <p:txBody>
          <a:bodyPr wrap="square" rtlCol="0">
            <a:spAutoFit/>
          </a:bodyPr>
          <a:lstStyle/>
          <a:p>
            <a:r>
              <a:rPr lang="en-GB" b="1" dirty="0"/>
              <a:t>1</a:t>
            </a:r>
            <a:endParaRPr lang="en-SG" b="1" dirty="0"/>
          </a:p>
        </p:txBody>
      </p:sp>
      <p:sp>
        <p:nvSpPr>
          <p:cNvPr id="13" name="Freeform: Shape 12">
            <a:extLst>
              <a:ext uri="{FF2B5EF4-FFF2-40B4-BE49-F238E27FC236}">
                <a16:creationId xmlns:a16="http://schemas.microsoft.com/office/drawing/2014/main" id="{CF1E5B50-7993-FFE0-F5BE-1AA114E6D7CE}"/>
              </a:ext>
            </a:extLst>
          </p:cNvPr>
          <p:cNvSpPr/>
          <p:nvPr/>
        </p:nvSpPr>
        <p:spPr>
          <a:xfrm rot="10800000">
            <a:off x="11148706" y="419299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Oval 21">
            <a:extLst>
              <a:ext uri="{FF2B5EF4-FFF2-40B4-BE49-F238E27FC236}">
                <a16:creationId xmlns:a16="http://schemas.microsoft.com/office/drawing/2014/main" id="{0F5481CD-BDDA-4E9C-098A-1F59470B36C2}"/>
              </a:ext>
            </a:extLst>
          </p:cNvPr>
          <p:cNvSpPr/>
          <p:nvPr/>
        </p:nvSpPr>
        <p:spPr>
          <a:xfrm>
            <a:off x="8942508"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s1</a:t>
            </a:r>
            <a:endParaRPr lang="en-SG" sz="1600" b="1" dirty="0">
              <a:solidFill>
                <a:schemeClr val="bg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C3B3797-10DC-A62B-E5CE-061933377D6F}"/>
                  </a:ext>
                </a:extLst>
              </p:cNvPr>
              <p:cNvSpPr txBox="1"/>
              <p:nvPr/>
            </p:nvSpPr>
            <p:spPr>
              <a:xfrm>
                <a:off x="10088188" y="5258513"/>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𝝐</m:t>
                      </m:r>
                    </m:oMath>
                  </m:oMathPara>
                </a14:m>
                <a:endParaRPr lang="en-SG" b="1" dirty="0"/>
              </a:p>
            </p:txBody>
          </p:sp>
        </mc:Choice>
        <mc:Fallback xmlns="">
          <p:sp>
            <p:nvSpPr>
              <p:cNvPr id="24" name="TextBox 23">
                <a:extLst>
                  <a:ext uri="{FF2B5EF4-FFF2-40B4-BE49-F238E27FC236}">
                    <a16:creationId xmlns:a16="http://schemas.microsoft.com/office/drawing/2014/main" id="{9C3B3797-10DC-A62B-E5CE-061933377D6F}"/>
                  </a:ext>
                </a:extLst>
              </p:cNvPr>
              <p:cNvSpPr txBox="1">
                <a:spLocks noRot="1" noChangeAspect="1" noMove="1" noResize="1" noEditPoints="1" noAdjustHandles="1" noChangeArrowheads="1" noChangeShapeType="1" noTextEdit="1"/>
              </p:cNvSpPr>
              <p:nvPr/>
            </p:nvSpPr>
            <p:spPr>
              <a:xfrm>
                <a:off x="10088188" y="5258513"/>
                <a:ext cx="562095" cy="369332"/>
              </a:xfrm>
              <a:prstGeom prst="rect">
                <a:avLst/>
              </a:prstGeom>
              <a:blipFill>
                <a:blip r:embed="rId2"/>
                <a:stretch>
                  <a:fillRect/>
                </a:stretch>
              </a:blipFill>
            </p:spPr>
            <p:txBody>
              <a:bodyPr/>
              <a:lstStyle/>
              <a:p>
                <a:r>
                  <a:rPr lang="en-SG">
                    <a:noFill/>
                  </a:rPr>
                  <a:t> </a:t>
                </a:r>
              </a:p>
            </p:txBody>
          </p:sp>
        </mc:Fallback>
      </mc:AlternateContent>
      <p:cxnSp>
        <p:nvCxnSpPr>
          <p:cNvPr id="27" name="Straight Arrow Connector 26">
            <a:extLst>
              <a:ext uri="{FF2B5EF4-FFF2-40B4-BE49-F238E27FC236}">
                <a16:creationId xmlns:a16="http://schemas.microsoft.com/office/drawing/2014/main" id="{10CAC164-92DF-6B28-FA7E-6571C3DA5EEA}"/>
              </a:ext>
            </a:extLst>
          </p:cNvPr>
          <p:cNvCxnSpPr>
            <a:cxnSpLocks/>
            <a:stCxn id="22" idx="2"/>
            <a:endCxn id="7" idx="6"/>
          </p:cNvCxnSpPr>
          <p:nvPr/>
        </p:nvCxnSpPr>
        <p:spPr>
          <a:xfrm flipH="1">
            <a:off x="8291154" y="5173179"/>
            <a:ext cx="651354"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9567413-4730-3B7E-E0E8-FDA814D733DD}"/>
                  </a:ext>
                </a:extLst>
              </p:cNvPr>
              <p:cNvSpPr txBox="1"/>
              <p:nvPr/>
            </p:nvSpPr>
            <p:spPr>
              <a:xfrm>
                <a:off x="8347573" y="5223743"/>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𝟏</m:t>
                      </m:r>
                    </m:oMath>
                  </m:oMathPara>
                </a14:m>
                <a:endParaRPr lang="en-SG" b="1" dirty="0"/>
              </a:p>
            </p:txBody>
          </p:sp>
        </mc:Choice>
        <mc:Fallback xmlns="">
          <p:sp>
            <p:nvSpPr>
              <p:cNvPr id="30" name="TextBox 29">
                <a:extLst>
                  <a:ext uri="{FF2B5EF4-FFF2-40B4-BE49-F238E27FC236}">
                    <a16:creationId xmlns:a16="http://schemas.microsoft.com/office/drawing/2014/main" id="{D9567413-4730-3B7E-E0E8-FDA814D733DD}"/>
                  </a:ext>
                </a:extLst>
              </p:cNvPr>
              <p:cNvSpPr txBox="1">
                <a:spLocks noRot="1" noChangeAspect="1" noMove="1" noResize="1" noEditPoints="1" noAdjustHandles="1" noChangeArrowheads="1" noChangeShapeType="1" noTextEdit="1"/>
              </p:cNvSpPr>
              <p:nvPr/>
            </p:nvSpPr>
            <p:spPr>
              <a:xfrm>
                <a:off x="8347573" y="5223743"/>
                <a:ext cx="562095" cy="369332"/>
              </a:xfrm>
              <a:prstGeom prst="rect">
                <a:avLst/>
              </a:prstGeom>
              <a:blipFill>
                <a:blip r:embed="rId3"/>
                <a:stretch>
                  <a:fillRect/>
                </a:stretch>
              </a:blipFill>
            </p:spPr>
            <p:txBody>
              <a:bodyPr/>
              <a:lstStyle/>
              <a:p>
                <a:r>
                  <a:rPr lang="en-SG">
                    <a:noFill/>
                  </a:rPr>
                  <a:t> </a:t>
                </a:r>
              </a:p>
            </p:txBody>
          </p:sp>
        </mc:Fallback>
      </mc:AlternateContent>
      <p:sp>
        <p:nvSpPr>
          <p:cNvPr id="32" name="Oval 31">
            <a:extLst>
              <a:ext uri="{FF2B5EF4-FFF2-40B4-BE49-F238E27FC236}">
                <a16:creationId xmlns:a16="http://schemas.microsoft.com/office/drawing/2014/main" id="{050F7C8F-DD71-CF0B-CFC1-8C20FE7C6AD1}"/>
              </a:ext>
            </a:extLst>
          </p:cNvPr>
          <p:cNvSpPr/>
          <p:nvPr/>
        </p:nvSpPr>
        <p:spPr>
          <a:xfrm>
            <a:off x="5479800"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s3</a:t>
            </a:r>
            <a:endParaRPr lang="en-SG" sz="1600" b="1" dirty="0">
              <a:solidFill>
                <a:schemeClr val="bg1"/>
              </a:solidFill>
            </a:endParaRPr>
          </a:p>
        </p:txBody>
      </p:sp>
      <p:cxnSp>
        <p:nvCxnSpPr>
          <p:cNvPr id="33" name="Straight Arrow Connector 32">
            <a:extLst>
              <a:ext uri="{FF2B5EF4-FFF2-40B4-BE49-F238E27FC236}">
                <a16:creationId xmlns:a16="http://schemas.microsoft.com/office/drawing/2014/main" id="{D5E7BEE4-9009-0585-4209-87EEFCE20FB8}"/>
              </a:ext>
            </a:extLst>
          </p:cNvPr>
          <p:cNvCxnSpPr>
            <a:cxnSpLocks/>
            <a:endCxn id="32" idx="6"/>
          </p:cNvCxnSpPr>
          <p:nvPr/>
        </p:nvCxnSpPr>
        <p:spPr>
          <a:xfrm flipH="1">
            <a:off x="6559800" y="5173179"/>
            <a:ext cx="651354"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971BDE7-7959-34B9-C97D-3E39714DA2DE}"/>
                  </a:ext>
                </a:extLst>
              </p:cNvPr>
              <p:cNvSpPr txBox="1"/>
              <p:nvPr/>
            </p:nvSpPr>
            <p:spPr>
              <a:xfrm>
                <a:off x="6663394" y="5223743"/>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oMath>
                  </m:oMathPara>
                </a14:m>
                <a:endParaRPr lang="en-SG" b="1" dirty="0"/>
              </a:p>
            </p:txBody>
          </p:sp>
        </mc:Choice>
        <mc:Fallback xmlns="">
          <p:sp>
            <p:nvSpPr>
              <p:cNvPr id="34" name="TextBox 33">
                <a:extLst>
                  <a:ext uri="{FF2B5EF4-FFF2-40B4-BE49-F238E27FC236}">
                    <a16:creationId xmlns:a16="http://schemas.microsoft.com/office/drawing/2014/main" id="{A971BDE7-7959-34B9-C97D-3E39714DA2DE}"/>
                  </a:ext>
                </a:extLst>
              </p:cNvPr>
              <p:cNvSpPr txBox="1">
                <a:spLocks noRot="1" noChangeAspect="1" noMove="1" noResize="1" noEditPoints="1" noAdjustHandles="1" noChangeArrowheads="1" noChangeShapeType="1" noTextEdit="1"/>
              </p:cNvSpPr>
              <p:nvPr/>
            </p:nvSpPr>
            <p:spPr>
              <a:xfrm>
                <a:off x="6663394" y="5223743"/>
                <a:ext cx="562095" cy="369332"/>
              </a:xfrm>
              <a:prstGeom prst="rect">
                <a:avLst/>
              </a:prstGeom>
              <a:blipFill>
                <a:blip r:embed="rId4"/>
                <a:stretch>
                  <a:fillRect/>
                </a:stretch>
              </a:blipFill>
            </p:spPr>
            <p:txBody>
              <a:bodyPr/>
              <a:lstStyle/>
              <a:p>
                <a:r>
                  <a:rPr lang="en-SG">
                    <a:noFill/>
                  </a:rPr>
                  <a:t> </a:t>
                </a:r>
              </a:p>
            </p:txBody>
          </p:sp>
        </mc:Fallback>
      </mc:AlternateContent>
      <p:sp>
        <p:nvSpPr>
          <p:cNvPr id="35" name="Oval 34">
            <a:extLst>
              <a:ext uri="{FF2B5EF4-FFF2-40B4-BE49-F238E27FC236}">
                <a16:creationId xmlns:a16="http://schemas.microsoft.com/office/drawing/2014/main" id="{45331DC6-7B33-2A79-6B75-48690177B523}"/>
              </a:ext>
            </a:extLst>
          </p:cNvPr>
          <p:cNvSpPr/>
          <p:nvPr/>
        </p:nvSpPr>
        <p:spPr>
          <a:xfrm>
            <a:off x="8032161" y="26219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36" name="Straight Arrow Connector 35">
            <a:extLst>
              <a:ext uri="{FF2B5EF4-FFF2-40B4-BE49-F238E27FC236}">
                <a16:creationId xmlns:a16="http://schemas.microsoft.com/office/drawing/2014/main" id="{2C6806CC-E8E0-FBD4-3F08-FA660766679A}"/>
              </a:ext>
            </a:extLst>
          </p:cNvPr>
          <p:cNvCxnSpPr>
            <a:cxnSpLocks/>
            <a:stCxn id="7" idx="0"/>
            <a:endCxn id="35" idx="3"/>
          </p:cNvCxnSpPr>
          <p:nvPr/>
        </p:nvCxnSpPr>
        <p:spPr>
          <a:xfrm flipV="1">
            <a:off x="7751154" y="3543771"/>
            <a:ext cx="439169" cy="108940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19C5D670-D513-B0E2-A0D1-8824C88171C2}"/>
              </a:ext>
            </a:extLst>
          </p:cNvPr>
          <p:cNvCxnSpPr>
            <a:cxnSpLocks/>
            <a:stCxn id="32" idx="0"/>
            <a:endCxn id="35" idx="2"/>
          </p:cNvCxnSpPr>
          <p:nvPr/>
        </p:nvCxnSpPr>
        <p:spPr>
          <a:xfrm flipV="1">
            <a:off x="6019800" y="3161933"/>
            <a:ext cx="2012361" cy="147124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2" name="Straight Arrow Connector 41">
            <a:extLst>
              <a:ext uri="{FF2B5EF4-FFF2-40B4-BE49-F238E27FC236}">
                <a16:creationId xmlns:a16="http://schemas.microsoft.com/office/drawing/2014/main" id="{BDFE794D-BFFA-0117-0C9E-8E6FB6CB8C52}"/>
              </a:ext>
            </a:extLst>
          </p:cNvPr>
          <p:cNvCxnSpPr>
            <a:cxnSpLocks/>
            <a:stCxn id="22" idx="0"/>
            <a:endCxn id="35" idx="5"/>
          </p:cNvCxnSpPr>
          <p:nvPr/>
        </p:nvCxnSpPr>
        <p:spPr>
          <a:xfrm flipH="1" flipV="1">
            <a:off x="8953999" y="3543771"/>
            <a:ext cx="528509" cy="108940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EACA306B-6E2C-A069-5B0F-C38D81803A9D}"/>
              </a:ext>
            </a:extLst>
          </p:cNvPr>
          <p:cNvCxnSpPr>
            <a:cxnSpLocks/>
            <a:stCxn id="8" idx="1"/>
            <a:endCxn id="35" idx="6"/>
          </p:cNvCxnSpPr>
          <p:nvPr/>
        </p:nvCxnSpPr>
        <p:spPr>
          <a:xfrm flipH="1" flipV="1">
            <a:off x="9112161" y="3161933"/>
            <a:ext cx="1655401" cy="162940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6C5EAE8-E1B2-4E74-9B60-59D550485B83}"/>
                  </a:ext>
                </a:extLst>
              </p:cNvPr>
              <p:cNvSpPr txBox="1"/>
              <p:nvPr/>
            </p:nvSpPr>
            <p:spPr>
              <a:xfrm>
                <a:off x="9751713" y="3429000"/>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oMath>
                  </m:oMathPara>
                </a14:m>
                <a:endParaRPr lang="en-SG" b="1" dirty="0"/>
              </a:p>
            </p:txBody>
          </p:sp>
        </mc:Choice>
        <mc:Fallback xmlns="">
          <p:sp>
            <p:nvSpPr>
              <p:cNvPr id="48" name="TextBox 47">
                <a:extLst>
                  <a:ext uri="{FF2B5EF4-FFF2-40B4-BE49-F238E27FC236}">
                    <a16:creationId xmlns:a16="http://schemas.microsoft.com/office/drawing/2014/main" id="{96C5EAE8-E1B2-4E74-9B60-59D550485B83}"/>
                  </a:ext>
                </a:extLst>
              </p:cNvPr>
              <p:cNvSpPr txBox="1">
                <a:spLocks noRot="1" noChangeAspect="1" noMove="1" noResize="1" noEditPoints="1" noAdjustHandles="1" noChangeArrowheads="1" noChangeShapeType="1" noTextEdit="1"/>
              </p:cNvSpPr>
              <p:nvPr/>
            </p:nvSpPr>
            <p:spPr>
              <a:xfrm>
                <a:off x="9751713" y="3429000"/>
                <a:ext cx="562095"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24B4435-7AF4-6A4D-8C6C-B07014F8637A}"/>
                  </a:ext>
                </a:extLst>
              </p:cNvPr>
              <p:cNvSpPr txBox="1"/>
              <p:nvPr/>
            </p:nvSpPr>
            <p:spPr>
              <a:xfrm>
                <a:off x="9227776" y="399243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oMath>
                  </m:oMathPara>
                </a14:m>
                <a:endParaRPr lang="en-SG" b="1" dirty="0"/>
              </a:p>
            </p:txBody>
          </p:sp>
        </mc:Choice>
        <mc:Fallback xmlns="">
          <p:sp>
            <p:nvSpPr>
              <p:cNvPr id="49" name="TextBox 48">
                <a:extLst>
                  <a:ext uri="{FF2B5EF4-FFF2-40B4-BE49-F238E27FC236}">
                    <a16:creationId xmlns:a16="http://schemas.microsoft.com/office/drawing/2014/main" id="{624B4435-7AF4-6A4D-8C6C-B07014F8637A}"/>
                  </a:ext>
                </a:extLst>
              </p:cNvPr>
              <p:cNvSpPr txBox="1">
                <a:spLocks noRot="1" noChangeAspect="1" noMove="1" noResize="1" noEditPoints="1" noAdjustHandles="1" noChangeArrowheads="1" noChangeShapeType="1" noTextEdit="1"/>
              </p:cNvSpPr>
              <p:nvPr/>
            </p:nvSpPr>
            <p:spPr>
              <a:xfrm>
                <a:off x="9227776" y="3992431"/>
                <a:ext cx="562095"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55C29AD-C9FD-0AA2-4EF5-EED34E0C42A9}"/>
                  </a:ext>
                </a:extLst>
              </p:cNvPr>
              <p:cNvSpPr txBox="1"/>
              <p:nvPr/>
            </p:nvSpPr>
            <p:spPr>
              <a:xfrm>
                <a:off x="7866728" y="408377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𝟏</m:t>
                      </m:r>
                    </m:oMath>
                  </m:oMathPara>
                </a14:m>
                <a:endParaRPr lang="en-SG" b="1" dirty="0"/>
              </a:p>
            </p:txBody>
          </p:sp>
        </mc:Choice>
        <mc:Fallback xmlns="">
          <p:sp>
            <p:nvSpPr>
              <p:cNvPr id="50" name="TextBox 49">
                <a:extLst>
                  <a:ext uri="{FF2B5EF4-FFF2-40B4-BE49-F238E27FC236}">
                    <a16:creationId xmlns:a16="http://schemas.microsoft.com/office/drawing/2014/main" id="{655C29AD-C9FD-0AA2-4EF5-EED34E0C42A9}"/>
                  </a:ext>
                </a:extLst>
              </p:cNvPr>
              <p:cNvSpPr txBox="1">
                <a:spLocks noRot="1" noChangeAspect="1" noMove="1" noResize="1" noEditPoints="1" noAdjustHandles="1" noChangeArrowheads="1" noChangeShapeType="1" noTextEdit="1"/>
              </p:cNvSpPr>
              <p:nvPr/>
            </p:nvSpPr>
            <p:spPr>
              <a:xfrm>
                <a:off x="7866728" y="4083771"/>
                <a:ext cx="562095"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134D4CF-8F31-D8DC-7C3A-B0523451E068}"/>
                  </a:ext>
                </a:extLst>
              </p:cNvPr>
              <p:cNvSpPr txBox="1"/>
              <p:nvPr/>
            </p:nvSpPr>
            <p:spPr>
              <a:xfrm>
                <a:off x="6221381" y="3523810"/>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r>
                        <a:rPr lang="en-GB" b="1" i="1" smtClean="0">
                          <a:latin typeface="Cambria Math" panose="02040503050406030204" pitchFamily="18" charset="0"/>
                        </a:rPr>
                        <m:t> </m:t>
                      </m:r>
                      <m:r>
                        <a:rPr lang="en-GB" b="1" i="1" smtClean="0">
                          <a:latin typeface="Cambria Math" panose="02040503050406030204" pitchFamily="18" charset="0"/>
                        </a:rPr>
                        <m:t>𝒐𝒓</m:t>
                      </m:r>
                      <m:r>
                        <a:rPr lang="en-GB" b="1" i="1" smtClean="0">
                          <a:latin typeface="Cambria Math" panose="02040503050406030204" pitchFamily="18" charset="0"/>
                        </a:rPr>
                        <m:t> </m:t>
                      </m:r>
                      <m:r>
                        <a:rPr lang="en-GB" b="1" i="1" smtClean="0">
                          <a:latin typeface="Cambria Math" panose="02040503050406030204" pitchFamily="18" charset="0"/>
                        </a:rPr>
                        <m:t>𝟏</m:t>
                      </m:r>
                    </m:oMath>
                  </m:oMathPara>
                </a14:m>
                <a:endParaRPr lang="en-SG" b="1" dirty="0"/>
              </a:p>
            </p:txBody>
          </p:sp>
        </mc:Choice>
        <mc:Fallback xmlns="">
          <p:sp>
            <p:nvSpPr>
              <p:cNvPr id="51" name="TextBox 50">
                <a:extLst>
                  <a:ext uri="{FF2B5EF4-FFF2-40B4-BE49-F238E27FC236}">
                    <a16:creationId xmlns:a16="http://schemas.microsoft.com/office/drawing/2014/main" id="{A134D4CF-8F31-D8DC-7C3A-B0523451E068}"/>
                  </a:ext>
                </a:extLst>
              </p:cNvPr>
              <p:cNvSpPr txBox="1">
                <a:spLocks noRot="1" noChangeAspect="1" noMove="1" noResize="1" noEditPoints="1" noAdjustHandles="1" noChangeArrowheads="1" noChangeShapeType="1" noTextEdit="1"/>
              </p:cNvSpPr>
              <p:nvPr/>
            </p:nvSpPr>
            <p:spPr>
              <a:xfrm>
                <a:off x="6221381" y="3523810"/>
                <a:ext cx="562095" cy="369332"/>
              </a:xfrm>
              <a:prstGeom prst="rect">
                <a:avLst/>
              </a:prstGeom>
              <a:blipFill>
                <a:blip r:embed="rId8"/>
                <a:stretch>
                  <a:fillRect r="-43478"/>
                </a:stretch>
              </a:blipFill>
            </p:spPr>
            <p:txBody>
              <a:bodyPr/>
              <a:lstStyle/>
              <a:p>
                <a:r>
                  <a:rPr lang="en-SG">
                    <a:noFill/>
                  </a:rPr>
                  <a:t> </a:t>
                </a:r>
              </a:p>
            </p:txBody>
          </p:sp>
        </mc:Fallback>
      </mc:AlternateContent>
      <p:sp>
        <p:nvSpPr>
          <p:cNvPr id="52" name="Oval 51">
            <a:extLst>
              <a:ext uri="{FF2B5EF4-FFF2-40B4-BE49-F238E27FC236}">
                <a16:creationId xmlns:a16="http://schemas.microsoft.com/office/drawing/2014/main" id="{30E3EFFC-A19C-66E5-570A-1C372BAE9005}"/>
              </a:ext>
            </a:extLst>
          </p:cNvPr>
          <p:cNvSpPr/>
          <p:nvPr/>
        </p:nvSpPr>
        <p:spPr>
          <a:xfrm>
            <a:off x="5516546" y="4684809"/>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3" name="Freeform: Shape 2">
            <a:extLst>
              <a:ext uri="{FF2B5EF4-FFF2-40B4-BE49-F238E27FC236}">
                <a16:creationId xmlns:a16="http://schemas.microsoft.com/office/drawing/2014/main" id="{B4B4995C-6649-7077-D678-518EF48B858E}"/>
              </a:ext>
            </a:extLst>
          </p:cNvPr>
          <p:cNvSpPr/>
          <p:nvPr/>
        </p:nvSpPr>
        <p:spPr>
          <a:xfrm rot="5400000">
            <a:off x="8025476" y="1530477"/>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C2A2C88-2F14-2B94-3183-1274420361E3}"/>
                  </a:ext>
                </a:extLst>
              </p:cNvPr>
              <p:cNvSpPr txBox="1"/>
              <p:nvPr/>
            </p:nvSpPr>
            <p:spPr>
              <a:xfrm>
                <a:off x="8147775" y="152323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r>
                        <a:rPr lang="en-GB" b="1" i="1" smtClean="0">
                          <a:latin typeface="Cambria Math" panose="02040503050406030204" pitchFamily="18" charset="0"/>
                        </a:rPr>
                        <m:t> </m:t>
                      </m:r>
                      <m:r>
                        <a:rPr lang="en-GB" b="1" i="1" smtClean="0">
                          <a:latin typeface="Cambria Math" panose="02040503050406030204" pitchFamily="18" charset="0"/>
                        </a:rPr>
                        <m:t>𝒐𝒓</m:t>
                      </m:r>
                      <m:r>
                        <a:rPr lang="en-GB" b="1" i="1" smtClean="0">
                          <a:latin typeface="Cambria Math" panose="02040503050406030204" pitchFamily="18" charset="0"/>
                        </a:rPr>
                        <m:t> </m:t>
                      </m:r>
                      <m:r>
                        <a:rPr lang="en-GB" b="1" i="1" smtClean="0">
                          <a:latin typeface="Cambria Math" panose="02040503050406030204" pitchFamily="18" charset="0"/>
                        </a:rPr>
                        <m:t>𝟏</m:t>
                      </m:r>
                    </m:oMath>
                  </m:oMathPara>
                </a14:m>
                <a:endParaRPr lang="en-SG" b="1" dirty="0"/>
              </a:p>
            </p:txBody>
          </p:sp>
        </mc:Choice>
        <mc:Fallback xmlns="">
          <p:sp>
            <p:nvSpPr>
              <p:cNvPr id="5" name="TextBox 4">
                <a:extLst>
                  <a:ext uri="{FF2B5EF4-FFF2-40B4-BE49-F238E27FC236}">
                    <a16:creationId xmlns:a16="http://schemas.microsoft.com/office/drawing/2014/main" id="{AC2A2C88-2F14-2B94-3183-1274420361E3}"/>
                  </a:ext>
                </a:extLst>
              </p:cNvPr>
              <p:cNvSpPr txBox="1">
                <a:spLocks noRot="1" noChangeAspect="1" noMove="1" noResize="1" noEditPoints="1" noAdjustHandles="1" noChangeArrowheads="1" noChangeShapeType="1" noTextEdit="1"/>
              </p:cNvSpPr>
              <p:nvPr/>
            </p:nvSpPr>
            <p:spPr>
              <a:xfrm>
                <a:off x="8147775" y="1523231"/>
                <a:ext cx="562095" cy="369332"/>
              </a:xfrm>
              <a:prstGeom prst="rect">
                <a:avLst/>
              </a:prstGeom>
              <a:blipFill>
                <a:blip r:embed="rId9"/>
                <a:stretch>
                  <a:fillRect r="-43478"/>
                </a:stretch>
              </a:blipFill>
            </p:spPr>
            <p:txBody>
              <a:bodyPr/>
              <a:lstStyle/>
              <a:p>
                <a:r>
                  <a:rPr lang="en-SG">
                    <a:noFill/>
                  </a:rPr>
                  <a:t> </a:t>
                </a:r>
              </a:p>
            </p:txBody>
          </p:sp>
        </mc:Fallback>
      </mc:AlternateContent>
    </p:spTree>
    <p:extLst>
      <p:ext uri="{BB962C8B-B14F-4D97-AF65-F5344CB8AC3E}">
        <p14:creationId xmlns:p14="http://schemas.microsoft.com/office/powerpoint/2010/main" val="2376719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146C9-78B1-3A6D-0AC7-D2B4EB90B0A6}"/>
              </a:ext>
            </a:extLst>
          </p:cNvPr>
          <p:cNvSpPr>
            <a:spLocks noGrp="1"/>
          </p:cNvSpPr>
          <p:nvPr>
            <p:ph type="title"/>
          </p:nvPr>
        </p:nvSpPr>
        <p:spPr/>
        <p:txBody>
          <a:bodyPr/>
          <a:lstStyle/>
          <a:p>
            <a:r>
              <a:rPr lang="en-GB" dirty="0"/>
              <a:t>A use case for Epsilon (Practice 2)</a:t>
            </a:r>
            <a:endParaRPr lang="en-SG" dirty="0"/>
          </a:p>
        </p:txBody>
      </p:sp>
      <p:sp>
        <p:nvSpPr>
          <p:cNvPr id="4" name="Content Placeholder 3">
            <a:extLst>
              <a:ext uri="{FF2B5EF4-FFF2-40B4-BE49-F238E27FC236}">
                <a16:creationId xmlns:a16="http://schemas.microsoft.com/office/drawing/2014/main" id="{6BD4828C-2087-AD37-6F4E-5D94C0454845}"/>
              </a:ext>
            </a:extLst>
          </p:cNvPr>
          <p:cNvSpPr>
            <a:spLocks noGrp="1"/>
          </p:cNvSpPr>
          <p:nvPr>
            <p:ph sz="half" idx="1"/>
          </p:nvPr>
        </p:nvSpPr>
        <p:spPr>
          <a:xfrm>
            <a:off x="838200" y="1825624"/>
            <a:ext cx="5181600" cy="5032375"/>
          </a:xfrm>
        </p:spPr>
        <p:txBody>
          <a:bodyPr>
            <a:normAutofit/>
          </a:bodyPr>
          <a:lstStyle/>
          <a:p>
            <a:pPr marL="0" indent="0">
              <a:buNone/>
            </a:pPr>
            <a:r>
              <a:rPr lang="en-GB" dirty="0"/>
              <a:t>As an example of the use for the Epsilon transition, consider the NDFSM on the right.</a:t>
            </a:r>
          </a:p>
          <a:p>
            <a:pPr marL="0" indent="0">
              <a:buNone/>
            </a:pPr>
            <a:r>
              <a:rPr lang="en-GB" b="1" dirty="0"/>
              <a:t>Question: </a:t>
            </a:r>
            <a:r>
              <a:rPr lang="en-GB" dirty="0"/>
              <a:t>What are acceptable inputs for this NDFSM?</a:t>
            </a:r>
          </a:p>
          <a:p>
            <a:pPr marL="0" indent="0">
              <a:buNone/>
            </a:pPr>
            <a:r>
              <a:rPr lang="en-GB" b="1" dirty="0"/>
              <a:t>Answer: </a:t>
            </a:r>
            <a:r>
              <a:rPr lang="en-GB" dirty="0"/>
              <a:t>Any string that</a:t>
            </a:r>
            <a:br>
              <a:rPr lang="en-GB" dirty="0"/>
            </a:br>
            <a:r>
              <a:rPr lang="en-GB" dirty="0"/>
              <a:t>consists of any number of</a:t>
            </a:r>
            <a:br>
              <a:rPr lang="en-GB" dirty="0"/>
            </a:br>
            <a:r>
              <a:rPr lang="en-GB" dirty="0"/>
              <a:t>ones (but at least one), and</a:t>
            </a:r>
            <a:br>
              <a:rPr lang="en-GB" dirty="0"/>
            </a:br>
            <a:r>
              <a:rPr lang="en-GB" dirty="0"/>
              <a:t>then finishes with exactly</a:t>
            </a:r>
            <a:br>
              <a:rPr lang="en-GB" dirty="0"/>
            </a:br>
            <a:r>
              <a:rPr lang="en-GB" dirty="0"/>
              <a:t>one zero (e.g. 10, 110, 1110, 111111110, etc.)</a:t>
            </a:r>
          </a:p>
        </p:txBody>
      </p:sp>
      <p:cxnSp>
        <p:nvCxnSpPr>
          <p:cNvPr id="6" name="Straight Arrow Connector 5">
            <a:extLst>
              <a:ext uri="{FF2B5EF4-FFF2-40B4-BE49-F238E27FC236}">
                <a16:creationId xmlns:a16="http://schemas.microsoft.com/office/drawing/2014/main" id="{287B0395-ACC4-FA73-08A1-5169457860EC}"/>
              </a:ext>
            </a:extLst>
          </p:cNvPr>
          <p:cNvCxnSpPr>
            <a:cxnSpLocks/>
          </p:cNvCxnSpPr>
          <p:nvPr/>
        </p:nvCxnSpPr>
        <p:spPr>
          <a:xfrm>
            <a:off x="11006149" y="3825551"/>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68FD1452-4415-90D5-F108-A8ACB214F730}"/>
              </a:ext>
            </a:extLst>
          </p:cNvPr>
          <p:cNvSpPr/>
          <p:nvPr/>
        </p:nvSpPr>
        <p:spPr>
          <a:xfrm>
            <a:off x="7211154"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s2</a:t>
            </a:r>
            <a:endParaRPr lang="en-SG" sz="1600" b="1" dirty="0">
              <a:solidFill>
                <a:schemeClr val="bg1"/>
              </a:solidFill>
            </a:endParaRPr>
          </a:p>
        </p:txBody>
      </p:sp>
      <p:sp>
        <p:nvSpPr>
          <p:cNvPr id="8" name="Oval 7">
            <a:extLst>
              <a:ext uri="{FF2B5EF4-FFF2-40B4-BE49-F238E27FC236}">
                <a16:creationId xmlns:a16="http://schemas.microsoft.com/office/drawing/2014/main" id="{38D5A2A9-371B-CF55-599F-12F2AD18B11C}"/>
              </a:ext>
            </a:extLst>
          </p:cNvPr>
          <p:cNvSpPr/>
          <p:nvPr/>
        </p:nvSpPr>
        <p:spPr>
          <a:xfrm>
            <a:off x="10609400"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s0</a:t>
            </a:r>
            <a:endParaRPr lang="en-SG" sz="1600" b="1" dirty="0">
              <a:solidFill>
                <a:schemeClr val="bg1"/>
              </a:solidFill>
            </a:endParaRPr>
          </a:p>
        </p:txBody>
      </p:sp>
      <p:cxnSp>
        <p:nvCxnSpPr>
          <p:cNvPr id="9" name="Straight Arrow Connector 8">
            <a:extLst>
              <a:ext uri="{FF2B5EF4-FFF2-40B4-BE49-F238E27FC236}">
                <a16:creationId xmlns:a16="http://schemas.microsoft.com/office/drawing/2014/main" id="{CCEAD84F-9276-9BA2-09EF-474CE199F074}"/>
              </a:ext>
            </a:extLst>
          </p:cNvPr>
          <p:cNvCxnSpPr>
            <a:cxnSpLocks/>
            <a:stCxn id="8" idx="2"/>
          </p:cNvCxnSpPr>
          <p:nvPr/>
        </p:nvCxnSpPr>
        <p:spPr>
          <a:xfrm flipH="1">
            <a:off x="10022508" y="5173179"/>
            <a:ext cx="586892"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02F9A307-1DB2-BFD3-80EE-6477F55B0C59}"/>
              </a:ext>
            </a:extLst>
          </p:cNvPr>
          <p:cNvSpPr txBox="1"/>
          <p:nvPr/>
        </p:nvSpPr>
        <p:spPr>
          <a:xfrm>
            <a:off x="11513228" y="6048119"/>
            <a:ext cx="562095" cy="369332"/>
          </a:xfrm>
          <a:prstGeom prst="rect">
            <a:avLst/>
          </a:prstGeom>
          <a:noFill/>
        </p:spPr>
        <p:txBody>
          <a:bodyPr wrap="square" rtlCol="0">
            <a:spAutoFit/>
          </a:bodyPr>
          <a:lstStyle/>
          <a:p>
            <a:r>
              <a:rPr lang="en-GB" b="1" dirty="0"/>
              <a:t>1</a:t>
            </a:r>
            <a:endParaRPr lang="en-SG" b="1" dirty="0"/>
          </a:p>
        </p:txBody>
      </p:sp>
      <p:sp>
        <p:nvSpPr>
          <p:cNvPr id="13" name="Freeform: Shape 12">
            <a:extLst>
              <a:ext uri="{FF2B5EF4-FFF2-40B4-BE49-F238E27FC236}">
                <a16:creationId xmlns:a16="http://schemas.microsoft.com/office/drawing/2014/main" id="{CF1E5B50-7993-FFE0-F5BE-1AA114E6D7CE}"/>
              </a:ext>
            </a:extLst>
          </p:cNvPr>
          <p:cNvSpPr/>
          <p:nvPr/>
        </p:nvSpPr>
        <p:spPr>
          <a:xfrm rot="10800000">
            <a:off x="11148706" y="419299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Oval 21">
            <a:extLst>
              <a:ext uri="{FF2B5EF4-FFF2-40B4-BE49-F238E27FC236}">
                <a16:creationId xmlns:a16="http://schemas.microsoft.com/office/drawing/2014/main" id="{0F5481CD-BDDA-4E9C-098A-1F59470B36C2}"/>
              </a:ext>
            </a:extLst>
          </p:cNvPr>
          <p:cNvSpPr/>
          <p:nvPr/>
        </p:nvSpPr>
        <p:spPr>
          <a:xfrm>
            <a:off x="8942508"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s1</a:t>
            </a:r>
            <a:endParaRPr lang="en-SG" sz="1600" b="1" dirty="0">
              <a:solidFill>
                <a:schemeClr val="bg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C3B3797-10DC-A62B-E5CE-061933377D6F}"/>
                  </a:ext>
                </a:extLst>
              </p:cNvPr>
              <p:cNvSpPr txBox="1"/>
              <p:nvPr/>
            </p:nvSpPr>
            <p:spPr>
              <a:xfrm>
                <a:off x="10088188" y="5258513"/>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𝝐</m:t>
                      </m:r>
                    </m:oMath>
                  </m:oMathPara>
                </a14:m>
                <a:endParaRPr lang="en-SG" b="1" dirty="0"/>
              </a:p>
            </p:txBody>
          </p:sp>
        </mc:Choice>
        <mc:Fallback xmlns="">
          <p:sp>
            <p:nvSpPr>
              <p:cNvPr id="24" name="TextBox 23">
                <a:extLst>
                  <a:ext uri="{FF2B5EF4-FFF2-40B4-BE49-F238E27FC236}">
                    <a16:creationId xmlns:a16="http://schemas.microsoft.com/office/drawing/2014/main" id="{9C3B3797-10DC-A62B-E5CE-061933377D6F}"/>
                  </a:ext>
                </a:extLst>
              </p:cNvPr>
              <p:cNvSpPr txBox="1">
                <a:spLocks noRot="1" noChangeAspect="1" noMove="1" noResize="1" noEditPoints="1" noAdjustHandles="1" noChangeArrowheads="1" noChangeShapeType="1" noTextEdit="1"/>
              </p:cNvSpPr>
              <p:nvPr/>
            </p:nvSpPr>
            <p:spPr>
              <a:xfrm>
                <a:off x="10088188" y="5258513"/>
                <a:ext cx="562095" cy="369332"/>
              </a:xfrm>
              <a:prstGeom prst="rect">
                <a:avLst/>
              </a:prstGeom>
              <a:blipFill>
                <a:blip r:embed="rId2"/>
                <a:stretch>
                  <a:fillRect/>
                </a:stretch>
              </a:blipFill>
            </p:spPr>
            <p:txBody>
              <a:bodyPr/>
              <a:lstStyle/>
              <a:p>
                <a:r>
                  <a:rPr lang="en-SG">
                    <a:noFill/>
                  </a:rPr>
                  <a:t> </a:t>
                </a:r>
              </a:p>
            </p:txBody>
          </p:sp>
        </mc:Fallback>
      </mc:AlternateContent>
      <p:cxnSp>
        <p:nvCxnSpPr>
          <p:cNvPr id="27" name="Straight Arrow Connector 26">
            <a:extLst>
              <a:ext uri="{FF2B5EF4-FFF2-40B4-BE49-F238E27FC236}">
                <a16:creationId xmlns:a16="http://schemas.microsoft.com/office/drawing/2014/main" id="{10CAC164-92DF-6B28-FA7E-6571C3DA5EEA}"/>
              </a:ext>
            </a:extLst>
          </p:cNvPr>
          <p:cNvCxnSpPr>
            <a:cxnSpLocks/>
            <a:stCxn id="22" idx="2"/>
            <a:endCxn id="7" idx="6"/>
          </p:cNvCxnSpPr>
          <p:nvPr/>
        </p:nvCxnSpPr>
        <p:spPr>
          <a:xfrm flipH="1">
            <a:off x="8291154" y="5173179"/>
            <a:ext cx="651354"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9567413-4730-3B7E-E0E8-FDA814D733DD}"/>
                  </a:ext>
                </a:extLst>
              </p:cNvPr>
              <p:cNvSpPr txBox="1"/>
              <p:nvPr/>
            </p:nvSpPr>
            <p:spPr>
              <a:xfrm>
                <a:off x="8347573" y="5223743"/>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𝟏</m:t>
                      </m:r>
                    </m:oMath>
                  </m:oMathPara>
                </a14:m>
                <a:endParaRPr lang="en-SG" b="1" dirty="0"/>
              </a:p>
            </p:txBody>
          </p:sp>
        </mc:Choice>
        <mc:Fallback xmlns="">
          <p:sp>
            <p:nvSpPr>
              <p:cNvPr id="30" name="TextBox 29">
                <a:extLst>
                  <a:ext uri="{FF2B5EF4-FFF2-40B4-BE49-F238E27FC236}">
                    <a16:creationId xmlns:a16="http://schemas.microsoft.com/office/drawing/2014/main" id="{D9567413-4730-3B7E-E0E8-FDA814D733DD}"/>
                  </a:ext>
                </a:extLst>
              </p:cNvPr>
              <p:cNvSpPr txBox="1">
                <a:spLocks noRot="1" noChangeAspect="1" noMove="1" noResize="1" noEditPoints="1" noAdjustHandles="1" noChangeArrowheads="1" noChangeShapeType="1" noTextEdit="1"/>
              </p:cNvSpPr>
              <p:nvPr/>
            </p:nvSpPr>
            <p:spPr>
              <a:xfrm>
                <a:off x="8347573" y="5223743"/>
                <a:ext cx="562095" cy="369332"/>
              </a:xfrm>
              <a:prstGeom prst="rect">
                <a:avLst/>
              </a:prstGeom>
              <a:blipFill>
                <a:blip r:embed="rId3"/>
                <a:stretch>
                  <a:fillRect/>
                </a:stretch>
              </a:blipFill>
            </p:spPr>
            <p:txBody>
              <a:bodyPr/>
              <a:lstStyle/>
              <a:p>
                <a:r>
                  <a:rPr lang="en-SG">
                    <a:noFill/>
                  </a:rPr>
                  <a:t> </a:t>
                </a:r>
              </a:p>
            </p:txBody>
          </p:sp>
        </mc:Fallback>
      </mc:AlternateContent>
      <p:sp>
        <p:nvSpPr>
          <p:cNvPr id="32" name="Oval 31">
            <a:extLst>
              <a:ext uri="{FF2B5EF4-FFF2-40B4-BE49-F238E27FC236}">
                <a16:creationId xmlns:a16="http://schemas.microsoft.com/office/drawing/2014/main" id="{050F7C8F-DD71-CF0B-CFC1-8C20FE7C6AD1}"/>
              </a:ext>
            </a:extLst>
          </p:cNvPr>
          <p:cNvSpPr/>
          <p:nvPr/>
        </p:nvSpPr>
        <p:spPr>
          <a:xfrm>
            <a:off x="5479800" y="46331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s3</a:t>
            </a:r>
            <a:endParaRPr lang="en-SG" sz="1600" b="1" dirty="0">
              <a:solidFill>
                <a:schemeClr val="bg1"/>
              </a:solidFill>
            </a:endParaRPr>
          </a:p>
        </p:txBody>
      </p:sp>
      <p:cxnSp>
        <p:nvCxnSpPr>
          <p:cNvPr id="33" name="Straight Arrow Connector 32">
            <a:extLst>
              <a:ext uri="{FF2B5EF4-FFF2-40B4-BE49-F238E27FC236}">
                <a16:creationId xmlns:a16="http://schemas.microsoft.com/office/drawing/2014/main" id="{D5E7BEE4-9009-0585-4209-87EEFCE20FB8}"/>
              </a:ext>
            </a:extLst>
          </p:cNvPr>
          <p:cNvCxnSpPr>
            <a:cxnSpLocks/>
            <a:endCxn id="32" idx="6"/>
          </p:cNvCxnSpPr>
          <p:nvPr/>
        </p:nvCxnSpPr>
        <p:spPr>
          <a:xfrm flipH="1">
            <a:off x="6559800" y="5173179"/>
            <a:ext cx="651354"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971BDE7-7959-34B9-C97D-3E39714DA2DE}"/>
                  </a:ext>
                </a:extLst>
              </p:cNvPr>
              <p:cNvSpPr txBox="1"/>
              <p:nvPr/>
            </p:nvSpPr>
            <p:spPr>
              <a:xfrm>
                <a:off x="6663394" y="5223743"/>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oMath>
                  </m:oMathPara>
                </a14:m>
                <a:endParaRPr lang="en-SG" b="1" dirty="0"/>
              </a:p>
            </p:txBody>
          </p:sp>
        </mc:Choice>
        <mc:Fallback xmlns="">
          <p:sp>
            <p:nvSpPr>
              <p:cNvPr id="34" name="TextBox 33">
                <a:extLst>
                  <a:ext uri="{FF2B5EF4-FFF2-40B4-BE49-F238E27FC236}">
                    <a16:creationId xmlns:a16="http://schemas.microsoft.com/office/drawing/2014/main" id="{A971BDE7-7959-34B9-C97D-3E39714DA2DE}"/>
                  </a:ext>
                </a:extLst>
              </p:cNvPr>
              <p:cNvSpPr txBox="1">
                <a:spLocks noRot="1" noChangeAspect="1" noMove="1" noResize="1" noEditPoints="1" noAdjustHandles="1" noChangeArrowheads="1" noChangeShapeType="1" noTextEdit="1"/>
              </p:cNvSpPr>
              <p:nvPr/>
            </p:nvSpPr>
            <p:spPr>
              <a:xfrm>
                <a:off x="6663394" y="5223743"/>
                <a:ext cx="562095" cy="369332"/>
              </a:xfrm>
              <a:prstGeom prst="rect">
                <a:avLst/>
              </a:prstGeom>
              <a:blipFill>
                <a:blip r:embed="rId4"/>
                <a:stretch>
                  <a:fillRect/>
                </a:stretch>
              </a:blipFill>
            </p:spPr>
            <p:txBody>
              <a:bodyPr/>
              <a:lstStyle/>
              <a:p>
                <a:r>
                  <a:rPr lang="en-SG">
                    <a:noFill/>
                  </a:rPr>
                  <a:t> </a:t>
                </a:r>
              </a:p>
            </p:txBody>
          </p:sp>
        </mc:Fallback>
      </mc:AlternateContent>
      <p:sp>
        <p:nvSpPr>
          <p:cNvPr id="35" name="Oval 34">
            <a:extLst>
              <a:ext uri="{FF2B5EF4-FFF2-40B4-BE49-F238E27FC236}">
                <a16:creationId xmlns:a16="http://schemas.microsoft.com/office/drawing/2014/main" id="{45331DC6-7B33-2A79-6B75-48690177B523}"/>
              </a:ext>
            </a:extLst>
          </p:cNvPr>
          <p:cNvSpPr/>
          <p:nvPr/>
        </p:nvSpPr>
        <p:spPr>
          <a:xfrm>
            <a:off x="8032161" y="26219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36" name="Straight Arrow Connector 35">
            <a:extLst>
              <a:ext uri="{FF2B5EF4-FFF2-40B4-BE49-F238E27FC236}">
                <a16:creationId xmlns:a16="http://schemas.microsoft.com/office/drawing/2014/main" id="{2C6806CC-E8E0-FBD4-3F08-FA660766679A}"/>
              </a:ext>
            </a:extLst>
          </p:cNvPr>
          <p:cNvCxnSpPr>
            <a:cxnSpLocks/>
            <a:stCxn id="7" idx="0"/>
            <a:endCxn id="35" idx="3"/>
          </p:cNvCxnSpPr>
          <p:nvPr/>
        </p:nvCxnSpPr>
        <p:spPr>
          <a:xfrm flipV="1">
            <a:off x="7751154" y="3543771"/>
            <a:ext cx="439169" cy="108940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19C5D670-D513-B0E2-A0D1-8824C88171C2}"/>
              </a:ext>
            </a:extLst>
          </p:cNvPr>
          <p:cNvCxnSpPr>
            <a:cxnSpLocks/>
            <a:stCxn id="32" idx="0"/>
            <a:endCxn id="35" idx="2"/>
          </p:cNvCxnSpPr>
          <p:nvPr/>
        </p:nvCxnSpPr>
        <p:spPr>
          <a:xfrm flipV="1">
            <a:off x="6019800" y="3161933"/>
            <a:ext cx="2012361" cy="147124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2" name="Straight Arrow Connector 41">
            <a:extLst>
              <a:ext uri="{FF2B5EF4-FFF2-40B4-BE49-F238E27FC236}">
                <a16:creationId xmlns:a16="http://schemas.microsoft.com/office/drawing/2014/main" id="{BDFE794D-BFFA-0117-0C9E-8E6FB6CB8C52}"/>
              </a:ext>
            </a:extLst>
          </p:cNvPr>
          <p:cNvCxnSpPr>
            <a:cxnSpLocks/>
            <a:stCxn id="22" idx="0"/>
            <a:endCxn id="35" idx="5"/>
          </p:cNvCxnSpPr>
          <p:nvPr/>
        </p:nvCxnSpPr>
        <p:spPr>
          <a:xfrm flipH="1" flipV="1">
            <a:off x="8953999" y="3543771"/>
            <a:ext cx="528509" cy="108940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EACA306B-6E2C-A069-5B0F-C38D81803A9D}"/>
              </a:ext>
            </a:extLst>
          </p:cNvPr>
          <p:cNvCxnSpPr>
            <a:cxnSpLocks/>
            <a:stCxn id="8" idx="1"/>
            <a:endCxn id="35" idx="6"/>
          </p:cNvCxnSpPr>
          <p:nvPr/>
        </p:nvCxnSpPr>
        <p:spPr>
          <a:xfrm flipH="1" flipV="1">
            <a:off x="9112161" y="3161933"/>
            <a:ext cx="1655401" cy="162940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6C5EAE8-E1B2-4E74-9B60-59D550485B83}"/>
                  </a:ext>
                </a:extLst>
              </p:cNvPr>
              <p:cNvSpPr txBox="1"/>
              <p:nvPr/>
            </p:nvSpPr>
            <p:spPr>
              <a:xfrm>
                <a:off x="9751713" y="3429000"/>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oMath>
                  </m:oMathPara>
                </a14:m>
                <a:endParaRPr lang="en-SG" b="1" dirty="0"/>
              </a:p>
            </p:txBody>
          </p:sp>
        </mc:Choice>
        <mc:Fallback xmlns="">
          <p:sp>
            <p:nvSpPr>
              <p:cNvPr id="48" name="TextBox 47">
                <a:extLst>
                  <a:ext uri="{FF2B5EF4-FFF2-40B4-BE49-F238E27FC236}">
                    <a16:creationId xmlns:a16="http://schemas.microsoft.com/office/drawing/2014/main" id="{96C5EAE8-E1B2-4E74-9B60-59D550485B83}"/>
                  </a:ext>
                </a:extLst>
              </p:cNvPr>
              <p:cNvSpPr txBox="1">
                <a:spLocks noRot="1" noChangeAspect="1" noMove="1" noResize="1" noEditPoints="1" noAdjustHandles="1" noChangeArrowheads="1" noChangeShapeType="1" noTextEdit="1"/>
              </p:cNvSpPr>
              <p:nvPr/>
            </p:nvSpPr>
            <p:spPr>
              <a:xfrm>
                <a:off x="9751713" y="3429000"/>
                <a:ext cx="562095"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24B4435-7AF4-6A4D-8C6C-B07014F8637A}"/>
                  </a:ext>
                </a:extLst>
              </p:cNvPr>
              <p:cNvSpPr txBox="1"/>
              <p:nvPr/>
            </p:nvSpPr>
            <p:spPr>
              <a:xfrm>
                <a:off x="9227776" y="399243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oMath>
                  </m:oMathPara>
                </a14:m>
                <a:endParaRPr lang="en-SG" b="1" dirty="0"/>
              </a:p>
            </p:txBody>
          </p:sp>
        </mc:Choice>
        <mc:Fallback xmlns="">
          <p:sp>
            <p:nvSpPr>
              <p:cNvPr id="49" name="TextBox 48">
                <a:extLst>
                  <a:ext uri="{FF2B5EF4-FFF2-40B4-BE49-F238E27FC236}">
                    <a16:creationId xmlns:a16="http://schemas.microsoft.com/office/drawing/2014/main" id="{624B4435-7AF4-6A4D-8C6C-B07014F8637A}"/>
                  </a:ext>
                </a:extLst>
              </p:cNvPr>
              <p:cNvSpPr txBox="1">
                <a:spLocks noRot="1" noChangeAspect="1" noMove="1" noResize="1" noEditPoints="1" noAdjustHandles="1" noChangeArrowheads="1" noChangeShapeType="1" noTextEdit="1"/>
              </p:cNvSpPr>
              <p:nvPr/>
            </p:nvSpPr>
            <p:spPr>
              <a:xfrm>
                <a:off x="9227776" y="3992431"/>
                <a:ext cx="562095" cy="369332"/>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55C29AD-C9FD-0AA2-4EF5-EED34E0C42A9}"/>
                  </a:ext>
                </a:extLst>
              </p:cNvPr>
              <p:cNvSpPr txBox="1"/>
              <p:nvPr/>
            </p:nvSpPr>
            <p:spPr>
              <a:xfrm>
                <a:off x="7866728" y="408377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𝟏</m:t>
                      </m:r>
                    </m:oMath>
                  </m:oMathPara>
                </a14:m>
                <a:endParaRPr lang="en-SG" b="1" dirty="0"/>
              </a:p>
            </p:txBody>
          </p:sp>
        </mc:Choice>
        <mc:Fallback xmlns="">
          <p:sp>
            <p:nvSpPr>
              <p:cNvPr id="50" name="TextBox 49">
                <a:extLst>
                  <a:ext uri="{FF2B5EF4-FFF2-40B4-BE49-F238E27FC236}">
                    <a16:creationId xmlns:a16="http://schemas.microsoft.com/office/drawing/2014/main" id="{655C29AD-C9FD-0AA2-4EF5-EED34E0C42A9}"/>
                  </a:ext>
                </a:extLst>
              </p:cNvPr>
              <p:cNvSpPr txBox="1">
                <a:spLocks noRot="1" noChangeAspect="1" noMove="1" noResize="1" noEditPoints="1" noAdjustHandles="1" noChangeArrowheads="1" noChangeShapeType="1" noTextEdit="1"/>
              </p:cNvSpPr>
              <p:nvPr/>
            </p:nvSpPr>
            <p:spPr>
              <a:xfrm>
                <a:off x="7866728" y="4083771"/>
                <a:ext cx="562095"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134D4CF-8F31-D8DC-7C3A-B0523451E068}"/>
                  </a:ext>
                </a:extLst>
              </p:cNvPr>
              <p:cNvSpPr txBox="1"/>
              <p:nvPr/>
            </p:nvSpPr>
            <p:spPr>
              <a:xfrm>
                <a:off x="6221381" y="3523810"/>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r>
                        <a:rPr lang="en-GB" b="1" i="1" smtClean="0">
                          <a:latin typeface="Cambria Math" panose="02040503050406030204" pitchFamily="18" charset="0"/>
                        </a:rPr>
                        <m:t> </m:t>
                      </m:r>
                      <m:r>
                        <a:rPr lang="en-GB" b="1" i="1" smtClean="0">
                          <a:latin typeface="Cambria Math" panose="02040503050406030204" pitchFamily="18" charset="0"/>
                        </a:rPr>
                        <m:t>𝒐𝒓</m:t>
                      </m:r>
                      <m:r>
                        <a:rPr lang="en-GB" b="1" i="1" smtClean="0">
                          <a:latin typeface="Cambria Math" panose="02040503050406030204" pitchFamily="18" charset="0"/>
                        </a:rPr>
                        <m:t> </m:t>
                      </m:r>
                      <m:r>
                        <a:rPr lang="en-GB" b="1" i="1" smtClean="0">
                          <a:latin typeface="Cambria Math" panose="02040503050406030204" pitchFamily="18" charset="0"/>
                        </a:rPr>
                        <m:t>𝟏</m:t>
                      </m:r>
                    </m:oMath>
                  </m:oMathPara>
                </a14:m>
                <a:endParaRPr lang="en-SG" b="1" dirty="0"/>
              </a:p>
            </p:txBody>
          </p:sp>
        </mc:Choice>
        <mc:Fallback xmlns="">
          <p:sp>
            <p:nvSpPr>
              <p:cNvPr id="51" name="TextBox 50">
                <a:extLst>
                  <a:ext uri="{FF2B5EF4-FFF2-40B4-BE49-F238E27FC236}">
                    <a16:creationId xmlns:a16="http://schemas.microsoft.com/office/drawing/2014/main" id="{A134D4CF-8F31-D8DC-7C3A-B0523451E068}"/>
                  </a:ext>
                </a:extLst>
              </p:cNvPr>
              <p:cNvSpPr txBox="1">
                <a:spLocks noRot="1" noChangeAspect="1" noMove="1" noResize="1" noEditPoints="1" noAdjustHandles="1" noChangeArrowheads="1" noChangeShapeType="1" noTextEdit="1"/>
              </p:cNvSpPr>
              <p:nvPr/>
            </p:nvSpPr>
            <p:spPr>
              <a:xfrm>
                <a:off x="6221381" y="3523810"/>
                <a:ext cx="562095" cy="369332"/>
              </a:xfrm>
              <a:prstGeom prst="rect">
                <a:avLst/>
              </a:prstGeom>
              <a:blipFill>
                <a:blip r:embed="rId8"/>
                <a:stretch>
                  <a:fillRect r="-43478"/>
                </a:stretch>
              </a:blipFill>
            </p:spPr>
            <p:txBody>
              <a:bodyPr/>
              <a:lstStyle/>
              <a:p>
                <a:r>
                  <a:rPr lang="en-SG">
                    <a:noFill/>
                  </a:rPr>
                  <a:t> </a:t>
                </a:r>
              </a:p>
            </p:txBody>
          </p:sp>
        </mc:Fallback>
      </mc:AlternateContent>
      <p:sp>
        <p:nvSpPr>
          <p:cNvPr id="52" name="Oval 51">
            <a:extLst>
              <a:ext uri="{FF2B5EF4-FFF2-40B4-BE49-F238E27FC236}">
                <a16:creationId xmlns:a16="http://schemas.microsoft.com/office/drawing/2014/main" id="{30E3EFFC-A19C-66E5-570A-1C372BAE9005}"/>
              </a:ext>
            </a:extLst>
          </p:cNvPr>
          <p:cNvSpPr/>
          <p:nvPr/>
        </p:nvSpPr>
        <p:spPr>
          <a:xfrm>
            <a:off x="5516546" y="4684809"/>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3" name="Freeform: Shape 2">
            <a:extLst>
              <a:ext uri="{FF2B5EF4-FFF2-40B4-BE49-F238E27FC236}">
                <a16:creationId xmlns:a16="http://schemas.microsoft.com/office/drawing/2014/main" id="{A350E7EA-347F-DA21-31AB-356C96424346}"/>
              </a:ext>
            </a:extLst>
          </p:cNvPr>
          <p:cNvSpPr/>
          <p:nvPr/>
        </p:nvSpPr>
        <p:spPr>
          <a:xfrm rot="5400000">
            <a:off x="8025476" y="1530477"/>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DDE698E-68B2-5F73-DD11-FAE5871423C0}"/>
                  </a:ext>
                </a:extLst>
              </p:cNvPr>
              <p:cNvSpPr txBox="1"/>
              <p:nvPr/>
            </p:nvSpPr>
            <p:spPr>
              <a:xfrm>
                <a:off x="8147775" y="152323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r>
                        <a:rPr lang="en-GB" b="1" i="1" smtClean="0">
                          <a:latin typeface="Cambria Math" panose="02040503050406030204" pitchFamily="18" charset="0"/>
                        </a:rPr>
                        <m:t> </m:t>
                      </m:r>
                      <m:r>
                        <a:rPr lang="en-GB" b="1" i="1" smtClean="0">
                          <a:latin typeface="Cambria Math" panose="02040503050406030204" pitchFamily="18" charset="0"/>
                        </a:rPr>
                        <m:t>𝒐𝒓</m:t>
                      </m:r>
                      <m:r>
                        <a:rPr lang="en-GB" b="1" i="1" smtClean="0">
                          <a:latin typeface="Cambria Math" panose="02040503050406030204" pitchFamily="18" charset="0"/>
                        </a:rPr>
                        <m:t> </m:t>
                      </m:r>
                      <m:r>
                        <a:rPr lang="en-GB" b="1" i="1" smtClean="0">
                          <a:latin typeface="Cambria Math" panose="02040503050406030204" pitchFamily="18" charset="0"/>
                        </a:rPr>
                        <m:t>𝟏</m:t>
                      </m:r>
                    </m:oMath>
                  </m:oMathPara>
                </a14:m>
                <a:endParaRPr lang="en-SG" b="1" dirty="0"/>
              </a:p>
            </p:txBody>
          </p:sp>
        </mc:Choice>
        <mc:Fallback xmlns="">
          <p:sp>
            <p:nvSpPr>
              <p:cNvPr id="10" name="TextBox 9">
                <a:extLst>
                  <a:ext uri="{FF2B5EF4-FFF2-40B4-BE49-F238E27FC236}">
                    <a16:creationId xmlns:a16="http://schemas.microsoft.com/office/drawing/2014/main" id="{5DDE698E-68B2-5F73-DD11-FAE5871423C0}"/>
                  </a:ext>
                </a:extLst>
              </p:cNvPr>
              <p:cNvSpPr txBox="1">
                <a:spLocks noRot="1" noChangeAspect="1" noMove="1" noResize="1" noEditPoints="1" noAdjustHandles="1" noChangeArrowheads="1" noChangeShapeType="1" noTextEdit="1"/>
              </p:cNvSpPr>
              <p:nvPr/>
            </p:nvSpPr>
            <p:spPr>
              <a:xfrm>
                <a:off x="8147775" y="1523231"/>
                <a:ext cx="562095" cy="369332"/>
              </a:xfrm>
              <a:prstGeom prst="rect">
                <a:avLst/>
              </a:prstGeom>
              <a:blipFill>
                <a:blip r:embed="rId9"/>
                <a:stretch>
                  <a:fillRect r="-43478"/>
                </a:stretch>
              </a:blipFill>
            </p:spPr>
            <p:txBody>
              <a:bodyPr/>
              <a:lstStyle/>
              <a:p>
                <a:r>
                  <a:rPr lang="en-SG">
                    <a:noFill/>
                  </a:rPr>
                  <a:t> </a:t>
                </a:r>
              </a:p>
            </p:txBody>
          </p:sp>
        </mc:Fallback>
      </mc:AlternateContent>
    </p:spTree>
    <p:extLst>
      <p:ext uri="{BB962C8B-B14F-4D97-AF65-F5344CB8AC3E}">
        <p14:creationId xmlns:p14="http://schemas.microsoft.com/office/powerpoint/2010/main" val="133940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D010-8F73-A762-F8B6-8B573C7F924D}"/>
              </a:ext>
            </a:extLst>
          </p:cNvPr>
          <p:cNvSpPr>
            <a:spLocks noGrp="1"/>
          </p:cNvSpPr>
          <p:nvPr>
            <p:ph type="title"/>
          </p:nvPr>
        </p:nvSpPr>
        <p:spPr/>
        <p:txBody>
          <a:bodyPr/>
          <a:lstStyle/>
          <a:p>
            <a:r>
              <a:rPr lang="en-GB" dirty="0"/>
              <a:t>On the use of the Epsilon Transitions in </a:t>
            </a:r>
            <a:r>
              <a:rPr lang="en-GB" dirty="0" err="1"/>
              <a:t>RegEx</a:t>
            </a:r>
            <a:endParaRPr lang="en-SG" dirty="0"/>
          </a:p>
        </p:txBody>
      </p:sp>
      <p:sp>
        <p:nvSpPr>
          <p:cNvPr id="3" name="Content Placeholder 2">
            <a:extLst>
              <a:ext uri="{FF2B5EF4-FFF2-40B4-BE49-F238E27FC236}">
                <a16:creationId xmlns:a16="http://schemas.microsoft.com/office/drawing/2014/main" id="{7586C7BF-7E23-BF24-130D-02F2E845150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Epsilon transitions </a:t>
            </a:r>
            <a:r>
              <a:rPr lang="en-GB" b="1" dirty="0"/>
              <a:t>in </a:t>
            </a:r>
            <a:r>
              <a:rPr lang="en-GB" b="1" dirty="0" err="1"/>
              <a:t>RegEx</a:t>
            </a:r>
            <a:r>
              <a:rPr lang="en-GB" b="1" dirty="0"/>
              <a:t>):</a:t>
            </a:r>
            <a:endParaRPr lang="en-GB" b="1" dirty="0">
              <a:effectLst/>
            </a:endParaRPr>
          </a:p>
          <a:p>
            <a:pPr marL="0" indent="0">
              <a:buNone/>
            </a:pPr>
            <a:r>
              <a:rPr lang="en-GB" dirty="0"/>
              <a:t>One important use of epsilon transitions is in the construction of NDFSMs for </a:t>
            </a:r>
            <a:r>
              <a:rPr lang="en-GB" dirty="0" err="1"/>
              <a:t>RegEx</a:t>
            </a:r>
            <a:r>
              <a:rPr lang="en-GB" dirty="0"/>
              <a:t>. </a:t>
            </a:r>
          </a:p>
          <a:p>
            <a:pPr marL="0" indent="0">
              <a:buNone/>
            </a:pPr>
            <a:r>
              <a:rPr lang="en-GB" dirty="0"/>
              <a:t>In this context, an epsilon transition can typically be used to </a:t>
            </a:r>
            <a:r>
              <a:rPr lang="en-GB" b="1" dirty="0"/>
              <a:t>represent the empty string</a:t>
            </a:r>
            <a:r>
              <a:rPr lang="en-GB" dirty="0"/>
              <a:t>, which is often considered a valid input for many regular expressions.</a:t>
            </a:r>
          </a:p>
          <a:p>
            <a:pPr marL="0" indent="0">
              <a:buNone/>
            </a:pPr>
            <a:r>
              <a:rPr lang="en-GB" dirty="0"/>
              <a:t>By including epsilon transitions in the FSM of your </a:t>
            </a:r>
            <a:r>
              <a:rPr lang="en-GB" dirty="0" err="1"/>
              <a:t>RegEx</a:t>
            </a:r>
            <a:r>
              <a:rPr lang="en-GB" dirty="0"/>
              <a:t>,</a:t>
            </a:r>
          </a:p>
          <a:p>
            <a:r>
              <a:rPr lang="en-GB" dirty="0"/>
              <a:t>the regular expression can be represented more simply,</a:t>
            </a:r>
          </a:p>
          <a:p>
            <a:r>
              <a:rPr lang="en-GB" dirty="0"/>
              <a:t>and you may use it to combine several </a:t>
            </a:r>
            <a:r>
              <a:rPr lang="en-GB" dirty="0" err="1"/>
              <a:t>RegEx</a:t>
            </a:r>
            <a:r>
              <a:rPr lang="en-GB" dirty="0"/>
              <a:t> into a single combined one (as will be shown next).</a:t>
            </a:r>
          </a:p>
          <a:p>
            <a:pPr marL="0" indent="0">
              <a:buNone/>
            </a:pPr>
            <a:endParaRPr lang="en-SG" dirty="0"/>
          </a:p>
        </p:txBody>
      </p:sp>
    </p:spTree>
    <p:extLst>
      <p:ext uri="{BB962C8B-B14F-4D97-AF65-F5344CB8AC3E}">
        <p14:creationId xmlns:p14="http://schemas.microsoft.com/office/powerpoint/2010/main" val="1769846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B46C-6771-3E2C-EE0D-980BCF72927D}"/>
              </a:ext>
            </a:extLst>
          </p:cNvPr>
          <p:cNvSpPr>
            <a:spLocks noGrp="1"/>
          </p:cNvSpPr>
          <p:nvPr>
            <p:ph type="title"/>
          </p:nvPr>
        </p:nvSpPr>
        <p:spPr/>
        <p:txBody>
          <a:bodyPr/>
          <a:lstStyle/>
          <a:p>
            <a:r>
              <a:rPr lang="en-GB" dirty="0"/>
              <a:t>Concatenation of </a:t>
            </a:r>
            <a:r>
              <a:rPr lang="en-GB" dirty="0" err="1"/>
              <a:t>RegEx</a:t>
            </a:r>
            <a:endParaRPr lang="en-SG" dirty="0"/>
          </a:p>
        </p:txBody>
      </p:sp>
      <p:sp>
        <p:nvSpPr>
          <p:cNvPr id="3" name="Content Placeholder 2">
            <a:extLst>
              <a:ext uri="{FF2B5EF4-FFF2-40B4-BE49-F238E27FC236}">
                <a16:creationId xmlns:a16="http://schemas.microsoft.com/office/drawing/2014/main" id="{21E91F88-75AD-45CA-A480-858091A84D90}"/>
              </a:ext>
            </a:extLst>
          </p:cNvPr>
          <p:cNvSpPr>
            <a:spLocks noGrp="1"/>
          </p:cNvSpPr>
          <p:nvPr>
            <p:ph sz="half" idx="1"/>
          </p:nvPr>
        </p:nvSpPr>
        <p:spPr>
          <a:xfrm>
            <a:off x="838199" y="1825624"/>
            <a:ext cx="5680873" cy="5032375"/>
          </a:xfrm>
        </p:spPr>
        <p:txBody>
          <a:bodyPr/>
          <a:lstStyle/>
          <a:p>
            <a:pPr marL="0" indent="0">
              <a:buNone/>
            </a:pPr>
            <a:r>
              <a:rPr lang="en-GB" b="1" dirty="0"/>
              <a:t>Theorem (</a:t>
            </a:r>
            <a:r>
              <a:rPr lang="en-GB" b="1" dirty="0">
                <a:solidFill>
                  <a:srgbClr val="00B050"/>
                </a:solidFill>
              </a:rPr>
              <a:t>Concatenation</a:t>
            </a:r>
            <a:r>
              <a:rPr lang="en-GB" b="1" dirty="0"/>
              <a:t> of </a:t>
            </a:r>
            <a:r>
              <a:rPr lang="en-GB" b="1" dirty="0" err="1"/>
              <a:t>RegEx</a:t>
            </a:r>
            <a:r>
              <a:rPr lang="en-GB" b="1" dirty="0"/>
              <a:t>):</a:t>
            </a:r>
          </a:p>
          <a:p>
            <a:pPr marL="0" indent="0">
              <a:buNone/>
            </a:pPr>
            <a:r>
              <a:rPr lang="en-GB" dirty="0"/>
              <a:t>Assume that we have two </a:t>
            </a:r>
            <a:r>
              <a:rPr lang="en-GB" dirty="0" err="1"/>
              <a:t>RegEx</a:t>
            </a:r>
            <a:r>
              <a:rPr lang="en-GB" dirty="0"/>
              <a:t>, e.g. </a:t>
            </a:r>
          </a:p>
          <a:p>
            <a:r>
              <a:rPr lang="en-GB" dirty="0"/>
              <a:t>our first </a:t>
            </a:r>
            <a:r>
              <a:rPr lang="en-GB" dirty="0" err="1"/>
              <a:t>RegEx</a:t>
            </a:r>
            <a:r>
              <a:rPr lang="en-GB" dirty="0"/>
              <a:t> is “a”</a:t>
            </a:r>
          </a:p>
          <a:p>
            <a:r>
              <a:rPr lang="en-GB" dirty="0"/>
              <a:t>and our second </a:t>
            </a:r>
            <a:r>
              <a:rPr lang="en-GB" dirty="0" err="1"/>
              <a:t>RegEx</a:t>
            </a:r>
            <a:r>
              <a:rPr lang="en-GB" dirty="0"/>
              <a:t> is “b”,</a:t>
            </a:r>
          </a:p>
          <a:p>
            <a:r>
              <a:rPr lang="en-GB" dirty="0"/>
              <a:t>and we have defined their respective two FSMs.</a:t>
            </a:r>
          </a:p>
        </p:txBody>
      </p:sp>
      <p:cxnSp>
        <p:nvCxnSpPr>
          <p:cNvPr id="13" name="Straight Arrow Connector 12">
            <a:extLst>
              <a:ext uri="{FF2B5EF4-FFF2-40B4-BE49-F238E27FC236}">
                <a16:creationId xmlns:a16="http://schemas.microsoft.com/office/drawing/2014/main" id="{5157B2BC-5667-A61C-9963-3A46FECF5CCB}"/>
              </a:ext>
            </a:extLst>
          </p:cNvPr>
          <p:cNvCxnSpPr>
            <a:cxnSpLocks/>
          </p:cNvCxnSpPr>
          <p:nvPr/>
        </p:nvCxnSpPr>
        <p:spPr>
          <a:xfrm>
            <a:off x="11006149" y="4038387"/>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3" name="Oval 22">
            <a:extLst>
              <a:ext uri="{FF2B5EF4-FFF2-40B4-BE49-F238E27FC236}">
                <a16:creationId xmlns:a16="http://schemas.microsoft.com/office/drawing/2014/main" id="{6A314DDC-777E-7666-253B-0A69B0D80B4A}"/>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25" name="Oval 24">
            <a:extLst>
              <a:ext uri="{FF2B5EF4-FFF2-40B4-BE49-F238E27FC236}">
                <a16:creationId xmlns:a16="http://schemas.microsoft.com/office/drawing/2014/main" id="{C9B57EB7-C88F-787D-185D-E8D8DF2704E0}"/>
              </a:ext>
            </a:extLst>
          </p:cNvPr>
          <p:cNvSpPr/>
          <p:nvPr/>
        </p:nvSpPr>
        <p:spPr>
          <a:xfrm>
            <a:off x="10609400"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26" name="Straight Arrow Connector 25">
            <a:extLst>
              <a:ext uri="{FF2B5EF4-FFF2-40B4-BE49-F238E27FC236}">
                <a16:creationId xmlns:a16="http://schemas.microsoft.com/office/drawing/2014/main" id="{E914206F-B34D-2B84-F1D1-7163735EAB43}"/>
              </a:ext>
            </a:extLst>
          </p:cNvPr>
          <p:cNvCxnSpPr>
            <a:cxnSpLocks/>
            <a:stCxn id="25" idx="3"/>
            <a:endCxn id="23" idx="5"/>
          </p:cNvCxnSpPr>
          <p:nvPr/>
        </p:nvCxnSpPr>
        <p:spPr>
          <a:xfrm flipH="1">
            <a:off x="8132992" y="5767853"/>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CFC4DCE4-3D14-B6C5-487F-BA0D3A0D489F}"/>
              </a:ext>
            </a:extLst>
          </p:cNvPr>
          <p:cNvSpPr txBox="1"/>
          <p:nvPr/>
        </p:nvSpPr>
        <p:spPr>
          <a:xfrm>
            <a:off x="9288099" y="5965025"/>
            <a:ext cx="562095" cy="369332"/>
          </a:xfrm>
          <a:prstGeom prst="rect">
            <a:avLst/>
          </a:prstGeom>
          <a:noFill/>
        </p:spPr>
        <p:txBody>
          <a:bodyPr wrap="square" rtlCol="0">
            <a:spAutoFit/>
          </a:bodyPr>
          <a:lstStyle/>
          <a:p>
            <a:r>
              <a:rPr lang="en-GB" b="1" dirty="0"/>
              <a:t>b</a:t>
            </a:r>
            <a:endParaRPr lang="en-SG" b="1" dirty="0"/>
          </a:p>
        </p:txBody>
      </p:sp>
      <p:sp>
        <p:nvSpPr>
          <p:cNvPr id="28" name="TextBox 27">
            <a:extLst>
              <a:ext uri="{FF2B5EF4-FFF2-40B4-BE49-F238E27FC236}">
                <a16:creationId xmlns:a16="http://schemas.microsoft.com/office/drawing/2014/main" id="{08A1C98B-29F8-763F-9700-65613790983E}"/>
              </a:ext>
            </a:extLst>
          </p:cNvPr>
          <p:cNvSpPr txBox="1"/>
          <p:nvPr/>
        </p:nvSpPr>
        <p:spPr>
          <a:xfrm>
            <a:off x="6871997" y="3842139"/>
            <a:ext cx="1824764" cy="369332"/>
          </a:xfrm>
          <a:prstGeom prst="rect">
            <a:avLst/>
          </a:prstGeom>
          <a:noFill/>
        </p:spPr>
        <p:txBody>
          <a:bodyPr wrap="square" rtlCol="0">
            <a:spAutoFit/>
          </a:bodyPr>
          <a:lstStyle/>
          <a:p>
            <a:r>
              <a:rPr lang="en-GB" b="1" dirty="0"/>
              <a:t>Any character</a:t>
            </a:r>
            <a:endParaRPr lang="en-SG" b="1" dirty="0"/>
          </a:p>
        </p:txBody>
      </p:sp>
      <p:sp>
        <p:nvSpPr>
          <p:cNvPr id="29" name="Freeform: Shape 28">
            <a:extLst>
              <a:ext uri="{FF2B5EF4-FFF2-40B4-BE49-F238E27FC236}">
                <a16:creationId xmlns:a16="http://schemas.microsoft.com/office/drawing/2014/main" id="{FDCADE47-5C20-EF8F-4823-FFAE2E723D1E}"/>
              </a:ext>
            </a:extLst>
          </p:cNvPr>
          <p:cNvSpPr/>
          <p:nvPr/>
        </p:nvSpPr>
        <p:spPr>
          <a:xfrm rot="10800000">
            <a:off x="11148706" y="4405831"/>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Oval 29">
            <a:extLst>
              <a:ext uri="{FF2B5EF4-FFF2-40B4-BE49-F238E27FC236}">
                <a16:creationId xmlns:a16="http://schemas.microsoft.com/office/drawing/2014/main" id="{7FCB86AE-9AC7-7426-52B7-A9CD456AE5D3}"/>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31" name="Freeform: Shape 30">
            <a:extLst>
              <a:ext uri="{FF2B5EF4-FFF2-40B4-BE49-F238E27FC236}">
                <a16:creationId xmlns:a16="http://schemas.microsoft.com/office/drawing/2014/main" id="{5171FFE5-8EBB-426B-33E7-497DC47FA675}"/>
              </a:ext>
            </a:extLst>
          </p:cNvPr>
          <p:cNvSpPr/>
          <p:nvPr/>
        </p:nvSpPr>
        <p:spPr>
          <a:xfrm rot="5400000">
            <a:off x="7247476" y="3829890"/>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2" name="Straight Arrow Connector 31">
            <a:extLst>
              <a:ext uri="{FF2B5EF4-FFF2-40B4-BE49-F238E27FC236}">
                <a16:creationId xmlns:a16="http://schemas.microsoft.com/office/drawing/2014/main" id="{BB782007-A538-FA02-6A60-ED15E1745324}"/>
              </a:ext>
            </a:extLst>
          </p:cNvPr>
          <p:cNvCxnSpPr>
            <a:cxnSpLocks/>
          </p:cNvCxnSpPr>
          <p:nvPr/>
        </p:nvCxnSpPr>
        <p:spPr>
          <a:xfrm>
            <a:off x="11006148" y="467572"/>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Oval 32">
            <a:extLst>
              <a:ext uri="{FF2B5EF4-FFF2-40B4-BE49-F238E27FC236}">
                <a16:creationId xmlns:a16="http://schemas.microsoft.com/office/drawing/2014/main" id="{DD9BBB9A-ED0B-3FF2-D44B-3A6DCEA12056}"/>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34" name="Oval 33">
            <a:extLst>
              <a:ext uri="{FF2B5EF4-FFF2-40B4-BE49-F238E27FC236}">
                <a16:creationId xmlns:a16="http://schemas.microsoft.com/office/drawing/2014/main" id="{07F6D3EB-039B-73D2-2F1E-C05E664B6618}"/>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35" name="Straight Arrow Connector 34">
            <a:extLst>
              <a:ext uri="{FF2B5EF4-FFF2-40B4-BE49-F238E27FC236}">
                <a16:creationId xmlns:a16="http://schemas.microsoft.com/office/drawing/2014/main" id="{05E1DD1B-4B26-9C11-6E2F-D86A1D7BD6D2}"/>
              </a:ext>
            </a:extLst>
          </p:cNvPr>
          <p:cNvCxnSpPr>
            <a:cxnSpLocks/>
            <a:stCxn id="34" idx="3"/>
            <a:endCxn id="33" idx="5"/>
          </p:cNvCxnSpPr>
          <p:nvPr/>
        </p:nvCxnSpPr>
        <p:spPr>
          <a:xfrm flipH="1">
            <a:off x="8132991" y="2197038"/>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EA41A61-E68F-5929-389A-D381AA550758}"/>
              </a:ext>
            </a:extLst>
          </p:cNvPr>
          <p:cNvSpPr txBox="1"/>
          <p:nvPr/>
        </p:nvSpPr>
        <p:spPr>
          <a:xfrm>
            <a:off x="9288098" y="2394210"/>
            <a:ext cx="562095" cy="369332"/>
          </a:xfrm>
          <a:prstGeom prst="rect">
            <a:avLst/>
          </a:prstGeom>
          <a:noFill/>
        </p:spPr>
        <p:txBody>
          <a:bodyPr wrap="square" rtlCol="0">
            <a:spAutoFit/>
          </a:bodyPr>
          <a:lstStyle/>
          <a:p>
            <a:r>
              <a:rPr lang="en-GB" b="1" dirty="0"/>
              <a:t>a</a:t>
            </a:r>
            <a:endParaRPr lang="en-SG" b="1" dirty="0"/>
          </a:p>
        </p:txBody>
      </p:sp>
      <p:sp>
        <p:nvSpPr>
          <p:cNvPr id="37" name="TextBox 36">
            <a:extLst>
              <a:ext uri="{FF2B5EF4-FFF2-40B4-BE49-F238E27FC236}">
                <a16:creationId xmlns:a16="http://schemas.microsoft.com/office/drawing/2014/main" id="{45607CE1-D2EC-4308-5870-5BEFA74B0654}"/>
              </a:ext>
            </a:extLst>
          </p:cNvPr>
          <p:cNvSpPr txBox="1"/>
          <p:nvPr/>
        </p:nvSpPr>
        <p:spPr>
          <a:xfrm>
            <a:off x="6871996" y="271324"/>
            <a:ext cx="1824764" cy="369332"/>
          </a:xfrm>
          <a:prstGeom prst="rect">
            <a:avLst/>
          </a:prstGeom>
          <a:noFill/>
        </p:spPr>
        <p:txBody>
          <a:bodyPr wrap="square" rtlCol="0">
            <a:spAutoFit/>
          </a:bodyPr>
          <a:lstStyle/>
          <a:p>
            <a:r>
              <a:rPr lang="en-GB" b="1" dirty="0"/>
              <a:t>Any character</a:t>
            </a:r>
            <a:endParaRPr lang="en-SG" b="1" dirty="0"/>
          </a:p>
        </p:txBody>
      </p:sp>
      <p:sp>
        <p:nvSpPr>
          <p:cNvPr id="38" name="Freeform: Shape 37">
            <a:extLst>
              <a:ext uri="{FF2B5EF4-FFF2-40B4-BE49-F238E27FC236}">
                <a16:creationId xmlns:a16="http://schemas.microsoft.com/office/drawing/2014/main" id="{D055026D-BBD3-1CB1-250A-FD45721AFCCE}"/>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Oval 38">
            <a:extLst>
              <a:ext uri="{FF2B5EF4-FFF2-40B4-BE49-F238E27FC236}">
                <a16:creationId xmlns:a16="http://schemas.microsoft.com/office/drawing/2014/main" id="{071B3164-06EC-E24A-09BB-DB3CE6BDC9E8}"/>
              </a:ext>
            </a:extLst>
          </p:cNvPr>
          <p:cNvSpPr/>
          <p:nvPr/>
        </p:nvSpPr>
        <p:spPr>
          <a:xfrm>
            <a:off x="7258507" y="1326830"/>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40" name="Freeform: Shape 39">
            <a:extLst>
              <a:ext uri="{FF2B5EF4-FFF2-40B4-BE49-F238E27FC236}">
                <a16:creationId xmlns:a16="http://schemas.microsoft.com/office/drawing/2014/main" id="{6C183236-1210-C429-E404-120AD1E0C64A}"/>
              </a:ext>
            </a:extLst>
          </p:cNvPr>
          <p:cNvSpPr/>
          <p:nvPr/>
        </p:nvSpPr>
        <p:spPr>
          <a:xfrm rot="5400000">
            <a:off x="7247475" y="25907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TextBox 40">
            <a:extLst>
              <a:ext uri="{FF2B5EF4-FFF2-40B4-BE49-F238E27FC236}">
                <a16:creationId xmlns:a16="http://schemas.microsoft.com/office/drawing/2014/main" id="{F7958E70-EEA2-8E69-8BA3-F2CE6BDB68DF}"/>
              </a:ext>
            </a:extLst>
          </p:cNvPr>
          <p:cNvSpPr txBox="1"/>
          <p:nvPr/>
        </p:nvSpPr>
        <p:spPr>
          <a:xfrm>
            <a:off x="10472818" y="6309215"/>
            <a:ext cx="2008176" cy="369332"/>
          </a:xfrm>
          <a:prstGeom prst="rect">
            <a:avLst/>
          </a:prstGeom>
          <a:noFill/>
        </p:spPr>
        <p:txBody>
          <a:bodyPr wrap="square" rtlCol="0">
            <a:spAutoFit/>
          </a:bodyPr>
          <a:lstStyle/>
          <a:p>
            <a:r>
              <a:rPr lang="en-GB" b="1" dirty="0"/>
              <a:t>Anything but b</a:t>
            </a:r>
            <a:endParaRPr lang="en-SG" b="1" dirty="0"/>
          </a:p>
        </p:txBody>
      </p:sp>
      <p:sp>
        <p:nvSpPr>
          <p:cNvPr id="42" name="TextBox 41">
            <a:extLst>
              <a:ext uri="{FF2B5EF4-FFF2-40B4-BE49-F238E27FC236}">
                <a16:creationId xmlns:a16="http://schemas.microsoft.com/office/drawing/2014/main" id="{4F3D745C-69F4-CF3C-90B4-9355B5DB5E4C}"/>
              </a:ext>
            </a:extLst>
          </p:cNvPr>
          <p:cNvSpPr txBox="1"/>
          <p:nvPr/>
        </p:nvSpPr>
        <p:spPr>
          <a:xfrm>
            <a:off x="10472818" y="2772303"/>
            <a:ext cx="2008176" cy="369332"/>
          </a:xfrm>
          <a:prstGeom prst="rect">
            <a:avLst/>
          </a:prstGeom>
          <a:noFill/>
        </p:spPr>
        <p:txBody>
          <a:bodyPr wrap="square" rtlCol="0">
            <a:spAutoFit/>
          </a:bodyPr>
          <a:lstStyle/>
          <a:p>
            <a:r>
              <a:rPr lang="en-GB" b="1" dirty="0"/>
              <a:t>Anything but a</a:t>
            </a:r>
            <a:endParaRPr lang="en-SG" b="1" dirty="0"/>
          </a:p>
        </p:txBody>
      </p:sp>
    </p:spTree>
    <p:extLst>
      <p:ext uri="{BB962C8B-B14F-4D97-AF65-F5344CB8AC3E}">
        <p14:creationId xmlns:p14="http://schemas.microsoft.com/office/powerpoint/2010/main" val="1749567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B46C-6771-3E2C-EE0D-980BCF72927D}"/>
              </a:ext>
            </a:extLst>
          </p:cNvPr>
          <p:cNvSpPr>
            <a:spLocks noGrp="1"/>
          </p:cNvSpPr>
          <p:nvPr>
            <p:ph type="title"/>
          </p:nvPr>
        </p:nvSpPr>
        <p:spPr/>
        <p:txBody>
          <a:bodyPr/>
          <a:lstStyle/>
          <a:p>
            <a:r>
              <a:rPr lang="en-GB" dirty="0"/>
              <a:t>Concatenation of </a:t>
            </a:r>
            <a:r>
              <a:rPr lang="en-GB" dirty="0" err="1"/>
              <a:t>RegEx</a:t>
            </a:r>
            <a:endParaRPr lang="en-SG" dirty="0"/>
          </a:p>
        </p:txBody>
      </p:sp>
      <p:sp>
        <p:nvSpPr>
          <p:cNvPr id="3" name="Content Placeholder 2">
            <a:extLst>
              <a:ext uri="{FF2B5EF4-FFF2-40B4-BE49-F238E27FC236}">
                <a16:creationId xmlns:a16="http://schemas.microsoft.com/office/drawing/2014/main" id="{21E91F88-75AD-45CA-A480-858091A84D90}"/>
              </a:ext>
            </a:extLst>
          </p:cNvPr>
          <p:cNvSpPr>
            <a:spLocks noGrp="1"/>
          </p:cNvSpPr>
          <p:nvPr>
            <p:ph sz="half" idx="1"/>
          </p:nvPr>
        </p:nvSpPr>
        <p:spPr>
          <a:xfrm>
            <a:off x="838199" y="1825624"/>
            <a:ext cx="5704489" cy="5032375"/>
          </a:xfrm>
        </p:spPr>
        <p:txBody>
          <a:bodyPr>
            <a:normAutofit/>
          </a:bodyPr>
          <a:lstStyle/>
          <a:p>
            <a:pPr marL="0" indent="0">
              <a:buNone/>
            </a:pPr>
            <a:r>
              <a:rPr lang="en-GB" b="1" dirty="0"/>
              <a:t>Theorem (</a:t>
            </a:r>
            <a:r>
              <a:rPr lang="en-GB" b="1" dirty="0">
                <a:solidFill>
                  <a:srgbClr val="00B050"/>
                </a:solidFill>
              </a:rPr>
              <a:t>Concatenation</a:t>
            </a:r>
            <a:r>
              <a:rPr lang="en-GB" b="1" dirty="0"/>
              <a:t> of </a:t>
            </a:r>
            <a:r>
              <a:rPr lang="en-GB" b="1" dirty="0" err="1"/>
              <a:t>RegEx</a:t>
            </a:r>
            <a:r>
              <a:rPr lang="en-GB" b="1" dirty="0"/>
              <a:t>):</a:t>
            </a:r>
          </a:p>
          <a:p>
            <a:pPr marL="0" indent="0">
              <a:buNone/>
            </a:pPr>
            <a:r>
              <a:rPr lang="en-GB" dirty="0"/>
              <a:t>Assume that we have two </a:t>
            </a:r>
            <a:r>
              <a:rPr lang="en-GB" dirty="0" err="1"/>
              <a:t>RegEx</a:t>
            </a:r>
            <a:r>
              <a:rPr lang="en-GB" dirty="0"/>
              <a:t>, e.g. </a:t>
            </a:r>
          </a:p>
          <a:p>
            <a:r>
              <a:rPr lang="en-GB" dirty="0"/>
              <a:t>our first </a:t>
            </a:r>
            <a:r>
              <a:rPr lang="en-GB" dirty="0" err="1"/>
              <a:t>RegEx</a:t>
            </a:r>
            <a:r>
              <a:rPr lang="en-GB" dirty="0"/>
              <a:t> is “a”</a:t>
            </a:r>
          </a:p>
          <a:p>
            <a:r>
              <a:rPr lang="en-GB" dirty="0"/>
              <a:t>and our second </a:t>
            </a:r>
            <a:r>
              <a:rPr lang="en-GB" dirty="0" err="1"/>
              <a:t>RegEx</a:t>
            </a:r>
            <a:r>
              <a:rPr lang="en-GB" dirty="0"/>
              <a:t> is “b”,</a:t>
            </a:r>
          </a:p>
          <a:p>
            <a:r>
              <a:rPr lang="en-GB" dirty="0"/>
              <a:t>and we have defined their respective two FSMs.</a:t>
            </a:r>
          </a:p>
          <a:p>
            <a:pPr marL="0" indent="0">
              <a:buNone/>
            </a:pPr>
            <a:r>
              <a:rPr lang="en-GB" dirty="0"/>
              <a:t>The </a:t>
            </a:r>
            <a:r>
              <a:rPr lang="en-GB" b="1" dirty="0">
                <a:solidFill>
                  <a:srgbClr val="00B050"/>
                </a:solidFill>
              </a:rPr>
              <a:t>concatenated</a:t>
            </a:r>
            <a:r>
              <a:rPr lang="en-GB" dirty="0"/>
              <a:t> </a:t>
            </a:r>
            <a:r>
              <a:rPr lang="en-GB" b="1" dirty="0" err="1"/>
              <a:t>RegEx</a:t>
            </a:r>
            <a:r>
              <a:rPr lang="en-GB" dirty="0"/>
              <a:t> </a:t>
            </a:r>
            <a:r>
              <a:rPr lang="en-GB" b="1" dirty="0">
                <a:solidFill>
                  <a:srgbClr val="7030A0"/>
                </a:solidFill>
              </a:rPr>
              <a:t>“ab”</a:t>
            </a:r>
            <a:r>
              <a:rPr lang="en-GB" dirty="0"/>
              <a:t>, which accepts strings containing the substring “ab”, can then be built </a:t>
            </a:r>
            <a:r>
              <a:rPr lang="en-GB" b="1" dirty="0"/>
              <a:t>by combining the two FSMs, connecting them with an Epsilon transition.</a:t>
            </a:r>
            <a:endParaRPr lang="en-SG" b="1" dirty="0"/>
          </a:p>
        </p:txBody>
      </p:sp>
      <p:cxnSp>
        <p:nvCxnSpPr>
          <p:cNvPr id="4" name="Straight Arrow Connector 3">
            <a:extLst>
              <a:ext uri="{FF2B5EF4-FFF2-40B4-BE49-F238E27FC236}">
                <a16:creationId xmlns:a16="http://schemas.microsoft.com/office/drawing/2014/main" id="{D02BB936-7053-4829-240F-FB05F10EDDDC}"/>
              </a:ext>
            </a:extLst>
          </p:cNvPr>
          <p:cNvCxnSpPr>
            <a:cxnSpLocks/>
          </p:cNvCxnSpPr>
          <p:nvPr/>
        </p:nvCxnSpPr>
        <p:spPr>
          <a:xfrm>
            <a:off x="8016766" y="2355200"/>
            <a:ext cx="2989383" cy="2496390"/>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3" name="Oval 12">
            <a:extLst>
              <a:ext uri="{FF2B5EF4-FFF2-40B4-BE49-F238E27FC236}">
                <a16:creationId xmlns:a16="http://schemas.microsoft.com/office/drawing/2014/main" id="{FBF44F08-DF6F-30D8-1335-012E07181D47}"/>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23" name="Oval 22">
            <a:extLst>
              <a:ext uri="{FF2B5EF4-FFF2-40B4-BE49-F238E27FC236}">
                <a16:creationId xmlns:a16="http://schemas.microsoft.com/office/drawing/2014/main" id="{797E20E1-8703-E129-EFAB-EBB2D0F1126A}"/>
              </a:ext>
            </a:extLst>
          </p:cNvPr>
          <p:cNvSpPr/>
          <p:nvPr/>
        </p:nvSpPr>
        <p:spPr>
          <a:xfrm>
            <a:off x="10609400"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2</a:t>
            </a:r>
            <a:endParaRPr lang="en-SG" sz="1600" b="1" dirty="0">
              <a:solidFill>
                <a:schemeClr val="bg1"/>
              </a:solidFill>
            </a:endParaRPr>
          </a:p>
        </p:txBody>
      </p:sp>
      <p:cxnSp>
        <p:nvCxnSpPr>
          <p:cNvPr id="26" name="Straight Arrow Connector 25">
            <a:extLst>
              <a:ext uri="{FF2B5EF4-FFF2-40B4-BE49-F238E27FC236}">
                <a16:creationId xmlns:a16="http://schemas.microsoft.com/office/drawing/2014/main" id="{D5D78970-5D81-89EA-7585-DFF834C69217}"/>
              </a:ext>
            </a:extLst>
          </p:cNvPr>
          <p:cNvCxnSpPr>
            <a:cxnSpLocks/>
            <a:stCxn id="23" idx="3"/>
            <a:endCxn id="13" idx="5"/>
          </p:cNvCxnSpPr>
          <p:nvPr/>
        </p:nvCxnSpPr>
        <p:spPr>
          <a:xfrm flipH="1">
            <a:off x="8132992" y="5767853"/>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F48570D0-B69D-C6C3-F677-1B1195F965D2}"/>
              </a:ext>
            </a:extLst>
          </p:cNvPr>
          <p:cNvSpPr txBox="1"/>
          <p:nvPr/>
        </p:nvSpPr>
        <p:spPr>
          <a:xfrm>
            <a:off x="9288099" y="5965025"/>
            <a:ext cx="562095" cy="369332"/>
          </a:xfrm>
          <a:prstGeom prst="rect">
            <a:avLst/>
          </a:prstGeom>
          <a:noFill/>
        </p:spPr>
        <p:txBody>
          <a:bodyPr wrap="square" rtlCol="0">
            <a:spAutoFit/>
          </a:bodyPr>
          <a:lstStyle/>
          <a:p>
            <a:r>
              <a:rPr lang="en-GB" b="1" dirty="0"/>
              <a:t>b</a:t>
            </a:r>
            <a:endParaRPr lang="en-SG" b="1" dirty="0"/>
          </a:p>
        </p:txBody>
      </p:sp>
      <p:sp>
        <p:nvSpPr>
          <p:cNvPr id="28" name="TextBox 27">
            <a:extLst>
              <a:ext uri="{FF2B5EF4-FFF2-40B4-BE49-F238E27FC236}">
                <a16:creationId xmlns:a16="http://schemas.microsoft.com/office/drawing/2014/main" id="{9AAC6ED1-3F67-1CEE-0BE6-AFADFB192EB8}"/>
              </a:ext>
            </a:extLst>
          </p:cNvPr>
          <p:cNvSpPr txBox="1"/>
          <p:nvPr/>
        </p:nvSpPr>
        <p:spPr>
          <a:xfrm>
            <a:off x="6871997" y="3842139"/>
            <a:ext cx="1824764" cy="369332"/>
          </a:xfrm>
          <a:prstGeom prst="rect">
            <a:avLst/>
          </a:prstGeom>
          <a:noFill/>
        </p:spPr>
        <p:txBody>
          <a:bodyPr wrap="square" rtlCol="0">
            <a:spAutoFit/>
          </a:bodyPr>
          <a:lstStyle/>
          <a:p>
            <a:r>
              <a:rPr lang="en-GB" b="1" dirty="0"/>
              <a:t>Any character</a:t>
            </a:r>
            <a:endParaRPr lang="en-SG" b="1" dirty="0"/>
          </a:p>
        </p:txBody>
      </p:sp>
      <p:sp>
        <p:nvSpPr>
          <p:cNvPr id="30" name="Oval 29">
            <a:extLst>
              <a:ext uri="{FF2B5EF4-FFF2-40B4-BE49-F238E27FC236}">
                <a16:creationId xmlns:a16="http://schemas.microsoft.com/office/drawing/2014/main" id="{97A7E36E-9EE9-320A-2AFF-DD92BD84E7FC}"/>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
        <p:nvSpPr>
          <p:cNvPr id="31" name="Freeform: Shape 30">
            <a:extLst>
              <a:ext uri="{FF2B5EF4-FFF2-40B4-BE49-F238E27FC236}">
                <a16:creationId xmlns:a16="http://schemas.microsoft.com/office/drawing/2014/main" id="{409EE55A-C263-FEC7-25A4-EE6420FD33E8}"/>
              </a:ext>
            </a:extLst>
          </p:cNvPr>
          <p:cNvSpPr/>
          <p:nvPr/>
        </p:nvSpPr>
        <p:spPr>
          <a:xfrm rot="5400000">
            <a:off x="7247476" y="3829890"/>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2" name="Straight Arrow Connector 31">
            <a:extLst>
              <a:ext uri="{FF2B5EF4-FFF2-40B4-BE49-F238E27FC236}">
                <a16:creationId xmlns:a16="http://schemas.microsoft.com/office/drawing/2014/main" id="{E29B1398-588B-E8A6-D40C-7A62A7B298A3}"/>
              </a:ext>
            </a:extLst>
          </p:cNvPr>
          <p:cNvCxnSpPr>
            <a:cxnSpLocks/>
          </p:cNvCxnSpPr>
          <p:nvPr/>
        </p:nvCxnSpPr>
        <p:spPr>
          <a:xfrm>
            <a:off x="10382865" y="147484"/>
            <a:ext cx="623283" cy="113329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Oval 32">
            <a:extLst>
              <a:ext uri="{FF2B5EF4-FFF2-40B4-BE49-F238E27FC236}">
                <a16:creationId xmlns:a16="http://schemas.microsoft.com/office/drawing/2014/main" id="{FB0F3FC9-F0BE-93C3-6221-A5E2DC2FB6CB}"/>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1</a:t>
            </a:r>
            <a:endParaRPr lang="en-SG" sz="1600" b="1" dirty="0">
              <a:solidFill>
                <a:schemeClr val="bg1"/>
              </a:solidFill>
            </a:endParaRPr>
          </a:p>
        </p:txBody>
      </p:sp>
      <p:sp>
        <p:nvSpPr>
          <p:cNvPr id="34" name="Oval 33">
            <a:extLst>
              <a:ext uri="{FF2B5EF4-FFF2-40B4-BE49-F238E27FC236}">
                <a16:creationId xmlns:a16="http://schemas.microsoft.com/office/drawing/2014/main" id="{8C55F780-EBE5-9440-6665-CDE7C7846F74}"/>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35" name="Straight Arrow Connector 34">
            <a:extLst>
              <a:ext uri="{FF2B5EF4-FFF2-40B4-BE49-F238E27FC236}">
                <a16:creationId xmlns:a16="http://schemas.microsoft.com/office/drawing/2014/main" id="{6827C453-9227-E34A-3B1D-29F8ACAD28C2}"/>
              </a:ext>
            </a:extLst>
          </p:cNvPr>
          <p:cNvCxnSpPr>
            <a:cxnSpLocks/>
            <a:stCxn id="34" idx="3"/>
            <a:endCxn id="33" idx="5"/>
          </p:cNvCxnSpPr>
          <p:nvPr/>
        </p:nvCxnSpPr>
        <p:spPr>
          <a:xfrm flipH="1">
            <a:off x="8132991" y="2197038"/>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618A49CC-18DE-3452-F761-7976EE3CE3E3}"/>
              </a:ext>
            </a:extLst>
          </p:cNvPr>
          <p:cNvSpPr txBox="1"/>
          <p:nvPr/>
        </p:nvSpPr>
        <p:spPr>
          <a:xfrm>
            <a:off x="9288098" y="2394210"/>
            <a:ext cx="562095" cy="369332"/>
          </a:xfrm>
          <a:prstGeom prst="rect">
            <a:avLst/>
          </a:prstGeom>
          <a:noFill/>
        </p:spPr>
        <p:txBody>
          <a:bodyPr wrap="square" rtlCol="0">
            <a:spAutoFit/>
          </a:bodyPr>
          <a:lstStyle/>
          <a:p>
            <a:r>
              <a:rPr lang="en-GB" b="1" dirty="0"/>
              <a:t>a</a:t>
            </a:r>
            <a:endParaRPr lang="en-SG" b="1" dirty="0"/>
          </a:p>
        </p:txBody>
      </p:sp>
      <p:sp>
        <p:nvSpPr>
          <p:cNvPr id="38" name="Freeform: Shape 37">
            <a:extLst>
              <a:ext uri="{FF2B5EF4-FFF2-40B4-BE49-F238E27FC236}">
                <a16:creationId xmlns:a16="http://schemas.microsoft.com/office/drawing/2014/main" id="{BD7D3D9C-5901-BC99-A94E-36AF5CB46E8A}"/>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TextBox 40">
            <a:extLst>
              <a:ext uri="{FF2B5EF4-FFF2-40B4-BE49-F238E27FC236}">
                <a16:creationId xmlns:a16="http://schemas.microsoft.com/office/drawing/2014/main" id="{ECAF5CDD-2435-ACB8-21A1-607DFFB78AC4}"/>
              </a:ext>
            </a:extLst>
          </p:cNvPr>
          <p:cNvSpPr txBox="1"/>
          <p:nvPr/>
        </p:nvSpPr>
        <p:spPr>
          <a:xfrm>
            <a:off x="10650884" y="3339187"/>
            <a:ext cx="2008176" cy="646331"/>
          </a:xfrm>
          <a:prstGeom prst="rect">
            <a:avLst/>
          </a:prstGeom>
          <a:noFill/>
        </p:spPr>
        <p:txBody>
          <a:bodyPr wrap="square" rtlCol="0">
            <a:spAutoFit/>
          </a:bodyPr>
          <a:lstStyle/>
          <a:p>
            <a:pPr algn="ctr"/>
            <a:r>
              <a:rPr lang="en-GB" b="1" dirty="0"/>
              <a:t>Anything</a:t>
            </a:r>
            <a:br>
              <a:rPr lang="en-GB" b="1" dirty="0"/>
            </a:br>
            <a:r>
              <a:rPr lang="en-GB" b="1" dirty="0"/>
              <a:t>but b</a:t>
            </a:r>
            <a:endParaRPr lang="en-SG" b="1" dirty="0"/>
          </a:p>
        </p:txBody>
      </p:sp>
      <p:sp>
        <p:nvSpPr>
          <p:cNvPr id="42" name="TextBox 41">
            <a:extLst>
              <a:ext uri="{FF2B5EF4-FFF2-40B4-BE49-F238E27FC236}">
                <a16:creationId xmlns:a16="http://schemas.microsoft.com/office/drawing/2014/main" id="{15586B00-3A85-E190-3825-B311C592B3C2}"/>
              </a:ext>
            </a:extLst>
          </p:cNvPr>
          <p:cNvSpPr txBox="1"/>
          <p:nvPr/>
        </p:nvSpPr>
        <p:spPr>
          <a:xfrm>
            <a:off x="10710473" y="253966"/>
            <a:ext cx="2008176" cy="646331"/>
          </a:xfrm>
          <a:prstGeom prst="rect">
            <a:avLst/>
          </a:prstGeom>
          <a:noFill/>
        </p:spPr>
        <p:txBody>
          <a:bodyPr wrap="square" rtlCol="0">
            <a:spAutoFit/>
          </a:bodyPr>
          <a:lstStyle/>
          <a:p>
            <a:pPr algn="ctr"/>
            <a:r>
              <a:rPr lang="en-GB" b="1" dirty="0"/>
              <a:t>Anything</a:t>
            </a:r>
            <a:br>
              <a:rPr lang="en-GB" b="1" dirty="0"/>
            </a:br>
            <a:r>
              <a:rPr lang="en-GB" b="1" dirty="0"/>
              <a:t>but a</a:t>
            </a:r>
            <a:endParaRPr lang="en-SG" b="1"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7D7B6D2-8C6A-A2B5-6940-94CB9A7E97DA}"/>
                  </a:ext>
                </a:extLst>
              </p:cNvPr>
              <p:cNvSpPr txBox="1"/>
              <p:nvPr/>
            </p:nvSpPr>
            <p:spPr>
              <a:xfrm>
                <a:off x="8930341" y="3418729"/>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solidFill>
                            <a:srgbClr val="7030A0"/>
                          </a:solidFill>
                          <a:latin typeface="Cambria Math" panose="02040503050406030204" pitchFamily="18" charset="0"/>
                        </a:rPr>
                        <m:t>𝝐</m:t>
                      </m:r>
                    </m:oMath>
                  </m:oMathPara>
                </a14:m>
                <a:endParaRPr lang="en-GB" b="1" dirty="0">
                  <a:solidFill>
                    <a:srgbClr val="7030A0"/>
                  </a:solidFill>
                </a:endParaRPr>
              </a:p>
            </p:txBody>
          </p:sp>
        </mc:Choice>
        <mc:Fallback xmlns="">
          <p:sp>
            <p:nvSpPr>
              <p:cNvPr id="44" name="TextBox 43">
                <a:extLst>
                  <a:ext uri="{FF2B5EF4-FFF2-40B4-BE49-F238E27FC236}">
                    <a16:creationId xmlns:a16="http://schemas.microsoft.com/office/drawing/2014/main" id="{C7D7B6D2-8C6A-A2B5-6940-94CB9A7E97DA}"/>
                  </a:ext>
                </a:extLst>
              </p:cNvPr>
              <p:cNvSpPr txBox="1">
                <a:spLocks noRot="1" noChangeAspect="1" noMove="1" noResize="1" noEditPoints="1" noAdjustHandles="1" noChangeArrowheads="1" noChangeShapeType="1" noTextEdit="1"/>
              </p:cNvSpPr>
              <p:nvPr/>
            </p:nvSpPr>
            <p:spPr>
              <a:xfrm>
                <a:off x="8930341" y="3418729"/>
                <a:ext cx="562095" cy="369332"/>
              </a:xfrm>
              <a:prstGeom prst="rect">
                <a:avLst/>
              </a:prstGeom>
              <a:blipFill>
                <a:blip r:embed="rId2"/>
                <a:stretch>
                  <a:fillRect/>
                </a:stretch>
              </a:blipFill>
            </p:spPr>
            <p:txBody>
              <a:bodyPr/>
              <a:lstStyle/>
              <a:p>
                <a:r>
                  <a:rPr lang="en-SG">
                    <a:noFill/>
                  </a:rPr>
                  <a:t> </a:t>
                </a:r>
              </a:p>
            </p:txBody>
          </p:sp>
        </mc:Fallback>
      </mc:AlternateContent>
      <p:sp>
        <p:nvSpPr>
          <p:cNvPr id="5" name="TextBox 4">
            <a:extLst>
              <a:ext uri="{FF2B5EF4-FFF2-40B4-BE49-F238E27FC236}">
                <a16:creationId xmlns:a16="http://schemas.microsoft.com/office/drawing/2014/main" id="{D1A78191-75DF-4C76-442A-B00620062D6F}"/>
              </a:ext>
            </a:extLst>
          </p:cNvPr>
          <p:cNvSpPr txBox="1"/>
          <p:nvPr/>
        </p:nvSpPr>
        <p:spPr>
          <a:xfrm>
            <a:off x="6871996" y="271324"/>
            <a:ext cx="1824764" cy="369332"/>
          </a:xfrm>
          <a:prstGeom prst="rect">
            <a:avLst/>
          </a:prstGeom>
          <a:noFill/>
        </p:spPr>
        <p:txBody>
          <a:bodyPr wrap="square" rtlCol="0">
            <a:spAutoFit/>
          </a:bodyPr>
          <a:lstStyle/>
          <a:p>
            <a:r>
              <a:rPr lang="en-GB" b="1" dirty="0"/>
              <a:t>a</a:t>
            </a:r>
            <a:endParaRPr lang="en-SG" b="1" dirty="0"/>
          </a:p>
        </p:txBody>
      </p:sp>
      <p:sp>
        <p:nvSpPr>
          <p:cNvPr id="6" name="Freeform: Shape 39">
            <a:extLst>
              <a:ext uri="{FF2B5EF4-FFF2-40B4-BE49-F238E27FC236}">
                <a16:creationId xmlns:a16="http://schemas.microsoft.com/office/drawing/2014/main" id="{D8EF414E-E832-A4EA-CAE9-5F57AFD6299E}"/>
              </a:ext>
            </a:extLst>
          </p:cNvPr>
          <p:cNvSpPr/>
          <p:nvPr/>
        </p:nvSpPr>
        <p:spPr>
          <a:xfrm rot="5400000">
            <a:off x="7247475" y="25907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6F9B0233-E528-4FF7-6A77-9E900999B590}"/>
              </a:ext>
            </a:extLst>
          </p:cNvPr>
          <p:cNvCxnSpPr>
            <a:cxnSpLocks/>
            <a:stCxn id="33" idx="6"/>
            <a:endCxn id="34" idx="2"/>
          </p:cNvCxnSpPr>
          <p:nvPr/>
        </p:nvCxnSpPr>
        <p:spPr>
          <a:xfrm>
            <a:off x="8291153" y="1815200"/>
            <a:ext cx="23182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1E289B71-7E42-621D-9381-0F367431D218}"/>
              </a:ext>
            </a:extLst>
          </p:cNvPr>
          <p:cNvSpPr txBox="1"/>
          <p:nvPr/>
        </p:nvSpPr>
        <p:spPr>
          <a:xfrm>
            <a:off x="8599284" y="1205625"/>
            <a:ext cx="2008176" cy="646331"/>
          </a:xfrm>
          <a:prstGeom prst="rect">
            <a:avLst/>
          </a:prstGeom>
          <a:noFill/>
        </p:spPr>
        <p:txBody>
          <a:bodyPr wrap="square" rtlCol="0">
            <a:spAutoFit/>
          </a:bodyPr>
          <a:lstStyle/>
          <a:p>
            <a:pPr algn="ctr"/>
            <a:r>
              <a:rPr lang="en-GB" b="1" dirty="0"/>
              <a:t>Anything but a</a:t>
            </a:r>
            <a:br>
              <a:rPr lang="en-GB" b="1" dirty="0"/>
            </a:br>
            <a:r>
              <a:rPr lang="en-GB" b="1" dirty="0"/>
              <a:t>or b</a:t>
            </a:r>
            <a:endParaRPr lang="en-SG" b="1" dirty="0"/>
          </a:p>
        </p:txBody>
      </p:sp>
      <p:cxnSp>
        <p:nvCxnSpPr>
          <p:cNvPr id="12" name="Straight Arrow Connector 11">
            <a:extLst>
              <a:ext uri="{FF2B5EF4-FFF2-40B4-BE49-F238E27FC236}">
                <a16:creationId xmlns:a16="http://schemas.microsoft.com/office/drawing/2014/main" id="{8821CCCC-E8E1-9976-AFC6-A0A830A54092}"/>
              </a:ext>
            </a:extLst>
          </p:cNvPr>
          <p:cNvCxnSpPr>
            <a:cxnSpLocks/>
            <a:stCxn id="23" idx="0"/>
            <a:endCxn id="34" idx="4"/>
          </p:cNvCxnSpPr>
          <p:nvPr/>
        </p:nvCxnSpPr>
        <p:spPr>
          <a:xfrm flipH="1" flipV="1">
            <a:off x="11149399" y="2355200"/>
            <a:ext cx="1" cy="249081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94800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46BDB-7A03-DACD-7692-57DB57E4A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2FF9B-1A69-5393-6B72-C707296DC6F7}"/>
              </a:ext>
            </a:extLst>
          </p:cNvPr>
          <p:cNvSpPr>
            <a:spLocks noGrp="1"/>
          </p:cNvSpPr>
          <p:nvPr>
            <p:ph type="title"/>
          </p:nvPr>
        </p:nvSpPr>
        <p:spPr/>
        <p:txBody>
          <a:bodyPr/>
          <a:lstStyle/>
          <a:p>
            <a:r>
              <a:rPr lang="en-GB" dirty="0"/>
              <a:t>Concatenation of </a:t>
            </a:r>
            <a:r>
              <a:rPr lang="en-GB" dirty="0" err="1"/>
              <a:t>RegEx</a:t>
            </a:r>
            <a:endParaRPr lang="en-SG" dirty="0"/>
          </a:p>
        </p:txBody>
      </p:sp>
      <p:sp>
        <p:nvSpPr>
          <p:cNvPr id="3" name="Content Placeholder 2">
            <a:extLst>
              <a:ext uri="{FF2B5EF4-FFF2-40B4-BE49-F238E27FC236}">
                <a16:creationId xmlns:a16="http://schemas.microsoft.com/office/drawing/2014/main" id="{AD3D9A1A-7D47-B871-92F5-39C85B77922A}"/>
              </a:ext>
            </a:extLst>
          </p:cNvPr>
          <p:cNvSpPr>
            <a:spLocks noGrp="1"/>
          </p:cNvSpPr>
          <p:nvPr>
            <p:ph sz="half" idx="1"/>
          </p:nvPr>
        </p:nvSpPr>
        <p:spPr>
          <a:xfrm>
            <a:off x="838199" y="1825624"/>
            <a:ext cx="5704489" cy="5032375"/>
          </a:xfrm>
        </p:spPr>
        <p:txBody>
          <a:bodyPr>
            <a:normAutofit/>
          </a:bodyPr>
          <a:lstStyle/>
          <a:p>
            <a:pPr marL="0" indent="0">
              <a:buNone/>
            </a:pPr>
            <a:r>
              <a:rPr lang="en-SG" b="1" dirty="0"/>
              <a:t>Question: </a:t>
            </a:r>
            <a:r>
              <a:rPr lang="en-SG" dirty="0"/>
              <a:t>Could we transform our NDFSM into a DFSM if we</a:t>
            </a:r>
          </a:p>
          <a:p>
            <a:r>
              <a:rPr lang="en-SG" dirty="0"/>
              <a:t>merge both states 1 and 2 together, </a:t>
            </a:r>
          </a:p>
          <a:p>
            <a:r>
              <a:rPr lang="en-SG" dirty="0"/>
              <a:t>to get rid of the Epsilon transition here,</a:t>
            </a:r>
          </a:p>
          <a:p>
            <a:pPr marL="0" indent="0">
              <a:buNone/>
            </a:pPr>
            <a:r>
              <a:rPr lang="en-SG" dirty="0"/>
              <a:t>And still obtain the expected </a:t>
            </a:r>
            <a:r>
              <a:rPr lang="en-SG" dirty="0" err="1"/>
              <a:t>RegEx</a:t>
            </a:r>
            <a:r>
              <a:rPr lang="en-SG" dirty="0"/>
              <a:t> that we want?</a:t>
            </a:r>
          </a:p>
          <a:p>
            <a:pPr marL="0" indent="0">
              <a:buNone/>
            </a:pPr>
            <a:endParaRPr lang="en-SG" dirty="0"/>
          </a:p>
          <a:p>
            <a:pPr marL="0" indent="0">
              <a:buNone/>
            </a:pPr>
            <a:r>
              <a:rPr lang="en-SG" dirty="0">
                <a:solidFill>
                  <a:srgbClr val="7030A0"/>
                </a:solidFill>
              </a:rPr>
              <a:t>(</a:t>
            </a:r>
            <a:r>
              <a:rPr lang="en-SG" b="1" dirty="0">
                <a:solidFill>
                  <a:srgbClr val="7030A0"/>
                </a:solidFill>
              </a:rPr>
              <a:t>Theorem: </a:t>
            </a:r>
            <a:r>
              <a:rPr lang="en-SG" dirty="0">
                <a:solidFill>
                  <a:srgbClr val="7030A0"/>
                </a:solidFill>
              </a:rPr>
              <a:t>Any NDFSM can be transformed into a DFSM.)</a:t>
            </a:r>
          </a:p>
        </p:txBody>
      </p:sp>
      <p:cxnSp>
        <p:nvCxnSpPr>
          <p:cNvPr id="4" name="Straight Arrow Connector 3">
            <a:extLst>
              <a:ext uri="{FF2B5EF4-FFF2-40B4-BE49-F238E27FC236}">
                <a16:creationId xmlns:a16="http://schemas.microsoft.com/office/drawing/2014/main" id="{25A3159B-83C2-67AF-611E-630226A006FD}"/>
              </a:ext>
            </a:extLst>
          </p:cNvPr>
          <p:cNvCxnSpPr>
            <a:cxnSpLocks/>
          </p:cNvCxnSpPr>
          <p:nvPr/>
        </p:nvCxnSpPr>
        <p:spPr>
          <a:xfrm>
            <a:off x="8016766" y="2355200"/>
            <a:ext cx="2989383" cy="2496390"/>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3" name="Oval 12">
            <a:extLst>
              <a:ext uri="{FF2B5EF4-FFF2-40B4-BE49-F238E27FC236}">
                <a16:creationId xmlns:a16="http://schemas.microsoft.com/office/drawing/2014/main" id="{72C801E3-85C3-90F8-C569-BD4AD8EF5637}"/>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23" name="Oval 22">
            <a:extLst>
              <a:ext uri="{FF2B5EF4-FFF2-40B4-BE49-F238E27FC236}">
                <a16:creationId xmlns:a16="http://schemas.microsoft.com/office/drawing/2014/main" id="{E1FA40E9-086E-C987-1772-AE5BD913A7CB}"/>
              </a:ext>
            </a:extLst>
          </p:cNvPr>
          <p:cNvSpPr/>
          <p:nvPr/>
        </p:nvSpPr>
        <p:spPr>
          <a:xfrm>
            <a:off x="10609400"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2</a:t>
            </a:r>
            <a:endParaRPr lang="en-SG" sz="1600" b="1" dirty="0">
              <a:solidFill>
                <a:schemeClr val="bg1"/>
              </a:solidFill>
            </a:endParaRPr>
          </a:p>
        </p:txBody>
      </p:sp>
      <p:cxnSp>
        <p:nvCxnSpPr>
          <p:cNvPr id="26" name="Straight Arrow Connector 25">
            <a:extLst>
              <a:ext uri="{FF2B5EF4-FFF2-40B4-BE49-F238E27FC236}">
                <a16:creationId xmlns:a16="http://schemas.microsoft.com/office/drawing/2014/main" id="{E84E51DC-BAFA-DEFB-958E-9D3F25218C47}"/>
              </a:ext>
            </a:extLst>
          </p:cNvPr>
          <p:cNvCxnSpPr>
            <a:cxnSpLocks/>
            <a:stCxn id="23" idx="3"/>
            <a:endCxn id="13" idx="5"/>
          </p:cNvCxnSpPr>
          <p:nvPr/>
        </p:nvCxnSpPr>
        <p:spPr>
          <a:xfrm flipH="1">
            <a:off x="8132992" y="5767853"/>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3513C150-20EF-4B93-F140-0A09468AA1EA}"/>
              </a:ext>
            </a:extLst>
          </p:cNvPr>
          <p:cNvSpPr txBox="1"/>
          <p:nvPr/>
        </p:nvSpPr>
        <p:spPr>
          <a:xfrm>
            <a:off x="9288099" y="5965025"/>
            <a:ext cx="562095" cy="369332"/>
          </a:xfrm>
          <a:prstGeom prst="rect">
            <a:avLst/>
          </a:prstGeom>
          <a:noFill/>
        </p:spPr>
        <p:txBody>
          <a:bodyPr wrap="square" rtlCol="0">
            <a:spAutoFit/>
          </a:bodyPr>
          <a:lstStyle/>
          <a:p>
            <a:r>
              <a:rPr lang="en-GB" b="1" dirty="0"/>
              <a:t>b</a:t>
            </a:r>
            <a:endParaRPr lang="en-SG" b="1" dirty="0"/>
          </a:p>
        </p:txBody>
      </p:sp>
      <p:sp>
        <p:nvSpPr>
          <p:cNvPr id="28" name="TextBox 27">
            <a:extLst>
              <a:ext uri="{FF2B5EF4-FFF2-40B4-BE49-F238E27FC236}">
                <a16:creationId xmlns:a16="http://schemas.microsoft.com/office/drawing/2014/main" id="{0170353F-270B-B7B5-AC4A-9F13ED77A24E}"/>
              </a:ext>
            </a:extLst>
          </p:cNvPr>
          <p:cNvSpPr txBox="1"/>
          <p:nvPr/>
        </p:nvSpPr>
        <p:spPr>
          <a:xfrm>
            <a:off x="6871997" y="3842139"/>
            <a:ext cx="1824764" cy="369332"/>
          </a:xfrm>
          <a:prstGeom prst="rect">
            <a:avLst/>
          </a:prstGeom>
          <a:noFill/>
        </p:spPr>
        <p:txBody>
          <a:bodyPr wrap="square" rtlCol="0">
            <a:spAutoFit/>
          </a:bodyPr>
          <a:lstStyle/>
          <a:p>
            <a:r>
              <a:rPr lang="en-GB" b="1" dirty="0"/>
              <a:t>Any character</a:t>
            </a:r>
            <a:endParaRPr lang="en-SG" b="1" dirty="0"/>
          </a:p>
        </p:txBody>
      </p:sp>
      <p:sp>
        <p:nvSpPr>
          <p:cNvPr id="30" name="Oval 29">
            <a:extLst>
              <a:ext uri="{FF2B5EF4-FFF2-40B4-BE49-F238E27FC236}">
                <a16:creationId xmlns:a16="http://schemas.microsoft.com/office/drawing/2014/main" id="{7DE7A0B7-834E-1F5E-A9DB-25C49831DCDF}"/>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
        <p:nvSpPr>
          <p:cNvPr id="31" name="Freeform: Shape 30">
            <a:extLst>
              <a:ext uri="{FF2B5EF4-FFF2-40B4-BE49-F238E27FC236}">
                <a16:creationId xmlns:a16="http://schemas.microsoft.com/office/drawing/2014/main" id="{C181F9AF-84E6-409A-44D1-F8D0B0780D8E}"/>
              </a:ext>
            </a:extLst>
          </p:cNvPr>
          <p:cNvSpPr/>
          <p:nvPr/>
        </p:nvSpPr>
        <p:spPr>
          <a:xfrm rot="5400000">
            <a:off x="7247476" y="3829890"/>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2" name="Straight Arrow Connector 31">
            <a:extLst>
              <a:ext uri="{FF2B5EF4-FFF2-40B4-BE49-F238E27FC236}">
                <a16:creationId xmlns:a16="http://schemas.microsoft.com/office/drawing/2014/main" id="{EBA60E39-6FB1-71F2-A23A-0DD8EF273F03}"/>
              </a:ext>
            </a:extLst>
          </p:cNvPr>
          <p:cNvCxnSpPr>
            <a:cxnSpLocks/>
          </p:cNvCxnSpPr>
          <p:nvPr/>
        </p:nvCxnSpPr>
        <p:spPr>
          <a:xfrm>
            <a:off x="10382865" y="147484"/>
            <a:ext cx="623283" cy="113329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Oval 32">
            <a:extLst>
              <a:ext uri="{FF2B5EF4-FFF2-40B4-BE49-F238E27FC236}">
                <a16:creationId xmlns:a16="http://schemas.microsoft.com/office/drawing/2014/main" id="{749A3179-5D2F-6BF4-78C1-69580C991F2A}"/>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1</a:t>
            </a:r>
            <a:endParaRPr lang="en-SG" sz="1600" b="1" dirty="0">
              <a:solidFill>
                <a:schemeClr val="bg1"/>
              </a:solidFill>
            </a:endParaRPr>
          </a:p>
        </p:txBody>
      </p:sp>
      <p:sp>
        <p:nvSpPr>
          <p:cNvPr id="34" name="Oval 33">
            <a:extLst>
              <a:ext uri="{FF2B5EF4-FFF2-40B4-BE49-F238E27FC236}">
                <a16:creationId xmlns:a16="http://schemas.microsoft.com/office/drawing/2014/main" id="{BB2F1FF7-525A-5271-0002-E7FC0FA9E106}"/>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35" name="Straight Arrow Connector 34">
            <a:extLst>
              <a:ext uri="{FF2B5EF4-FFF2-40B4-BE49-F238E27FC236}">
                <a16:creationId xmlns:a16="http://schemas.microsoft.com/office/drawing/2014/main" id="{1511356C-D772-A6AF-6838-3935249A8431}"/>
              </a:ext>
            </a:extLst>
          </p:cNvPr>
          <p:cNvCxnSpPr>
            <a:cxnSpLocks/>
            <a:stCxn id="34" idx="3"/>
            <a:endCxn id="33" idx="5"/>
          </p:cNvCxnSpPr>
          <p:nvPr/>
        </p:nvCxnSpPr>
        <p:spPr>
          <a:xfrm flipH="1">
            <a:off x="8132991" y="2197038"/>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C393A1BD-1CF3-D4D7-081A-20DE9DAB94D0}"/>
              </a:ext>
            </a:extLst>
          </p:cNvPr>
          <p:cNvSpPr txBox="1"/>
          <p:nvPr/>
        </p:nvSpPr>
        <p:spPr>
          <a:xfrm>
            <a:off x="9288098" y="2394210"/>
            <a:ext cx="562095" cy="369332"/>
          </a:xfrm>
          <a:prstGeom prst="rect">
            <a:avLst/>
          </a:prstGeom>
          <a:noFill/>
        </p:spPr>
        <p:txBody>
          <a:bodyPr wrap="square" rtlCol="0">
            <a:spAutoFit/>
          </a:bodyPr>
          <a:lstStyle/>
          <a:p>
            <a:r>
              <a:rPr lang="en-GB" b="1" dirty="0"/>
              <a:t>a</a:t>
            </a:r>
            <a:endParaRPr lang="en-SG" b="1" dirty="0"/>
          </a:p>
        </p:txBody>
      </p:sp>
      <p:sp>
        <p:nvSpPr>
          <p:cNvPr id="38" name="Freeform: Shape 37">
            <a:extLst>
              <a:ext uri="{FF2B5EF4-FFF2-40B4-BE49-F238E27FC236}">
                <a16:creationId xmlns:a16="http://schemas.microsoft.com/office/drawing/2014/main" id="{1E8DAC81-6714-2135-F20B-BE2BDEFBEB42}"/>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TextBox 40">
            <a:extLst>
              <a:ext uri="{FF2B5EF4-FFF2-40B4-BE49-F238E27FC236}">
                <a16:creationId xmlns:a16="http://schemas.microsoft.com/office/drawing/2014/main" id="{D246A7B9-7C73-6AF4-D464-CFEDC0A967F0}"/>
              </a:ext>
            </a:extLst>
          </p:cNvPr>
          <p:cNvSpPr txBox="1"/>
          <p:nvPr/>
        </p:nvSpPr>
        <p:spPr>
          <a:xfrm>
            <a:off x="10650884" y="3339187"/>
            <a:ext cx="2008176" cy="646331"/>
          </a:xfrm>
          <a:prstGeom prst="rect">
            <a:avLst/>
          </a:prstGeom>
          <a:noFill/>
        </p:spPr>
        <p:txBody>
          <a:bodyPr wrap="square" rtlCol="0">
            <a:spAutoFit/>
          </a:bodyPr>
          <a:lstStyle/>
          <a:p>
            <a:pPr algn="ctr"/>
            <a:r>
              <a:rPr lang="en-GB" b="1" dirty="0"/>
              <a:t>Anything</a:t>
            </a:r>
            <a:br>
              <a:rPr lang="en-GB" b="1" dirty="0"/>
            </a:br>
            <a:r>
              <a:rPr lang="en-GB" b="1" dirty="0"/>
              <a:t>but b</a:t>
            </a:r>
            <a:endParaRPr lang="en-SG" b="1" dirty="0"/>
          </a:p>
        </p:txBody>
      </p:sp>
      <p:sp>
        <p:nvSpPr>
          <p:cNvPr id="42" name="TextBox 41">
            <a:extLst>
              <a:ext uri="{FF2B5EF4-FFF2-40B4-BE49-F238E27FC236}">
                <a16:creationId xmlns:a16="http://schemas.microsoft.com/office/drawing/2014/main" id="{9A18FEB1-6281-924E-FED6-13646EC08495}"/>
              </a:ext>
            </a:extLst>
          </p:cNvPr>
          <p:cNvSpPr txBox="1"/>
          <p:nvPr/>
        </p:nvSpPr>
        <p:spPr>
          <a:xfrm>
            <a:off x="10710473" y="253966"/>
            <a:ext cx="2008176" cy="646331"/>
          </a:xfrm>
          <a:prstGeom prst="rect">
            <a:avLst/>
          </a:prstGeom>
          <a:noFill/>
        </p:spPr>
        <p:txBody>
          <a:bodyPr wrap="square" rtlCol="0">
            <a:spAutoFit/>
          </a:bodyPr>
          <a:lstStyle/>
          <a:p>
            <a:pPr algn="ctr"/>
            <a:r>
              <a:rPr lang="en-GB" b="1" dirty="0"/>
              <a:t>Anything</a:t>
            </a:r>
            <a:br>
              <a:rPr lang="en-GB" b="1" dirty="0"/>
            </a:br>
            <a:r>
              <a:rPr lang="en-GB" b="1" dirty="0"/>
              <a:t>but a</a:t>
            </a:r>
            <a:endParaRPr lang="en-SG" b="1"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906938C-3B36-8BD2-8141-008820923DE6}"/>
                  </a:ext>
                </a:extLst>
              </p:cNvPr>
              <p:cNvSpPr txBox="1"/>
              <p:nvPr/>
            </p:nvSpPr>
            <p:spPr>
              <a:xfrm>
                <a:off x="8930341" y="3418729"/>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solidFill>
                            <a:srgbClr val="7030A0"/>
                          </a:solidFill>
                          <a:latin typeface="Cambria Math" panose="02040503050406030204" pitchFamily="18" charset="0"/>
                        </a:rPr>
                        <m:t>𝝐</m:t>
                      </m:r>
                    </m:oMath>
                  </m:oMathPara>
                </a14:m>
                <a:endParaRPr lang="en-GB" b="1" dirty="0">
                  <a:solidFill>
                    <a:srgbClr val="7030A0"/>
                  </a:solidFill>
                </a:endParaRPr>
              </a:p>
            </p:txBody>
          </p:sp>
        </mc:Choice>
        <mc:Fallback xmlns="">
          <p:sp>
            <p:nvSpPr>
              <p:cNvPr id="44" name="TextBox 43">
                <a:extLst>
                  <a:ext uri="{FF2B5EF4-FFF2-40B4-BE49-F238E27FC236}">
                    <a16:creationId xmlns:a16="http://schemas.microsoft.com/office/drawing/2014/main" id="{E906938C-3B36-8BD2-8141-008820923DE6}"/>
                  </a:ext>
                </a:extLst>
              </p:cNvPr>
              <p:cNvSpPr txBox="1">
                <a:spLocks noRot="1" noChangeAspect="1" noMove="1" noResize="1" noEditPoints="1" noAdjustHandles="1" noChangeArrowheads="1" noChangeShapeType="1" noTextEdit="1"/>
              </p:cNvSpPr>
              <p:nvPr/>
            </p:nvSpPr>
            <p:spPr>
              <a:xfrm>
                <a:off x="8930341" y="3418729"/>
                <a:ext cx="562095" cy="369332"/>
              </a:xfrm>
              <a:prstGeom prst="rect">
                <a:avLst/>
              </a:prstGeom>
              <a:blipFill>
                <a:blip r:embed="rId2"/>
                <a:stretch>
                  <a:fillRect/>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61615F8B-6276-FCAA-9724-79686E7B9675}"/>
              </a:ext>
            </a:extLst>
          </p:cNvPr>
          <p:cNvSpPr txBox="1"/>
          <p:nvPr/>
        </p:nvSpPr>
        <p:spPr>
          <a:xfrm>
            <a:off x="6871996" y="271324"/>
            <a:ext cx="1824764" cy="369332"/>
          </a:xfrm>
          <a:prstGeom prst="rect">
            <a:avLst/>
          </a:prstGeom>
          <a:noFill/>
        </p:spPr>
        <p:txBody>
          <a:bodyPr wrap="square" rtlCol="0">
            <a:spAutoFit/>
          </a:bodyPr>
          <a:lstStyle/>
          <a:p>
            <a:r>
              <a:rPr lang="en-GB" b="1" dirty="0"/>
              <a:t>a</a:t>
            </a:r>
            <a:endParaRPr lang="en-SG" b="1" dirty="0"/>
          </a:p>
        </p:txBody>
      </p:sp>
      <p:sp>
        <p:nvSpPr>
          <p:cNvPr id="6" name="Freeform: Shape 39">
            <a:extLst>
              <a:ext uri="{FF2B5EF4-FFF2-40B4-BE49-F238E27FC236}">
                <a16:creationId xmlns:a16="http://schemas.microsoft.com/office/drawing/2014/main" id="{2BCDAD32-34CA-152D-CB1F-3B1436522E6F}"/>
              </a:ext>
            </a:extLst>
          </p:cNvPr>
          <p:cNvSpPr/>
          <p:nvPr/>
        </p:nvSpPr>
        <p:spPr>
          <a:xfrm rot="5400000">
            <a:off x="7247475" y="25907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F3C499EB-6B85-E4EE-DF33-98EE6DC62EE0}"/>
              </a:ext>
            </a:extLst>
          </p:cNvPr>
          <p:cNvCxnSpPr>
            <a:cxnSpLocks/>
            <a:stCxn id="33" idx="6"/>
            <a:endCxn id="34" idx="2"/>
          </p:cNvCxnSpPr>
          <p:nvPr/>
        </p:nvCxnSpPr>
        <p:spPr>
          <a:xfrm>
            <a:off x="8291153" y="1815200"/>
            <a:ext cx="23182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126190FE-C8B7-FAA8-91A6-7FA5CD77E6F6}"/>
              </a:ext>
            </a:extLst>
          </p:cNvPr>
          <p:cNvSpPr txBox="1"/>
          <p:nvPr/>
        </p:nvSpPr>
        <p:spPr>
          <a:xfrm>
            <a:off x="8599284" y="1205625"/>
            <a:ext cx="2008176" cy="646331"/>
          </a:xfrm>
          <a:prstGeom prst="rect">
            <a:avLst/>
          </a:prstGeom>
          <a:noFill/>
        </p:spPr>
        <p:txBody>
          <a:bodyPr wrap="square" rtlCol="0">
            <a:spAutoFit/>
          </a:bodyPr>
          <a:lstStyle/>
          <a:p>
            <a:pPr algn="ctr"/>
            <a:r>
              <a:rPr lang="en-GB" b="1" dirty="0"/>
              <a:t>Anything but a</a:t>
            </a:r>
            <a:br>
              <a:rPr lang="en-GB" b="1" dirty="0"/>
            </a:br>
            <a:r>
              <a:rPr lang="en-GB" b="1" dirty="0"/>
              <a:t>or b</a:t>
            </a:r>
            <a:endParaRPr lang="en-SG" b="1" dirty="0"/>
          </a:p>
        </p:txBody>
      </p:sp>
      <p:cxnSp>
        <p:nvCxnSpPr>
          <p:cNvPr id="12" name="Straight Arrow Connector 11">
            <a:extLst>
              <a:ext uri="{FF2B5EF4-FFF2-40B4-BE49-F238E27FC236}">
                <a16:creationId xmlns:a16="http://schemas.microsoft.com/office/drawing/2014/main" id="{D4256B91-485B-4C4F-09DD-E7A3EDB11530}"/>
              </a:ext>
            </a:extLst>
          </p:cNvPr>
          <p:cNvCxnSpPr>
            <a:cxnSpLocks/>
            <a:stCxn id="23" idx="0"/>
            <a:endCxn id="34" idx="4"/>
          </p:cNvCxnSpPr>
          <p:nvPr/>
        </p:nvCxnSpPr>
        <p:spPr>
          <a:xfrm flipH="1" flipV="1">
            <a:off x="11149399" y="2355200"/>
            <a:ext cx="1" cy="249081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79706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B8697-5D89-738E-46FE-FF2AAD790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9A045-C8EE-9936-AA0F-266EFDC6C9FE}"/>
              </a:ext>
            </a:extLst>
          </p:cNvPr>
          <p:cNvSpPr>
            <a:spLocks noGrp="1"/>
          </p:cNvSpPr>
          <p:nvPr>
            <p:ph type="title"/>
          </p:nvPr>
        </p:nvSpPr>
        <p:spPr/>
        <p:txBody>
          <a:bodyPr/>
          <a:lstStyle/>
          <a:p>
            <a:r>
              <a:rPr lang="en-GB" dirty="0"/>
              <a:t>Concatenation of </a:t>
            </a:r>
            <a:r>
              <a:rPr lang="en-GB" dirty="0" err="1"/>
              <a:t>RegEx</a:t>
            </a:r>
            <a:endParaRPr lang="en-SG" dirty="0"/>
          </a:p>
        </p:txBody>
      </p:sp>
      <p:sp>
        <p:nvSpPr>
          <p:cNvPr id="3" name="Content Placeholder 2">
            <a:extLst>
              <a:ext uri="{FF2B5EF4-FFF2-40B4-BE49-F238E27FC236}">
                <a16:creationId xmlns:a16="http://schemas.microsoft.com/office/drawing/2014/main" id="{F605C0AA-14C3-F810-41BD-2EEFBD82A15A}"/>
              </a:ext>
            </a:extLst>
          </p:cNvPr>
          <p:cNvSpPr>
            <a:spLocks noGrp="1"/>
          </p:cNvSpPr>
          <p:nvPr>
            <p:ph sz="half" idx="1"/>
          </p:nvPr>
        </p:nvSpPr>
        <p:spPr>
          <a:xfrm>
            <a:off x="838199" y="1825624"/>
            <a:ext cx="5704489" cy="5032375"/>
          </a:xfrm>
        </p:spPr>
        <p:txBody>
          <a:bodyPr>
            <a:normAutofit/>
          </a:bodyPr>
          <a:lstStyle/>
          <a:p>
            <a:pPr marL="0" indent="0">
              <a:buNone/>
            </a:pPr>
            <a:r>
              <a:rPr lang="en-SG" b="1" dirty="0"/>
              <a:t>Question: </a:t>
            </a:r>
            <a:r>
              <a:rPr lang="en-SG" dirty="0"/>
              <a:t>Could we transform our NDFSM into a DFSM if we</a:t>
            </a:r>
          </a:p>
          <a:p>
            <a:r>
              <a:rPr lang="en-SG" dirty="0"/>
              <a:t>merge both states 1 and 2 together, </a:t>
            </a:r>
          </a:p>
          <a:p>
            <a:r>
              <a:rPr lang="en-SG" dirty="0"/>
              <a:t>to get rid of the Epsilon transition here,</a:t>
            </a:r>
          </a:p>
          <a:p>
            <a:pPr marL="0" indent="0">
              <a:buNone/>
            </a:pPr>
            <a:r>
              <a:rPr lang="en-SG" dirty="0"/>
              <a:t>And still obtain the expected </a:t>
            </a:r>
            <a:r>
              <a:rPr lang="en-SG" dirty="0" err="1"/>
              <a:t>RegEx</a:t>
            </a:r>
            <a:r>
              <a:rPr lang="en-SG" dirty="0"/>
              <a:t> that we want?</a:t>
            </a:r>
          </a:p>
          <a:p>
            <a:pPr marL="0" indent="0">
              <a:buNone/>
            </a:pPr>
            <a:endParaRPr lang="en-SG" dirty="0"/>
          </a:p>
          <a:p>
            <a:pPr marL="0" indent="0">
              <a:buNone/>
            </a:pPr>
            <a:r>
              <a:rPr lang="en-SG" dirty="0"/>
              <a:t>Would that be valid?</a:t>
            </a:r>
          </a:p>
        </p:txBody>
      </p:sp>
      <p:sp>
        <p:nvSpPr>
          <p:cNvPr id="13" name="Oval 12">
            <a:extLst>
              <a:ext uri="{FF2B5EF4-FFF2-40B4-BE49-F238E27FC236}">
                <a16:creationId xmlns:a16="http://schemas.microsoft.com/office/drawing/2014/main" id="{73C9CB23-C6C2-5091-AC82-966193C1BF33}"/>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cxnSp>
        <p:nvCxnSpPr>
          <p:cNvPr id="26" name="Straight Arrow Connector 25">
            <a:extLst>
              <a:ext uri="{FF2B5EF4-FFF2-40B4-BE49-F238E27FC236}">
                <a16:creationId xmlns:a16="http://schemas.microsoft.com/office/drawing/2014/main" id="{CAD3F39C-A3A0-0A15-AE38-E1FB8C1C1B34}"/>
              </a:ext>
            </a:extLst>
          </p:cNvPr>
          <p:cNvCxnSpPr>
            <a:cxnSpLocks/>
            <a:stCxn id="33" idx="4"/>
            <a:endCxn id="30" idx="0"/>
          </p:cNvCxnSpPr>
          <p:nvPr/>
        </p:nvCxnSpPr>
        <p:spPr>
          <a:xfrm>
            <a:off x="7751153" y="2355200"/>
            <a:ext cx="2355" cy="254244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CF75BAAB-0EC9-2422-864C-72E6E99AB1BE}"/>
              </a:ext>
            </a:extLst>
          </p:cNvPr>
          <p:cNvSpPr txBox="1"/>
          <p:nvPr/>
        </p:nvSpPr>
        <p:spPr>
          <a:xfrm>
            <a:off x="7805290" y="3340587"/>
            <a:ext cx="562095" cy="369332"/>
          </a:xfrm>
          <a:prstGeom prst="rect">
            <a:avLst/>
          </a:prstGeom>
          <a:noFill/>
        </p:spPr>
        <p:txBody>
          <a:bodyPr wrap="square" rtlCol="0">
            <a:spAutoFit/>
          </a:bodyPr>
          <a:lstStyle/>
          <a:p>
            <a:r>
              <a:rPr lang="en-GB" b="1" dirty="0"/>
              <a:t>b</a:t>
            </a:r>
            <a:endParaRPr lang="en-SG" b="1" dirty="0"/>
          </a:p>
        </p:txBody>
      </p:sp>
      <p:sp>
        <p:nvSpPr>
          <p:cNvPr id="28" name="TextBox 27">
            <a:extLst>
              <a:ext uri="{FF2B5EF4-FFF2-40B4-BE49-F238E27FC236}">
                <a16:creationId xmlns:a16="http://schemas.microsoft.com/office/drawing/2014/main" id="{CE2CF577-0842-9C84-CE59-34D8F296B8C8}"/>
              </a:ext>
            </a:extLst>
          </p:cNvPr>
          <p:cNvSpPr txBox="1"/>
          <p:nvPr/>
        </p:nvSpPr>
        <p:spPr>
          <a:xfrm>
            <a:off x="8537894" y="6197861"/>
            <a:ext cx="1824764" cy="369332"/>
          </a:xfrm>
          <a:prstGeom prst="rect">
            <a:avLst/>
          </a:prstGeom>
          <a:noFill/>
        </p:spPr>
        <p:txBody>
          <a:bodyPr wrap="square" rtlCol="0">
            <a:spAutoFit/>
          </a:bodyPr>
          <a:lstStyle/>
          <a:p>
            <a:r>
              <a:rPr lang="en-GB" b="1" dirty="0"/>
              <a:t>Any character</a:t>
            </a:r>
            <a:endParaRPr lang="en-SG" b="1" dirty="0"/>
          </a:p>
        </p:txBody>
      </p:sp>
      <p:sp>
        <p:nvSpPr>
          <p:cNvPr id="30" name="Oval 29">
            <a:extLst>
              <a:ext uri="{FF2B5EF4-FFF2-40B4-BE49-F238E27FC236}">
                <a16:creationId xmlns:a16="http://schemas.microsoft.com/office/drawing/2014/main" id="{2733039E-81DC-272D-E8B9-3E5C35018812}"/>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2</a:t>
            </a:r>
            <a:endParaRPr lang="en-SG" sz="1600" b="1" dirty="0">
              <a:solidFill>
                <a:schemeClr val="bg1"/>
              </a:solidFill>
            </a:endParaRPr>
          </a:p>
        </p:txBody>
      </p:sp>
      <p:sp>
        <p:nvSpPr>
          <p:cNvPr id="31" name="Freeform: Shape 30">
            <a:extLst>
              <a:ext uri="{FF2B5EF4-FFF2-40B4-BE49-F238E27FC236}">
                <a16:creationId xmlns:a16="http://schemas.microsoft.com/office/drawing/2014/main" id="{F2E6A7CE-3064-ECAE-2B71-81562E49AC93}"/>
              </a:ext>
            </a:extLst>
          </p:cNvPr>
          <p:cNvSpPr/>
          <p:nvPr/>
        </p:nvSpPr>
        <p:spPr>
          <a:xfrm rot="16200000">
            <a:off x="7341982" y="5146142"/>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2" name="Straight Arrow Connector 31">
            <a:extLst>
              <a:ext uri="{FF2B5EF4-FFF2-40B4-BE49-F238E27FC236}">
                <a16:creationId xmlns:a16="http://schemas.microsoft.com/office/drawing/2014/main" id="{5F57E007-D476-F6FF-0E29-6F1EF61B95DB}"/>
              </a:ext>
            </a:extLst>
          </p:cNvPr>
          <p:cNvCxnSpPr>
            <a:cxnSpLocks/>
          </p:cNvCxnSpPr>
          <p:nvPr/>
        </p:nvCxnSpPr>
        <p:spPr>
          <a:xfrm>
            <a:off x="10382865" y="147484"/>
            <a:ext cx="623283" cy="113329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Oval 32">
            <a:extLst>
              <a:ext uri="{FF2B5EF4-FFF2-40B4-BE49-F238E27FC236}">
                <a16:creationId xmlns:a16="http://schemas.microsoft.com/office/drawing/2014/main" id="{97931F32-3E1A-99DF-7BC1-B0E3D65E5C32}"/>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1</a:t>
            </a:r>
            <a:endParaRPr lang="en-SG" sz="1600" b="1" dirty="0">
              <a:solidFill>
                <a:schemeClr val="bg1"/>
              </a:solidFill>
            </a:endParaRPr>
          </a:p>
        </p:txBody>
      </p:sp>
      <p:sp>
        <p:nvSpPr>
          <p:cNvPr id="34" name="Oval 33">
            <a:extLst>
              <a:ext uri="{FF2B5EF4-FFF2-40B4-BE49-F238E27FC236}">
                <a16:creationId xmlns:a16="http://schemas.microsoft.com/office/drawing/2014/main" id="{19C73597-5998-0D33-018D-B1982994782C}"/>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35" name="Straight Arrow Connector 34">
            <a:extLst>
              <a:ext uri="{FF2B5EF4-FFF2-40B4-BE49-F238E27FC236}">
                <a16:creationId xmlns:a16="http://schemas.microsoft.com/office/drawing/2014/main" id="{4304BC2C-B5D7-E6A1-3074-9DDC35C84830}"/>
              </a:ext>
            </a:extLst>
          </p:cNvPr>
          <p:cNvCxnSpPr>
            <a:cxnSpLocks/>
            <a:stCxn id="34" idx="3"/>
            <a:endCxn id="33" idx="5"/>
          </p:cNvCxnSpPr>
          <p:nvPr/>
        </p:nvCxnSpPr>
        <p:spPr>
          <a:xfrm flipH="1">
            <a:off x="8132991" y="2197038"/>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06ABDD95-186B-D019-F13B-5C4CD85B3538}"/>
              </a:ext>
            </a:extLst>
          </p:cNvPr>
          <p:cNvSpPr txBox="1"/>
          <p:nvPr/>
        </p:nvSpPr>
        <p:spPr>
          <a:xfrm>
            <a:off x="9288098" y="2394210"/>
            <a:ext cx="562095" cy="369332"/>
          </a:xfrm>
          <a:prstGeom prst="rect">
            <a:avLst/>
          </a:prstGeom>
          <a:noFill/>
        </p:spPr>
        <p:txBody>
          <a:bodyPr wrap="square" rtlCol="0">
            <a:spAutoFit/>
          </a:bodyPr>
          <a:lstStyle/>
          <a:p>
            <a:r>
              <a:rPr lang="en-GB" b="1" dirty="0"/>
              <a:t>a</a:t>
            </a:r>
            <a:endParaRPr lang="en-SG" b="1" dirty="0"/>
          </a:p>
        </p:txBody>
      </p:sp>
      <p:sp>
        <p:nvSpPr>
          <p:cNvPr id="38" name="Freeform: Shape 37">
            <a:extLst>
              <a:ext uri="{FF2B5EF4-FFF2-40B4-BE49-F238E27FC236}">
                <a16:creationId xmlns:a16="http://schemas.microsoft.com/office/drawing/2014/main" id="{5491FED5-7973-47F6-4AD8-1CB2AD413604}"/>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832B34D3-6D55-0458-74DA-4BABE442BA5B}"/>
              </a:ext>
            </a:extLst>
          </p:cNvPr>
          <p:cNvSpPr txBox="1"/>
          <p:nvPr/>
        </p:nvSpPr>
        <p:spPr>
          <a:xfrm>
            <a:off x="10710473" y="253966"/>
            <a:ext cx="2008176" cy="646331"/>
          </a:xfrm>
          <a:prstGeom prst="rect">
            <a:avLst/>
          </a:prstGeom>
          <a:noFill/>
        </p:spPr>
        <p:txBody>
          <a:bodyPr wrap="square" rtlCol="0">
            <a:spAutoFit/>
          </a:bodyPr>
          <a:lstStyle/>
          <a:p>
            <a:pPr algn="ctr"/>
            <a:r>
              <a:rPr lang="en-GB" b="1" dirty="0"/>
              <a:t>Anything</a:t>
            </a:r>
            <a:br>
              <a:rPr lang="en-GB" b="1" dirty="0"/>
            </a:br>
            <a:r>
              <a:rPr lang="en-GB" b="1" dirty="0"/>
              <a:t>but a</a:t>
            </a:r>
            <a:endParaRPr lang="en-SG" b="1" dirty="0"/>
          </a:p>
        </p:txBody>
      </p:sp>
      <p:sp>
        <p:nvSpPr>
          <p:cNvPr id="5" name="TextBox 4">
            <a:extLst>
              <a:ext uri="{FF2B5EF4-FFF2-40B4-BE49-F238E27FC236}">
                <a16:creationId xmlns:a16="http://schemas.microsoft.com/office/drawing/2014/main" id="{20B11CE2-BAA5-7230-A59F-811515295535}"/>
              </a:ext>
            </a:extLst>
          </p:cNvPr>
          <p:cNvSpPr txBox="1"/>
          <p:nvPr/>
        </p:nvSpPr>
        <p:spPr>
          <a:xfrm>
            <a:off x="6871996" y="271324"/>
            <a:ext cx="1824764" cy="369332"/>
          </a:xfrm>
          <a:prstGeom prst="rect">
            <a:avLst/>
          </a:prstGeom>
          <a:noFill/>
        </p:spPr>
        <p:txBody>
          <a:bodyPr wrap="square" rtlCol="0">
            <a:spAutoFit/>
          </a:bodyPr>
          <a:lstStyle/>
          <a:p>
            <a:r>
              <a:rPr lang="en-GB" b="1" dirty="0"/>
              <a:t>a</a:t>
            </a:r>
            <a:endParaRPr lang="en-SG" b="1" dirty="0"/>
          </a:p>
        </p:txBody>
      </p:sp>
      <p:sp>
        <p:nvSpPr>
          <p:cNvPr id="6" name="Freeform: Shape 39">
            <a:extLst>
              <a:ext uri="{FF2B5EF4-FFF2-40B4-BE49-F238E27FC236}">
                <a16:creationId xmlns:a16="http://schemas.microsoft.com/office/drawing/2014/main" id="{364F42C0-42E6-AF6C-4E8B-429B351ACF5C}"/>
              </a:ext>
            </a:extLst>
          </p:cNvPr>
          <p:cNvSpPr/>
          <p:nvPr/>
        </p:nvSpPr>
        <p:spPr>
          <a:xfrm rot="5400000">
            <a:off x="7247475" y="25907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A72A26B8-4010-07BD-67CE-802E57A66867}"/>
              </a:ext>
            </a:extLst>
          </p:cNvPr>
          <p:cNvCxnSpPr>
            <a:cxnSpLocks/>
            <a:stCxn id="33" idx="6"/>
            <a:endCxn id="34" idx="2"/>
          </p:cNvCxnSpPr>
          <p:nvPr/>
        </p:nvCxnSpPr>
        <p:spPr>
          <a:xfrm>
            <a:off x="8291153" y="1815200"/>
            <a:ext cx="23182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65D60AF8-4309-AA1D-262F-95411A88B039}"/>
              </a:ext>
            </a:extLst>
          </p:cNvPr>
          <p:cNvSpPr txBox="1"/>
          <p:nvPr/>
        </p:nvSpPr>
        <p:spPr>
          <a:xfrm>
            <a:off x="8599284" y="1205625"/>
            <a:ext cx="2008176" cy="646331"/>
          </a:xfrm>
          <a:prstGeom prst="rect">
            <a:avLst/>
          </a:prstGeom>
          <a:noFill/>
        </p:spPr>
        <p:txBody>
          <a:bodyPr wrap="square" rtlCol="0">
            <a:spAutoFit/>
          </a:bodyPr>
          <a:lstStyle/>
          <a:p>
            <a:pPr algn="ctr"/>
            <a:r>
              <a:rPr lang="en-GB" b="1" dirty="0"/>
              <a:t>Anything but a</a:t>
            </a:r>
            <a:br>
              <a:rPr lang="en-GB" b="1" dirty="0"/>
            </a:br>
            <a:r>
              <a:rPr lang="en-GB" b="1" dirty="0"/>
              <a:t>or b</a:t>
            </a:r>
            <a:endParaRPr lang="en-SG" b="1" dirty="0"/>
          </a:p>
        </p:txBody>
      </p:sp>
    </p:spTree>
    <p:extLst>
      <p:ext uri="{BB962C8B-B14F-4D97-AF65-F5344CB8AC3E}">
        <p14:creationId xmlns:p14="http://schemas.microsoft.com/office/powerpoint/2010/main" val="2944563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E3CC-C2F1-D5F9-388A-E8378975AC12}"/>
              </a:ext>
            </a:extLst>
          </p:cNvPr>
          <p:cNvSpPr>
            <a:spLocks noGrp="1"/>
          </p:cNvSpPr>
          <p:nvPr>
            <p:ph type="title"/>
          </p:nvPr>
        </p:nvSpPr>
        <p:spPr/>
        <p:txBody>
          <a:bodyPr/>
          <a:lstStyle/>
          <a:p>
            <a:r>
              <a:rPr lang="en-GB" dirty="0"/>
              <a:t>Back to our Practice 1</a:t>
            </a:r>
            <a:endParaRPr lang="en-SG" dirty="0"/>
          </a:p>
        </p:txBody>
      </p:sp>
      <p:sp>
        <p:nvSpPr>
          <p:cNvPr id="3" name="Content Placeholder 2">
            <a:extLst>
              <a:ext uri="{FF2B5EF4-FFF2-40B4-BE49-F238E27FC236}">
                <a16:creationId xmlns:a16="http://schemas.microsoft.com/office/drawing/2014/main" id="{C51ADC3A-36BE-B86B-FA40-9DF3C5E68D0A}"/>
              </a:ext>
            </a:extLst>
          </p:cNvPr>
          <p:cNvSpPr>
            <a:spLocks noGrp="1"/>
          </p:cNvSpPr>
          <p:nvPr>
            <p:ph idx="1"/>
          </p:nvPr>
        </p:nvSpPr>
        <p:spPr>
          <a:xfrm>
            <a:off x="838200" y="1825624"/>
            <a:ext cx="10515600" cy="5032375"/>
          </a:xfrm>
        </p:spPr>
        <p:txBody>
          <a:bodyPr>
            <a:normAutofit/>
          </a:bodyPr>
          <a:lstStyle/>
          <a:p>
            <a:pPr marL="0" indent="0">
              <a:buNone/>
            </a:pPr>
            <a:r>
              <a:rPr lang="en-GB" dirty="0"/>
              <a:t>We would like to write an FSM with stopping states that will take strings </a:t>
            </a:r>
            <a:r>
              <a:rPr lang="en-GB" i="1" dirty="0"/>
              <a:t>x</a:t>
            </a:r>
            <a:r>
              <a:rPr lang="en-GB" dirty="0"/>
              <a:t> consisting of combinations of three characters: Z, A and M.</a:t>
            </a:r>
          </a:p>
          <a:p>
            <a:pPr marL="0" indent="0">
              <a:buNone/>
            </a:pPr>
            <a:r>
              <a:rPr lang="en-SG" dirty="0"/>
              <a:t>Possible combinations for the string </a:t>
            </a:r>
            <a:r>
              <a:rPr lang="en-SG" i="1" dirty="0"/>
              <a:t>x</a:t>
            </a:r>
            <a:r>
              <a:rPr lang="en-SG" dirty="0"/>
              <a:t> include, among many others, “ZAM”, “AMAZ”, “ZAMZAM”, etc.</a:t>
            </a:r>
          </a:p>
          <a:p>
            <a:pPr marL="0" indent="0">
              <a:buNone/>
            </a:pPr>
            <a:endParaRPr lang="en-SG" dirty="0"/>
          </a:p>
          <a:p>
            <a:pPr marL="0" indent="0">
              <a:buNone/>
            </a:pPr>
            <a:r>
              <a:rPr lang="en-SG" dirty="0"/>
              <a:t>Draw a FSM state diagram, which has the FSM produce a specific output, </a:t>
            </a:r>
            <a:r>
              <a:rPr lang="en-SG" u="sng" dirty="0"/>
              <a:t>if and only if the string </a:t>
            </a:r>
            <a:r>
              <a:rPr lang="en-SG" i="1" u="sng" dirty="0"/>
              <a:t>x</a:t>
            </a:r>
            <a:r>
              <a:rPr lang="en-SG" u="sng" dirty="0"/>
              <a:t> contains the substring ZAM.</a:t>
            </a:r>
          </a:p>
          <a:p>
            <a:pPr marL="0" indent="0">
              <a:buNone/>
            </a:pPr>
            <a:endParaRPr lang="en-SG" u="sng" dirty="0"/>
          </a:p>
          <a:p>
            <a:pPr marL="0" indent="0">
              <a:buNone/>
            </a:pPr>
            <a:r>
              <a:rPr lang="en-SG" b="1" dirty="0">
                <a:solidFill>
                  <a:srgbClr val="7030A0"/>
                </a:solidFill>
              </a:rPr>
              <a:t>Q2 (can probably be solved now): Could that be described using a </a:t>
            </a:r>
            <a:r>
              <a:rPr lang="en-SG" b="1" dirty="0" err="1">
                <a:solidFill>
                  <a:srgbClr val="7030A0"/>
                </a:solidFill>
              </a:rPr>
              <a:t>RegEx</a:t>
            </a:r>
            <a:r>
              <a:rPr lang="en-SG" b="1" dirty="0">
                <a:solidFill>
                  <a:srgbClr val="7030A0"/>
                </a:solidFill>
              </a:rPr>
              <a:t> of some sort?</a:t>
            </a:r>
          </a:p>
        </p:txBody>
      </p:sp>
    </p:spTree>
    <p:extLst>
      <p:ext uri="{BB962C8B-B14F-4D97-AF65-F5344CB8AC3E}">
        <p14:creationId xmlns:p14="http://schemas.microsoft.com/office/powerpoint/2010/main" val="86191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97B2C-A3ED-EB52-A4D7-539C6CA7AD36}"/>
              </a:ext>
            </a:extLst>
          </p:cNvPr>
          <p:cNvSpPr>
            <a:spLocks noGrp="1"/>
          </p:cNvSpPr>
          <p:nvPr>
            <p:ph type="title"/>
          </p:nvPr>
        </p:nvSpPr>
        <p:spPr/>
        <p:txBody>
          <a:bodyPr/>
          <a:lstStyle/>
          <a:p>
            <a:r>
              <a:rPr lang="en-GB" dirty="0"/>
              <a:t>Choice of </a:t>
            </a:r>
            <a:r>
              <a:rPr lang="en-GB" dirty="0" err="1"/>
              <a:t>RegEx</a:t>
            </a:r>
            <a:endParaRPr lang="en-SG" dirty="0"/>
          </a:p>
        </p:txBody>
      </p:sp>
      <p:sp>
        <p:nvSpPr>
          <p:cNvPr id="4" name="Content Placeholder 3">
            <a:extLst>
              <a:ext uri="{FF2B5EF4-FFF2-40B4-BE49-F238E27FC236}">
                <a16:creationId xmlns:a16="http://schemas.microsoft.com/office/drawing/2014/main" id="{A0FF4252-8E53-B941-EF50-7759A6112153}"/>
              </a:ext>
            </a:extLst>
          </p:cNvPr>
          <p:cNvSpPr>
            <a:spLocks noGrp="1"/>
          </p:cNvSpPr>
          <p:nvPr>
            <p:ph idx="1"/>
          </p:nvPr>
        </p:nvSpPr>
        <p:spPr>
          <a:xfrm>
            <a:off x="838200" y="1825624"/>
            <a:ext cx="10515600" cy="5032375"/>
          </a:xfrm>
        </p:spPr>
        <p:txBody>
          <a:bodyPr>
            <a:normAutofit/>
          </a:bodyPr>
          <a:lstStyle/>
          <a:p>
            <a:pPr marL="0" indent="0">
              <a:buNone/>
            </a:pPr>
            <a:r>
              <a:rPr lang="en-GB" b="1" dirty="0"/>
              <a:t>Theorem (</a:t>
            </a:r>
            <a:r>
              <a:rPr lang="en-GB" b="1" dirty="0">
                <a:solidFill>
                  <a:srgbClr val="00B050"/>
                </a:solidFill>
              </a:rPr>
              <a:t>Choice</a:t>
            </a:r>
            <a:r>
              <a:rPr lang="en-GB" b="1" dirty="0"/>
              <a:t> operator in </a:t>
            </a:r>
            <a:r>
              <a:rPr lang="en-GB" b="1" dirty="0" err="1"/>
              <a:t>RegEx</a:t>
            </a:r>
            <a:r>
              <a:rPr lang="en-GB" b="1" dirty="0"/>
              <a:t>):</a:t>
            </a:r>
          </a:p>
          <a:p>
            <a:pPr marL="0" indent="0">
              <a:buNone/>
            </a:pPr>
            <a:r>
              <a:rPr lang="en-GB" dirty="0"/>
              <a:t>Assume that we have two </a:t>
            </a:r>
            <a:r>
              <a:rPr lang="en-GB" dirty="0" err="1"/>
              <a:t>RegEx</a:t>
            </a:r>
            <a:r>
              <a:rPr lang="en-GB" dirty="0"/>
              <a:t>, e.g. </a:t>
            </a:r>
          </a:p>
          <a:p>
            <a:r>
              <a:rPr lang="en-GB" dirty="0"/>
              <a:t>our first </a:t>
            </a:r>
            <a:r>
              <a:rPr lang="en-GB" dirty="0" err="1"/>
              <a:t>RegEx</a:t>
            </a:r>
            <a:r>
              <a:rPr lang="en-GB" dirty="0"/>
              <a:t> is “a”</a:t>
            </a:r>
          </a:p>
          <a:p>
            <a:r>
              <a:rPr lang="en-GB" dirty="0"/>
              <a:t>and our second </a:t>
            </a:r>
            <a:r>
              <a:rPr lang="en-GB" dirty="0" err="1"/>
              <a:t>RegEx</a:t>
            </a:r>
            <a:r>
              <a:rPr lang="en-GB" dirty="0"/>
              <a:t> is “b”,</a:t>
            </a:r>
          </a:p>
          <a:p>
            <a:r>
              <a:rPr lang="en-GB" dirty="0"/>
              <a:t>and we have defined their respective two FSMs.</a:t>
            </a:r>
          </a:p>
          <a:p>
            <a:pPr marL="0" indent="0">
              <a:buNone/>
            </a:pPr>
            <a:endParaRPr lang="en-GB" dirty="0"/>
          </a:p>
          <a:p>
            <a:pPr marL="0" indent="0">
              <a:buNone/>
            </a:pPr>
            <a:r>
              <a:rPr lang="en-GB" dirty="0"/>
              <a:t>The </a:t>
            </a:r>
            <a:r>
              <a:rPr lang="en-GB" b="1" dirty="0">
                <a:solidFill>
                  <a:srgbClr val="00B050"/>
                </a:solidFill>
              </a:rPr>
              <a:t>choice</a:t>
            </a:r>
            <a:r>
              <a:rPr lang="en-GB" dirty="0"/>
              <a:t> </a:t>
            </a:r>
            <a:r>
              <a:rPr lang="en-GB" b="1" dirty="0"/>
              <a:t>operator | </a:t>
            </a:r>
            <a:r>
              <a:rPr lang="en-GB" dirty="0"/>
              <a:t>between both </a:t>
            </a:r>
            <a:r>
              <a:rPr lang="en-GB" b="1" dirty="0" err="1"/>
              <a:t>RegEx</a:t>
            </a:r>
            <a:r>
              <a:rPr lang="en-GB" dirty="0"/>
              <a:t> </a:t>
            </a:r>
            <a:r>
              <a:rPr lang="en-GB" b="1" dirty="0">
                <a:solidFill>
                  <a:srgbClr val="7030A0"/>
                </a:solidFill>
              </a:rPr>
              <a:t>“</a:t>
            </a:r>
            <a:r>
              <a:rPr lang="en-GB" b="1" dirty="0" err="1">
                <a:solidFill>
                  <a:srgbClr val="7030A0"/>
                </a:solidFill>
              </a:rPr>
              <a:t>a|b</a:t>
            </a:r>
            <a:r>
              <a:rPr lang="en-GB" b="1" dirty="0">
                <a:solidFill>
                  <a:srgbClr val="7030A0"/>
                </a:solidFill>
              </a:rPr>
              <a:t>” </a:t>
            </a:r>
            <a:r>
              <a:rPr lang="en-GB" dirty="0"/>
              <a:t>is used to define the union of two regular language consisting of the two strings “a” and “b”. </a:t>
            </a:r>
          </a:p>
          <a:p>
            <a:pPr marL="0" indent="0">
              <a:buNone/>
            </a:pPr>
            <a:r>
              <a:rPr lang="en-GB" b="1" dirty="0"/>
              <a:t>Its regular language consists of the union set of strings that the letter a, strings that contain the b, and strings that contain both.</a:t>
            </a:r>
          </a:p>
          <a:p>
            <a:endParaRPr lang="en-SG" dirty="0"/>
          </a:p>
        </p:txBody>
      </p:sp>
    </p:spTree>
    <p:extLst>
      <p:ext uri="{BB962C8B-B14F-4D97-AF65-F5344CB8AC3E}">
        <p14:creationId xmlns:p14="http://schemas.microsoft.com/office/powerpoint/2010/main" val="687323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97B2C-A3ED-EB52-A4D7-539C6CA7AD36}"/>
              </a:ext>
            </a:extLst>
          </p:cNvPr>
          <p:cNvSpPr>
            <a:spLocks noGrp="1"/>
          </p:cNvSpPr>
          <p:nvPr>
            <p:ph type="title"/>
          </p:nvPr>
        </p:nvSpPr>
        <p:spPr/>
        <p:txBody>
          <a:bodyPr/>
          <a:lstStyle/>
          <a:p>
            <a:r>
              <a:rPr lang="en-GB" dirty="0"/>
              <a:t>Choice of </a:t>
            </a:r>
            <a:r>
              <a:rPr lang="en-GB" dirty="0" err="1"/>
              <a:t>RegEx</a:t>
            </a:r>
            <a:endParaRPr lang="en-SG" dirty="0"/>
          </a:p>
        </p:txBody>
      </p:sp>
      <p:cxnSp>
        <p:nvCxnSpPr>
          <p:cNvPr id="3" name="Straight Arrow Connector 2">
            <a:extLst>
              <a:ext uri="{FF2B5EF4-FFF2-40B4-BE49-F238E27FC236}">
                <a16:creationId xmlns:a16="http://schemas.microsoft.com/office/drawing/2014/main" id="{281DAAB0-59B8-645D-2DF7-391868D6445D}"/>
              </a:ext>
            </a:extLst>
          </p:cNvPr>
          <p:cNvCxnSpPr>
            <a:cxnSpLocks/>
          </p:cNvCxnSpPr>
          <p:nvPr/>
        </p:nvCxnSpPr>
        <p:spPr>
          <a:xfrm>
            <a:off x="11006149" y="4038387"/>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 name="Oval 4">
            <a:extLst>
              <a:ext uri="{FF2B5EF4-FFF2-40B4-BE49-F238E27FC236}">
                <a16:creationId xmlns:a16="http://schemas.microsoft.com/office/drawing/2014/main" id="{9078BA6D-2AD3-1717-434A-34B50841FA4D}"/>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6" name="Oval 5">
            <a:extLst>
              <a:ext uri="{FF2B5EF4-FFF2-40B4-BE49-F238E27FC236}">
                <a16:creationId xmlns:a16="http://schemas.microsoft.com/office/drawing/2014/main" id="{36EC3F53-0A11-3EDE-F48E-B8FFACEC0549}"/>
              </a:ext>
            </a:extLst>
          </p:cNvPr>
          <p:cNvSpPr/>
          <p:nvPr/>
        </p:nvSpPr>
        <p:spPr>
          <a:xfrm>
            <a:off x="10609400"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9" name="Straight Arrow Connector 8">
            <a:extLst>
              <a:ext uri="{FF2B5EF4-FFF2-40B4-BE49-F238E27FC236}">
                <a16:creationId xmlns:a16="http://schemas.microsoft.com/office/drawing/2014/main" id="{F6319DEF-08B3-A22D-8BCC-42B0A6E68AAF}"/>
              </a:ext>
            </a:extLst>
          </p:cNvPr>
          <p:cNvCxnSpPr>
            <a:cxnSpLocks/>
            <a:stCxn id="6" idx="3"/>
            <a:endCxn id="5" idx="5"/>
          </p:cNvCxnSpPr>
          <p:nvPr/>
        </p:nvCxnSpPr>
        <p:spPr>
          <a:xfrm flipH="1">
            <a:off x="8132992" y="5767853"/>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957704FA-046D-31F4-2B5C-5BCA25B55694}"/>
              </a:ext>
            </a:extLst>
          </p:cNvPr>
          <p:cNvSpPr txBox="1"/>
          <p:nvPr/>
        </p:nvSpPr>
        <p:spPr>
          <a:xfrm>
            <a:off x="9288099" y="5965025"/>
            <a:ext cx="562095" cy="369332"/>
          </a:xfrm>
          <a:prstGeom prst="rect">
            <a:avLst/>
          </a:prstGeom>
          <a:noFill/>
        </p:spPr>
        <p:txBody>
          <a:bodyPr wrap="square" rtlCol="0">
            <a:spAutoFit/>
          </a:bodyPr>
          <a:lstStyle/>
          <a:p>
            <a:r>
              <a:rPr lang="en-GB" b="1" dirty="0"/>
              <a:t>b</a:t>
            </a:r>
            <a:endParaRPr lang="en-SG" b="1" dirty="0"/>
          </a:p>
        </p:txBody>
      </p:sp>
      <p:sp>
        <p:nvSpPr>
          <p:cNvPr id="11" name="TextBox 10">
            <a:extLst>
              <a:ext uri="{FF2B5EF4-FFF2-40B4-BE49-F238E27FC236}">
                <a16:creationId xmlns:a16="http://schemas.microsoft.com/office/drawing/2014/main" id="{412A3718-F787-C01C-51C0-71D4BE20CB5D}"/>
              </a:ext>
            </a:extLst>
          </p:cNvPr>
          <p:cNvSpPr txBox="1"/>
          <p:nvPr/>
        </p:nvSpPr>
        <p:spPr>
          <a:xfrm>
            <a:off x="6871997" y="3842139"/>
            <a:ext cx="1824764" cy="369332"/>
          </a:xfrm>
          <a:prstGeom prst="rect">
            <a:avLst/>
          </a:prstGeom>
          <a:noFill/>
        </p:spPr>
        <p:txBody>
          <a:bodyPr wrap="square" rtlCol="0">
            <a:spAutoFit/>
          </a:bodyPr>
          <a:lstStyle/>
          <a:p>
            <a:r>
              <a:rPr lang="en-GB" b="1" dirty="0"/>
              <a:t>Any character</a:t>
            </a:r>
            <a:endParaRPr lang="en-SG" b="1" dirty="0"/>
          </a:p>
        </p:txBody>
      </p:sp>
      <p:sp>
        <p:nvSpPr>
          <p:cNvPr id="12" name="Freeform: Shape 11">
            <a:extLst>
              <a:ext uri="{FF2B5EF4-FFF2-40B4-BE49-F238E27FC236}">
                <a16:creationId xmlns:a16="http://schemas.microsoft.com/office/drawing/2014/main" id="{F14269C7-7926-D2B3-86A8-EDFE58AB7153}"/>
              </a:ext>
            </a:extLst>
          </p:cNvPr>
          <p:cNvSpPr/>
          <p:nvPr/>
        </p:nvSpPr>
        <p:spPr>
          <a:xfrm rot="10800000">
            <a:off x="11148706" y="4405831"/>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D7D41493-32F7-9B50-609C-A323DFFEA6F6}"/>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18" name="Freeform: Shape 17">
            <a:extLst>
              <a:ext uri="{FF2B5EF4-FFF2-40B4-BE49-F238E27FC236}">
                <a16:creationId xmlns:a16="http://schemas.microsoft.com/office/drawing/2014/main" id="{CD79E01E-0A06-76B8-F591-3BF99311BA8E}"/>
              </a:ext>
            </a:extLst>
          </p:cNvPr>
          <p:cNvSpPr/>
          <p:nvPr/>
        </p:nvSpPr>
        <p:spPr>
          <a:xfrm rot="5400000">
            <a:off x="7247476" y="3829890"/>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9" name="Straight Arrow Connector 18">
            <a:extLst>
              <a:ext uri="{FF2B5EF4-FFF2-40B4-BE49-F238E27FC236}">
                <a16:creationId xmlns:a16="http://schemas.microsoft.com/office/drawing/2014/main" id="{08748117-0B6C-73E3-06D7-C4B374F0CA1C}"/>
              </a:ext>
            </a:extLst>
          </p:cNvPr>
          <p:cNvCxnSpPr>
            <a:cxnSpLocks/>
          </p:cNvCxnSpPr>
          <p:nvPr/>
        </p:nvCxnSpPr>
        <p:spPr>
          <a:xfrm>
            <a:off x="11006148" y="467572"/>
            <a:ext cx="0" cy="813203"/>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0" name="Oval 19">
            <a:extLst>
              <a:ext uri="{FF2B5EF4-FFF2-40B4-BE49-F238E27FC236}">
                <a16:creationId xmlns:a16="http://schemas.microsoft.com/office/drawing/2014/main" id="{59CD9873-2BB2-B925-63D2-0FF0CADDA701}"/>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23" name="Oval 22">
            <a:extLst>
              <a:ext uri="{FF2B5EF4-FFF2-40B4-BE49-F238E27FC236}">
                <a16:creationId xmlns:a16="http://schemas.microsoft.com/office/drawing/2014/main" id="{4934AC3D-7297-BEE3-7C84-4D7575A31715}"/>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NOT VALID</a:t>
            </a:r>
            <a:endParaRPr lang="en-SG" sz="1600" b="1" dirty="0">
              <a:solidFill>
                <a:schemeClr val="bg1"/>
              </a:solidFill>
            </a:endParaRPr>
          </a:p>
        </p:txBody>
      </p:sp>
      <p:cxnSp>
        <p:nvCxnSpPr>
          <p:cNvPr id="24" name="Straight Arrow Connector 23">
            <a:extLst>
              <a:ext uri="{FF2B5EF4-FFF2-40B4-BE49-F238E27FC236}">
                <a16:creationId xmlns:a16="http://schemas.microsoft.com/office/drawing/2014/main" id="{2A678017-658E-E320-7BA2-F1A0C6624181}"/>
              </a:ext>
            </a:extLst>
          </p:cNvPr>
          <p:cNvCxnSpPr>
            <a:cxnSpLocks/>
            <a:stCxn id="23" idx="3"/>
            <a:endCxn id="20" idx="5"/>
          </p:cNvCxnSpPr>
          <p:nvPr/>
        </p:nvCxnSpPr>
        <p:spPr>
          <a:xfrm flipH="1">
            <a:off x="8132991" y="2197038"/>
            <a:ext cx="263457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4FE47B2C-3D58-C76C-EDC2-5C3968A3A4EE}"/>
              </a:ext>
            </a:extLst>
          </p:cNvPr>
          <p:cNvSpPr txBox="1"/>
          <p:nvPr/>
        </p:nvSpPr>
        <p:spPr>
          <a:xfrm>
            <a:off x="9288098" y="2394210"/>
            <a:ext cx="562095" cy="369332"/>
          </a:xfrm>
          <a:prstGeom prst="rect">
            <a:avLst/>
          </a:prstGeom>
          <a:noFill/>
        </p:spPr>
        <p:txBody>
          <a:bodyPr wrap="square" rtlCol="0">
            <a:spAutoFit/>
          </a:bodyPr>
          <a:lstStyle/>
          <a:p>
            <a:r>
              <a:rPr lang="en-GB" b="1" dirty="0"/>
              <a:t>a</a:t>
            </a:r>
            <a:endParaRPr lang="en-SG" b="1" dirty="0"/>
          </a:p>
        </p:txBody>
      </p:sp>
      <p:sp>
        <p:nvSpPr>
          <p:cNvPr id="26" name="TextBox 25">
            <a:extLst>
              <a:ext uri="{FF2B5EF4-FFF2-40B4-BE49-F238E27FC236}">
                <a16:creationId xmlns:a16="http://schemas.microsoft.com/office/drawing/2014/main" id="{F85C617E-D3B2-70B6-4E47-92D4DD815E79}"/>
              </a:ext>
            </a:extLst>
          </p:cNvPr>
          <p:cNvSpPr txBox="1"/>
          <p:nvPr/>
        </p:nvSpPr>
        <p:spPr>
          <a:xfrm>
            <a:off x="6871996" y="271324"/>
            <a:ext cx="1824764" cy="369332"/>
          </a:xfrm>
          <a:prstGeom prst="rect">
            <a:avLst/>
          </a:prstGeom>
          <a:noFill/>
        </p:spPr>
        <p:txBody>
          <a:bodyPr wrap="square" rtlCol="0">
            <a:spAutoFit/>
          </a:bodyPr>
          <a:lstStyle/>
          <a:p>
            <a:r>
              <a:rPr lang="en-GB" b="1" dirty="0"/>
              <a:t>Any character</a:t>
            </a:r>
            <a:endParaRPr lang="en-SG" b="1" dirty="0"/>
          </a:p>
        </p:txBody>
      </p:sp>
      <p:sp>
        <p:nvSpPr>
          <p:cNvPr id="27" name="Freeform: Shape 26">
            <a:extLst>
              <a:ext uri="{FF2B5EF4-FFF2-40B4-BE49-F238E27FC236}">
                <a16:creationId xmlns:a16="http://schemas.microsoft.com/office/drawing/2014/main" id="{C47B6161-CE34-A806-DFA8-04F87E3C556B}"/>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Oval 27">
            <a:extLst>
              <a:ext uri="{FF2B5EF4-FFF2-40B4-BE49-F238E27FC236}">
                <a16:creationId xmlns:a16="http://schemas.microsoft.com/office/drawing/2014/main" id="{34B85FA4-0332-8B62-8F0F-77F94FA21D79}"/>
              </a:ext>
            </a:extLst>
          </p:cNvPr>
          <p:cNvSpPr/>
          <p:nvPr/>
        </p:nvSpPr>
        <p:spPr>
          <a:xfrm>
            <a:off x="7258507" y="1326830"/>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VALID</a:t>
            </a:r>
            <a:endParaRPr lang="en-SG" sz="1600" b="1" dirty="0">
              <a:solidFill>
                <a:schemeClr val="bg1"/>
              </a:solidFill>
            </a:endParaRPr>
          </a:p>
        </p:txBody>
      </p:sp>
      <p:sp>
        <p:nvSpPr>
          <p:cNvPr id="29" name="Freeform: Shape 28">
            <a:extLst>
              <a:ext uri="{FF2B5EF4-FFF2-40B4-BE49-F238E27FC236}">
                <a16:creationId xmlns:a16="http://schemas.microsoft.com/office/drawing/2014/main" id="{7DE357FF-8349-695A-5BB2-F76AE840FCA3}"/>
              </a:ext>
            </a:extLst>
          </p:cNvPr>
          <p:cNvSpPr/>
          <p:nvPr/>
        </p:nvSpPr>
        <p:spPr>
          <a:xfrm rot="5400000">
            <a:off x="7247475" y="259075"/>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797C6EBE-90EC-FE7C-7CCE-3F141E769EFA}"/>
              </a:ext>
            </a:extLst>
          </p:cNvPr>
          <p:cNvSpPr txBox="1"/>
          <p:nvPr/>
        </p:nvSpPr>
        <p:spPr>
          <a:xfrm>
            <a:off x="10472818" y="6309215"/>
            <a:ext cx="2008176" cy="369332"/>
          </a:xfrm>
          <a:prstGeom prst="rect">
            <a:avLst/>
          </a:prstGeom>
          <a:noFill/>
        </p:spPr>
        <p:txBody>
          <a:bodyPr wrap="square" rtlCol="0">
            <a:spAutoFit/>
          </a:bodyPr>
          <a:lstStyle/>
          <a:p>
            <a:r>
              <a:rPr lang="en-GB" b="1" dirty="0"/>
              <a:t>Anything but b</a:t>
            </a:r>
            <a:endParaRPr lang="en-SG" b="1" dirty="0"/>
          </a:p>
        </p:txBody>
      </p:sp>
      <p:sp>
        <p:nvSpPr>
          <p:cNvPr id="31" name="TextBox 30">
            <a:extLst>
              <a:ext uri="{FF2B5EF4-FFF2-40B4-BE49-F238E27FC236}">
                <a16:creationId xmlns:a16="http://schemas.microsoft.com/office/drawing/2014/main" id="{AF92BBE0-4134-077B-4A9A-DBD678108318}"/>
              </a:ext>
            </a:extLst>
          </p:cNvPr>
          <p:cNvSpPr txBox="1"/>
          <p:nvPr/>
        </p:nvSpPr>
        <p:spPr>
          <a:xfrm>
            <a:off x="10472818" y="2808418"/>
            <a:ext cx="2008176" cy="369332"/>
          </a:xfrm>
          <a:prstGeom prst="rect">
            <a:avLst/>
          </a:prstGeom>
          <a:noFill/>
        </p:spPr>
        <p:txBody>
          <a:bodyPr wrap="square" rtlCol="0">
            <a:spAutoFit/>
          </a:bodyPr>
          <a:lstStyle/>
          <a:p>
            <a:r>
              <a:rPr lang="en-GB" b="1" dirty="0"/>
              <a:t>Anything but a</a:t>
            </a:r>
            <a:endParaRPr lang="en-SG" b="1" dirty="0"/>
          </a:p>
        </p:txBody>
      </p:sp>
      <p:sp>
        <p:nvSpPr>
          <p:cNvPr id="14" name="Content Placeholder 3">
            <a:extLst>
              <a:ext uri="{FF2B5EF4-FFF2-40B4-BE49-F238E27FC236}">
                <a16:creationId xmlns:a16="http://schemas.microsoft.com/office/drawing/2014/main" id="{BDDF3693-513D-940D-EFD1-AD78FE2B1690}"/>
              </a:ext>
            </a:extLst>
          </p:cNvPr>
          <p:cNvSpPr>
            <a:spLocks noGrp="1"/>
          </p:cNvSpPr>
          <p:nvPr>
            <p:ph sz="half" idx="1"/>
          </p:nvPr>
        </p:nvSpPr>
        <p:spPr>
          <a:xfrm>
            <a:off x="838200" y="1825624"/>
            <a:ext cx="5181600" cy="5032375"/>
          </a:xfrm>
        </p:spPr>
        <p:txBody>
          <a:bodyPr>
            <a:normAutofit/>
          </a:bodyPr>
          <a:lstStyle/>
          <a:p>
            <a:pPr marL="0" indent="0">
              <a:buNone/>
            </a:pPr>
            <a:r>
              <a:rPr lang="en-GB" dirty="0"/>
              <a:t>As before it is possible to build the FSM for “</a:t>
            </a:r>
            <a:r>
              <a:rPr lang="en-GB" dirty="0" err="1"/>
              <a:t>a|b</a:t>
            </a:r>
            <a:r>
              <a:rPr lang="en-GB" dirty="0"/>
              <a:t>” by</a:t>
            </a:r>
          </a:p>
          <a:p>
            <a:r>
              <a:rPr lang="en-GB" dirty="0"/>
              <a:t>combining the two FSMs for “a” and “b”,</a:t>
            </a:r>
          </a:p>
          <a:p>
            <a:r>
              <a:rPr lang="en-GB" dirty="0"/>
              <a:t>in </a:t>
            </a:r>
            <a:r>
              <a:rPr lang="en-GB" b="1" dirty="0"/>
              <a:t>parallel</a:t>
            </a:r>
            <a:r>
              <a:rPr lang="en-GB" dirty="0"/>
              <a:t>, this time,</a:t>
            </a:r>
          </a:p>
          <a:p>
            <a:r>
              <a:rPr lang="en-GB" dirty="0"/>
              <a:t>connecting them with Epsilon transitions.</a:t>
            </a:r>
          </a:p>
          <a:p>
            <a:pPr marL="0" indent="0">
              <a:buNone/>
            </a:pPr>
            <a:r>
              <a:rPr lang="en-GB" i="1" dirty="0"/>
              <a:t>(Note: Each state 1, 2, 3 has</a:t>
            </a:r>
            <a:br>
              <a:rPr lang="en-GB" i="1" dirty="0"/>
            </a:br>
            <a:r>
              <a:rPr lang="en-GB" i="1" dirty="0"/>
              <a:t>self-links matching any character, removed for simplicity.)</a:t>
            </a:r>
          </a:p>
          <a:p>
            <a:endParaRPr lang="en-SG" dirty="0"/>
          </a:p>
        </p:txBody>
      </p:sp>
    </p:spTree>
    <p:extLst>
      <p:ext uri="{BB962C8B-B14F-4D97-AF65-F5344CB8AC3E}">
        <p14:creationId xmlns:p14="http://schemas.microsoft.com/office/powerpoint/2010/main" val="3824911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97B2C-A3ED-EB52-A4D7-539C6CA7AD36}"/>
              </a:ext>
            </a:extLst>
          </p:cNvPr>
          <p:cNvSpPr>
            <a:spLocks noGrp="1"/>
          </p:cNvSpPr>
          <p:nvPr>
            <p:ph type="title"/>
          </p:nvPr>
        </p:nvSpPr>
        <p:spPr/>
        <p:txBody>
          <a:bodyPr/>
          <a:lstStyle/>
          <a:p>
            <a:r>
              <a:rPr lang="en-GB" dirty="0"/>
              <a:t>Choice of </a:t>
            </a:r>
            <a:r>
              <a:rPr lang="en-GB" dirty="0" err="1"/>
              <a:t>RegEx</a:t>
            </a:r>
            <a:endParaRPr lang="en-SG" dirty="0"/>
          </a:p>
        </p:txBody>
      </p:sp>
      <p:sp>
        <p:nvSpPr>
          <p:cNvPr id="4" name="Content Placeholder 3">
            <a:extLst>
              <a:ext uri="{FF2B5EF4-FFF2-40B4-BE49-F238E27FC236}">
                <a16:creationId xmlns:a16="http://schemas.microsoft.com/office/drawing/2014/main" id="{A0FF4252-8E53-B941-EF50-7759A6112153}"/>
              </a:ext>
            </a:extLst>
          </p:cNvPr>
          <p:cNvSpPr>
            <a:spLocks noGrp="1"/>
          </p:cNvSpPr>
          <p:nvPr>
            <p:ph sz="half" idx="1"/>
          </p:nvPr>
        </p:nvSpPr>
        <p:spPr>
          <a:xfrm>
            <a:off x="838200" y="1825624"/>
            <a:ext cx="5181600" cy="5032375"/>
          </a:xfrm>
        </p:spPr>
        <p:txBody>
          <a:bodyPr>
            <a:normAutofit/>
          </a:bodyPr>
          <a:lstStyle/>
          <a:p>
            <a:pPr marL="0" indent="0">
              <a:buNone/>
            </a:pPr>
            <a:r>
              <a:rPr lang="en-GB" dirty="0"/>
              <a:t>As before it is possible to build the FSM for “</a:t>
            </a:r>
            <a:r>
              <a:rPr lang="en-GB" dirty="0" err="1"/>
              <a:t>a|b</a:t>
            </a:r>
            <a:r>
              <a:rPr lang="en-GB" dirty="0"/>
              <a:t>” by</a:t>
            </a:r>
          </a:p>
          <a:p>
            <a:r>
              <a:rPr lang="en-GB" dirty="0"/>
              <a:t>combining the two FSMs for “a” and “b”,</a:t>
            </a:r>
          </a:p>
          <a:p>
            <a:r>
              <a:rPr lang="en-GB" dirty="0"/>
              <a:t>in </a:t>
            </a:r>
            <a:r>
              <a:rPr lang="en-GB" b="1" dirty="0"/>
              <a:t>parallel</a:t>
            </a:r>
            <a:r>
              <a:rPr lang="en-GB" dirty="0"/>
              <a:t>, this time,</a:t>
            </a:r>
          </a:p>
          <a:p>
            <a:r>
              <a:rPr lang="en-GB" dirty="0"/>
              <a:t>connecting them with Epsilon transitions.</a:t>
            </a:r>
          </a:p>
          <a:p>
            <a:pPr marL="0" indent="0">
              <a:buNone/>
            </a:pPr>
            <a:r>
              <a:rPr lang="en-GB" i="1" dirty="0"/>
              <a:t>(Note: Each state 1, 2, 3 has</a:t>
            </a:r>
            <a:br>
              <a:rPr lang="en-GB" i="1" dirty="0"/>
            </a:br>
            <a:r>
              <a:rPr lang="en-GB" i="1" dirty="0"/>
              <a:t>self-links matching any character, removed for simplicity.)</a:t>
            </a:r>
          </a:p>
          <a:p>
            <a:endParaRPr lang="en-SG" dirty="0"/>
          </a:p>
        </p:txBody>
      </p:sp>
      <p:sp>
        <p:nvSpPr>
          <p:cNvPr id="5" name="Oval 4">
            <a:extLst>
              <a:ext uri="{FF2B5EF4-FFF2-40B4-BE49-F238E27FC236}">
                <a16:creationId xmlns:a16="http://schemas.microsoft.com/office/drawing/2014/main" id="{9078BA6D-2AD3-1717-434A-34B50841FA4D}"/>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
        <p:nvSpPr>
          <p:cNvPr id="6" name="Oval 5">
            <a:extLst>
              <a:ext uri="{FF2B5EF4-FFF2-40B4-BE49-F238E27FC236}">
                <a16:creationId xmlns:a16="http://schemas.microsoft.com/office/drawing/2014/main" id="{36EC3F53-0A11-3EDE-F48E-B8FFACEC0549}"/>
              </a:ext>
            </a:extLst>
          </p:cNvPr>
          <p:cNvSpPr/>
          <p:nvPr/>
        </p:nvSpPr>
        <p:spPr>
          <a:xfrm>
            <a:off x="10609400"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2</a:t>
            </a:r>
            <a:endParaRPr lang="en-SG" sz="1600" b="1" dirty="0">
              <a:solidFill>
                <a:schemeClr val="bg1"/>
              </a:solidFill>
            </a:endParaRPr>
          </a:p>
        </p:txBody>
      </p:sp>
      <p:cxnSp>
        <p:nvCxnSpPr>
          <p:cNvPr id="9" name="Straight Arrow Connector 8">
            <a:extLst>
              <a:ext uri="{FF2B5EF4-FFF2-40B4-BE49-F238E27FC236}">
                <a16:creationId xmlns:a16="http://schemas.microsoft.com/office/drawing/2014/main" id="{F6319DEF-08B3-A22D-8BCC-42B0A6E68AAF}"/>
              </a:ext>
            </a:extLst>
          </p:cNvPr>
          <p:cNvCxnSpPr>
            <a:cxnSpLocks/>
            <a:stCxn id="23" idx="4"/>
            <a:endCxn id="6" idx="0"/>
          </p:cNvCxnSpPr>
          <p:nvPr/>
        </p:nvCxnSpPr>
        <p:spPr>
          <a:xfrm>
            <a:off x="11149399" y="2355200"/>
            <a:ext cx="1" cy="2490815"/>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957704FA-046D-31F4-2B5C-5BCA25B55694}"/>
              </a:ext>
            </a:extLst>
          </p:cNvPr>
          <p:cNvSpPr txBox="1"/>
          <p:nvPr/>
        </p:nvSpPr>
        <p:spPr>
          <a:xfrm>
            <a:off x="11195858" y="3404477"/>
            <a:ext cx="562095" cy="369332"/>
          </a:xfrm>
          <a:prstGeom prst="rect">
            <a:avLst/>
          </a:prstGeom>
          <a:noFill/>
        </p:spPr>
        <p:txBody>
          <a:bodyPr wrap="square" rtlCol="0">
            <a:spAutoFit/>
          </a:bodyPr>
          <a:lstStyle/>
          <a:p>
            <a:r>
              <a:rPr lang="en-GB" b="1" dirty="0">
                <a:solidFill>
                  <a:srgbClr val="7030A0"/>
                </a:solidFill>
              </a:rPr>
              <a:t>b</a:t>
            </a:r>
            <a:endParaRPr lang="en-SG" b="1" dirty="0">
              <a:solidFill>
                <a:srgbClr val="7030A0"/>
              </a:solidFill>
            </a:endParaRPr>
          </a:p>
        </p:txBody>
      </p:sp>
      <p:cxnSp>
        <p:nvCxnSpPr>
          <p:cNvPr id="19" name="Straight Arrow Connector 18">
            <a:extLst>
              <a:ext uri="{FF2B5EF4-FFF2-40B4-BE49-F238E27FC236}">
                <a16:creationId xmlns:a16="http://schemas.microsoft.com/office/drawing/2014/main" id="{08748117-0B6C-73E3-06D7-C4B374F0CA1C}"/>
              </a:ext>
            </a:extLst>
          </p:cNvPr>
          <p:cNvCxnSpPr>
            <a:cxnSpLocks/>
          </p:cNvCxnSpPr>
          <p:nvPr/>
        </p:nvCxnSpPr>
        <p:spPr>
          <a:xfrm>
            <a:off x="9638522" y="365125"/>
            <a:ext cx="1367626" cy="91565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0" name="Oval 19">
            <a:extLst>
              <a:ext uri="{FF2B5EF4-FFF2-40B4-BE49-F238E27FC236}">
                <a16:creationId xmlns:a16="http://schemas.microsoft.com/office/drawing/2014/main" id="{59CD9873-2BB2-B925-63D2-0FF0CADDA701}"/>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1</a:t>
            </a:r>
            <a:endParaRPr lang="en-SG" sz="1600" b="1" dirty="0">
              <a:solidFill>
                <a:schemeClr val="bg1"/>
              </a:solidFill>
            </a:endParaRPr>
          </a:p>
        </p:txBody>
      </p:sp>
      <p:sp>
        <p:nvSpPr>
          <p:cNvPr id="23" name="Oval 22">
            <a:extLst>
              <a:ext uri="{FF2B5EF4-FFF2-40B4-BE49-F238E27FC236}">
                <a16:creationId xmlns:a16="http://schemas.microsoft.com/office/drawing/2014/main" id="{4934AC3D-7297-BEE3-7C84-4D7575A31715}"/>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24" name="Straight Arrow Connector 23">
            <a:extLst>
              <a:ext uri="{FF2B5EF4-FFF2-40B4-BE49-F238E27FC236}">
                <a16:creationId xmlns:a16="http://schemas.microsoft.com/office/drawing/2014/main" id="{2A678017-658E-E320-7BA2-F1A0C6624181}"/>
              </a:ext>
            </a:extLst>
          </p:cNvPr>
          <p:cNvCxnSpPr>
            <a:cxnSpLocks/>
            <a:stCxn id="23" idx="2"/>
            <a:endCxn id="20" idx="6"/>
          </p:cNvCxnSpPr>
          <p:nvPr/>
        </p:nvCxnSpPr>
        <p:spPr>
          <a:xfrm flipH="1">
            <a:off x="8291153" y="1815200"/>
            <a:ext cx="2318246" cy="0"/>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4FE47B2C-3D58-C76C-EDC2-5C3968A3A4EE}"/>
              </a:ext>
            </a:extLst>
          </p:cNvPr>
          <p:cNvSpPr txBox="1"/>
          <p:nvPr/>
        </p:nvSpPr>
        <p:spPr>
          <a:xfrm>
            <a:off x="9288097" y="1978336"/>
            <a:ext cx="562095" cy="369332"/>
          </a:xfrm>
          <a:prstGeom prst="rect">
            <a:avLst/>
          </a:prstGeom>
          <a:noFill/>
        </p:spPr>
        <p:txBody>
          <a:bodyPr wrap="square" rtlCol="0">
            <a:spAutoFit/>
          </a:bodyPr>
          <a:lstStyle/>
          <a:p>
            <a:r>
              <a:rPr lang="en-GB" b="1" dirty="0">
                <a:solidFill>
                  <a:srgbClr val="7030A0"/>
                </a:solidFill>
              </a:rPr>
              <a:t>a</a:t>
            </a:r>
            <a:endParaRPr lang="en-SG" b="1" dirty="0">
              <a:solidFill>
                <a:srgbClr val="7030A0"/>
              </a:solidFill>
            </a:endParaRPr>
          </a:p>
        </p:txBody>
      </p:sp>
      <p:sp>
        <p:nvSpPr>
          <p:cNvPr id="26" name="TextBox 25">
            <a:extLst>
              <a:ext uri="{FF2B5EF4-FFF2-40B4-BE49-F238E27FC236}">
                <a16:creationId xmlns:a16="http://schemas.microsoft.com/office/drawing/2014/main" id="{F85C617E-D3B2-70B6-4E47-92D4DD815E79}"/>
              </a:ext>
            </a:extLst>
          </p:cNvPr>
          <p:cNvSpPr txBox="1"/>
          <p:nvPr/>
        </p:nvSpPr>
        <p:spPr>
          <a:xfrm>
            <a:off x="10699631" y="130918"/>
            <a:ext cx="1824764" cy="646331"/>
          </a:xfrm>
          <a:prstGeom prst="rect">
            <a:avLst/>
          </a:prstGeom>
          <a:noFill/>
        </p:spPr>
        <p:txBody>
          <a:bodyPr wrap="square" rtlCol="0">
            <a:spAutoFit/>
          </a:bodyPr>
          <a:lstStyle/>
          <a:p>
            <a:r>
              <a:rPr lang="en-GB" b="1" dirty="0">
                <a:solidFill>
                  <a:srgbClr val="7030A0"/>
                </a:solidFill>
              </a:rPr>
              <a:t>Any character</a:t>
            </a:r>
            <a:br>
              <a:rPr lang="en-GB" b="1" dirty="0">
                <a:solidFill>
                  <a:srgbClr val="7030A0"/>
                </a:solidFill>
              </a:rPr>
            </a:br>
            <a:r>
              <a:rPr lang="en-GB" b="1" dirty="0">
                <a:solidFill>
                  <a:srgbClr val="7030A0"/>
                </a:solidFill>
              </a:rPr>
              <a:t>but a or b</a:t>
            </a:r>
            <a:endParaRPr lang="en-SG" b="1" dirty="0">
              <a:solidFill>
                <a:srgbClr val="7030A0"/>
              </a:solidFill>
            </a:endParaRPr>
          </a:p>
        </p:txBody>
      </p:sp>
      <p:sp>
        <p:nvSpPr>
          <p:cNvPr id="27" name="Freeform: Shape 26">
            <a:extLst>
              <a:ext uri="{FF2B5EF4-FFF2-40B4-BE49-F238E27FC236}">
                <a16:creationId xmlns:a16="http://schemas.microsoft.com/office/drawing/2014/main" id="{C47B6161-CE34-A806-DFA8-04F87E3C556B}"/>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rgbClr val="7030A0"/>
              </a:solidFill>
            </a:endParaRPr>
          </a:p>
        </p:txBody>
      </p:sp>
      <p:cxnSp>
        <p:nvCxnSpPr>
          <p:cNvPr id="15" name="Straight Arrow Connector 14">
            <a:extLst>
              <a:ext uri="{FF2B5EF4-FFF2-40B4-BE49-F238E27FC236}">
                <a16:creationId xmlns:a16="http://schemas.microsoft.com/office/drawing/2014/main" id="{C23685BA-6DC8-AC28-78C7-ECC760082D90}"/>
              </a:ext>
            </a:extLst>
          </p:cNvPr>
          <p:cNvCxnSpPr>
            <a:cxnSpLocks/>
            <a:stCxn id="20" idx="4"/>
            <a:endCxn id="5" idx="0"/>
          </p:cNvCxnSpPr>
          <p:nvPr/>
        </p:nvCxnSpPr>
        <p:spPr>
          <a:xfrm>
            <a:off x="7751153" y="2355200"/>
            <a:ext cx="1" cy="2490815"/>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4F0D82CE-F0F7-3ED8-9D16-7A1181CF78C7}"/>
              </a:ext>
            </a:extLst>
          </p:cNvPr>
          <p:cNvCxnSpPr>
            <a:cxnSpLocks/>
            <a:stCxn id="6" idx="2"/>
            <a:endCxn id="5" idx="6"/>
          </p:cNvCxnSpPr>
          <p:nvPr/>
        </p:nvCxnSpPr>
        <p:spPr>
          <a:xfrm flipH="1">
            <a:off x="8291154" y="5386015"/>
            <a:ext cx="2318246" cy="0"/>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925DA1-2EBF-0CC5-8B3D-C39F6C49F9F8}"/>
                  </a:ext>
                </a:extLst>
              </p:cNvPr>
              <p:cNvSpPr txBox="1"/>
              <p:nvPr/>
            </p:nvSpPr>
            <p:spPr>
              <a:xfrm>
                <a:off x="7729058" y="341594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solidFill>
                            <a:srgbClr val="7030A0"/>
                          </a:solidFill>
                          <a:latin typeface="Cambria Math" panose="02040503050406030204" pitchFamily="18" charset="0"/>
                        </a:rPr>
                        <m:t>𝝐</m:t>
                      </m:r>
                    </m:oMath>
                  </m:oMathPara>
                </a14:m>
                <a:endParaRPr lang="en-GB" b="1" dirty="0">
                  <a:solidFill>
                    <a:srgbClr val="7030A0"/>
                  </a:solidFill>
                </a:endParaRPr>
              </a:p>
            </p:txBody>
          </p:sp>
        </mc:Choice>
        <mc:Fallback xmlns="">
          <p:sp>
            <p:nvSpPr>
              <p:cNvPr id="33" name="TextBox 32">
                <a:extLst>
                  <a:ext uri="{FF2B5EF4-FFF2-40B4-BE49-F238E27FC236}">
                    <a16:creationId xmlns:a16="http://schemas.microsoft.com/office/drawing/2014/main" id="{3B925DA1-2EBF-0CC5-8B3D-C39F6C49F9F8}"/>
                  </a:ext>
                </a:extLst>
              </p:cNvPr>
              <p:cNvSpPr txBox="1">
                <a:spLocks noRot="1" noChangeAspect="1" noMove="1" noResize="1" noEditPoints="1" noAdjustHandles="1" noChangeArrowheads="1" noChangeShapeType="1" noTextEdit="1"/>
              </p:cNvSpPr>
              <p:nvPr/>
            </p:nvSpPr>
            <p:spPr>
              <a:xfrm>
                <a:off x="7729058" y="3415941"/>
                <a:ext cx="562095" cy="369332"/>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4F75AFD-E2FB-A3F9-7E7E-FE64F1950B85}"/>
                  </a:ext>
                </a:extLst>
              </p:cNvPr>
              <p:cNvSpPr txBox="1"/>
              <p:nvPr/>
            </p:nvSpPr>
            <p:spPr>
              <a:xfrm>
                <a:off x="9288097" y="4879664"/>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solidFill>
                            <a:srgbClr val="7030A0"/>
                          </a:solidFill>
                          <a:latin typeface="Cambria Math" panose="02040503050406030204" pitchFamily="18" charset="0"/>
                        </a:rPr>
                        <m:t>𝝐</m:t>
                      </m:r>
                    </m:oMath>
                  </m:oMathPara>
                </a14:m>
                <a:endParaRPr lang="en-GB" b="1" dirty="0">
                  <a:solidFill>
                    <a:srgbClr val="7030A0"/>
                  </a:solidFill>
                </a:endParaRPr>
              </a:p>
            </p:txBody>
          </p:sp>
        </mc:Choice>
        <mc:Fallback xmlns="">
          <p:sp>
            <p:nvSpPr>
              <p:cNvPr id="34" name="TextBox 33">
                <a:extLst>
                  <a:ext uri="{FF2B5EF4-FFF2-40B4-BE49-F238E27FC236}">
                    <a16:creationId xmlns:a16="http://schemas.microsoft.com/office/drawing/2014/main" id="{B4F75AFD-E2FB-A3F9-7E7E-FE64F1950B85}"/>
                  </a:ext>
                </a:extLst>
              </p:cNvPr>
              <p:cNvSpPr txBox="1">
                <a:spLocks noRot="1" noChangeAspect="1" noMove="1" noResize="1" noEditPoints="1" noAdjustHandles="1" noChangeArrowheads="1" noChangeShapeType="1" noTextEdit="1"/>
              </p:cNvSpPr>
              <p:nvPr/>
            </p:nvSpPr>
            <p:spPr>
              <a:xfrm>
                <a:off x="9288097" y="4879664"/>
                <a:ext cx="562095" cy="369332"/>
              </a:xfrm>
              <a:prstGeom prst="rect">
                <a:avLst/>
              </a:prstGeom>
              <a:blipFill>
                <a:blip r:embed="rId3"/>
                <a:stretch>
                  <a:fillRect/>
                </a:stretch>
              </a:blipFill>
            </p:spPr>
            <p:txBody>
              <a:bodyPr/>
              <a:lstStyle/>
              <a:p>
                <a:r>
                  <a:rPr lang="en-SG">
                    <a:noFill/>
                  </a:rPr>
                  <a:t> </a:t>
                </a:r>
              </a:p>
            </p:txBody>
          </p:sp>
        </mc:Fallback>
      </mc:AlternateContent>
      <p:sp>
        <p:nvSpPr>
          <p:cNvPr id="37" name="Oval 36">
            <a:extLst>
              <a:ext uri="{FF2B5EF4-FFF2-40B4-BE49-F238E27FC236}">
                <a16:creationId xmlns:a16="http://schemas.microsoft.com/office/drawing/2014/main" id="{03F739FD-4FE9-4C87-D4BD-6A3C43D20850}"/>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Tree>
    <p:extLst>
      <p:ext uri="{BB962C8B-B14F-4D97-AF65-F5344CB8AC3E}">
        <p14:creationId xmlns:p14="http://schemas.microsoft.com/office/powerpoint/2010/main" val="55300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F032A-9FC1-3E95-6955-6B787452B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2FBFC-6040-BEB3-40FF-E7FF8696AB41}"/>
              </a:ext>
            </a:extLst>
          </p:cNvPr>
          <p:cNvSpPr>
            <a:spLocks noGrp="1"/>
          </p:cNvSpPr>
          <p:nvPr>
            <p:ph type="title"/>
          </p:nvPr>
        </p:nvSpPr>
        <p:spPr/>
        <p:txBody>
          <a:bodyPr/>
          <a:lstStyle/>
          <a:p>
            <a:r>
              <a:rPr lang="en-GB" dirty="0"/>
              <a:t>Choice of </a:t>
            </a:r>
            <a:r>
              <a:rPr lang="en-GB" dirty="0" err="1"/>
              <a:t>RegEx</a:t>
            </a:r>
            <a:endParaRPr lang="en-SG" dirty="0"/>
          </a:p>
        </p:txBody>
      </p:sp>
      <p:sp>
        <p:nvSpPr>
          <p:cNvPr id="4" name="Content Placeholder 3">
            <a:extLst>
              <a:ext uri="{FF2B5EF4-FFF2-40B4-BE49-F238E27FC236}">
                <a16:creationId xmlns:a16="http://schemas.microsoft.com/office/drawing/2014/main" id="{83370CA4-E149-7959-DFEF-C69D1363E559}"/>
              </a:ext>
            </a:extLst>
          </p:cNvPr>
          <p:cNvSpPr>
            <a:spLocks noGrp="1"/>
          </p:cNvSpPr>
          <p:nvPr>
            <p:ph sz="half" idx="1"/>
          </p:nvPr>
        </p:nvSpPr>
        <p:spPr>
          <a:xfrm>
            <a:off x="838200" y="1825624"/>
            <a:ext cx="5181600" cy="5032375"/>
          </a:xfrm>
        </p:spPr>
        <p:txBody>
          <a:bodyPr>
            <a:normAutofit/>
          </a:bodyPr>
          <a:lstStyle/>
          <a:p>
            <a:pPr marL="0" indent="0">
              <a:buNone/>
            </a:pPr>
            <a:r>
              <a:rPr lang="en-SG" b="1" dirty="0"/>
              <a:t>Quick question: </a:t>
            </a:r>
            <a:r>
              <a:rPr lang="en-SG" dirty="0"/>
              <a:t>Again, could we transform our NDFSM into a DFSM if we decide to</a:t>
            </a:r>
          </a:p>
          <a:p>
            <a:r>
              <a:rPr lang="en-SG" dirty="0"/>
              <a:t>merge states 1, 2 and 3 together, </a:t>
            </a:r>
          </a:p>
          <a:p>
            <a:r>
              <a:rPr lang="en-SG" dirty="0"/>
              <a:t>to get rid of the Epsilon transitions here,</a:t>
            </a:r>
          </a:p>
          <a:p>
            <a:pPr marL="0" indent="0">
              <a:buNone/>
            </a:pPr>
            <a:r>
              <a:rPr lang="en-SG" dirty="0"/>
              <a:t>And still obtain the expected </a:t>
            </a:r>
            <a:r>
              <a:rPr lang="en-SG" dirty="0" err="1"/>
              <a:t>RegEx</a:t>
            </a:r>
            <a:r>
              <a:rPr lang="en-SG" dirty="0"/>
              <a:t> that we want?</a:t>
            </a:r>
          </a:p>
        </p:txBody>
      </p:sp>
      <p:sp>
        <p:nvSpPr>
          <p:cNvPr id="5" name="Oval 4">
            <a:extLst>
              <a:ext uri="{FF2B5EF4-FFF2-40B4-BE49-F238E27FC236}">
                <a16:creationId xmlns:a16="http://schemas.microsoft.com/office/drawing/2014/main" id="{DC565432-23A4-BEFE-8492-90D55FC3C100}"/>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
        <p:nvSpPr>
          <p:cNvPr id="6" name="Oval 5">
            <a:extLst>
              <a:ext uri="{FF2B5EF4-FFF2-40B4-BE49-F238E27FC236}">
                <a16:creationId xmlns:a16="http://schemas.microsoft.com/office/drawing/2014/main" id="{1B49BF75-4E02-FEA0-6E7A-80321D842056}"/>
              </a:ext>
            </a:extLst>
          </p:cNvPr>
          <p:cNvSpPr/>
          <p:nvPr/>
        </p:nvSpPr>
        <p:spPr>
          <a:xfrm>
            <a:off x="10609400"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2</a:t>
            </a:r>
            <a:endParaRPr lang="en-SG" sz="1600" b="1" dirty="0">
              <a:solidFill>
                <a:schemeClr val="bg1"/>
              </a:solidFill>
            </a:endParaRPr>
          </a:p>
        </p:txBody>
      </p:sp>
      <p:cxnSp>
        <p:nvCxnSpPr>
          <p:cNvPr id="9" name="Straight Arrow Connector 8">
            <a:extLst>
              <a:ext uri="{FF2B5EF4-FFF2-40B4-BE49-F238E27FC236}">
                <a16:creationId xmlns:a16="http://schemas.microsoft.com/office/drawing/2014/main" id="{2DBE5BE7-7094-CC3D-1CE8-65D4FCE96054}"/>
              </a:ext>
            </a:extLst>
          </p:cNvPr>
          <p:cNvCxnSpPr>
            <a:cxnSpLocks/>
            <a:stCxn id="23" idx="4"/>
            <a:endCxn id="6" idx="0"/>
          </p:cNvCxnSpPr>
          <p:nvPr/>
        </p:nvCxnSpPr>
        <p:spPr>
          <a:xfrm>
            <a:off x="11149399" y="2355200"/>
            <a:ext cx="1" cy="2490815"/>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3411148A-369D-D1DD-A447-00325AD94B70}"/>
              </a:ext>
            </a:extLst>
          </p:cNvPr>
          <p:cNvSpPr txBox="1"/>
          <p:nvPr/>
        </p:nvSpPr>
        <p:spPr>
          <a:xfrm>
            <a:off x="11195858" y="3404477"/>
            <a:ext cx="562095" cy="369332"/>
          </a:xfrm>
          <a:prstGeom prst="rect">
            <a:avLst/>
          </a:prstGeom>
          <a:noFill/>
        </p:spPr>
        <p:txBody>
          <a:bodyPr wrap="square" rtlCol="0">
            <a:spAutoFit/>
          </a:bodyPr>
          <a:lstStyle/>
          <a:p>
            <a:r>
              <a:rPr lang="en-GB" b="1" dirty="0">
                <a:solidFill>
                  <a:srgbClr val="7030A0"/>
                </a:solidFill>
              </a:rPr>
              <a:t>b</a:t>
            </a:r>
            <a:endParaRPr lang="en-SG" b="1" dirty="0">
              <a:solidFill>
                <a:srgbClr val="7030A0"/>
              </a:solidFill>
            </a:endParaRPr>
          </a:p>
        </p:txBody>
      </p:sp>
      <p:cxnSp>
        <p:nvCxnSpPr>
          <p:cNvPr id="19" name="Straight Arrow Connector 18">
            <a:extLst>
              <a:ext uri="{FF2B5EF4-FFF2-40B4-BE49-F238E27FC236}">
                <a16:creationId xmlns:a16="http://schemas.microsoft.com/office/drawing/2014/main" id="{EA2A0C64-1C9F-649C-665C-BA5FA43F550E}"/>
              </a:ext>
            </a:extLst>
          </p:cNvPr>
          <p:cNvCxnSpPr>
            <a:cxnSpLocks/>
          </p:cNvCxnSpPr>
          <p:nvPr/>
        </p:nvCxnSpPr>
        <p:spPr>
          <a:xfrm>
            <a:off x="9638522" y="365125"/>
            <a:ext cx="1367626" cy="91565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0" name="Oval 19">
            <a:extLst>
              <a:ext uri="{FF2B5EF4-FFF2-40B4-BE49-F238E27FC236}">
                <a16:creationId xmlns:a16="http://schemas.microsoft.com/office/drawing/2014/main" id="{EC6E794E-A25D-65D7-0EF1-BCB90DF0C6E2}"/>
              </a:ext>
            </a:extLst>
          </p:cNvPr>
          <p:cNvSpPr/>
          <p:nvPr/>
        </p:nvSpPr>
        <p:spPr>
          <a:xfrm>
            <a:off x="7211153"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1</a:t>
            </a:r>
            <a:endParaRPr lang="en-SG" sz="1600" b="1" dirty="0">
              <a:solidFill>
                <a:schemeClr val="bg1"/>
              </a:solidFill>
            </a:endParaRPr>
          </a:p>
        </p:txBody>
      </p:sp>
      <p:sp>
        <p:nvSpPr>
          <p:cNvPr id="23" name="Oval 22">
            <a:extLst>
              <a:ext uri="{FF2B5EF4-FFF2-40B4-BE49-F238E27FC236}">
                <a16:creationId xmlns:a16="http://schemas.microsoft.com/office/drawing/2014/main" id="{6FD87179-93E3-9612-09F5-2C108B4B8573}"/>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24" name="Straight Arrow Connector 23">
            <a:extLst>
              <a:ext uri="{FF2B5EF4-FFF2-40B4-BE49-F238E27FC236}">
                <a16:creationId xmlns:a16="http://schemas.microsoft.com/office/drawing/2014/main" id="{04A69044-7F82-90A3-47EF-2F047D2C00E8}"/>
              </a:ext>
            </a:extLst>
          </p:cNvPr>
          <p:cNvCxnSpPr>
            <a:cxnSpLocks/>
            <a:stCxn id="23" idx="2"/>
            <a:endCxn id="20" idx="6"/>
          </p:cNvCxnSpPr>
          <p:nvPr/>
        </p:nvCxnSpPr>
        <p:spPr>
          <a:xfrm flipH="1">
            <a:off x="8291153" y="1815200"/>
            <a:ext cx="2318246" cy="0"/>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4916E35C-B259-0853-18D5-CBFC58A99101}"/>
              </a:ext>
            </a:extLst>
          </p:cNvPr>
          <p:cNvSpPr txBox="1"/>
          <p:nvPr/>
        </p:nvSpPr>
        <p:spPr>
          <a:xfrm>
            <a:off x="9288097" y="1978336"/>
            <a:ext cx="562095" cy="369332"/>
          </a:xfrm>
          <a:prstGeom prst="rect">
            <a:avLst/>
          </a:prstGeom>
          <a:noFill/>
        </p:spPr>
        <p:txBody>
          <a:bodyPr wrap="square" rtlCol="0">
            <a:spAutoFit/>
          </a:bodyPr>
          <a:lstStyle/>
          <a:p>
            <a:r>
              <a:rPr lang="en-GB" b="1" dirty="0">
                <a:solidFill>
                  <a:srgbClr val="7030A0"/>
                </a:solidFill>
              </a:rPr>
              <a:t>a</a:t>
            </a:r>
            <a:endParaRPr lang="en-SG" b="1" dirty="0">
              <a:solidFill>
                <a:srgbClr val="7030A0"/>
              </a:solidFill>
            </a:endParaRPr>
          </a:p>
        </p:txBody>
      </p:sp>
      <p:sp>
        <p:nvSpPr>
          <p:cNvPr id="26" name="TextBox 25">
            <a:extLst>
              <a:ext uri="{FF2B5EF4-FFF2-40B4-BE49-F238E27FC236}">
                <a16:creationId xmlns:a16="http://schemas.microsoft.com/office/drawing/2014/main" id="{0C4A5417-7124-3B76-CE24-15189FE8E6A1}"/>
              </a:ext>
            </a:extLst>
          </p:cNvPr>
          <p:cNvSpPr txBox="1"/>
          <p:nvPr/>
        </p:nvSpPr>
        <p:spPr>
          <a:xfrm>
            <a:off x="10699631" y="130918"/>
            <a:ext cx="1824764" cy="646331"/>
          </a:xfrm>
          <a:prstGeom prst="rect">
            <a:avLst/>
          </a:prstGeom>
          <a:noFill/>
        </p:spPr>
        <p:txBody>
          <a:bodyPr wrap="square" rtlCol="0">
            <a:spAutoFit/>
          </a:bodyPr>
          <a:lstStyle/>
          <a:p>
            <a:r>
              <a:rPr lang="en-GB" b="1" dirty="0">
                <a:solidFill>
                  <a:srgbClr val="7030A0"/>
                </a:solidFill>
              </a:rPr>
              <a:t>Any character</a:t>
            </a:r>
            <a:br>
              <a:rPr lang="en-GB" b="1" dirty="0">
                <a:solidFill>
                  <a:srgbClr val="7030A0"/>
                </a:solidFill>
              </a:rPr>
            </a:br>
            <a:r>
              <a:rPr lang="en-GB" b="1" dirty="0">
                <a:solidFill>
                  <a:srgbClr val="7030A0"/>
                </a:solidFill>
              </a:rPr>
              <a:t>but a or b</a:t>
            </a:r>
            <a:endParaRPr lang="en-SG" b="1" dirty="0">
              <a:solidFill>
                <a:srgbClr val="7030A0"/>
              </a:solidFill>
            </a:endParaRPr>
          </a:p>
        </p:txBody>
      </p:sp>
      <p:sp>
        <p:nvSpPr>
          <p:cNvPr id="27" name="Freeform: Shape 26">
            <a:extLst>
              <a:ext uri="{FF2B5EF4-FFF2-40B4-BE49-F238E27FC236}">
                <a16:creationId xmlns:a16="http://schemas.microsoft.com/office/drawing/2014/main" id="{0E242877-69AF-C6BC-AF1D-22D4B8E17175}"/>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rgbClr val="7030A0"/>
              </a:solidFill>
            </a:endParaRPr>
          </a:p>
        </p:txBody>
      </p:sp>
      <p:cxnSp>
        <p:nvCxnSpPr>
          <p:cNvPr id="15" name="Straight Arrow Connector 14">
            <a:extLst>
              <a:ext uri="{FF2B5EF4-FFF2-40B4-BE49-F238E27FC236}">
                <a16:creationId xmlns:a16="http://schemas.microsoft.com/office/drawing/2014/main" id="{00473350-AEC1-4088-D611-EAD6684F6682}"/>
              </a:ext>
            </a:extLst>
          </p:cNvPr>
          <p:cNvCxnSpPr>
            <a:cxnSpLocks/>
            <a:stCxn id="20" idx="4"/>
            <a:endCxn id="5" idx="0"/>
          </p:cNvCxnSpPr>
          <p:nvPr/>
        </p:nvCxnSpPr>
        <p:spPr>
          <a:xfrm>
            <a:off x="7751153" y="2355200"/>
            <a:ext cx="1" cy="2490815"/>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08DB73CC-ECF3-816B-D4F8-710178170E6B}"/>
              </a:ext>
            </a:extLst>
          </p:cNvPr>
          <p:cNvCxnSpPr>
            <a:cxnSpLocks/>
            <a:stCxn id="6" idx="2"/>
            <a:endCxn id="5" idx="6"/>
          </p:cNvCxnSpPr>
          <p:nvPr/>
        </p:nvCxnSpPr>
        <p:spPr>
          <a:xfrm flipH="1">
            <a:off x="8291154" y="5386015"/>
            <a:ext cx="2318246" cy="0"/>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38E7D70-6C6D-DD72-2B7F-3B80F0F56867}"/>
                  </a:ext>
                </a:extLst>
              </p:cNvPr>
              <p:cNvSpPr txBox="1"/>
              <p:nvPr/>
            </p:nvSpPr>
            <p:spPr>
              <a:xfrm>
                <a:off x="7729058" y="3415941"/>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solidFill>
                            <a:srgbClr val="7030A0"/>
                          </a:solidFill>
                          <a:latin typeface="Cambria Math" panose="02040503050406030204" pitchFamily="18" charset="0"/>
                        </a:rPr>
                        <m:t>𝝐</m:t>
                      </m:r>
                    </m:oMath>
                  </m:oMathPara>
                </a14:m>
                <a:endParaRPr lang="en-GB" b="1" dirty="0">
                  <a:solidFill>
                    <a:srgbClr val="7030A0"/>
                  </a:solidFill>
                </a:endParaRPr>
              </a:p>
            </p:txBody>
          </p:sp>
        </mc:Choice>
        <mc:Fallback xmlns="">
          <p:sp>
            <p:nvSpPr>
              <p:cNvPr id="33" name="TextBox 32">
                <a:extLst>
                  <a:ext uri="{FF2B5EF4-FFF2-40B4-BE49-F238E27FC236}">
                    <a16:creationId xmlns:a16="http://schemas.microsoft.com/office/drawing/2014/main" id="{E38E7D70-6C6D-DD72-2B7F-3B80F0F56867}"/>
                  </a:ext>
                </a:extLst>
              </p:cNvPr>
              <p:cNvSpPr txBox="1">
                <a:spLocks noRot="1" noChangeAspect="1" noMove="1" noResize="1" noEditPoints="1" noAdjustHandles="1" noChangeArrowheads="1" noChangeShapeType="1" noTextEdit="1"/>
              </p:cNvSpPr>
              <p:nvPr/>
            </p:nvSpPr>
            <p:spPr>
              <a:xfrm>
                <a:off x="7729058" y="3415941"/>
                <a:ext cx="562095"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6FF6AC1-966C-58B6-4251-5FA87B5BE33F}"/>
                  </a:ext>
                </a:extLst>
              </p:cNvPr>
              <p:cNvSpPr txBox="1"/>
              <p:nvPr/>
            </p:nvSpPr>
            <p:spPr>
              <a:xfrm>
                <a:off x="9288097" y="4879664"/>
                <a:ext cx="5620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1" i="1" dirty="0" smtClean="0">
                          <a:solidFill>
                            <a:srgbClr val="7030A0"/>
                          </a:solidFill>
                          <a:latin typeface="Cambria Math" panose="02040503050406030204" pitchFamily="18" charset="0"/>
                        </a:rPr>
                        <m:t>𝝐</m:t>
                      </m:r>
                    </m:oMath>
                  </m:oMathPara>
                </a14:m>
                <a:endParaRPr lang="en-GB" b="1" dirty="0">
                  <a:solidFill>
                    <a:srgbClr val="7030A0"/>
                  </a:solidFill>
                </a:endParaRPr>
              </a:p>
            </p:txBody>
          </p:sp>
        </mc:Choice>
        <mc:Fallback xmlns="">
          <p:sp>
            <p:nvSpPr>
              <p:cNvPr id="34" name="TextBox 33">
                <a:extLst>
                  <a:ext uri="{FF2B5EF4-FFF2-40B4-BE49-F238E27FC236}">
                    <a16:creationId xmlns:a16="http://schemas.microsoft.com/office/drawing/2014/main" id="{E6FF6AC1-966C-58B6-4251-5FA87B5BE33F}"/>
                  </a:ext>
                </a:extLst>
              </p:cNvPr>
              <p:cNvSpPr txBox="1">
                <a:spLocks noRot="1" noChangeAspect="1" noMove="1" noResize="1" noEditPoints="1" noAdjustHandles="1" noChangeArrowheads="1" noChangeShapeType="1" noTextEdit="1"/>
              </p:cNvSpPr>
              <p:nvPr/>
            </p:nvSpPr>
            <p:spPr>
              <a:xfrm>
                <a:off x="9288097" y="4879664"/>
                <a:ext cx="562095" cy="369332"/>
              </a:xfrm>
              <a:prstGeom prst="rect">
                <a:avLst/>
              </a:prstGeom>
              <a:blipFill>
                <a:blip r:embed="rId3"/>
                <a:stretch>
                  <a:fillRect/>
                </a:stretch>
              </a:blipFill>
            </p:spPr>
            <p:txBody>
              <a:bodyPr/>
              <a:lstStyle/>
              <a:p>
                <a:r>
                  <a:rPr lang="en-GB">
                    <a:noFill/>
                  </a:rPr>
                  <a:t> </a:t>
                </a:r>
              </a:p>
            </p:txBody>
          </p:sp>
        </mc:Fallback>
      </mc:AlternateContent>
      <p:sp>
        <p:nvSpPr>
          <p:cNvPr id="37" name="Oval 36">
            <a:extLst>
              <a:ext uri="{FF2B5EF4-FFF2-40B4-BE49-F238E27FC236}">
                <a16:creationId xmlns:a16="http://schemas.microsoft.com/office/drawing/2014/main" id="{3E5D15D8-50E9-1AB4-4038-EA889AA720DA}"/>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Tree>
    <p:extLst>
      <p:ext uri="{BB962C8B-B14F-4D97-AF65-F5344CB8AC3E}">
        <p14:creationId xmlns:p14="http://schemas.microsoft.com/office/powerpoint/2010/main" val="1918018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98F63-9228-0C5E-7D6E-C7A39A507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5F1E1-4582-C0D7-6469-150F789ED39D}"/>
              </a:ext>
            </a:extLst>
          </p:cNvPr>
          <p:cNvSpPr>
            <a:spLocks noGrp="1"/>
          </p:cNvSpPr>
          <p:nvPr>
            <p:ph type="title"/>
          </p:nvPr>
        </p:nvSpPr>
        <p:spPr/>
        <p:txBody>
          <a:bodyPr/>
          <a:lstStyle/>
          <a:p>
            <a:r>
              <a:rPr lang="en-GB" dirty="0"/>
              <a:t>Choice of </a:t>
            </a:r>
            <a:r>
              <a:rPr lang="en-GB" dirty="0" err="1"/>
              <a:t>RegEx</a:t>
            </a:r>
            <a:endParaRPr lang="en-SG" dirty="0"/>
          </a:p>
        </p:txBody>
      </p:sp>
      <p:sp>
        <p:nvSpPr>
          <p:cNvPr id="4" name="Content Placeholder 3">
            <a:extLst>
              <a:ext uri="{FF2B5EF4-FFF2-40B4-BE49-F238E27FC236}">
                <a16:creationId xmlns:a16="http://schemas.microsoft.com/office/drawing/2014/main" id="{FABBE888-A606-1051-DD31-8A4D819A79E2}"/>
              </a:ext>
            </a:extLst>
          </p:cNvPr>
          <p:cNvSpPr>
            <a:spLocks noGrp="1"/>
          </p:cNvSpPr>
          <p:nvPr>
            <p:ph sz="half" idx="1"/>
          </p:nvPr>
        </p:nvSpPr>
        <p:spPr>
          <a:xfrm>
            <a:off x="838200" y="1825624"/>
            <a:ext cx="5181600" cy="5032375"/>
          </a:xfrm>
        </p:spPr>
        <p:txBody>
          <a:bodyPr>
            <a:normAutofit/>
          </a:bodyPr>
          <a:lstStyle/>
          <a:p>
            <a:pPr marL="0" indent="0">
              <a:buNone/>
            </a:pPr>
            <a:r>
              <a:rPr lang="en-SG" b="1" dirty="0"/>
              <a:t>Quick question: </a:t>
            </a:r>
            <a:r>
              <a:rPr lang="en-SG" dirty="0"/>
              <a:t>Again, could we transform our NDFSM into a DFSM if we decide to</a:t>
            </a:r>
          </a:p>
          <a:p>
            <a:r>
              <a:rPr lang="en-SG" dirty="0"/>
              <a:t>merge states 1, 2 and 3 together, </a:t>
            </a:r>
          </a:p>
          <a:p>
            <a:r>
              <a:rPr lang="en-SG" dirty="0"/>
              <a:t>to get rid of the Epsilon transitions here,</a:t>
            </a:r>
          </a:p>
          <a:p>
            <a:pPr marL="0" indent="0">
              <a:buNone/>
            </a:pPr>
            <a:r>
              <a:rPr lang="en-SG" dirty="0"/>
              <a:t>And still obtain the expected </a:t>
            </a:r>
            <a:r>
              <a:rPr lang="en-SG" dirty="0" err="1"/>
              <a:t>RegEx</a:t>
            </a:r>
            <a:r>
              <a:rPr lang="en-SG" dirty="0"/>
              <a:t> that we want?</a:t>
            </a:r>
          </a:p>
          <a:p>
            <a:pPr marL="0" indent="0">
              <a:buNone/>
            </a:pPr>
            <a:endParaRPr lang="en-SG" dirty="0"/>
          </a:p>
          <a:p>
            <a:pPr marL="0" indent="0">
              <a:buNone/>
            </a:pPr>
            <a:r>
              <a:rPr lang="en-SG" dirty="0"/>
              <a:t>Would this work?</a:t>
            </a:r>
          </a:p>
        </p:txBody>
      </p:sp>
      <p:sp>
        <p:nvSpPr>
          <p:cNvPr id="5" name="Oval 4">
            <a:extLst>
              <a:ext uri="{FF2B5EF4-FFF2-40B4-BE49-F238E27FC236}">
                <a16:creationId xmlns:a16="http://schemas.microsoft.com/office/drawing/2014/main" id="{8B387D9C-9B7C-3CBB-FB69-0D7C216F87CF}"/>
              </a:ext>
            </a:extLst>
          </p:cNvPr>
          <p:cNvSpPr/>
          <p:nvPr/>
        </p:nvSpPr>
        <p:spPr>
          <a:xfrm>
            <a:off x="7211154" y="4846015"/>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cxnSp>
        <p:nvCxnSpPr>
          <p:cNvPr id="19" name="Straight Arrow Connector 18">
            <a:extLst>
              <a:ext uri="{FF2B5EF4-FFF2-40B4-BE49-F238E27FC236}">
                <a16:creationId xmlns:a16="http://schemas.microsoft.com/office/drawing/2014/main" id="{6C344BB1-FF24-E6A0-644A-077E7C7503C4}"/>
              </a:ext>
            </a:extLst>
          </p:cNvPr>
          <p:cNvCxnSpPr>
            <a:cxnSpLocks/>
          </p:cNvCxnSpPr>
          <p:nvPr/>
        </p:nvCxnSpPr>
        <p:spPr>
          <a:xfrm>
            <a:off x="9638522" y="365125"/>
            <a:ext cx="1367626" cy="91565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3" name="Oval 22">
            <a:extLst>
              <a:ext uri="{FF2B5EF4-FFF2-40B4-BE49-F238E27FC236}">
                <a16:creationId xmlns:a16="http://schemas.microsoft.com/office/drawing/2014/main" id="{4D758091-6302-F3F1-B40F-38A942F929F2}"/>
              </a:ext>
            </a:extLst>
          </p:cNvPr>
          <p:cNvSpPr/>
          <p:nvPr/>
        </p:nvSpPr>
        <p:spPr>
          <a:xfrm>
            <a:off x="10609399" y="1275200"/>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24" name="Straight Arrow Connector 23">
            <a:extLst>
              <a:ext uri="{FF2B5EF4-FFF2-40B4-BE49-F238E27FC236}">
                <a16:creationId xmlns:a16="http://schemas.microsoft.com/office/drawing/2014/main" id="{286BF54C-E65D-C5F9-AEC5-C06BFCD733E1}"/>
              </a:ext>
            </a:extLst>
          </p:cNvPr>
          <p:cNvCxnSpPr>
            <a:cxnSpLocks/>
            <a:stCxn id="23" idx="2"/>
            <a:endCxn id="37" idx="7"/>
          </p:cNvCxnSpPr>
          <p:nvPr/>
        </p:nvCxnSpPr>
        <p:spPr>
          <a:xfrm flipH="1">
            <a:off x="8103526" y="1815200"/>
            <a:ext cx="2505873" cy="3227427"/>
          </a:xfrm>
          <a:prstGeom prst="straightConnector1">
            <a:avLst/>
          </a:prstGeom>
          <a:ln w="38100">
            <a:solidFill>
              <a:srgbClr val="7030A0"/>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F467C1CD-510F-1F7A-DD56-572581089D92}"/>
              </a:ext>
            </a:extLst>
          </p:cNvPr>
          <p:cNvSpPr txBox="1"/>
          <p:nvPr/>
        </p:nvSpPr>
        <p:spPr>
          <a:xfrm>
            <a:off x="8717003" y="2899019"/>
            <a:ext cx="921519" cy="369332"/>
          </a:xfrm>
          <a:prstGeom prst="rect">
            <a:avLst/>
          </a:prstGeom>
          <a:noFill/>
        </p:spPr>
        <p:txBody>
          <a:bodyPr wrap="square" rtlCol="0">
            <a:spAutoFit/>
          </a:bodyPr>
          <a:lstStyle/>
          <a:p>
            <a:r>
              <a:rPr lang="en-GB" b="1" dirty="0">
                <a:solidFill>
                  <a:srgbClr val="7030A0"/>
                </a:solidFill>
              </a:rPr>
              <a:t>a or b</a:t>
            </a:r>
            <a:endParaRPr lang="en-SG" b="1" dirty="0">
              <a:solidFill>
                <a:srgbClr val="7030A0"/>
              </a:solidFill>
            </a:endParaRPr>
          </a:p>
        </p:txBody>
      </p:sp>
      <p:sp>
        <p:nvSpPr>
          <p:cNvPr id="26" name="TextBox 25">
            <a:extLst>
              <a:ext uri="{FF2B5EF4-FFF2-40B4-BE49-F238E27FC236}">
                <a16:creationId xmlns:a16="http://schemas.microsoft.com/office/drawing/2014/main" id="{883B9040-83CA-D6C0-B0F9-06E890A16870}"/>
              </a:ext>
            </a:extLst>
          </p:cNvPr>
          <p:cNvSpPr txBox="1"/>
          <p:nvPr/>
        </p:nvSpPr>
        <p:spPr>
          <a:xfrm>
            <a:off x="9155639" y="5493857"/>
            <a:ext cx="1824764" cy="369332"/>
          </a:xfrm>
          <a:prstGeom prst="rect">
            <a:avLst/>
          </a:prstGeom>
          <a:noFill/>
        </p:spPr>
        <p:txBody>
          <a:bodyPr wrap="square" rtlCol="0">
            <a:spAutoFit/>
          </a:bodyPr>
          <a:lstStyle/>
          <a:p>
            <a:r>
              <a:rPr lang="en-GB" b="1" dirty="0">
                <a:solidFill>
                  <a:srgbClr val="7030A0"/>
                </a:solidFill>
              </a:rPr>
              <a:t>Any character</a:t>
            </a:r>
            <a:endParaRPr lang="en-SG" b="1" dirty="0">
              <a:solidFill>
                <a:srgbClr val="7030A0"/>
              </a:solidFill>
            </a:endParaRPr>
          </a:p>
        </p:txBody>
      </p:sp>
      <p:sp>
        <p:nvSpPr>
          <p:cNvPr id="27" name="Freeform: Shape 26">
            <a:extLst>
              <a:ext uri="{FF2B5EF4-FFF2-40B4-BE49-F238E27FC236}">
                <a16:creationId xmlns:a16="http://schemas.microsoft.com/office/drawing/2014/main" id="{3CA3A990-4E7C-8F4E-010B-392691ED4C70}"/>
              </a:ext>
            </a:extLst>
          </p:cNvPr>
          <p:cNvSpPr/>
          <p:nvPr/>
        </p:nvSpPr>
        <p:spPr>
          <a:xfrm rot="10800000">
            <a:off x="11148705" y="835016"/>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rgbClr val="7030A0"/>
              </a:solidFill>
            </a:endParaRPr>
          </a:p>
        </p:txBody>
      </p:sp>
      <p:sp>
        <p:nvSpPr>
          <p:cNvPr id="37" name="Oval 36">
            <a:extLst>
              <a:ext uri="{FF2B5EF4-FFF2-40B4-BE49-F238E27FC236}">
                <a16:creationId xmlns:a16="http://schemas.microsoft.com/office/drawing/2014/main" id="{3F347A75-699F-28B1-7D0B-5513F83A58C2}"/>
              </a:ext>
            </a:extLst>
          </p:cNvPr>
          <p:cNvSpPr/>
          <p:nvPr/>
        </p:nvSpPr>
        <p:spPr>
          <a:xfrm>
            <a:off x="7258508" y="4897645"/>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3</a:t>
            </a:r>
            <a:endParaRPr lang="en-SG" sz="1600" b="1" dirty="0">
              <a:solidFill>
                <a:schemeClr val="bg1"/>
              </a:solidFill>
            </a:endParaRPr>
          </a:p>
        </p:txBody>
      </p:sp>
      <p:sp>
        <p:nvSpPr>
          <p:cNvPr id="7" name="Freeform: Shape 26">
            <a:extLst>
              <a:ext uri="{FF2B5EF4-FFF2-40B4-BE49-F238E27FC236}">
                <a16:creationId xmlns:a16="http://schemas.microsoft.com/office/drawing/2014/main" id="{24200DCA-9BCA-3294-6DB2-C319D2769F10}"/>
              </a:ext>
            </a:extLst>
          </p:cNvPr>
          <p:cNvSpPr/>
          <p:nvPr/>
        </p:nvSpPr>
        <p:spPr>
          <a:xfrm rot="12533842">
            <a:off x="8054852" y="4883729"/>
            <a:ext cx="926617"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rgbClr val="7030A0"/>
              </a:solidFill>
            </a:endParaRPr>
          </a:p>
        </p:txBody>
      </p:sp>
    </p:spTree>
    <p:extLst>
      <p:ext uri="{BB962C8B-B14F-4D97-AF65-F5344CB8AC3E}">
        <p14:creationId xmlns:p14="http://schemas.microsoft.com/office/powerpoint/2010/main" val="2454243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0AD6-FE0F-DB12-53E1-C7AC338CDC7A}"/>
              </a:ext>
            </a:extLst>
          </p:cNvPr>
          <p:cNvSpPr>
            <a:spLocks noGrp="1"/>
          </p:cNvSpPr>
          <p:nvPr>
            <p:ph type="title"/>
          </p:nvPr>
        </p:nvSpPr>
        <p:spPr/>
        <p:txBody>
          <a:bodyPr/>
          <a:lstStyle/>
          <a:p>
            <a:r>
              <a:rPr lang="en-GB" dirty="0"/>
              <a:t>On the use of parentheses in </a:t>
            </a:r>
            <a:r>
              <a:rPr lang="en-GB" dirty="0" err="1"/>
              <a:t>RegEx</a:t>
            </a:r>
            <a:endParaRPr lang="en-SG" dirty="0"/>
          </a:p>
        </p:txBody>
      </p:sp>
      <p:sp>
        <p:nvSpPr>
          <p:cNvPr id="3" name="Content Placeholder 2">
            <a:extLst>
              <a:ext uri="{FF2B5EF4-FFF2-40B4-BE49-F238E27FC236}">
                <a16:creationId xmlns:a16="http://schemas.microsoft.com/office/drawing/2014/main" id="{C5B3147C-5652-F4E7-76E5-5B7A81B7A79A}"/>
              </a:ext>
            </a:extLst>
          </p:cNvPr>
          <p:cNvSpPr>
            <a:spLocks noGrp="1"/>
          </p:cNvSpPr>
          <p:nvPr>
            <p:ph idx="1"/>
          </p:nvPr>
        </p:nvSpPr>
        <p:spPr>
          <a:xfrm>
            <a:off x="838200" y="1825624"/>
            <a:ext cx="10515600" cy="5032375"/>
          </a:xfrm>
        </p:spPr>
        <p:txBody>
          <a:bodyPr/>
          <a:lstStyle/>
          <a:p>
            <a:pPr marL="0" indent="0">
              <a:buNone/>
            </a:pPr>
            <a:r>
              <a:rPr lang="en-GB" b="1" dirty="0"/>
              <a:t>Definition (On the use of </a:t>
            </a:r>
            <a:r>
              <a:rPr lang="en-GB" b="1" dirty="0">
                <a:solidFill>
                  <a:srgbClr val="00B050"/>
                </a:solidFill>
              </a:rPr>
              <a:t>parentheses</a:t>
            </a:r>
            <a:r>
              <a:rPr lang="en-GB" b="1" dirty="0"/>
              <a:t> in </a:t>
            </a:r>
            <a:r>
              <a:rPr lang="en-GB" b="1" dirty="0" err="1"/>
              <a:t>RegEx</a:t>
            </a:r>
            <a:r>
              <a:rPr lang="en-GB" b="1" dirty="0"/>
              <a:t>):</a:t>
            </a:r>
          </a:p>
          <a:p>
            <a:pPr marL="0" indent="0">
              <a:buNone/>
            </a:pPr>
            <a:r>
              <a:rPr lang="en-GB" b="1" dirty="0">
                <a:solidFill>
                  <a:srgbClr val="00B050"/>
                </a:solidFill>
              </a:rPr>
              <a:t>Parentheses</a:t>
            </a:r>
            <a:r>
              <a:rPr lang="en-GB" dirty="0"/>
              <a:t> can be used in </a:t>
            </a:r>
            <a:r>
              <a:rPr lang="en-GB" dirty="0" err="1"/>
              <a:t>RegEx</a:t>
            </a:r>
            <a:r>
              <a:rPr lang="en-GB" dirty="0"/>
              <a:t> to separate operations.</a:t>
            </a:r>
          </a:p>
          <a:p>
            <a:pPr marL="0" indent="0">
              <a:buNone/>
            </a:pPr>
            <a:r>
              <a:rPr lang="en-GB" dirty="0"/>
              <a:t>For instance, we could write the </a:t>
            </a:r>
            <a:r>
              <a:rPr lang="en-GB" dirty="0" err="1"/>
              <a:t>RegEx</a:t>
            </a:r>
            <a:r>
              <a:rPr lang="en-GB" dirty="0"/>
              <a:t> </a:t>
            </a:r>
            <a:r>
              <a:rPr lang="en-GB" b="1" dirty="0"/>
              <a:t>“(</a:t>
            </a:r>
            <a:r>
              <a:rPr lang="en-GB" b="1" dirty="0" err="1"/>
              <a:t>a|b</a:t>
            </a:r>
            <a:r>
              <a:rPr lang="en-GB" b="1" dirty="0"/>
              <a:t>)c”</a:t>
            </a:r>
            <a:r>
              <a:rPr lang="en-GB" dirty="0"/>
              <a:t>, whose acceptable language consists then of all the substrings containing either one of the two strings </a:t>
            </a:r>
            <a:r>
              <a:rPr lang="en-GB" b="1" dirty="0"/>
              <a:t>“ac”</a:t>
            </a:r>
            <a:r>
              <a:rPr lang="en-GB" dirty="0"/>
              <a:t> and </a:t>
            </a:r>
            <a:r>
              <a:rPr lang="en-GB" b="1" dirty="0"/>
              <a:t>“</a:t>
            </a:r>
            <a:r>
              <a:rPr lang="en-GB" b="1" dirty="0" err="1"/>
              <a:t>bc</a:t>
            </a:r>
            <a:r>
              <a:rPr lang="en-GB" b="1" dirty="0"/>
              <a:t>”</a:t>
            </a:r>
            <a:r>
              <a:rPr lang="en-GB" dirty="0"/>
              <a:t>.</a:t>
            </a:r>
          </a:p>
          <a:p>
            <a:pPr marL="0" indent="0">
              <a:buNone/>
            </a:pPr>
            <a:r>
              <a:rPr lang="en-GB" dirty="0"/>
              <a:t>It should not be confused with </a:t>
            </a:r>
            <a:r>
              <a:rPr lang="en-GB" b="1" dirty="0"/>
              <a:t>“</a:t>
            </a:r>
            <a:r>
              <a:rPr lang="en-GB" b="1" dirty="0" err="1"/>
              <a:t>a|bc</a:t>
            </a:r>
            <a:r>
              <a:rPr lang="en-GB" b="1" dirty="0"/>
              <a:t>”</a:t>
            </a:r>
            <a:r>
              <a:rPr lang="en-GB" dirty="0"/>
              <a:t>, whose regular language is then consisting of all the substrings containing either one of the two strings “a” and “</a:t>
            </a:r>
            <a:r>
              <a:rPr lang="en-GB" dirty="0" err="1"/>
              <a:t>bc</a:t>
            </a:r>
            <a:r>
              <a:rPr lang="en-GB" dirty="0"/>
              <a:t>”.</a:t>
            </a:r>
          </a:p>
          <a:p>
            <a:pPr marL="0" indent="0">
              <a:buNone/>
            </a:pPr>
            <a:r>
              <a:rPr lang="en-GB" dirty="0"/>
              <a:t>In this second case, </a:t>
            </a:r>
            <a:r>
              <a:rPr lang="en-GB" b="1" dirty="0" err="1"/>
              <a:t>a|bc</a:t>
            </a:r>
            <a:r>
              <a:rPr lang="en-GB" b="1" dirty="0"/>
              <a:t> is equivalent to a|(</a:t>
            </a:r>
            <a:r>
              <a:rPr lang="en-GB" b="1" dirty="0" err="1"/>
              <a:t>bc</a:t>
            </a:r>
            <a:r>
              <a:rPr lang="en-GB" b="1" dirty="0"/>
              <a:t>).</a:t>
            </a:r>
            <a:endParaRPr lang="en-SG" dirty="0"/>
          </a:p>
        </p:txBody>
      </p:sp>
    </p:spTree>
    <p:extLst>
      <p:ext uri="{BB962C8B-B14F-4D97-AF65-F5344CB8AC3E}">
        <p14:creationId xmlns:p14="http://schemas.microsoft.com/office/powerpoint/2010/main" val="671110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0AD6-FE0F-DB12-53E1-C7AC338CDC7A}"/>
              </a:ext>
            </a:extLst>
          </p:cNvPr>
          <p:cNvSpPr>
            <a:spLocks noGrp="1"/>
          </p:cNvSpPr>
          <p:nvPr>
            <p:ph type="title"/>
          </p:nvPr>
        </p:nvSpPr>
        <p:spPr/>
        <p:txBody>
          <a:bodyPr/>
          <a:lstStyle/>
          <a:p>
            <a:r>
              <a:rPr lang="en-GB" dirty="0"/>
              <a:t>On the use of the escape character in </a:t>
            </a:r>
            <a:r>
              <a:rPr lang="en-GB" dirty="0" err="1"/>
              <a:t>RegEx</a:t>
            </a:r>
            <a:endParaRPr lang="en-SG" dirty="0"/>
          </a:p>
        </p:txBody>
      </p:sp>
      <p:sp>
        <p:nvSpPr>
          <p:cNvPr id="3" name="Content Placeholder 2">
            <a:extLst>
              <a:ext uri="{FF2B5EF4-FFF2-40B4-BE49-F238E27FC236}">
                <a16:creationId xmlns:a16="http://schemas.microsoft.com/office/drawing/2014/main" id="{C5B3147C-5652-F4E7-76E5-5B7A81B7A79A}"/>
              </a:ext>
            </a:extLst>
          </p:cNvPr>
          <p:cNvSpPr>
            <a:spLocks noGrp="1"/>
          </p:cNvSpPr>
          <p:nvPr>
            <p:ph idx="1"/>
          </p:nvPr>
        </p:nvSpPr>
        <p:spPr/>
        <p:txBody>
          <a:bodyPr/>
          <a:lstStyle/>
          <a:p>
            <a:pPr marL="0" indent="0">
              <a:buNone/>
            </a:pPr>
            <a:r>
              <a:rPr lang="en-GB" b="1" dirty="0"/>
              <a:t>Definition (On the use of </a:t>
            </a:r>
            <a:r>
              <a:rPr lang="en-GB" b="1" dirty="0">
                <a:solidFill>
                  <a:srgbClr val="00B050"/>
                </a:solidFill>
              </a:rPr>
              <a:t>the escape character</a:t>
            </a:r>
            <a:r>
              <a:rPr lang="en-GB" b="1" dirty="0"/>
              <a:t> in </a:t>
            </a:r>
            <a:r>
              <a:rPr lang="en-GB" b="1" dirty="0" err="1"/>
              <a:t>RegEx</a:t>
            </a:r>
            <a:r>
              <a:rPr lang="en-GB" b="1" dirty="0"/>
              <a:t>):</a:t>
            </a:r>
          </a:p>
          <a:p>
            <a:pPr marL="0" indent="0">
              <a:buNone/>
            </a:pPr>
            <a:r>
              <a:rPr lang="en-GB" dirty="0"/>
              <a:t>The</a:t>
            </a:r>
            <a:r>
              <a:rPr lang="en-GB" b="1" dirty="0">
                <a:solidFill>
                  <a:srgbClr val="00B050"/>
                </a:solidFill>
              </a:rPr>
              <a:t> Escape character</a:t>
            </a:r>
            <a:r>
              <a:rPr lang="en-GB" dirty="0"/>
              <a:t> </a:t>
            </a:r>
            <a:r>
              <a:rPr lang="en-GB" b="1" dirty="0">
                <a:solidFill>
                  <a:srgbClr val="00B050"/>
                </a:solidFill>
              </a:rPr>
              <a:t>\</a:t>
            </a:r>
            <a:r>
              <a:rPr lang="en-GB" dirty="0"/>
              <a:t> can be used in </a:t>
            </a:r>
            <a:r>
              <a:rPr lang="en-GB" dirty="0" err="1"/>
              <a:t>RegEx</a:t>
            </a:r>
            <a:r>
              <a:rPr lang="en-GB" dirty="0"/>
              <a:t> to indicate that a special symbol (or something we call a metacharacter in </a:t>
            </a:r>
            <a:r>
              <a:rPr lang="en-GB" dirty="0" err="1"/>
              <a:t>RegEx</a:t>
            </a:r>
            <a:r>
              <a:rPr lang="en-GB" dirty="0"/>
              <a:t>) – which normally has an effect in </a:t>
            </a:r>
            <a:r>
              <a:rPr lang="en-GB" dirty="0" err="1"/>
              <a:t>RegEx</a:t>
            </a:r>
            <a:r>
              <a:rPr lang="en-GB" dirty="0"/>
              <a:t> – should in fact appear in the string.</a:t>
            </a:r>
          </a:p>
          <a:p>
            <a:pPr marL="0" indent="0">
              <a:buNone/>
            </a:pPr>
            <a:r>
              <a:rPr lang="en-GB" dirty="0"/>
              <a:t>For instance, we could write the </a:t>
            </a:r>
            <a:r>
              <a:rPr lang="en-GB" dirty="0" err="1"/>
              <a:t>RegEx</a:t>
            </a:r>
            <a:r>
              <a:rPr lang="en-GB" dirty="0"/>
              <a:t> </a:t>
            </a:r>
            <a:r>
              <a:rPr lang="en-GB" b="1" dirty="0"/>
              <a:t>“\(a\)c”</a:t>
            </a:r>
            <a:r>
              <a:rPr lang="en-GB" dirty="0"/>
              <a:t>, whose regular language consists then of all the strings containing the substring </a:t>
            </a:r>
            <a:r>
              <a:rPr lang="en-GB" b="1" dirty="0"/>
              <a:t>“(a)c”.</a:t>
            </a:r>
            <a:r>
              <a:rPr lang="en-GB" dirty="0"/>
              <a:t> </a:t>
            </a:r>
          </a:p>
          <a:p>
            <a:pPr marL="0" indent="0">
              <a:buNone/>
            </a:pPr>
            <a:r>
              <a:rPr lang="en-GB" dirty="0"/>
              <a:t>In this case, the parentheses symbols now being treated as characters to appear in a given input string </a:t>
            </a:r>
            <a:r>
              <a:rPr lang="en-GB" i="1" dirty="0"/>
              <a:t>x</a:t>
            </a:r>
            <a:r>
              <a:rPr lang="en-GB" dirty="0"/>
              <a:t>.</a:t>
            </a:r>
          </a:p>
        </p:txBody>
      </p:sp>
    </p:spTree>
    <p:extLst>
      <p:ext uri="{BB962C8B-B14F-4D97-AF65-F5344CB8AC3E}">
        <p14:creationId xmlns:p14="http://schemas.microsoft.com/office/powerpoint/2010/main" val="2955466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C14325-60C2-05EC-B1A1-4AF98D8BBF01}"/>
              </a:ext>
            </a:extLst>
          </p:cNvPr>
          <p:cNvSpPr>
            <a:spLocks noGrp="1"/>
          </p:cNvSpPr>
          <p:nvPr>
            <p:ph type="title"/>
          </p:nvPr>
        </p:nvSpPr>
        <p:spPr/>
        <p:txBody>
          <a:bodyPr/>
          <a:lstStyle/>
          <a:p>
            <a:r>
              <a:rPr lang="en-GB" dirty="0"/>
              <a:t>Closure or Kleene operator</a:t>
            </a:r>
            <a:endParaRPr lang="en-SG" dirty="0"/>
          </a:p>
        </p:txBody>
      </p:sp>
      <p:sp>
        <p:nvSpPr>
          <p:cNvPr id="5" name="Content Placeholder 4">
            <a:extLst>
              <a:ext uri="{FF2B5EF4-FFF2-40B4-BE49-F238E27FC236}">
                <a16:creationId xmlns:a16="http://schemas.microsoft.com/office/drawing/2014/main" id="{4F0C9377-31A4-50F3-144A-62B9B92A0435}"/>
              </a:ext>
            </a:extLst>
          </p:cNvPr>
          <p:cNvSpPr>
            <a:spLocks noGrp="1"/>
          </p:cNvSpPr>
          <p:nvPr>
            <p:ph idx="1"/>
          </p:nvPr>
        </p:nvSpPr>
        <p:spPr>
          <a:xfrm>
            <a:off x="838200" y="1825624"/>
            <a:ext cx="10515600" cy="4830815"/>
          </a:xfrm>
        </p:spPr>
        <p:txBody>
          <a:bodyPr>
            <a:normAutofit/>
          </a:bodyPr>
          <a:lstStyle/>
          <a:p>
            <a:pPr marL="0" indent="0">
              <a:buNone/>
            </a:pPr>
            <a:r>
              <a:rPr lang="en-GB" b="1" dirty="0"/>
              <a:t>Theorem (</a:t>
            </a:r>
            <a:r>
              <a:rPr lang="en-GB" b="1" dirty="0">
                <a:solidFill>
                  <a:srgbClr val="00B050"/>
                </a:solidFill>
              </a:rPr>
              <a:t>Closure</a:t>
            </a:r>
            <a:r>
              <a:rPr lang="en-GB" b="1" dirty="0"/>
              <a:t> or </a:t>
            </a:r>
            <a:r>
              <a:rPr lang="en-GB" b="1" dirty="0">
                <a:solidFill>
                  <a:srgbClr val="00B050"/>
                </a:solidFill>
              </a:rPr>
              <a:t>Kleene</a:t>
            </a:r>
            <a:r>
              <a:rPr lang="en-GB" b="1" dirty="0"/>
              <a:t> operator in </a:t>
            </a:r>
            <a:r>
              <a:rPr lang="en-GB" b="1" dirty="0" err="1"/>
              <a:t>RegEx</a:t>
            </a:r>
            <a:r>
              <a:rPr lang="en-GB" b="1" dirty="0"/>
              <a:t>):</a:t>
            </a:r>
          </a:p>
          <a:p>
            <a:pPr marL="0" indent="0">
              <a:buNone/>
            </a:pPr>
            <a:r>
              <a:rPr lang="en-GB" dirty="0"/>
              <a:t>Assume that we have a </a:t>
            </a:r>
            <a:r>
              <a:rPr lang="en-GB" dirty="0" err="1"/>
              <a:t>RegEx</a:t>
            </a:r>
            <a:r>
              <a:rPr lang="en-GB" dirty="0"/>
              <a:t> “a” and its respective FSM.</a:t>
            </a:r>
          </a:p>
          <a:p>
            <a:pPr marL="0" indent="0">
              <a:buNone/>
            </a:pPr>
            <a:r>
              <a:rPr lang="en-GB" dirty="0"/>
              <a:t>The </a:t>
            </a:r>
            <a:r>
              <a:rPr lang="en-GB" b="1" dirty="0">
                <a:solidFill>
                  <a:srgbClr val="00B050"/>
                </a:solidFill>
              </a:rPr>
              <a:t>Closure</a:t>
            </a:r>
            <a:r>
              <a:rPr lang="en-GB" b="1" dirty="0"/>
              <a:t> (or </a:t>
            </a:r>
            <a:r>
              <a:rPr lang="en-GB" b="1" dirty="0">
                <a:solidFill>
                  <a:srgbClr val="00B050"/>
                </a:solidFill>
              </a:rPr>
              <a:t>Kleene</a:t>
            </a:r>
            <a:r>
              <a:rPr lang="en-GB" b="1" dirty="0"/>
              <a:t>) operator *</a:t>
            </a:r>
            <a:r>
              <a:rPr lang="en-GB" dirty="0"/>
              <a:t> is used to define the </a:t>
            </a:r>
            <a:r>
              <a:rPr lang="en-GB" dirty="0" err="1"/>
              <a:t>RegEx</a:t>
            </a:r>
            <a:r>
              <a:rPr lang="en-GB" dirty="0"/>
              <a:t> </a:t>
            </a:r>
            <a:r>
              <a:rPr lang="en-GB" b="1" dirty="0"/>
              <a:t>“a*”</a:t>
            </a:r>
            <a:r>
              <a:rPr lang="en-GB" dirty="0"/>
              <a:t>.</a:t>
            </a:r>
          </a:p>
          <a:p>
            <a:pPr marL="0" indent="0">
              <a:buNone/>
            </a:pPr>
            <a:r>
              <a:rPr lang="en-GB" dirty="0"/>
              <a:t>Its regular language consists of </a:t>
            </a:r>
            <a:r>
              <a:rPr lang="en-GB" b="1" dirty="0"/>
              <a:t>all the strings containing zero or more repetitions of the character a</a:t>
            </a:r>
            <a:r>
              <a:rPr lang="en-GB" dirty="0"/>
              <a:t>, for instance “”, “a”, “aa”, “</a:t>
            </a:r>
            <a:r>
              <a:rPr lang="en-GB" dirty="0" err="1"/>
              <a:t>aaa</a:t>
            </a:r>
            <a:r>
              <a:rPr lang="en-GB" dirty="0"/>
              <a:t>”, “</a:t>
            </a:r>
            <a:r>
              <a:rPr lang="en-GB" dirty="0" err="1"/>
              <a:t>aaaaaaaaaaaaaaaaaaaaaaa</a:t>
            </a:r>
            <a:r>
              <a:rPr lang="en-GB" dirty="0"/>
              <a:t>”, etc.</a:t>
            </a:r>
          </a:p>
        </p:txBody>
      </p:sp>
    </p:spTree>
    <p:extLst>
      <p:ext uri="{BB962C8B-B14F-4D97-AF65-F5344CB8AC3E}">
        <p14:creationId xmlns:p14="http://schemas.microsoft.com/office/powerpoint/2010/main" val="3718139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29E15-ADF4-40C6-2CA0-D8B54C3979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9235FD-E938-66D8-5114-155267580F1A}"/>
              </a:ext>
            </a:extLst>
          </p:cNvPr>
          <p:cNvSpPr>
            <a:spLocks noGrp="1"/>
          </p:cNvSpPr>
          <p:nvPr>
            <p:ph type="title"/>
          </p:nvPr>
        </p:nvSpPr>
        <p:spPr/>
        <p:txBody>
          <a:bodyPr/>
          <a:lstStyle/>
          <a:p>
            <a:r>
              <a:rPr lang="en-GB" dirty="0"/>
              <a:t>Closure or Kleene operator</a:t>
            </a:r>
            <a:endParaRPr lang="en-SG" dirty="0"/>
          </a:p>
        </p:txBody>
      </p:sp>
      <p:sp>
        <p:nvSpPr>
          <p:cNvPr id="5" name="Content Placeholder 4">
            <a:extLst>
              <a:ext uri="{FF2B5EF4-FFF2-40B4-BE49-F238E27FC236}">
                <a16:creationId xmlns:a16="http://schemas.microsoft.com/office/drawing/2014/main" id="{7A17D2B0-BEB1-6DBE-482A-CACC885D1CAF}"/>
              </a:ext>
            </a:extLst>
          </p:cNvPr>
          <p:cNvSpPr>
            <a:spLocks noGrp="1"/>
          </p:cNvSpPr>
          <p:nvPr>
            <p:ph idx="1"/>
          </p:nvPr>
        </p:nvSpPr>
        <p:spPr>
          <a:xfrm>
            <a:off x="838200" y="1825624"/>
            <a:ext cx="10515600" cy="4830815"/>
          </a:xfrm>
        </p:spPr>
        <p:txBody>
          <a:bodyPr>
            <a:normAutofit/>
          </a:bodyPr>
          <a:lstStyle/>
          <a:p>
            <a:pPr marL="0" indent="0">
              <a:buNone/>
            </a:pPr>
            <a:r>
              <a:rPr lang="en-GB" b="1" dirty="0"/>
              <a:t>Theorem (</a:t>
            </a:r>
            <a:r>
              <a:rPr lang="en-GB" b="1" dirty="0">
                <a:solidFill>
                  <a:srgbClr val="00B050"/>
                </a:solidFill>
              </a:rPr>
              <a:t>Closure</a:t>
            </a:r>
            <a:r>
              <a:rPr lang="en-GB" b="1" dirty="0"/>
              <a:t> or </a:t>
            </a:r>
            <a:r>
              <a:rPr lang="en-GB" b="1" dirty="0">
                <a:solidFill>
                  <a:srgbClr val="00B050"/>
                </a:solidFill>
              </a:rPr>
              <a:t>Kleene</a:t>
            </a:r>
            <a:r>
              <a:rPr lang="en-GB" b="1" dirty="0"/>
              <a:t> operator in </a:t>
            </a:r>
            <a:r>
              <a:rPr lang="en-GB" b="1" dirty="0" err="1"/>
              <a:t>RegEx</a:t>
            </a:r>
            <a:r>
              <a:rPr lang="en-GB" b="1" dirty="0"/>
              <a:t>):</a:t>
            </a:r>
          </a:p>
          <a:p>
            <a:pPr marL="0" indent="0">
              <a:buNone/>
            </a:pPr>
            <a:r>
              <a:rPr lang="en-GB" dirty="0"/>
              <a:t>Assume that we have a </a:t>
            </a:r>
            <a:r>
              <a:rPr lang="en-GB" dirty="0" err="1"/>
              <a:t>RegEx</a:t>
            </a:r>
            <a:r>
              <a:rPr lang="en-GB" dirty="0"/>
              <a:t> “a” and its respective FSM.</a:t>
            </a:r>
          </a:p>
          <a:p>
            <a:pPr marL="0" indent="0">
              <a:buNone/>
            </a:pPr>
            <a:r>
              <a:rPr lang="en-GB" dirty="0"/>
              <a:t>The </a:t>
            </a:r>
            <a:r>
              <a:rPr lang="en-GB" b="1" dirty="0">
                <a:solidFill>
                  <a:srgbClr val="00B050"/>
                </a:solidFill>
              </a:rPr>
              <a:t>Closure</a:t>
            </a:r>
            <a:r>
              <a:rPr lang="en-GB" b="1" dirty="0"/>
              <a:t> (or </a:t>
            </a:r>
            <a:r>
              <a:rPr lang="en-GB" b="1" dirty="0">
                <a:solidFill>
                  <a:srgbClr val="00B050"/>
                </a:solidFill>
              </a:rPr>
              <a:t>Kleene</a:t>
            </a:r>
            <a:r>
              <a:rPr lang="en-GB" b="1" dirty="0"/>
              <a:t>) operator *</a:t>
            </a:r>
            <a:r>
              <a:rPr lang="en-GB" dirty="0"/>
              <a:t> is used to define the </a:t>
            </a:r>
            <a:r>
              <a:rPr lang="en-GB" dirty="0" err="1"/>
              <a:t>RegEx</a:t>
            </a:r>
            <a:r>
              <a:rPr lang="en-GB" dirty="0"/>
              <a:t> </a:t>
            </a:r>
            <a:r>
              <a:rPr lang="en-GB" b="1" dirty="0"/>
              <a:t>“a*”</a:t>
            </a:r>
            <a:r>
              <a:rPr lang="en-GB" dirty="0"/>
              <a:t>.</a:t>
            </a:r>
          </a:p>
          <a:p>
            <a:pPr marL="0" indent="0">
              <a:buNone/>
            </a:pPr>
            <a:r>
              <a:rPr lang="en-GB" dirty="0"/>
              <a:t>Its regular language consists of </a:t>
            </a:r>
            <a:r>
              <a:rPr lang="en-GB" b="1" dirty="0"/>
              <a:t>all the strings containing zero or more repetitions of the character a</a:t>
            </a:r>
            <a:r>
              <a:rPr lang="en-GB" dirty="0"/>
              <a:t>, for instance “”, “a”, “aa”, “</a:t>
            </a:r>
            <a:r>
              <a:rPr lang="en-GB" dirty="0" err="1"/>
              <a:t>aaa</a:t>
            </a:r>
            <a:r>
              <a:rPr lang="en-GB" dirty="0"/>
              <a:t>”, “</a:t>
            </a:r>
            <a:r>
              <a:rPr lang="en-GB" dirty="0" err="1"/>
              <a:t>aaaaaaaaaaaaaaaaaaaaaaa</a:t>
            </a:r>
            <a:r>
              <a:rPr lang="en-GB" dirty="0"/>
              <a:t>”, etc.</a:t>
            </a:r>
          </a:p>
          <a:p>
            <a:pPr marL="0" indent="0">
              <a:buNone/>
            </a:pPr>
            <a:endParaRPr lang="en-GB" dirty="0"/>
          </a:p>
          <a:p>
            <a:pPr marL="0" indent="0">
              <a:buNone/>
            </a:pPr>
            <a:r>
              <a:rPr lang="en-GB" b="1" dirty="0"/>
              <a:t>Crazy Question: </a:t>
            </a:r>
            <a:r>
              <a:rPr lang="en-GB" dirty="0"/>
              <a:t>Does that mean that “c” would match “a*”, as it contains zero repetitions of the character “a”?!</a:t>
            </a:r>
          </a:p>
        </p:txBody>
      </p:sp>
    </p:spTree>
    <p:extLst>
      <p:ext uri="{BB962C8B-B14F-4D97-AF65-F5344CB8AC3E}">
        <p14:creationId xmlns:p14="http://schemas.microsoft.com/office/powerpoint/2010/main" val="1208774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FD60-6F59-1C49-E9BF-285CC2D65B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778D5B-C975-25BB-CF30-216733FF4725}"/>
              </a:ext>
            </a:extLst>
          </p:cNvPr>
          <p:cNvSpPr>
            <a:spLocks noGrp="1"/>
          </p:cNvSpPr>
          <p:nvPr>
            <p:ph type="title"/>
          </p:nvPr>
        </p:nvSpPr>
        <p:spPr/>
        <p:txBody>
          <a:bodyPr/>
          <a:lstStyle/>
          <a:p>
            <a:r>
              <a:rPr lang="en-GB" dirty="0"/>
              <a:t>An important note: partial vs full matching</a:t>
            </a:r>
            <a:endParaRPr lang="en-SG" dirty="0"/>
          </a:p>
        </p:txBody>
      </p:sp>
      <p:sp>
        <p:nvSpPr>
          <p:cNvPr id="5" name="Content Placeholder 4">
            <a:extLst>
              <a:ext uri="{FF2B5EF4-FFF2-40B4-BE49-F238E27FC236}">
                <a16:creationId xmlns:a16="http://schemas.microsoft.com/office/drawing/2014/main" id="{B0003562-B0F9-FC63-4F67-49F09BA7CBB2}"/>
              </a:ext>
            </a:extLst>
          </p:cNvPr>
          <p:cNvSpPr>
            <a:spLocks noGrp="1"/>
          </p:cNvSpPr>
          <p:nvPr>
            <p:ph idx="1"/>
          </p:nvPr>
        </p:nvSpPr>
        <p:spPr>
          <a:xfrm>
            <a:off x="838200" y="1825624"/>
            <a:ext cx="10515600" cy="5032375"/>
          </a:xfrm>
        </p:spPr>
        <p:txBody>
          <a:bodyPr>
            <a:normAutofit/>
          </a:bodyPr>
          <a:lstStyle/>
          <a:p>
            <a:pPr marL="0" indent="0">
              <a:buNone/>
            </a:pPr>
            <a:r>
              <a:rPr lang="en-GB" dirty="0"/>
              <a:t>It is important to note that, we often consider </a:t>
            </a:r>
            <a:r>
              <a:rPr lang="en-GB" b="1" dirty="0">
                <a:solidFill>
                  <a:srgbClr val="7030A0"/>
                </a:solidFill>
              </a:rPr>
              <a:t>partial matching (or substring matching) </a:t>
            </a:r>
            <a:r>
              <a:rPr lang="en-GB" dirty="0"/>
              <a:t>when our </a:t>
            </a:r>
            <a:r>
              <a:rPr lang="en-GB" dirty="0" err="1"/>
              <a:t>RegEx</a:t>
            </a:r>
            <a:r>
              <a:rPr lang="en-GB" dirty="0"/>
              <a:t> consists of basic operation combined with concatenation and/or choice operations.</a:t>
            </a:r>
          </a:p>
          <a:p>
            <a:pPr marL="0" indent="0">
              <a:buNone/>
            </a:pPr>
            <a:endParaRPr lang="en-GB" dirty="0"/>
          </a:p>
          <a:p>
            <a:pPr marL="0" indent="0">
              <a:buNone/>
            </a:pPr>
            <a:r>
              <a:rPr lang="en-GB" dirty="0"/>
              <a:t>Once a Kleene operator appears, it is often preferable to consider </a:t>
            </a:r>
            <a:r>
              <a:rPr lang="en-GB" b="1" dirty="0">
                <a:solidFill>
                  <a:srgbClr val="7030A0"/>
                </a:solidFill>
              </a:rPr>
              <a:t>full string matching </a:t>
            </a:r>
            <a:r>
              <a:rPr lang="en-GB" dirty="0"/>
              <a:t>instead</a:t>
            </a:r>
            <a:r>
              <a:rPr lang="en-GB" b="1" dirty="0">
                <a:solidFill>
                  <a:srgbClr val="7030A0"/>
                </a:solidFill>
              </a:rPr>
              <a:t>.</a:t>
            </a:r>
            <a:endParaRPr lang="en-GB" dirty="0"/>
          </a:p>
          <a:p>
            <a:pPr marL="0" indent="0">
              <a:buNone/>
            </a:pPr>
            <a:r>
              <a:rPr lang="en-GB" dirty="0"/>
              <a:t>If </a:t>
            </a:r>
            <a:r>
              <a:rPr lang="en-GB" b="1" dirty="0">
                <a:solidFill>
                  <a:srgbClr val="7030A0"/>
                </a:solidFill>
              </a:rPr>
              <a:t>full string matching </a:t>
            </a:r>
            <a:r>
              <a:rPr lang="en-GB" dirty="0"/>
              <a:t>is considered, then the </a:t>
            </a:r>
            <a:r>
              <a:rPr lang="en-GB" dirty="0" err="1"/>
              <a:t>RegEx</a:t>
            </a:r>
            <a:r>
              <a:rPr lang="en-GB" dirty="0"/>
              <a:t> </a:t>
            </a:r>
            <a:r>
              <a:rPr lang="en-GB" b="1" dirty="0"/>
              <a:t>“a*” would only match an empty string or strings that are composed </a:t>
            </a:r>
            <a:r>
              <a:rPr lang="en-GB" b="1" u="sng" dirty="0"/>
              <a:t>exclusively</a:t>
            </a:r>
            <a:r>
              <a:rPr lang="en-GB" b="1" dirty="0"/>
              <a:t> of the letter 'a'</a:t>
            </a:r>
            <a:r>
              <a:rPr lang="en-GB" dirty="0"/>
              <a:t>, such as "a", "aa", "</a:t>
            </a:r>
            <a:r>
              <a:rPr lang="en-GB" dirty="0" err="1"/>
              <a:t>aaa</a:t>
            </a:r>
            <a:r>
              <a:rPr lang="en-GB" dirty="0"/>
              <a:t>", etc.</a:t>
            </a:r>
          </a:p>
          <a:p>
            <a:pPr marL="0" indent="0">
              <a:buNone/>
            </a:pPr>
            <a:r>
              <a:rPr lang="en-GB" dirty="0"/>
              <a:t>It would not match "</a:t>
            </a:r>
            <a:r>
              <a:rPr lang="en-GB" dirty="0" err="1"/>
              <a:t>aaaab</a:t>
            </a:r>
            <a:r>
              <a:rPr lang="en-GB" dirty="0"/>
              <a:t>" or "</a:t>
            </a:r>
            <a:r>
              <a:rPr lang="en-GB" dirty="0" err="1"/>
              <a:t>baaa</a:t>
            </a:r>
            <a:r>
              <a:rPr lang="en-GB" dirty="0"/>
              <a:t>" because these strings contain additional characters beyond just 'a'.</a:t>
            </a:r>
            <a:endParaRPr lang="en-SG" dirty="0"/>
          </a:p>
        </p:txBody>
      </p:sp>
    </p:spTree>
    <p:extLst>
      <p:ext uri="{BB962C8B-B14F-4D97-AF65-F5344CB8AC3E}">
        <p14:creationId xmlns:p14="http://schemas.microsoft.com/office/powerpoint/2010/main" val="1267674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DE3AA-386E-57B9-A1E5-E45F5902176C}"/>
              </a:ext>
            </a:extLst>
          </p:cNvPr>
          <p:cNvSpPr>
            <a:spLocks noGrp="1"/>
          </p:cNvSpPr>
          <p:nvPr>
            <p:ph type="title"/>
          </p:nvPr>
        </p:nvSpPr>
        <p:spPr/>
        <p:txBody>
          <a:bodyPr/>
          <a:lstStyle/>
          <a:p>
            <a:r>
              <a:rPr lang="en-GB" dirty="0"/>
              <a:t>Full string matching vs. substring matching</a:t>
            </a:r>
          </a:p>
        </p:txBody>
      </p:sp>
      <p:sp>
        <p:nvSpPr>
          <p:cNvPr id="5" name="Content Placeholder 4">
            <a:extLst>
              <a:ext uri="{FF2B5EF4-FFF2-40B4-BE49-F238E27FC236}">
                <a16:creationId xmlns:a16="http://schemas.microsoft.com/office/drawing/2014/main" id="{A122926D-6CD8-3442-0FDB-83EC474F0DD6}"/>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7030A0"/>
                </a:solidFill>
              </a:rPr>
              <a:t>Full String Matching</a:t>
            </a:r>
            <a:r>
              <a:rPr lang="en-GB" b="1" dirty="0"/>
              <a:t>):</a:t>
            </a:r>
          </a:p>
          <a:p>
            <a:pPr marL="0" indent="0">
              <a:buNone/>
            </a:pPr>
            <a:r>
              <a:rPr lang="en-GB" b="1" dirty="0">
                <a:solidFill>
                  <a:srgbClr val="7030A0"/>
                </a:solidFill>
              </a:rPr>
              <a:t>Full string matching</a:t>
            </a:r>
            <a:r>
              <a:rPr lang="en-GB" dirty="0"/>
              <a:t>, also known as exact matching, is when the </a:t>
            </a:r>
            <a:r>
              <a:rPr lang="en-GB" dirty="0" err="1"/>
              <a:t>RegEx</a:t>
            </a:r>
            <a:r>
              <a:rPr lang="en-GB" dirty="0"/>
              <a:t> is used to match an entire string from start to finish without any extra characters before or after the pattern.</a:t>
            </a:r>
          </a:p>
          <a:p>
            <a:pPr marL="0" indent="0">
              <a:buNone/>
            </a:pPr>
            <a:r>
              <a:rPr lang="en-GB" dirty="0"/>
              <a:t>This means that the entire string must conform exactly to the pattern described by the </a:t>
            </a:r>
            <a:r>
              <a:rPr lang="en-GB" dirty="0" err="1"/>
              <a:t>RegEx</a:t>
            </a:r>
            <a:r>
              <a:rPr lang="en-GB" dirty="0"/>
              <a:t> for a match to be considered part of its regular language.</a:t>
            </a:r>
          </a:p>
          <a:p>
            <a:pPr marL="0" indent="0">
              <a:buNone/>
            </a:pPr>
            <a:r>
              <a:rPr lang="en-GB" i="1" dirty="0"/>
              <a:t>If </a:t>
            </a:r>
            <a:r>
              <a:rPr lang="en-GB" b="1" i="1" dirty="0">
                <a:solidFill>
                  <a:srgbClr val="7030A0"/>
                </a:solidFill>
              </a:rPr>
              <a:t>full string matching </a:t>
            </a:r>
            <a:r>
              <a:rPr lang="en-GB" i="1" dirty="0"/>
              <a:t>is considered, then </a:t>
            </a:r>
            <a:r>
              <a:rPr lang="en-GB" b="1" i="1" dirty="0"/>
              <a:t>it would only match an empty string or strings that are composed exclusively of the letter 'a'</a:t>
            </a:r>
            <a:r>
              <a:rPr lang="en-GB" i="1" dirty="0"/>
              <a:t>, such as "a", "aa", "</a:t>
            </a:r>
            <a:r>
              <a:rPr lang="en-GB" i="1" dirty="0" err="1"/>
              <a:t>aaa</a:t>
            </a:r>
            <a:r>
              <a:rPr lang="en-GB" i="1" dirty="0"/>
              <a:t>", etc. It would not match "</a:t>
            </a:r>
            <a:r>
              <a:rPr lang="en-GB" i="1" dirty="0" err="1"/>
              <a:t>aaaab</a:t>
            </a:r>
            <a:r>
              <a:rPr lang="en-GB" i="1" dirty="0"/>
              <a:t>" or "</a:t>
            </a:r>
            <a:r>
              <a:rPr lang="en-GB" i="1" dirty="0" err="1"/>
              <a:t>baaa</a:t>
            </a:r>
            <a:r>
              <a:rPr lang="en-GB" i="1" dirty="0"/>
              <a:t>" because these strings contain additional characters beyond just 'a'.</a:t>
            </a:r>
            <a:endParaRPr lang="en-SG" i="1"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1712013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BDD47-56D5-877B-A82A-460B3909A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F20A1-2BC8-1463-305A-3DF7D170497E}"/>
              </a:ext>
            </a:extLst>
          </p:cNvPr>
          <p:cNvSpPr>
            <a:spLocks noGrp="1"/>
          </p:cNvSpPr>
          <p:nvPr>
            <p:ph type="title"/>
          </p:nvPr>
        </p:nvSpPr>
        <p:spPr/>
        <p:txBody>
          <a:bodyPr/>
          <a:lstStyle/>
          <a:p>
            <a:r>
              <a:rPr lang="en-GB" dirty="0"/>
              <a:t>Full string matching vs. substring matching</a:t>
            </a:r>
          </a:p>
        </p:txBody>
      </p:sp>
      <p:sp>
        <p:nvSpPr>
          <p:cNvPr id="5" name="Content Placeholder 4">
            <a:extLst>
              <a:ext uri="{FF2B5EF4-FFF2-40B4-BE49-F238E27FC236}">
                <a16:creationId xmlns:a16="http://schemas.microsoft.com/office/drawing/2014/main" id="{7D46C4A7-99AF-4B5F-D76F-06B8BF8E729D}"/>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7030A0"/>
                </a:solidFill>
              </a:rPr>
              <a:t>Partial String Matching</a:t>
            </a:r>
            <a:r>
              <a:rPr lang="en-GB" b="1" dirty="0"/>
              <a:t>):</a:t>
            </a:r>
          </a:p>
          <a:p>
            <a:pPr marL="0" indent="0">
              <a:buNone/>
            </a:pPr>
            <a:r>
              <a:rPr lang="en-GB" dirty="0"/>
              <a:t>Substring matching, on the other hand, involves checking if there are at least one occurrence of the pattern within a larger string.</a:t>
            </a:r>
          </a:p>
          <a:p>
            <a:pPr marL="0" indent="0">
              <a:buNone/>
            </a:pPr>
            <a:r>
              <a:rPr lang="en-GB" dirty="0"/>
              <a:t>The </a:t>
            </a:r>
            <a:r>
              <a:rPr lang="en-GB" dirty="0" err="1"/>
              <a:t>RegEx</a:t>
            </a:r>
            <a:r>
              <a:rPr lang="en-GB" dirty="0"/>
              <a:t> engine searches through the string and matches any part of it that conforms to the regex pattern, regardless of what characters may be present before or after the match. </a:t>
            </a:r>
          </a:p>
          <a:p>
            <a:pPr marL="0" indent="0">
              <a:buNone/>
            </a:pPr>
            <a:r>
              <a:rPr lang="en-GB" i="1" dirty="0"/>
              <a:t>If </a:t>
            </a:r>
            <a:r>
              <a:rPr lang="en-GB" b="1" i="1" dirty="0">
                <a:solidFill>
                  <a:srgbClr val="7030A0"/>
                </a:solidFill>
              </a:rPr>
              <a:t>partial matching (or substring matching) </a:t>
            </a:r>
            <a:r>
              <a:rPr lang="en-GB" i="1" dirty="0"/>
              <a:t>is considered, then </a:t>
            </a:r>
            <a:r>
              <a:rPr lang="en-GB" b="1" i="1" dirty="0"/>
              <a:t>“a*” would match any other characters than the sequence of “a” characters</a:t>
            </a:r>
            <a:r>
              <a:rPr lang="en-GB" i="1" dirty="0"/>
              <a:t>. This means that “</a:t>
            </a:r>
            <a:r>
              <a:rPr lang="en-GB" i="1" dirty="0" err="1"/>
              <a:t>aaaab</a:t>
            </a:r>
            <a:r>
              <a:rPr lang="en-GB" i="1" dirty="0"/>
              <a:t>” or “</a:t>
            </a:r>
            <a:r>
              <a:rPr lang="en-GB" i="1" dirty="0" err="1"/>
              <a:t>caa</a:t>
            </a:r>
            <a:r>
              <a:rPr lang="en-GB" i="1" dirty="0"/>
              <a:t>” would be accepted as regular language for “a*”.</a:t>
            </a:r>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2770414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9D87-2E17-E33F-2F51-F31106C700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394240-FD85-A16D-EE8D-37AF9B80BEB4}"/>
              </a:ext>
            </a:extLst>
          </p:cNvPr>
          <p:cNvSpPr>
            <a:spLocks noGrp="1"/>
          </p:cNvSpPr>
          <p:nvPr>
            <p:ph type="title"/>
          </p:nvPr>
        </p:nvSpPr>
        <p:spPr/>
        <p:txBody>
          <a:bodyPr/>
          <a:lstStyle/>
          <a:p>
            <a:r>
              <a:rPr lang="en-GB" dirty="0"/>
              <a:t>Closure or Kleene operator</a:t>
            </a:r>
            <a:endParaRPr lang="en-SG" dirty="0"/>
          </a:p>
        </p:txBody>
      </p:sp>
      <p:sp>
        <p:nvSpPr>
          <p:cNvPr id="5" name="Content Placeholder 4">
            <a:extLst>
              <a:ext uri="{FF2B5EF4-FFF2-40B4-BE49-F238E27FC236}">
                <a16:creationId xmlns:a16="http://schemas.microsoft.com/office/drawing/2014/main" id="{8CABD75E-8BBA-CBED-7160-9A4F18480E9E}"/>
              </a:ext>
            </a:extLst>
          </p:cNvPr>
          <p:cNvSpPr>
            <a:spLocks noGrp="1"/>
          </p:cNvSpPr>
          <p:nvPr>
            <p:ph idx="1"/>
          </p:nvPr>
        </p:nvSpPr>
        <p:spPr>
          <a:xfrm>
            <a:off x="838200" y="1825624"/>
            <a:ext cx="10515600" cy="4830815"/>
          </a:xfrm>
        </p:spPr>
        <p:txBody>
          <a:bodyPr>
            <a:normAutofit/>
          </a:bodyPr>
          <a:lstStyle/>
          <a:p>
            <a:pPr marL="0" indent="0">
              <a:buNone/>
            </a:pPr>
            <a:r>
              <a:rPr lang="en-GB" b="1" dirty="0"/>
              <a:t>Theorem (</a:t>
            </a:r>
            <a:r>
              <a:rPr lang="en-GB" b="1" dirty="0">
                <a:solidFill>
                  <a:srgbClr val="00B050"/>
                </a:solidFill>
              </a:rPr>
              <a:t>Closure</a:t>
            </a:r>
            <a:r>
              <a:rPr lang="en-GB" b="1" dirty="0"/>
              <a:t> or </a:t>
            </a:r>
            <a:r>
              <a:rPr lang="en-GB" b="1" dirty="0">
                <a:solidFill>
                  <a:srgbClr val="00B050"/>
                </a:solidFill>
              </a:rPr>
              <a:t>Kleene</a:t>
            </a:r>
            <a:r>
              <a:rPr lang="en-GB" b="1" dirty="0"/>
              <a:t> operator in </a:t>
            </a:r>
            <a:r>
              <a:rPr lang="en-GB" b="1" dirty="0" err="1"/>
              <a:t>RegEx</a:t>
            </a:r>
            <a:r>
              <a:rPr lang="en-GB" b="1" dirty="0"/>
              <a:t>):</a:t>
            </a:r>
          </a:p>
          <a:p>
            <a:pPr marL="0" indent="0">
              <a:buNone/>
            </a:pPr>
            <a:r>
              <a:rPr lang="en-GB" dirty="0"/>
              <a:t>Assume that we have a </a:t>
            </a:r>
            <a:r>
              <a:rPr lang="en-GB" dirty="0" err="1"/>
              <a:t>RegEx</a:t>
            </a:r>
            <a:r>
              <a:rPr lang="en-GB" dirty="0"/>
              <a:t> “a” and its respective FSM.</a:t>
            </a:r>
          </a:p>
          <a:p>
            <a:pPr marL="0" indent="0">
              <a:buNone/>
            </a:pPr>
            <a:r>
              <a:rPr lang="en-GB" dirty="0"/>
              <a:t>The </a:t>
            </a:r>
            <a:r>
              <a:rPr lang="en-GB" b="1" dirty="0">
                <a:solidFill>
                  <a:srgbClr val="00B050"/>
                </a:solidFill>
              </a:rPr>
              <a:t>Closure</a:t>
            </a:r>
            <a:r>
              <a:rPr lang="en-GB" b="1" dirty="0"/>
              <a:t> (or </a:t>
            </a:r>
            <a:r>
              <a:rPr lang="en-GB" b="1" dirty="0">
                <a:solidFill>
                  <a:srgbClr val="00B050"/>
                </a:solidFill>
              </a:rPr>
              <a:t>Kleene</a:t>
            </a:r>
            <a:r>
              <a:rPr lang="en-GB" b="1" dirty="0"/>
              <a:t>) operator *</a:t>
            </a:r>
            <a:r>
              <a:rPr lang="en-GB" dirty="0"/>
              <a:t> is used to define the </a:t>
            </a:r>
            <a:r>
              <a:rPr lang="en-GB" dirty="0" err="1"/>
              <a:t>RegEx</a:t>
            </a:r>
            <a:r>
              <a:rPr lang="en-GB" dirty="0"/>
              <a:t> </a:t>
            </a:r>
            <a:r>
              <a:rPr lang="en-GB" b="1" dirty="0"/>
              <a:t>“a*”</a:t>
            </a:r>
            <a:r>
              <a:rPr lang="en-GB" dirty="0"/>
              <a:t>.</a:t>
            </a:r>
          </a:p>
          <a:p>
            <a:pPr marL="0" indent="0">
              <a:buNone/>
            </a:pPr>
            <a:r>
              <a:rPr lang="en-GB" dirty="0"/>
              <a:t>Its regular language consists of </a:t>
            </a:r>
            <a:r>
              <a:rPr lang="en-GB" b="1" dirty="0"/>
              <a:t>all the strings containing zero or more repetitions of the character a</a:t>
            </a:r>
            <a:r>
              <a:rPr lang="en-GB" dirty="0"/>
              <a:t>, for instance “”, “a”, “aa”, “</a:t>
            </a:r>
            <a:r>
              <a:rPr lang="en-GB" dirty="0" err="1"/>
              <a:t>aaa</a:t>
            </a:r>
            <a:r>
              <a:rPr lang="en-GB" dirty="0"/>
              <a:t>”, “</a:t>
            </a:r>
            <a:r>
              <a:rPr lang="en-GB" dirty="0" err="1"/>
              <a:t>aaaaaaaaaaaaaaaaaaaaaaa</a:t>
            </a:r>
            <a:r>
              <a:rPr lang="en-GB" dirty="0"/>
              <a:t>”, etc.</a:t>
            </a:r>
          </a:p>
          <a:p>
            <a:pPr marL="0" indent="0">
              <a:buNone/>
            </a:pPr>
            <a:endParaRPr lang="en-GB" dirty="0"/>
          </a:p>
          <a:p>
            <a:pPr marL="0" indent="0">
              <a:buNone/>
            </a:pPr>
            <a:r>
              <a:rPr lang="en-GB" b="1" dirty="0"/>
              <a:t>Crazy Question: </a:t>
            </a:r>
            <a:r>
              <a:rPr lang="en-GB" dirty="0"/>
              <a:t>Does that mean that “c” would match “a*”, as it contains zero repetitions of the character “a”?!</a:t>
            </a:r>
          </a:p>
          <a:p>
            <a:pPr marL="0" indent="0">
              <a:buNone/>
            </a:pPr>
            <a:r>
              <a:rPr lang="en-GB" b="1" dirty="0">
                <a:solidFill>
                  <a:srgbClr val="7030A0"/>
                </a:solidFill>
                <a:sym typeface="Wingdings" panose="05000000000000000000" pitchFamily="2" charset="2"/>
              </a:rPr>
              <a:t> </a:t>
            </a:r>
            <a:r>
              <a:rPr lang="en-GB" b="1" dirty="0">
                <a:solidFill>
                  <a:srgbClr val="7030A0"/>
                </a:solidFill>
              </a:rPr>
              <a:t>So how to control if full string matching or partial matching then?</a:t>
            </a:r>
          </a:p>
        </p:txBody>
      </p:sp>
    </p:spTree>
    <p:extLst>
      <p:ext uri="{BB962C8B-B14F-4D97-AF65-F5344CB8AC3E}">
        <p14:creationId xmlns:p14="http://schemas.microsoft.com/office/powerpoint/2010/main" val="1350055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36BA78-3E66-D438-EE18-4C54DA8B7D24}"/>
              </a:ext>
            </a:extLst>
          </p:cNvPr>
          <p:cNvSpPr>
            <a:spLocks noGrp="1"/>
          </p:cNvSpPr>
          <p:nvPr>
            <p:ph type="title"/>
          </p:nvPr>
        </p:nvSpPr>
        <p:spPr/>
        <p:txBody>
          <a:bodyPr/>
          <a:lstStyle/>
          <a:p>
            <a:r>
              <a:rPr lang="en-GB" dirty="0"/>
              <a:t>Beginning (^) and End ($) of a string</a:t>
            </a:r>
            <a:endParaRPr lang="en-SG" dirty="0"/>
          </a:p>
        </p:txBody>
      </p:sp>
      <p:sp>
        <p:nvSpPr>
          <p:cNvPr id="6" name="Content Placeholder 5">
            <a:extLst>
              <a:ext uri="{FF2B5EF4-FFF2-40B4-BE49-F238E27FC236}">
                <a16:creationId xmlns:a16="http://schemas.microsoft.com/office/drawing/2014/main" id="{6627F813-C2A9-2611-8EE8-FB82F5C1DB65}"/>
              </a:ext>
            </a:extLst>
          </p:cNvPr>
          <p:cNvSpPr>
            <a:spLocks noGrp="1"/>
          </p:cNvSpPr>
          <p:nvPr>
            <p:ph sz="half" idx="1"/>
          </p:nvPr>
        </p:nvSpPr>
        <p:spPr>
          <a:xfrm>
            <a:off x="838200" y="1825624"/>
            <a:ext cx="5181600" cy="5032375"/>
          </a:xfrm>
        </p:spPr>
        <p:txBody>
          <a:bodyPr>
            <a:normAutofit/>
          </a:bodyPr>
          <a:lstStyle/>
          <a:p>
            <a:pPr marL="0" indent="0">
              <a:buNone/>
            </a:pPr>
            <a:r>
              <a:rPr lang="en-GB" dirty="0"/>
              <a:t>In </a:t>
            </a:r>
            <a:r>
              <a:rPr lang="en-GB" dirty="0" err="1"/>
              <a:t>RegEx</a:t>
            </a:r>
            <a:r>
              <a:rPr lang="en-GB" dirty="0"/>
              <a:t>, the caret (^) and dollar sign ($) are both metacharacters that represent the </a:t>
            </a:r>
            <a:r>
              <a:rPr lang="en-GB" b="1" dirty="0"/>
              <a:t>beginning</a:t>
            </a:r>
            <a:r>
              <a:rPr lang="en-GB" dirty="0"/>
              <a:t> and </a:t>
            </a:r>
            <a:r>
              <a:rPr lang="en-GB" b="1" dirty="0"/>
              <a:t>end</a:t>
            </a:r>
            <a:r>
              <a:rPr lang="en-GB" dirty="0"/>
              <a:t> of a string, respectively.</a:t>
            </a:r>
          </a:p>
          <a:p>
            <a:pPr>
              <a:buFont typeface="Arial" panose="020B0604020202020204" pitchFamily="34" charset="0"/>
              <a:buChar char="•"/>
            </a:pPr>
            <a:r>
              <a:rPr lang="en-GB" b="1" dirty="0">
                <a:solidFill>
                  <a:srgbClr val="00B050"/>
                </a:solidFill>
              </a:rPr>
              <a:t>^</a:t>
            </a:r>
            <a:r>
              <a:rPr lang="en-GB" dirty="0"/>
              <a:t>: The caret (^) denotes the beginning of a string.</a:t>
            </a:r>
          </a:p>
          <a:p>
            <a:pPr>
              <a:buFont typeface="Arial" panose="020B0604020202020204" pitchFamily="34" charset="0"/>
              <a:buChar char="•"/>
            </a:pPr>
            <a:r>
              <a:rPr lang="en-GB" b="1" dirty="0">
                <a:solidFill>
                  <a:srgbClr val="00B050"/>
                </a:solidFill>
              </a:rPr>
              <a:t>$</a:t>
            </a:r>
            <a:r>
              <a:rPr lang="en-GB" dirty="0"/>
              <a:t>: The dollar sign ($) denotes the end of a string.</a:t>
            </a:r>
          </a:p>
          <a:p>
            <a:pPr marL="0" indent="0">
              <a:buNone/>
            </a:pPr>
            <a:r>
              <a:rPr lang="en-GB" dirty="0"/>
              <a:t>E.g., the regex ^a (resp. a$) matches any string that starts (resp. ends) with "a".</a:t>
            </a:r>
          </a:p>
          <a:p>
            <a:pPr marL="0" indent="0">
              <a:buNone/>
            </a:pPr>
            <a:endParaRPr lang="en-SG" dirty="0"/>
          </a:p>
        </p:txBody>
      </p:sp>
      <p:sp>
        <p:nvSpPr>
          <p:cNvPr id="7" name="Content Placeholder 6">
            <a:extLst>
              <a:ext uri="{FF2B5EF4-FFF2-40B4-BE49-F238E27FC236}">
                <a16:creationId xmlns:a16="http://schemas.microsoft.com/office/drawing/2014/main" id="{6228BB57-03A3-2203-FC40-F7F21655518B}"/>
              </a:ext>
            </a:extLst>
          </p:cNvPr>
          <p:cNvSpPr>
            <a:spLocks noGrp="1"/>
          </p:cNvSpPr>
          <p:nvPr>
            <p:ph sz="half" idx="2"/>
          </p:nvPr>
        </p:nvSpPr>
        <p:spPr>
          <a:xfrm>
            <a:off x="6172200" y="1825625"/>
            <a:ext cx="5181600" cy="5032374"/>
          </a:xfrm>
        </p:spPr>
        <p:txBody>
          <a:bodyPr>
            <a:normAutofit/>
          </a:bodyPr>
          <a:lstStyle/>
          <a:p>
            <a:pPr marL="0" indent="0">
              <a:buNone/>
            </a:pPr>
            <a:r>
              <a:rPr lang="en-SG" dirty="0"/>
              <a:t>For instance,</a:t>
            </a:r>
          </a:p>
          <a:p>
            <a:pPr>
              <a:buFont typeface="Arial" panose="020B0604020202020204" pitchFamily="34" charset="0"/>
              <a:buChar char="•"/>
            </a:pPr>
            <a:r>
              <a:rPr lang="en-GB" dirty="0"/>
              <a:t>The regex ^</a:t>
            </a:r>
            <a:r>
              <a:rPr lang="en-GB" dirty="0" err="1"/>
              <a:t>abc</a:t>
            </a:r>
            <a:r>
              <a:rPr lang="en-GB" dirty="0"/>
              <a:t>$ accepts only the string "</a:t>
            </a:r>
            <a:r>
              <a:rPr lang="en-GB" dirty="0" err="1"/>
              <a:t>abc</a:t>
            </a:r>
            <a:r>
              <a:rPr lang="en-GB" dirty="0"/>
              <a:t>", but not "</a:t>
            </a:r>
            <a:r>
              <a:rPr lang="en-GB" dirty="0" err="1"/>
              <a:t>aabc</a:t>
            </a:r>
            <a:r>
              <a:rPr lang="en-GB" dirty="0"/>
              <a:t>", "</a:t>
            </a:r>
            <a:r>
              <a:rPr lang="en-GB" dirty="0" err="1"/>
              <a:t>abcc</a:t>
            </a:r>
            <a:r>
              <a:rPr lang="en-GB" dirty="0"/>
              <a:t>", or “</a:t>
            </a:r>
            <a:r>
              <a:rPr lang="en-GB" dirty="0" err="1"/>
              <a:t>abcabc</a:t>
            </a:r>
            <a:r>
              <a:rPr lang="en-GB" dirty="0"/>
              <a:t>".</a:t>
            </a:r>
          </a:p>
          <a:p>
            <a:pPr>
              <a:buFont typeface="Arial" panose="020B0604020202020204" pitchFamily="34" charset="0"/>
              <a:buChar char="•"/>
            </a:pPr>
            <a:r>
              <a:rPr lang="en-GB" dirty="0"/>
              <a:t>The regex ^</a:t>
            </a:r>
            <a:r>
              <a:rPr lang="en-GB" dirty="0" err="1"/>
              <a:t>abc</a:t>
            </a:r>
            <a:r>
              <a:rPr lang="en-GB" dirty="0"/>
              <a:t> checks for "</a:t>
            </a:r>
            <a:r>
              <a:rPr lang="en-GB" dirty="0" err="1"/>
              <a:t>abc</a:t>
            </a:r>
            <a:r>
              <a:rPr lang="en-GB" dirty="0"/>
              <a:t>" at the beginning of a string.</a:t>
            </a:r>
            <a:br>
              <a:rPr lang="en-GB" dirty="0"/>
            </a:br>
            <a:r>
              <a:rPr lang="en-GB" dirty="0"/>
              <a:t>It accepts "</a:t>
            </a:r>
            <a:r>
              <a:rPr lang="en-GB" dirty="0" err="1"/>
              <a:t>abcd</a:t>
            </a:r>
            <a:r>
              <a:rPr lang="en-GB" dirty="0"/>
              <a:t>" but will not accept "</a:t>
            </a:r>
            <a:r>
              <a:rPr lang="en-GB" dirty="0" err="1"/>
              <a:t>aabc</a:t>
            </a:r>
            <a:r>
              <a:rPr lang="en-GB" dirty="0"/>
              <a:t>".</a:t>
            </a:r>
          </a:p>
          <a:p>
            <a:pPr>
              <a:buFont typeface="Arial" panose="020B0604020202020204" pitchFamily="34" charset="0"/>
              <a:buChar char="•"/>
            </a:pPr>
            <a:r>
              <a:rPr lang="en-GB" dirty="0"/>
              <a:t>The regex </a:t>
            </a:r>
            <a:r>
              <a:rPr lang="en-GB" dirty="0" err="1"/>
              <a:t>abc</a:t>
            </a:r>
            <a:r>
              <a:rPr lang="en-GB" dirty="0"/>
              <a:t>$ matches "</a:t>
            </a:r>
            <a:r>
              <a:rPr lang="en-GB" dirty="0" err="1"/>
              <a:t>abc</a:t>
            </a:r>
            <a:r>
              <a:rPr lang="en-GB" dirty="0"/>
              <a:t>" at the end of a string. Same idea as above.</a:t>
            </a:r>
          </a:p>
        </p:txBody>
      </p:sp>
    </p:spTree>
    <p:extLst>
      <p:ext uri="{BB962C8B-B14F-4D97-AF65-F5344CB8AC3E}">
        <p14:creationId xmlns:p14="http://schemas.microsoft.com/office/powerpoint/2010/main" val="3130766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FE6D-DBC7-B7F0-8114-4EB2F7D29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ACA36-F35B-3FE8-6B8A-DBFEF29701A8}"/>
              </a:ext>
            </a:extLst>
          </p:cNvPr>
          <p:cNvSpPr>
            <a:spLocks noGrp="1"/>
          </p:cNvSpPr>
          <p:nvPr>
            <p:ph type="title"/>
          </p:nvPr>
        </p:nvSpPr>
        <p:spPr/>
        <p:txBody>
          <a:bodyPr/>
          <a:lstStyle/>
          <a:p>
            <a:r>
              <a:rPr lang="en-GB" dirty="0"/>
              <a:t>Full string matching vs. substring matching</a:t>
            </a:r>
          </a:p>
        </p:txBody>
      </p:sp>
      <p:sp>
        <p:nvSpPr>
          <p:cNvPr id="5" name="Content Placeholder 4">
            <a:extLst>
              <a:ext uri="{FF2B5EF4-FFF2-40B4-BE49-F238E27FC236}">
                <a16:creationId xmlns:a16="http://schemas.microsoft.com/office/drawing/2014/main" id="{E6A200B5-9C77-EEF0-29BA-30B546FFB1E9}"/>
              </a:ext>
            </a:extLst>
          </p:cNvPr>
          <p:cNvSpPr>
            <a:spLocks noGrp="1"/>
          </p:cNvSpPr>
          <p:nvPr>
            <p:ph idx="1"/>
          </p:nvPr>
        </p:nvSpPr>
        <p:spPr>
          <a:xfrm>
            <a:off x="838200" y="1825624"/>
            <a:ext cx="10515600" cy="5032375"/>
          </a:xfrm>
        </p:spPr>
        <p:txBody>
          <a:bodyPr>
            <a:normAutofit/>
          </a:bodyPr>
          <a:lstStyle/>
          <a:p>
            <a:pPr marL="0" indent="0">
              <a:buNone/>
            </a:pPr>
            <a:r>
              <a:rPr lang="en-GB" dirty="0"/>
              <a:t>In the context of regex, </a:t>
            </a:r>
            <a:r>
              <a:rPr lang="en-GB" b="1" dirty="0">
                <a:solidFill>
                  <a:srgbClr val="7030A0"/>
                </a:solidFill>
              </a:rPr>
              <a:t>full string matching </a:t>
            </a:r>
            <a:r>
              <a:rPr lang="en-GB" b="1" dirty="0"/>
              <a:t>is often implemented by anchoring the regex pattern to the beginning and end of the string using the </a:t>
            </a:r>
            <a:r>
              <a:rPr lang="en-GB" b="1" dirty="0">
                <a:solidFill>
                  <a:srgbClr val="00B050"/>
                </a:solidFill>
              </a:rPr>
              <a:t>caret</a:t>
            </a:r>
            <a:r>
              <a:rPr lang="en-GB" b="1" dirty="0"/>
              <a:t> (</a:t>
            </a:r>
            <a:r>
              <a:rPr lang="en-GB" b="1" dirty="0">
                <a:solidFill>
                  <a:srgbClr val="00B050"/>
                </a:solidFill>
              </a:rPr>
              <a:t>^</a:t>
            </a:r>
            <a:r>
              <a:rPr lang="en-GB" b="1" dirty="0"/>
              <a:t>) and </a:t>
            </a:r>
            <a:r>
              <a:rPr lang="en-GB" b="1" dirty="0">
                <a:solidFill>
                  <a:srgbClr val="00B050"/>
                </a:solidFill>
              </a:rPr>
              <a:t>dollar sign </a:t>
            </a:r>
            <a:r>
              <a:rPr lang="en-GB" b="1" dirty="0"/>
              <a:t>(</a:t>
            </a:r>
            <a:r>
              <a:rPr lang="en-GB" b="1" dirty="0">
                <a:solidFill>
                  <a:srgbClr val="00B050"/>
                </a:solidFill>
              </a:rPr>
              <a:t>$</a:t>
            </a:r>
            <a:r>
              <a:rPr lang="en-GB" b="1" dirty="0"/>
              <a:t>) respectively</a:t>
            </a:r>
            <a:r>
              <a:rPr lang="en-GB" dirty="0"/>
              <a:t>.</a:t>
            </a:r>
          </a:p>
          <a:p>
            <a:pPr marL="0" indent="0">
              <a:buNone/>
            </a:pPr>
            <a:r>
              <a:rPr lang="en-GB" dirty="0"/>
              <a:t>For example, the regex pattern</a:t>
            </a:r>
            <a:r>
              <a:rPr lang="en-GB" b="1" dirty="0"/>
              <a:t> ^a*$ </a:t>
            </a:r>
            <a:r>
              <a:rPr lang="en-GB" dirty="0"/>
              <a:t>would match an empty string or any string that is composed exclusively of the letter 'a', such as "a", "aa", "</a:t>
            </a:r>
            <a:r>
              <a:rPr lang="en-GB" dirty="0" err="1"/>
              <a:t>aaa</a:t>
            </a:r>
            <a:r>
              <a:rPr lang="en-GB" dirty="0"/>
              <a:t>", etc., but it would not match "</a:t>
            </a:r>
            <a:r>
              <a:rPr lang="en-GB" dirty="0" err="1"/>
              <a:t>aaaab</a:t>
            </a:r>
            <a:r>
              <a:rPr lang="en-GB" dirty="0"/>
              <a:t>" or "</a:t>
            </a:r>
            <a:r>
              <a:rPr lang="en-GB" dirty="0" err="1"/>
              <a:t>baaa</a:t>
            </a:r>
            <a:r>
              <a:rPr lang="en-GB" dirty="0"/>
              <a:t>“.</a:t>
            </a:r>
          </a:p>
          <a:p>
            <a:pPr marL="0" indent="0">
              <a:buNone/>
            </a:pPr>
            <a:br>
              <a:rPr lang="en-GB" dirty="0"/>
            </a:br>
            <a:r>
              <a:rPr lang="en-GB" dirty="0"/>
              <a:t>On the other hand, the regex pattern</a:t>
            </a:r>
            <a:r>
              <a:rPr lang="en-GB" b="1" dirty="0"/>
              <a:t> a* </a:t>
            </a:r>
            <a:r>
              <a:rPr lang="en-GB" dirty="0"/>
              <a:t>without anchors would implement </a:t>
            </a:r>
            <a:r>
              <a:rPr lang="en-GB" b="1" dirty="0">
                <a:solidFill>
                  <a:srgbClr val="7030A0"/>
                </a:solidFill>
              </a:rPr>
              <a:t>partial matching</a:t>
            </a:r>
            <a:r>
              <a:rPr lang="en-GB" dirty="0"/>
              <a:t>. It would find matches within any string that contains the letter 'a'. In "</a:t>
            </a:r>
            <a:r>
              <a:rPr lang="en-GB" dirty="0" err="1"/>
              <a:t>aaaab</a:t>
            </a:r>
            <a:r>
              <a:rPr lang="en-GB" dirty="0"/>
              <a:t>", it would match "</a:t>
            </a:r>
            <a:r>
              <a:rPr lang="en-GB" dirty="0" err="1"/>
              <a:t>aaaa</a:t>
            </a:r>
            <a:r>
              <a:rPr lang="en-GB" dirty="0"/>
              <a:t>", and in "</a:t>
            </a:r>
            <a:r>
              <a:rPr lang="en-GB" dirty="0" err="1"/>
              <a:t>caa</a:t>
            </a:r>
            <a:r>
              <a:rPr lang="en-GB" dirty="0"/>
              <a:t>", it would match "aa". </a:t>
            </a:r>
          </a:p>
        </p:txBody>
      </p:sp>
    </p:spTree>
    <p:extLst>
      <p:ext uri="{BB962C8B-B14F-4D97-AF65-F5344CB8AC3E}">
        <p14:creationId xmlns:p14="http://schemas.microsoft.com/office/powerpoint/2010/main" val="756526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4D1E8-024C-9208-58F6-EB31082DCE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7FCA3E-4D01-E501-7A81-BC830E671174}"/>
              </a:ext>
            </a:extLst>
          </p:cNvPr>
          <p:cNvSpPr>
            <a:spLocks noGrp="1"/>
          </p:cNvSpPr>
          <p:nvPr>
            <p:ph type="title"/>
          </p:nvPr>
        </p:nvSpPr>
        <p:spPr/>
        <p:txBody>
          <a:bodyPr/>
          <a:lstStyle/>
          <a:p>
            <a:r>
              <a:rPr lang="en-GB" dirty="0"/>
              <a:t>Closure or Kleene operator</a:t>
            </a:r>
            <a:endParaRPr lang="en-SG" dirty="0"/>
          </a:p>
        </p:txBody>
      </p:sp>
      <p:sp>
        <p:nvSpPr>
          <p:cNvPr id="5" name="Content Placeholder 4">
            <a:extLst>
              <a:ext uri="{FF2B5EF4-FFF2-40B4-BE49-F238E27FC236}">
                <a16:creationId xmlns:a16="http://schemas.microsoft.com/office/drawing/2014/main" id="{E064F122-4A66-23B0-DC70-0288309E482F}"/>
              </a:ext>
            </a:extLst>
          </p:cNvPr>
          <p:cNvSpPr>
            <a:spLocks noGrp="1"/>
          </p:cNvSpPr>
          <p:nvPr>
            <p:ph idx="1"/>
          </p:nvPr>
        </p:nvSpPr>
        <p:spPr>
          <a:xfrm>
            <a:off x="838200" y="1825624"/>
            <a:ext cx="10515600" cy="4830815"/>
          </a:xfrm>
        </p:spPr>
        <p:txBody>
          <a:bodyPr>
            <a:normAutofit/>
          </a:bodyPr>
          <a:lstStyle/>
          <a:p>
            <a:pPr marL="0" indent="0">
              <a:buNone/>
            </a:pPr>
            <a:r>
              <a:rPr lang="en-GB" b="1" dirty="0"/>
              <a:t>Theorem (</a:t>
            </a:r>
            <a:r>
              <a:rPr lang="en-GB" b="1" dirty="0">
                <a:solidFill>
                  <a:srgbClr val="00B050"/>
                </a:solidFill>
              </a:rPr>
              <a:t>Closure</a:t>
            </a:r>
            <a:r>
              <a:rPr lang="en-GB" b="1" dirty="0"/>
              <a:t> or </a:t>
            </a:r>
            <a:r>
              <a:rPr lang="en-GB" b="1" dirty="0">
                <a:solidFill>
                  <a:srgbClr val="00B050"/>
                </a:solidFill>
              </a:rPr>
              <a:t>Kleene</a:t>
            </a:r>
            <a:r>
              <a:rPr lang="en-GB" b="1" dirty="0"/>
              <a:t> operator in </a:t>
            </a:r>
            <a:r>
              <a:rPr lang="en-GB" b="1" dirty="0" err="1"/>
              <a:t>RegEx</a:t>
            </a:r>
            <a:r>
              <a:rPr lang="en-GB" b="1" dirty="0"/>
              <a:t>):</a:t>
            </a:r>
          </a:p>
          <a:p>
            <a:pPr marL="0" indent="0">
              <a:buNone/>
            </a:pPr>
            <a:r>
              <a:rPr lang="en-GB" dirty="0"/>
              <a:t>Assume that we have a </a:t>
            </a:r>
            <a:r>
              <a:rPr lang="en-GB" dirty="0" err="1"/>
              <a:t>RegEx</a:t>
            </a:r>
            <a:r>
              <a:rPr lang="en-GB" dirty="0"/>
              <a:t> “a” and its respective FSM.</a:t>
            </a:r>
          </a:p>
          <a:p>
            <a:pPr marL="0" indent="0">
              <a:buNone/>
            </a:pPr>
            <a:r>
              <a:rPr lang="en-GB" dirty="0"/>
              <a:t>The </a:t>
            </a:r>
            <a:r>
              <a:rPr lang="en-GB" b="1" dirty="0">
                <a:solidFill>
                  <a:srgbClr val="00B050"/>
                </a:solidFill>
              </a:rPr>
              <a:t>Closure</a:t>
            </a:r>
            <a:r>
              <a:rPr lang="en-GB" b="1" dirty="0"/>
              <a:t> (or </a:t>
            </a:r>
            <a:r>
              <a:rPr lang="en-GB" b="1" dirty="0">
                <a:solidFill>
                  <a:srgbClr val="00B050"/>
                </a:solidFill>
              </a:rPr>
              <a:t>Kleene</a:t>
            </a:r>
            <a:r>
              <a:rPr lang="en-GB" b="1" dirty="0"/>
              <a:t>) operator *</a:t>
            </a:r>
            <a:r>
              <a:rPr lang="en-GB" dirty="0"/>
              <a:t> is used to define the </a:t>
            </a:r>
            <a:r>
              <a:rPr lang="en-GB" dirty="0" err="1"/>
              <a:t>RegEx</a:t>
            </a:r>
            <a:r>
              <a:rPr lang="en-GB" dirty="0"/>
              <a:t> </a:t>
            </a:r>
            <a:r>
              <a:rPr lang="en-GB" b="1" dirty="0"/>
              <a:t>“a*”</a:t>
            </a:r>
            <a:r>
              <a:rPr lang="en-GB" dirty="0"/>
              <a:t>.</a:t>
            </a:r>
          </a:p>
          <a:p>
            <a:pPr marL="0" indent="0">
              <a:buNone/>
            </a:pPr>
            <a:r>
              <a:rPr lang="en-GB" dirty="0"/>
              <a:t>Its regular language consists of </a:t>
            </a:r>
            <a:r>
              <a:rPr lang="en-GB" b="1" dirty="0"/>
              <a:t>all the strings containing zero or more repetitions of the character a</a:t>
            </a:r>
            <a:r>
              <a:rPr lang="en-GB" dirty="0"/>
              <a:t>, for instance “”, “a”, “aa”, “</a:t>
            </a:r>
            <a:r>
              <a:rPr lang="en-GB" dirty="0" err="1"/>
              <a:t>aaa</a:t>
            </a:r>
            <a:r>
              <a:rPr lang="en-GB" dirty="0"/>
              <a:t>”, “</a:t>
            </a:r>
            <a:r>
              <a:rPr lang="en-GB" dirty="0" err="1"/>
              <a:t>aaaaaaaaaaaaaaaaaaaaaaa</a:t>
            </a:r>
            <a:r>
              <a:rPr lang="en-GB" dirty="0"/>
              <a:t>”, etc.</a:t>
            </a:r>
          </a:p>
          <a:p>
            <a:pPr marL="0" indent="0">
              <a:buNone/>
            </a:pPr>
            <a:r>
              <a:rPr lang="en-GB" dirty="0"/>
              <a:t>Using the Regex </a:t>
            </a:r>
            <a:r>
              <a:rPr lang="en-GB" b="1" dirty="0"/>
              <a:t>“a*” </a:t>
            </a:r>
            <a:r>
              <a:rPr lang="en-GB" dirty="0"/>
              <a:t>suggests that we use </a:t>
            </a:r>
            <a:r>
              <a:rPr lang="en-GB" b="1" dirty="0">
                <a:solidFill>
                  <a:srgbClr val="7030A0"/>
                </a:solidFill>
              </a:rPr>
              <a:t>partial matching</a:t>
            </a:r>
            <a:r>
              <a:rPr lang="en-GB" dirty="0"/>
              <a:t>.</a:t>
            </a:r>
          </a:p>
          <a:p>
            <a:pPr marL="0" indent="0">
              <a:buNone/>
            </a:pPr>
            <a:r>
              <a:rPr lang="en-GB" dirty="0"/>
              <a:t>On the other hand, using </a:t>
            </a:r>
            <a:r>
              <a:rPr lang="en-GB" b="1" dirty="0"/>
              <a:t>“^a*$” </a:t>
            </a:r>
            <a:r>
              <a:rPr lang="en-GB" dirty="0"/>
              <a:t>suggests a </a:t>
            </a:r>
            <a:r>
              <a:rPr lang="en-GB" b="1" dirty="0">
                <a:solidFill>
                  <a:srgbClr val="7030A0"/>
                </a:solidFill>
              </a:rPr>
              <a:t>full string matching</a:t>
            </a:r>
            <a:r>
              <a:rPr lang="en-GB" dirty="0"/>
              <a:t>.</a:t>
            </a:r>
          </a:p>
        </p:txBody>
      </p:sp>
    </p:spTree>
    <p:extLst>
      <p:ext uri="{BB962C8B-B14F-4D97-AF65-F5344CB8AC3E}">
        <p14:creationId xmlns:p14="http://schemas.microsoft.com/office/powerpoint/2010/main" val="24001121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F7F0B-6172-D555-CFAA-289082199F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292221-60FB-8D45-624B-4B2AECFD06C4}"/>
              </a:ext>
            </a:extLst>
          </p:cNvPr>
          <p:cNvSpPr>
            <a:spLocks noGrp="1"/>
          </p:cNvSpPr>
          <p:nvPr>
            <p:ph type="title"/>
          </p:nvPr>
        </p:nvSpPr>
        <p:spPr/>
        <p:txBody>
          <a:bodyPr/>
          <a:lstStyle/>
          <a:p>
            <a:r>
              <a:rPr lang="en-GB" dirty="0"/>
              <a:t>Closure or Kleene operator</a:t>
            </a:r>
            <a:endParaRPr lang="en-SG" dirty="0"/>
          </a:p>
        </p:txBody>
      </p:sp>
      <p:sp>
        <p:nvSpPr>
          <p:cNvPr id="5" name="Content Placeholder 4">
            <a:extLst>
              <a:ext uri="{FF2B5EF4-FFF2-40B4-BE49-F238E27FC236}">
                <a16:creationId xmlns:a16="http://schemas.microsoft.com/office/drawing/2014/main" id="{7AB7EF7E-3DF8-19A9-FBFB-42EB5EBB3DCF}"/>
              </a:ext>
            </a:extLst>
          </p:cNvPr>
          <p:cNvSpPr>
            <a:spLocks noGrp="1"/>
          </p:cNvSpPr>
          <p:nvPr>
            <p:ph sz="half" idx="1"/>
          </p:nvPr>
        </p:nvSpPr>
        <p:spPr>
          <a:xfrm>
            <a:off x="838200" y="1825624"/>
            <a:ext cx="5334000" cy="5032375"/>
          </a:xfrm>
        </p:spPr>
        <p:txBody>
          <a:bodyPr>
            <a:normAutofit/>
          </a:bodyPr>
          <a:lstStyle/>
          <a:p>
            <a:pPr marL="0" indent="0">
              <a:buFont typeface="Arial" panose="020B0604020202020204" pitchFamily="34" charset="0"/>
              <a:buNone/>
            </a:pPr>
            <a:r>
              <a:rPr lang="en-GB" dirty="0"/>
              <a:t>The FSM for “^a*$”, in the case of full string matching, is again, based on the one for “a” and is shown.</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In that case, the use of epsilon is necessary to match the empty string as a possible regular language for “a*”.</a:t>
            </a:r>
            <a:endParaRPr lang="en-SG" dirty="0"/>
          </a:p>
        </p:txBody>
      </p:sp>
      <p:sp>
        <p:nvSpPr>
          <p:cNvPr id="2" name="Content Placeholder 4">
            <a:extLst>
              <a:ext uri="{FF2B5EF4-FFF2-40B4-BE49-F238E27FC236}">
                <a16:creationId xmlns:a16="http://schemas.microsoft.com/office/drawing/2014/main" id="{D238A553-6328-3D0E-A7ED-D95A265A969B}"/>
              </a:ext>
            </a:extLst>
          </p:cNvPr>
          <p:cNvSpPr txBox="1">
            <a:spLocks/>
          </p:cNvSpPr>
          <p:nvPr/>
        </p:nvSpPr>
        <p:spPr>
          <a:xfrm>
            <a:off x="6858000" y="1690688"/>
            <a:ext cx="5334000" cy="5032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SG" dirty="0"/>
          </a:p>
        </p:txBody>
      </p:sp>
      <p:sp>
        <p:nvSpPr>
          <p:cNvPr id="3" name="Oval 2">
            <a:extLst>
              <a:ext uri="{FF2B5EF4-FFF2-40B4-BE49-F238E27FC236}">
                <a16:creationId xmlns:a16="http://schemas.microsoft.com/office/drawing/2014/main" id="{9886E59C-B250-0B89-0891-F6A95A73DDBA}"/>
              </a:ext>
            </a:extLst>
          </p:cNvPr>
          <p:cNvSpPr/>
          <p:nvPr/>
        </p:nvSpPr>
        <p:spPr>
          <a:xfrm>
            <a:off x="7945851" y="39486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s0</a:t>
            </a:r>
            <a:endParaRPr lang="en-SG" sz="1600" b="1" dirty="0">
              <a:solidFill>
                <a:schemeClr val="bg1"/>
              </a:solidFill>
            </a:endParaRPr>
          </a:p>
        </p:txBody>
      </p:sp>
      <p:cxnSp>
        <p:nvCxnSpPr>
          <p:cNvPr id="6" name="Straight Arrow Connector 5">
            <a:extLst>
              <a:ext uri="{FF2B5EF4-FFF2-40B4-BE49-F238E27FC236}">
                <a16:creationId xmlns:a16="http://schemas.microsoft.com/office/drawing/2014/main" id="{894D70C1-4993-04AA-E93A-57E25BE8304A}"/>
              </a:ext>
            </a:extLst>
          </p:cNvPr>
          <p:cNvCxnSpPr>
            <a:cxnSpLocks/>
            <a:stCxn id="3" idx="6"/>
            <a:endCxn id="9" idx="2"/>
          </p:cNvCxnSpPr>
          <p:nvPr/>
        </p:nvCxnSpPr>
        <p:spPr>
          <a:xfrm>
            <a:off x="9025851" y="4488679"/>
            <a:ext cx="1322312"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C21F7E8-BCA0-E9B0-5BB7-E02B6051310A}"/>
                  </a:ext>
                </a:extLst>
              </p:cNvPr>
              <p:cNvSpPr txBox="1"/>
              <p:nvPr/>
            </p:nvSpPr>
            <p:spPr>
              <a:xfrm>
                <a:off x="6224389" y="4339721"/>
                <a:ext cx="975619" cy="369332"/>
              </a:xfrm>
              <a:prstGeom prst="rect">
                <a:avLst/>
              </a:prstGeom>
              <a:noFill/>
            </p:spPr>
            <p:txBody>
              <a:bodyPr wrap="square" rtlCol="0">
                <a:spAutoFit/>
              </a:bodyPr>
              <a:lstStyle/>
              <a:p>
                <a14:m>
                  <m:oMath xmlns:m="http://schemas.openxmlformats.org/officeDocument/2006/math">
                    <m:r>
                      <a:rPr lang="en-GB" b="1" i="1" dirty="0" smtClean="0">
                        <a:latin typeface="Cambria Math" panose="02040503050406030204" pitchFamily="18" charset="0"/>
                      </a:rPr>
                      <m:t>𝝐</m:t>
                    </m:r>
                    <m:r>
                      <a:rPr lang="en-GB" b="1" i="1" dirty="0" smtClean="0">
                        <a:latin typeface="Cambria Math" panose="02040503050406030204" pitchFamily="18" charset="0"/>
                      </a:rPr>
                      <m:t> </m:t>
                    </m:r>
                  </m:oMath>
                </a14:m>
                <a:r>
                  <a:rPr lang="en-GB" b="1" dirty="0"/>
                  <a:t>or a</a:t>
                </a:r>
                <a:endParaRPr lang="en-SG" b="1" dirty="0"/>
              </a:p>
            </p:txBody>
          </p:sp>
        </mc:Choice>
        <mc:Fallback xmlns="">
          <p:sp>
            <p:nvSpPr>
              <p:cNvPr id="7" name="TextBox 6">
                <a:extLst>
                  <a:ext uri="{FF2B5EF4-FFF2-40B4-BE49-F238E27FC236}">
                    <a16:creationId xmlns:a16="http://schemas.microsoft.com/office/drawing/2014/main" id="{239975D4-74A4-5788-F24C-CD533D372C1C}"/>
                  </a:ext>
                </a:extLst>
              </p:cNvPr>
              <p:cNvSpPr txBox="1">
                <a:spLocks noRot="1" noChangeAspect="1" noMove="1" noResize="1" noEditPoints="1" noAdjustHandles="1" noChangeArrowheads="1" noChangeShapeType="1" noTextEdit="1"/>
              </p:cNvSpPr>
              <p:nvPr/>
            </p:nvSpPr>
            <p:spPr>
              <a:xfrm>
                <a:off x="6224389" y="4339721"/>
                <a:ext cx="975619" cy="369332"/>
              </a:xfrm>
              <a:prstGeom prst="rect">
                <a:avLst/>
              </a:prstGeom>
              <a:blipFill>
                <a:blip r:embed="rId2"/>
                <a:stretch>
                  <a:fillRect t="-10000" b="-26667"/>
                </a:stretch>
              </a:blipFill>
            </p:spPr>
            <p:txBody>
              <a:bodyPr/>
              <a:lstStyle/>
              <a:p>
                <a:r>
                  <a:rPr lang="en-GB">
                    <a:noFill/>
                  </a:rPr>
                  <a:t> </a:t>
                </a:r>
              </a:p>
            </p:txBody>
          </p:sp>
        </mc:Fallback>
      </mc:AlternateContent>
      <p:sp>
        <p:nvSpPr>
          <p:cNvPr id="8" name="Freeform: Shape 7">
            <a:extLst>
              <a:ext uri="{FF2B5EF4-FFF2-40B4-BE49-F238E27FC236}">
                <a16:creationId xmlns:a16="http://schemas.microsoft.com/office/drawing/2014/main" id="{43DFE49E-01B9-3327-9610-9CD2BC911B92}"/>
              </a:ext>
            </a:extLst>
          </p:cNvPr>
          <p:cNvSpPr/>
          <p:nvPr/>
        </p:nvSpPr>
        <p:spPr>
          <a:xfrm>
            <a:off x="7115140" y="3598791"/>
            <a:ext cx="901415" cy="1866588"/>
          </a:xfrm>
          <a:custGeom>
            <a:avLst/>
            <a:gdLst>
              <a:gd name="connsiteX0" fmla="*/ 895355 w 926617"/>
              <a:gd name="connsiteY0" fmla="*/ 318774 h 1866588"/>
              <a:gd name="connsiteX1" fmla="*/ 488955 w 926617"/>
              <a:gd name="connsiteY1" fmla="*/ 6158 h 1866588"/>
              <a:gd name="connsiteX2" fmla="*/ 43478 w 926617"/>
              <a:gd name="connsiteY2" fmla="*/ 568866 h 1866588"/>
              <a:gd name="connsiteX3" fmla="*/ 90371 w 926617"/>
              <a:gd name="connsiteY3" fmla="*/ 1389481 h 1866588"/>
              <a:gd name="connsiteX4" fmla="*/ 692155 w 926617"/>
              <a:gd name="connsiteY4" fmla="*/ 1866220 h 1866588"/>
              <a:gd name="connsiteX5" fmla="*/ 926617 w 926617"/>
              <a:gd name="connsiteY5" fmla="*/ 1452004 h 186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617" h="1866588">
                <a:moveTo>
                  <a:pt x="895355" y="318774"/>
                </a:moveTo>
                <a:cubicBezTo>
                  <a:pt x="763144" y="141625"/>
                  <a:pt x="630934" y="-35524"/>
                  <a:pt x="488955" y="6158"/>
                </a:cubicBezTo>
                <a:cubicBezTo>
                  <a:pt x="346975" y="47840"/>
                  <a:pt x="109909" y="338312"/>
                  <a:pt x="43478" y="568866"/>
                </a:cubicBezTo>
                <a:cubicBezTo>
                  <a:pt x="-22953" y="799420"/>
                  <a:pt x="-17742" y="1173255"/>
                  <a:pt x="90371" y="1389481"/>
                </a:cubicBezTo>
                <a:cubicBezTo>
                  <a:pt x="198484" y="1605707"/>
                  <a:pt x="552781" y="1855799"/>
                  <a:pt x="692155" y="1866220"/>
                </a:cubicBezTo>
                <a:cubicBezTo>
                  <a:pt x="831529" y="1876641"/>
                  <a:pt x="879073" y="1664322"/>
                  <a:pt x="926617" y="1452004"/>
                </a:cubicBezTo>
              </a:path>
            </a:pathLst>
          </a:custGeom>
          <a:noFill/>
          <a:ln w="38100">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FE4A10A9-7DE7-67BD-2061-9539F1784D27}"/>
              </a:ext>
            </a:extLst>
          </p:cNvPr>
          <p:cNvSpPr/>
          <p:nvPr/>
        </p:nvSpPr>
        <p:spPr>
          <a:xfrm>
            <a:off x="10348163" y="3948679"/>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a:solidFill>
                  <a:schemeClr val="bg1"/>
                </a:solidFill>
              </a:rPr>
              <a:t>1</a:t>
            </a:r>
            <a:endParaRPr lang="en-SG" sz="1600" b="1" dirty="0">
              <a:solidFill>
                <a:schemeClr val="bg1"/>
              </a:solidFill>
            </a:endParaRPr>
          </a:p>
        </p:txBody>
      </p:sp>
      <p:sp>
        <p:nvSpPr>
          <p:cNvPr id="17" name="TextBox 16">
            <a:extLst>
              <a:ext uri="{FF2B5EF4-FFF2-40B4-BE49-F238E27FC236}">
                <a16:creationId xmlns:a16="http://schemas.microsoft.com/office/drawing/2014/main" id="{85C53AAA-BFDD-AB36-9FD1-1B7415BBF427}"/>
              </a:ext>
            </a:extLst>
          </p:cNvPr>
          <p:cNvSpPr txBox="1"/>
          <p:nvPr/>
        </p:nvSpPr>
        <p:spPr>
          <a:xfrm>
            <a:off x="9465263" y="3726552"/>
            <a:ext cx="1080000" cy="646331"/>
          </a:xfrm>
          <a:prstGeom prst="rect">
            <a:avLst/>
          </a:prstGeom>
          <a:noFill/>
        </p:spPr>
        <p:txBody>
          <a:bodyPr wrap="square" rtlCol="0">
            <a:spAutoFit/>
          </a:bodyPr>
          <a:lstStyle/>
          <a:p>
            <a:r>
              <a:rPr lang="en-GB" b="1" dirty="0"/>
              <a:t>Anything</a:t>
            </a:r>
            <a:br>
              <a:rPr lang="en-GB" b="1" dirty="0"/>
            </a:br>
            <a:r>
              <a:rPr lang="en-GB" b="1" dirty="0"/>
              <a:t>but a</a:t>
            </a:r>
            <a:endParaRPr lang="en-SG" b="1" dirty="0"/>
          </a:p>
        </p:txBody>
      </p:sp>
      <p:sp>
        <p:nvSpPr>
          <p:cNvPr id="10" name="Oval 9">
            <a:extLst>
              <a:ext uri="{FF2B5EF4-FFF2-40B4-BE49-F238E27FC236}">
                <a16:creationId xmlns:a16="http://schemas.microsoft.com/office/drawing/2014/main" id="{C2D80692-5FEE-5057-484E-A0AA7129D474}"/>
              </a:ext>
            </a:extLst>
          </p:cNvPr>
          <p:cNvSpPr/>
          <p:nvPr/>
        </p:nvSpPr>
        <p:spPr>
          <a:xfrm>
            <a:off x="7998040" y="3993679"/>
            <a:ext cx="990000" cy="990000"/>
          </a:xfrm>
          <a:prstGeom prst="ellipse">
            <a:avLst/>
          </a:prstGeom>
          <a:ln w="28575">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solidFill>
                  <a:schemeClr val="bg1"/>
                </a:solidFill>
              </a:rPr>
              <a:t>0</a:t>
            </a:r>
            <a:endParaRPr lang="en-SG" sz="1600" b="1" dirty="0">
              <a:solidFill>
                <a:schemeClr val="bg1"/>
              </a:solidFill>
            </a:endParaRPr>
          </a:p>
        </p:txBody>
      </p:sp>
      <p:cxnSp>
        <p:nvCxnSpPr>
          <p:cNvPr id="18" name="Straight Arrow Connector 17">
            <a:extLst>
              <a:ext uri="{FF2B5EF4-FFF2-40B4-BE49-F238E27FC236}">
                <a16:creationId xmlns:a16="http://schemas.microsoft.com/office/drawing/2014/main" id="{28984AC0-5BBF-175E-9EFC-A3FC5BDC9DA4}"/>
              </a:ext>
            </a:extLst>
          </p:cNvPr>
          <p:cNvCxnSpPr>
            <a:cxnSpLocks/>
            <a:endCxn id="10" idx="0"/>
          </p:cNvCxnSpPr>
          <p:nvPr/>
        </p:nvCxnSpPr>
        <p:spPr>
          <a:xfrm flipH="1">
            <a:off x="8493040" y="2622291"/>
            <a:ext cx="8861" cy="137138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66213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C14325-60C2-05EC-B1A1-4AF98D8BBF01}"/>
              </a:ext>
            </a:extLst>
          </p:cNvPr>
          <p:cNvSpPr>
            <a:spLocks noGrp="1"/>
          </p:cNvSpPr>
          <p:nvPr>
            <p:ph type="title"/>
          </p:nvPr>
        </p:nvSpPr>
        <p:spPr/>
        <p:txBody>
          <a:bodyPr/>
          <a:lstStyle/>
          <a:p>
            <a:r>
              <a:rPr lang="en-GB" dirty="0"/>
              <a:t>Variations of the Kleene operator</a:t>
            </a:r>
            <a:endParaRPr lang="en-SG" dirty="0"/>
          </a:p>
        </p:txBody>
      </p:sp>
      <p:sp>
        <p:nvSpPr>
          <p:cNvPr id="5" name="Content Placeholder 4">
            <a:extLst>
              <a:ext uri="{FF2B5EF4-FFF2-40B4-BE49-F238E27FC236}">
                <a16:creationId xmlns:a16="http://schemas.microsoft.com/office/drawing/2014/main" id="{4F0C9377-31A4-50F3-144A-62B9B92A0435}"/>
              </a:ext>
            </a:extLst>
          </p:cNvPr>
          <p:cNvSpPr>
            <a:spLocks noGrp="1"/>
          </p:cNvSpPr>
          <p:nvPr>
            <p:ph idx="1"/>
          </p:nvPr>
        </p:nvSpPr>
        <p:spPr>
          <a:xfrm>
            <a:off x="838200" y="1825624"/>
            <a:ext cx="10515600" cy="5032375"/>
          </a:xfrm>
        </p:spPr>
        <p:txBody>
          <a:bodyPr>
            <a:normAutofit/>
          </a:bodyPr>
          <a:lstStyle/>
          <a:p>
            <a:pPr marL="0" indent="0">
              <a:buNone/>
            </a:pPr>
            <a:r>
              <a:rPr lang="en-GB" b="1" dirty="0"/>
              <a:t>Theorem (</a:t>
            </a:r>
            <a:r>
              <a:rPr lang="en-GB" b="1" dirty="0">
                <a:solidFill>
                  <a:srgbClr val="00B050"/>
                </a:solidFill>
              </a:rPr>
              <a:t>Plus</a:t>
            </a:r>
            <a:r>
              <a:rPr lang="en-GB" b="1" dirty="0"/>
              <a:t> or </a:t>
            </a:r>
            <a:r>
              <a:rPr lang="en-GB" b="1" dirty="0">
                <a:solidFill>
                  <a:srgbClr val="00B050"/>
                </a:solidFill>
              </a:rPr>
              <a:t>Kleene Plus</a:t>
            </a:r>
            <a:r>
              <a:rPr lang="en-GB" b="1" dirty="0"/>
              <a:t> operator in </a:t>
            </a:r>
            <a:r>
              <a:rPr lang="en-GB" b="1" dirty="0" err="1"/>
              <a:t>RegEx</a:t>
            </a:r>
            <a:r>
              <a:rPr lang="en-GB" b="1" dirty="0"/>
              <a:t>):</a:t>
            </a:r>
          </a:p>
          <a:p>
            <a:pPr marL="0" indent="0">
              <a:buNone/>
            </a:pPr>
            <a:r>
              <a:rPr lang="en-GB" dirty="0"/>
              <a:t>Assume that we have a </a:t>
            </a:r>
            <a:r>
              <a:rPr lang="en-GB" dirty="0" err="1"/>
              <a:t>RegEx</a:t>
            </a:r>
            <a:r>
              <a:rPr lang="en-GB" dirty="0"/>
              <a:t> “a” and its respective FSM.</a:t>
            </a:r>
          </a:p>
          <a:p>
            <a:pPr marL="0" indent="0">
              <a:buNone/>
            </a:pPr>
            <a:r>
              <a:rPr lang="en-GB" dirty="0"/>
              <a:t>The </a:t>
            </a:r>
            <a:r>
              <a:rPr lang="en-GB" b="1" dirty="0">
                <a:solidFill>
                  <a:srgbClr val="00B050"/>
                </a:solidFill>
              </a:rPr>
              <a:t>Plus</a:t>
            </a:r>
            <a:r>
              <a:rPr lang="en-GB" b="1" dirty="0"/>
              <a:t> (or </a:t>
            </a:r>
            <a:r>
              <a:rPr lang="en-GB" b="1" dirty="0">
                <a:solidFill>
                  <a:srgbClr val="00B050"/>
                </a:solidFill>
              </a:rPr>
              <a:t>Kleene Plus</a:t>
            </a:r>
            <a:r>
              <a:rPr lang="en-GB" b="1" dirty="0"/>
              <a:t>) operator +</a:t>
            </a:r>
            <a:r>
              <a:rPr lang="en-GB" dirty="0"/>
              <a:t> is used to define the </a:t>
            </a:r>
            <a:r>
              <a:rPr lang="en-GB" dirty="0" err="1"/>
              <a:t>RegEx</a:t>
            </a:r>
            <a:r>
              <a:rPr lang="en-GB" dirty="0"/>
              <a:t> </a:t>
            </a:r>
            <a:r>
              <a:rPr lang="en-GB" b="1" dirty="0"/>
              <a:t>“a+”</a:t>
            </a:r>
            <a:r>
              <a:rPr lang="en-GB" dirty="0"/>
              <a:t>.</a:t>
            </a:r>
          </a:p>
          <a:p>
            <a:pPr marL="0" indent="0">
              <a:buNone/>
            </a:pPr>
            <a:endParaRPr lang="en-GB" dirty="0"/>
          </a:p>
          <a:p>
            <a:pPr marL="0" indent="0">
              <a:buNone/>
            </a:pPr>
            <a:r>
              <a:rPr lang="en-GB" dirty="0"/>
              <a:t>Its regular language, in </a:t>
            </a:r>
            <a:r>
              <a:rPr lang="en-GB" b="1" dirty="0">
                <a:solidFill>
                  <a:srgbClr val="7030A0"/>
                </a:solidFill>
              </a:rPr>
              <a:t>full string matching</a:t>
            </a:r>
            <a:r>
              <a:rPr lang="en-GB" dirty="0"/>
              <a:t>, consists of </a:t>
            </a:r>
            <a:r>
              <a:rPr lang="en-GB" b="1" dirty="0"/>
              <a:t>all the strings containing of one or more repetitions of the character a</a:t>
            </a:r>
            <a:r>
              <a:rPr lang="en-GB" dirty="0"/>
              <a:t>, i.e. “a”, “aa”, “</a:t>
            </a:r>
            <a:r>
              <a:rPr lang="en-GB" dirty="0" err="1"/>
              <a:t>aaa</a:t>
            </a:r>
            <a:r>
              <a:rPr lang="en-GB" dirty="0"/>
              <a:t>”, “</a:t>
            </a:r>
            <a:r>
              <a:rPr lang="en-GB" dirty="0" err="1"/>
              <a:t>aaaaa</a:t>
            </a:r>
            <a:r>
              <a:rPr lang="en-GB" dirty="0"/>
              <a:t>”, etc.</a:t>
            </a:r>
          </a:p>
          <a:p>
            <a:pPr marL="0" indent="0">
              <a:buNone/>
            </a:pPr>
            <a:endParaRPr lang="en-GB" dirty="0"/>
          </a:p>
          <a:p>
            <a:pPr marL="0" indent="0">
              <a:buNone/>
            </a:pPr>
            <a:r>
              <a:rPr lang="en-GB" dirty="0"/>
              <a:t>The </a:t>
            </a:r>
            <a:r>
              <a:rPr lang="en-GB" dirty="0" err="1"/>
              <a:t>RegEx</a:t>
            </a:r>
            <a:r>
              <a:rPr lang="en-GB" dirty="0"/>
              <a:t> </a:t>
            </a:r>
            <a:r>
              <a:rPr lang="en-GB" b="1" dirty="0"/>
              <a:t>“a+” </a:t>
            </a:r>
            <a:r>
              <a:rPr lang="en-GB" dirty="0"/>
              <a:t>is a shorter notation equivalent to </a:t>
            </a:r>
            <a:r>
              <a:rPr lang="en-GB" b="1" dirty="0"/>
              <a:t>“aa*”</a:t>
            </a:r>
            <a:r>
              <a:rPr lang="en-GB" dirty="0"/>
              <a:t>.</a:t>
            </a:r>
          </a:p>
        </p:txBody>
      </p:sp>
    </p:spTree>
    <p:extLst>
      <p:ext uri="{BB962C8B-B14F-4D97-AF65-F5344CB8AC3E}">
        <p14:creationId xmlns:p14="http://schemas.microsoft.com/office/powerpoint/2010/main" val="3521859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C14325-60C2-05EC-B1A1-4AF98D8BBF01}"/>
              </a:ext>
            </a:extLst>
          </p:cNvPr>
          <p:cNvSpPr>
            <a:spLocks noGrp="1"/>
          </p:cNvSpPr>
          <p:nvPr>
            <p:ph type="title"/>
          </p:nvPr>
        </p:nvSpPr>
        <p:spPr/>
        <p:txBody>
          <a:bodyPr/>
          <a:lstStyle/>
          <a:p>
            <a:r>
              <a:rPr lang="en-GB" dirty="0"/>
              <a:t>Variations of the Kleene operator</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0C9377-31A4-50F3-144A-62B9B92A0435}"/>
                  </a:ext>
                </a:extLst>
              </p:cNvPr>
              <p:cNvSpPr>
                <a:spLocks noGrp="1"/>
              </p:cNvSpPr>
              <p:nvPr>
                <p:ph idx="1"/>
              </p:nvPr>
            </p:nvSpPr>
            <p:spPr>
              <a:xfrm>
                <a:off x="838200" y="1825624"/>
                <a:ext cx="10515600" cy="5032375"/>
              </a:xfrm>
            </p:spPr>
            <p:txBody>
              <a:bodyPr>
                <a:normAutofit/>
              </a:bodyPr>
              <a:lstStyle/>
              <a:p>
                <a:pPr marL="0" indent="0">
                  <a:buNone/>
                </a:pPr>
                <a:r>
                  <a:rPr lang="en-GB" b="1" dirty="0"/>
                  <a:t>Theorem (</a:t>
                </a:r>
                <a:r>
                  <a:rPr lang="en-GB" b="1" dirty="0">
                    <a:solidFill>
                      <a:srgbClr val="00B050"/>
                    </a:solidFill>
                  </a:rPr>
                  <a:t>Question Mark</a:t>
                </a:r>
                <a:r>
                  <a:rPr lang="en-GB" b="1" dirty="0"/>
                  <a:t> or </a:t>
                </a:r>
                <a:r>
                  <a:rPr lang="en-GB" b="1" dirty="0">
                    <a:solidFill>
                      <a:srgbClr val="00B050"/>
                    </a:solidFill>
                  </a:rPr>
                  <a:t>Optional </a:t>
                </a:r>
                <a:r>
                  <a:rPr lang="en-GB" b="1" dirty="0"/>
                  <a:t>operator in </a:t>
                </a:r>
                <a:r>
                  <a:rPr lang="en-GB" b="1" dirty="0" err="1"/>
                  <a:t>RegEx</a:t>
                </a:r>
                <a:r>
                  <a:rPr lang="en-GB" b="1" dirty="0"/>
                  <a:t>):</a:t>
                </a:r>
              </a:p>
              <a:p>
                <a:pPr marL="0" indent="0">
                  <a:buNone/>
                </a:pPr>
                <a:r>
                  <a:rPr lang="en-GB" dirty="0"/>
                  <a:t>Assume that we have a </a:t>
                </a:r>
                <a:r>
                  <a:rPr lang="en-GB" dirty="0" err="1"/>
                  <a:t>RegEx</a:t>
                </a:r>
                <a:r>
                  <a:rPr lang="en-GB" dirty="0"/>
                  <a:t> “a” and its respective FSM.</a:t>
                </a:r>
              </a:p>
              <a:p>
                <a:pPr marL="0" indent="0">
                  <a:buNone/>
                </a:pPr>
                <a:r>
                  <a:rPr lang="en-GB" dirty="0"/>
                  <a:t>The </a:t>
                </a:r>
                <a:r>
                  <a:rPr lang="en-GB" b="1" dirty="0">
                    <a:solidFill>
                      <a:srgbClr val="00B050"/>
                    </a:solidFill>
                  </a:rPr>
                  <a:t>Question Mark</a:t>
                </a:r>
                <a:r>
                  <a:rPr lang="en-GB" b="1" dirty="0"/>
                  <a:t> (or </a:t>
                </a:r>
                <a:r>
                  <a:rPr lang="en-GB" b="1" dirty="0">
                    <a:solidFill>
                      <a:srgbClr val="00B050"/>
                    </a:solidFill>
                  </a:rPr>
                  <a:t>Optional </a:t>
                </a:r>
                <a:r>
                  <a:rPr lang="en-GB" b="1" dirty="0"/>
                  <a:t>operator) ?</a:t>
                </a:r>
                <a:r>
                  <a:rPr lang="en-GB" dirty="0"/>
                  <a:t> is used to define the </a:t>
                </a:r>
                <a:r>
                  <a:rPr lang="en-GB" dirty="0" err="1"/>
                  <a:t>RegEx</a:t>
                </a:r>
                <a:r>
                  <a:rPr lang="en-GB" dirty="0"/>
                  <a:t> </a:t>
                </a:r>
                <a:r>
                  <a:rPr lang="en-GB" b="1" dirty="0"/>
                  <a:t>“a?”</a:t>
                </a:r>
                <a:r>
                  <a:rPr lang="en-GB" dirty="0"/>
                  <a:t>.</a:t>
                </a:r>
              </a:p>
              <a:p>
                <a:pPr marL="0" indent="0">
                  <a:buNone/>
                </a:pPr>
                <a:r>
                  <a:rPr lang="en-GB" dirty="0"/>
                  <a:t>Its regular language, in </a:t>
                </a:r>
                <a:r>
                  <a:rPr lang="en-GB" b="1" dirty="0">
                    <a:solidFill>
                      <a:srgbClr val="7030A0"/>
                    </a:solidFill>
                  </a:rPr>
                  <a:t>full string matching</a:t>
                </a:r>
                <a:r>
                  <a:rPr lang="en-GB" dirty="0"/>
                  <a:t>, consists of </a:t>
                </a:r>
                <a:r>
                  <a:rPr lang="en-GB" b="1" dirty="0"/>
                  <a:t>all the strings consisting of exactly zero or one repetitions of the character a</a:t>
                </a:r>
                <a:r>
                  <a:rPr lang="en-GB" dirty="0"/>
                  <a:t>, i.e. “” and “a” only.</a:t>
                </a:r>
              </a:p>
              <a:p>
                <a:pPr marL="0" indent="0">
                  <a:buNone/>
                </a:pPr>
                <a:endParaRPr lang="en-SG" dirty="0"/>
              </a:p>
              <a:p>
                <a:pPr marL="0" indent="0">
                  <a:buNone/>
                </a:pPr>
                <a:r>
                  <a:rPr lang="en-GB" dirty="0"/>
                  <a:t>The </a:t>
                </a:r>
                <a:r>
                  <a:rPr lang="en-GB" dirty="0" err="1"/>
                  <a:t>RegEx</a:t>
                </a:r>
                <a:r>
                  <a:rPr lang="en-GB" dirty="0"/>
                  <a:t> </a:t>
                </a:r>
                <a:r>
                  <a:rPr lang="en-GB" b="1" dirty="0"/>
                  <a:t>“a?” </a:t>
                </a:r>
                <a:r>
                  <a:rPr lang="en-GB" dirty="0"/>
                  <a:t>is a shorter notation equivalent to </a:t>
                </a:r>
                <a:r>
                  <a:rPr lang="en-GB" b="1" dirty="0"/>
                  <a:t>“a|</a:t>
                </a:r>
                <a14:m>
                  <m:oMath xmlns:m="http://schemas.openxmlformats.org/officeDocument/2006/math">
                    <m:r>
                      <a:rPr lang="en-GB" b="1" i="1" smtClean="0">
                        <a:solidFill>
                          <a:schemeClr val="accent2"/>
                        </a:solidFill>
                        <a:latin typeface="Cambria Math" panose="02040503050406030204" pitchFamily="18" charset="0"/>
                      </a:rPr>
                      <m:t>𝝐</m:t>
                    </m:r>
                  </m:oMath>
                </a14:m>
                <a:r>
                  <a:rPr lang="en-GB" b="1" dirty="0"/>
                  <a:t>”</a:t>
                </a:r>
                <a:r>
                  <a:rPr lang="en-GB" dirty="0"/>
                  <a:t>, where </a:t>
                </a:r>
                <a14:m>
                  <m:oMath xmlns:m="http://schemas.openxmlformats.org/officeDocument/2006/math">
                    <m:r>
                      <a:rPr lang="en-GB" b="1" i="1" smtClean="0">
                        <a:solidFill>
                          <a:schemeClr val="accent2"/>
                        </a:solidFill>
                        <a:latin typeface="Cambria Math" panose="02040503050406030204" pitchFamily="18" charset="0"/>
                      </a:rPr>
                      <m:t>𝝐</m:t>
                    </m:r>
                  </m:oMath>
                </a14:m>
                <a:r>
                  <a:rPr lang="en-GB" b="1" dirty="0">
                    <a:solidFill>
                      <a:schemeClr val="accent2"/>
                    </a:solidFill>
                  </a:rPr>
                  <a:t> denotes the empty string</a:t>
                </a:r>
                <a:r>
                  <a:rPr lang="en-GB" dirty="0"/>
                  <a:t>.</a:t>
                </a:r>
              </a:p>
              <a:p>
                <a:pPr marL="0" indent="0">
                  <a:buNone/>
                </a:pPr>
                <a:endParaRPr lang="en-SG" dirty="0"/>
              </a:p>
            </p:txBody>
          </p:sp>
        </mc:Choice>
        <mc:Fallback xmlns="">
          <p:sp>
            <p:nvSpPr>
              <p:cNvPr id="5" name="Content Placeholder 4">
                <a:extLst>
                  <a:ext uri="{FF2B5EF4-FFF2-40B4-BE49-F238E27FC236}">
                    <a16:creationId xmlns:a16="http://schemas.microsoft.com/office/drawing/2014/main" id="{4F0C9377-31A4-50F3-144A-62B9B92A043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844132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5D66C-8D16-43A8-75E9-89C93BE4152E}"/>
              </a:ext>
            </a:extLst>
          </p:cNvPr>
          <p:cNvSpPr>
            <a:spLocks noGrp="1"/>
          </p:cNvSpPr>
          <p:nvPr>
            <p:ph type="title"/>
          </p:nvPr>
        </p:nvSpPr>
        <p:spPr/>
        <p:txBody>
          <a:bodyPr/>
          <a:lstStyle/>
          <a:p>
            <a:r>
              <a:rPr lang="en-GB" dirty="0"/>
              <a:t>The Kleene Theorem</a:t>
            </a:r>
            <a:endParaRPr lang="en-SG" dirty="0"/>
          </a:p>
        </p:txBody>
      </p:sp>
      <p:sp>
        <p:nvSpPr>
          <p:cNvPr id="3" name="Content Placeholder 2">
            <a:extLst>
              <a:ext uri="{FF2B5EF4-FFF2-40B4-BE49-F238E27FC236}">
                <a16:creationId xmlns:a16="http://schemas.microsoft.com/office/drawing/2014/main" id="{8B3BC14C-0996-B83A-6D33-F6236C44E383}"/>
              </a:ext>
            </a:extLst>
          </p:cNvPr>
          <p:cNvSpPr>
            <a:spLocks noGrp="1"/>
          </p:cNvSpPr>
          <p:nvPr>
            <p:ph sz="half" idx="1"/>
          </p:nvPr>
        </p:nvSpPr>
        <p:spPr>
          <a:xfrm>
            <a:off x="838200" y="1825624"/>
            <a:ext cx="5181600" cy="5032375"/>
          </a:xfrm>
        </p:spPr>
        <p:txBody>
          <a:bodyPr>
            <a:normAutofit/>
          </a:bodyPr>
          <a:lstStyle/>
          <a:p>
            <a:pPr marL="0" indent="0">
              <a:buNone/>
            </a:pPr>
            <a:r>
              <a:rPr lang="en-GB" b="1" dirty="0"/>
              <a:t>Theorem (The Kleene Theorem):</a:t>
            </a:r>
          </a:p>
          <a:p>
            <a:pPr marL="0" indent="0">
              <a:buNone/>
            </a:pPr>
            <a:r>
              <a:rPr lang="en-GB" dirty="0"/>
              <a:t>The three fundamental operators we have defined earlier:</a:t>
            </a:r>
          </a:p>
          <a:p>
            <a:r>
              <a:rPr lang="en-GB" dirty="0"/>
              <a:t>Concatenation “ab”,</a:t>
            </a:r>
          </a:p>
          <a:p>
            <a:r>
              <a:rPr lang="en-GB" dirty="0"/>
              <a:t>Choice “</a:t>
            </a:r>
            <a:r>
              <a:rPr lang="en-GB" dirty="0" err="1"/>
              <a:t>a|b</a:t>
            </a:r>
            <a:r>
              <a:rPr lang="en-GB" dirty="0"/>
              <a:t>”</a:t>
            </a:r>
          </a:p>
          <a:p>
            <a:r>
              <a:rPr lang="en-GB" dirty="0"/>
              <a:t>And Kleene “a*”,</a:t>
            </a:r>
          </a:p>
          <a:p>
            <a:r>
              <a:rPr lang="en-GB" dirty="0"/>
              <a:t>(Along with the Epsilon symbol,)</a:t>
            </a:r>
          </a:p>
          <a:p>
            <a:pPr marL="0" indent="0">
              <a:buNone/>
            </a:pPr>
            <a:r>
              <a:rPr lang="en-GB" dirty="0"/>
              <a:t>can be used to define every other operation in </a:t>
            </a:r>
            <a:r>
              <a:rPr lang="en-GB" dirty="0" err="1"/>
              <a:t>RegEx</a:t>
            </a:r>
            <a:r>
              <a:rPr lang="en-GB" dirty="0"/>
              <a: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3D68D39-7AFE-2F35-C2AB-129228AB67BC}"/>
                  </a:ext>
                </a:extLst>
              </p:cNvPr>
              <p:cNvSpPr>
                <a:spLocks noGrp="1"/>
              </p:cNvSpPr>
              <p:nvPr>
                <p:ph sz="half" idx="2"/>
              </p:nvPr>
            </p:nvSpPr>
            <p:spPr>
              <a:xfrm>
                <a:off x="6172200" y="1825625"/>
                <a:ext cx="5181600" cy="5032374"/>
              </a:xfrm>
            </p:spPr>
            <p:txBody>
              <a:bodyPr>
                <a:normAutofit/>
              </a:bodyPr>
              <a:lstStyle/>
              <a:p>
                <a:pPr marL="0" indent="0">
                  <a:buNone/>
                </a:pPr>
                <a:r>
                  <a:rPr lang="en-GB" dirty="0"/>
                  <a:t>For instance,</a:t>
                </a:r>
              </a:p>
              <a:p>
                <a:r>
                  <a:rPr lang="en-GB" dirty="0"/>
                  <a:t>“a+” is equivalent to “aa*”,</a:t>
                </a:r>
              </a:p>
              <a:p>
                <a:r>
                  <a:rPr lang="en-GB" dirty="0"/>
                  <a:t>“a?” is equivalent to “a|</a:t>
                </a:r>
                <a14:m>
                  <m:oMath xmlns:m="http://schemas.openxmlformats.org/officeDocument/2006/math">
                    <m:r>
                      <a:rPr lang="en-GB" i="1" dirty="0" smtClean="0">
                        <a:latin typeface="Cambria Math" panose="02040503050406030204" pitchFamily="18" charset="0"/>
                      </a:rPr>
                      <m:t>𝜖</m:t>
                    </m:r>
                  </m:oMath>
                </a14:m>
                <a:r>
                  <a:rPr lang="en-GB" dirty="0"/>
                  <a:t>”,</a:t>
                </a:r>
              </a:p>
              <a:p>
                <a:r>
                  <a:rPr lang="en-GB" dirty="0"/>
                  <a:t>Etc.</a:t>
                </a:r>
              </a:p>
              <a:p>
                <a:endParaRPr lang="en-GB" dirty="0"/>
              </a:p>
              <a:p>
                <a:pPr marL="0" indent="0">
                  <a:buNone/>
                </a:pPr>
                <a:r>
                  <a:rPr lang="en-GB" dirty="0"/>
                  <a:t>Also, keep in mind that the </a:t>
                </a:r>
                <a:r>
                  <a:rPr lang="en-GB" b="1" dirty="0"/>
                  <a:t>operator precedence </a:t>
                </a:r>
                <a:r>
                  <a:rPr lang="en-GB" dirty="0"/>
                  <a:t>in </a:t>
                </a:r>
                <a:r>
                  <a:rPr lang="en-GB" dirty="0" err="1"/>
                  <a:t>RegEx</a:t>
                </a:r>
                <a:r>
                  <a:rPr lang="en-GB" dirty="0"/>
                  <a:t> is then defined as:</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𝑅</m:t>
                          </m:r>
                        </m:e>
                      </m:d>
                      <m:r>
                        <a:rPr lang="en-GB" b="0" i="1" smtClean="0">
                          <a:latin typeface="Cambria Math" panose="02040503050406030204" pitchFamily="18" charset="0"/>
                        </a:rPr>
                        <m:t>&gt;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𝑅</m:t>
                          </m:r>
                        </m:e>
                        <m:sup>
                          <m:r>
                            <a:rPr lang="en-GB" b="0" i="1" smtClean="0">
                              <a:latin typeface="Cambria Math" panose="02040503050406030204" pitchFamily="18" charset="0"/>
                            </a:rPr>
                            <m:t>∗</m:t>
                          </m:r>
                        </m:sup>
                      </m:sSup>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2</m:t>
                          </m:r>
                        </m:sub>
                      </m:sSub>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2</m:t>
                          </m:r>
                        </m:sub>
                      </m:sSub>
                    </m:oMath>
                  </m:oMathPara>
                </a14:m>
                <a:endParaRPr lang="en-SG" dirty="0"/>
              </a:p>
              <a:p>
                <a:endParaRPr lang="en-SG" dirty="0"/>
              </a:p>
            </p:txBody>
          </p:sp>
        </mc:Choice>
        <mc:Fallback xmlns="">
          <p:sp>
            <p:nvSpPr>
              <p:cNvPr id="4" name="Content Placeholder 3">
                <a:extLst>
                  <a:ext uri="{FF2B5EF4-FFF2-40B4-BE49-F238E27FC236}">
                    <a16:creationId xmlns:a16="http://schemas.microsoft.com/office/drawing/2014/main" id="{63D68D39-7AFE-2F35-C2AB-129228AB67BC}"/>
                  </a:ext>
                </a:extLst>
              </p:cNvPr>
              <p:cNvSpPr>
                <a:spLocks noGrp="1" noRot="1" noChangeAspect="1" noMove="1" noResize="1" noEditPoints="1" noAdjustHandles="1" noChangeArrowheads="1" noChangeShapeType="1" noTextEdit="1"/>
              </p:cNvSpPr>
              <p:nvPr>
                <p:ph sz="half" idx="2"/>
              </p:nvPr>
            </p:nvSpPr>
            <p:spPr>
              <a:xfrm>
                <a:off x="6172200" y="1825625"/>
                <a:ext cx="5181600" cy="5032374"/>
              </a:xfrm>
              <a:blipFill>
                <a:blip r:embed="rId2"/>
                <a:stretch>
                  <a:fillRect l="-2471" t="-1937"/>
                </a:stretch>
              </a:blipFill>
            </p:spPr>
            <p:txBody>
              <a:bodyPr/>
              <a:lstStyle/>
              <a:p>
                <a:r>
                  <a:rPr lang="en-GB">
                    <a:noFill/>
                  </a:rPr>
                  <a:t> </a:t>
                </a:r>
              </a:p>
            </p:txBody>
          </p:sp>
        </mc:Fallback>
      </mc:AlternateContent>
    </p:spTree>
    <p:extLst>
      <p:ext uri="{BB962C8B-B14F-4D97-AF65-F5344CB8AC3E}">
        <p14:creationId xmlns:p14="http://schemas.microsoft.com/office/powerpoint/2010/main" val="3649959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1C351-BED5-72B4-F58B-BE667FB6431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0A9CA01A-4500-13DA-32DD-0418598356B9}"/>
              </a:ext>
            </a:extLst>
          </p:cNvPr>
          <p:cNvSpPr>
            <a:spLocks noGrp="1"/>
          </p:cNvSpPr>
          <p:nvPr>
            <p:ph idx="1"/>
          </p:nvPr>
        </p:nvSpPr>
        <p:spPr/>
        <p:txBody>
          <a:bodyPr/>
          <a:lstStyle/>
          <a:p>
            <a:pPr marL="0" indent="0">
              <a:buNone/>
            </a:pPr>
            <a:r>
              <a:rPr lang="en-GB" dirty="0"/>
              <a:t>Which regular expression would be the best to match the two strings "cat" and "bat"?</a:t>
            </a:r>
          </a:p>
          <a:p>
            <a:pPr marL="514350" indent="-514350">
              <a:buFont typeface="+mj-lt"/>
              <a:buAutoNum type="alphaUcPeriod"/>
            </a:pPr>
            <a:r>
              <a:rPr lang="en-GB" dirty="0"/>
              <a:t>^(</a:t>
            </a:r>
            <a:r>
              <a:rPr lang="en-GB" dirty="0" err="1"/>
              <a:t>c|b</a:t>
            </a:r>
            <a:r>
              <a:rPr lang="en-GB" dirty="0"/>
              <a:t>)at$</a:t>
            </a:r>
          </a:p>
          <a:p>
            <a:pPr marL="514350" indent="-514350">
              <a:buFont typeface="+mj-lt"/>
              <a:buAutoNum type="alphaUcPeriod"/>
            </a:pPr>
            <a:r>
              <a:rPr lang="en-GB" dirty="0"/>
              <a:t>(</a:t>
            </a:r>
            <a:r>
              <a:rPr lang="en-GB" dirty="0" err="1"/>
              <a:t>c|b</a:t>
            </a:r>
            <a:r>
              <a:rPr lang="en-GB" dirty="0"/>
              <a:t>)at</a:t>
            </a:r>
          </a:p>
          <a:p>
            <a:pPr marL="514350" indent="-514350">
              <a:buFont typeface="+mj-lt"/>
              <a:buAutoNum type="alphaUcPeriod"/>
            </a:pPr>
            <a:r>
              <a:rPr lang="en-GB" dirty="0"/>
              <a:t>^(</a:t>
            </a:r>
            <a:r>
              <a:rPr lang="en-GB" dirty="0" err="1"/>
              <a:t>c+b</a:t>
            </a:r>
            <a:r>
              <a:rPr lang="en-GB" dirty="0"/>
              <a:t>)at$</a:t>
            </a:r>
          </a:p>
          <a:p>
            <a:pPr marL="514350" indent="-514350">
              <a:buFont typeface="+mj-lt"/>
              <a:buAutoNum type="alphaUcPeriod"/>
            </a:pPr>
            <a:r>
              <a:rPr lang="en-GB" dirty="0"/>
              <a:t>^(</a:t>
            </a:r>
            <a:r>
              <a:rPr lang="en-GB" dirty="0" err="1"/>
              <a:t>c|b</a:t>
            </a:r>
            <a:r>
              <a:rPr lang="en-GB" dirty="0"/>
              <a:t>)+(at)$</a:t>
            </a:r>
          </a:p>
          <a:p>
            <a:pPr marL="0" indent="0">
              <a:buNone/>
            </a:pPr>
            <a:endParaRPr lang="en-SG" dirty="0"/>
          </a:p>
        </p:txBody>
      </p:sp>
    </p:spTree>
    <p:extLst>
      <p:ext uri="{BB962C8B-B14F-4D97-AF65-F5344CB8AC3E}">
        <p14:creationId xmlns:p14="http://schemas.microsoft.com/office/powerpoint/2010/main" val="1448790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1C351-BED5-72B4-F58B-BE667FB6431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0A9CA01A-4500-13DA-32DD-0418598356B9}"/>
              </a:ext>
            </a:extLst>
          </p:cNvPr>
          <p:cNvSpPr>
            <a:spLocks noGrp="1"/>
          </p:cNvSpPr>
          <p:nvPr>
            <p:ph idx="1"/>
          </p:nvPr>
        </p:nvSpPr>
        <p:spPr/>
        <p:txBody>
          <a:bodyPr/>
          <a:lstStyle/>
          <a:p>
            <a:pPr marL="0" indent="0">
              <a:buNone/>
            </a:pPr>
            <a:r>
              <a:rPr lang="en-GB" dirty="0"/>
              <a:t>Which regular expression would be the best to match the two strings "cat" and "bat"?</a:t>
            </a:r>
          </a:p>
          <a:p>
            <a:pPr marL="514350" indent="-514350">
              <a:buFont typeface="+mj-lt"/>
              <a:buAutoNum type="alphaUcPeriod"/>
            </a:pPr>
            <a:r>
              <a:rPr lang="en-GB" b="1" dirty="0">
                <a:solidFill>
                  <a:srgbClr val="00B050"/>
                </a:solidFill>
              </a:rPr>
              <a:t>^(</a:t>
            </a:r>
            <a:r>
              <a:rPr lang="en-GB" b="1" dirty="0" err="1">
                <a:solidFill>
                  <a:srgbClr val="00B050"/>
                </a:solidFill>
              </a:rPr>
              <a:t>c|b</a:t>
            </a:r>
            <a:r>
              <a:rPr lang="en-GB" b="1" dirty="0">
                <a:solidFill>
                  <a:srgbClr val="00B050"/>
                </a:solidFill>
              </a:rPr>
              <a:t>)at$</a:t>
            </a:r>
          </a:p>
          <a:p>
            <a:pPr marL="514350" indent="-514350">
              <a:buFont typeface="+mj-lt"/>
              <a:buAutoNum type="alphaUcPeriod"/>
            </a:pPr>
            <a:r>
              <a:rPr lang="en-GB" dirty="0"/>
              <a:t>(</a:t>
            </a:r>
            <a:r>
              <a:rPr lang="en-GB" dirty="0" err="1"/>
              <a:t>c|b</a:t>
            </a:r>
            <a:r>
              <a:rPr lang="en-GB" dirty="0"/>
              <a:t>)at</a:t>
            </a:r>
          </a:p>
          <a:p>
            <a:pPr marL="514350" indent="-514350">
              <a:buFont typeface="+mj-lt"/>
              <a:buAutoNum type="alphaUcPeriod"/>
            </a:pPr>
            <a:r>
              <a:rPr lang="en-GB" dirty="0"/>
              <a:t>^(</a:t>
            </a:r>
            <a:r>
              <a:rPr lang="en-GB" dirty="0" err="1"/>
              <a:t>c+b</a:t>
            </a:r>
            <a:r>
              <a:rPr lang="en-GB" dirty="0"/>
              <a:t>)at$</a:t>
            </a:r>
          </a:p>
          <a:p>
            <a:pPr marL="514350" indent="-514350">
              <a:buFont typeface="+mj-lt"/>
              <a:buAutoNum type="alphaUcPeriod"/>
            </a:pPr>
            <a:r>
              <a:rPr lang="en-GB" dirty="0"/>
              <a:t>^(</a:t>
            </a:r>
            <a:r>
              <a:rPr lang="en-GB" dirty="0" err="1"/>
              <a:t>c|b</a:t>
            </a:r>
            <a:r>
              <a:rPr lang="en-GB" dirty="0"/>
              <a:t>)+at$</a:t>
            </a:r>
          </a:p>
          <a:p>
            <a:pPr marL="0" indent="0">
              <a:buNone/>
            </a:pPr>
            <a:r>
              <a:rPr lang="en-GB" i="1" dirty="0"/>
              <a:t>(Some others could work but they are either accepting more than “cat” and “bat”, or are overkill expressions, so not going to accept them)</a:t>
            </a:r>
          </a:p>
          <a:p>
            <a:pPr marL="0" indent="0">
              <a:buNone/>
            </a:pPr>
            <a:endParaRPr lang="en-SG" dirty="0"/>
          </a:p>
        </p:txBody>
      </p:sp>
    </p:spTree>
    <p:extLst>
      <p:ext uri="{BB962C8B-B14F-4D97-AF65-F5344CB8AC3E}">
        <p14:creationId xmlns:p14="http://schemas.microsoft.com/office/powerpoint/2010/main" val="110232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1C351-BED5-72B4-F58B-BE667FB6431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0A9CA01A-4500-13DA-32DD-0418598356B9}"/>
              </a:ext>
            </a:extLst>
          </p:cNvPr>
          <p:cNvSpPr>
            <a:spLocks noGrp="1"/>
          </p:cNvSpPr>
          <p:nvPr>
            <p:ph idx="1"/>
          </p:nvPr>
        </p:nvSpPr>
        <p:spPr/>
        <p:txBody>
          <a:bodyPr/>
          <a:lstStyle/>
          <a:p>
            <a:pPr marL="0" indent="0">
              <a:buNone/>
            </a:pPr>
            <a:r>
              <a:rPr lang="en-GB" dirty="0"/>
              <a:t>What does the Kleene star (*) operator represent in regular expressions?</a:t>
            </a:r>
          </a:p>
          <a:p>
            <a:pPr marL="514350" indent="-514350">
              <a:buFont typeface="+mj-lt"/>
              <a:buAutoNum type="alphaUcPeriod"/>
            </a:pPr>
            <a:r>
              <a:rPr lang="en-GB" dirty="0"/>
              <a:t>Match exactly one character</a:t>
            </a:r>
          </a:p>
          <a:p>
            <a:pPr marL="514350" indent="-514350">
              <a:buFont typeface="+mj-lt"/>
              <a:buAutoNum type="alphaUcPeriod"/>
            </a:pPr>
            <a:r>
              <a:rPr lang="en-GB" dirty="0"/>
              <a:t>Match zero or more repetitions of a character</a:t>
            </a:r>
          </a:p>
          <a:p>
            <a:pPr marL="514350" indent="-514350">
              <a:buFont typeface="+mj-lt"/>
              <a:buAutoNum type="alphaUcPeriod"/>
            </a:pPr>
            <a:r>
              <a:rPr lang="en-GB" dirty="0"/>
              <a:t>Match one or more repetitions of a character</a:t>
            </a:r>
          </a:p>
          <a:p>
            <a:pPr marL="514350" indent="-514350">
              <a:buFont typeface="+mj-lt"/>
              <a:buAutoNum type="alphaUcPeriod"/>
            </a:pPr>
            <a:r>
              <a:rPr lang="en-GB" dirty="0"/>
              <a:t>Match any single character</a:t>
            </a:r>
          </a:p>
          <a:p>
            <a:pPr marL="0" indent="0">
              <a:buNone/>
            </a:pPr>
            <a:endParaRPr lang="en-SG" dirty="0"/>
          </a:p>
        </p:txBody>
      </p:sp>
    </p:spTree>
    <p:extLst>
      <p:ext uri="{BB962C8B-B14F-4D97-AF65-F5344CB8AC3E}">
        <p14:creationId xmlns:p14="http://schemas.microsoft.com/office/powerpoint/2010/main" val="1237963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1C351-BED5-72B4-F58B-BE667FB6431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0A9CA01A-4500-13DA-32DD-0418598356B9}"/>
              </a:ext>
            </a:extLst>
          </p:cNvPr>
          <p:cNvSpPr>
            <a:spLocks noGrp="1"/>
          </p:cNvSpPr>
          <p:nvPr>
            <p:ph idx="1"/>
          </p:nvPr>
        </p:nvSpPr>
        <p:spPr/>
        <p:txBody>
          <a:bodyPr/>
          <a:lstStyle/>
          <a:p>
            <a:pPr marL="0" indent="0">
              <a:buNone/>
            </a:pPr>
            <a:r>
              <a:rPr lang="en-GB" dirty="0"/>
              <a:t>What does the Kleene star (*) operator represent in regular expressions?</a:t>
            </a:r>
          </a:p>
          <a:p>
            <a:pPr marL="514350" indent="-514350">
              <a:buFont typeface="+mj-lt"/>
              <a:buAutoNum type="alphaUcPeriod"/>
            </a:pPr>
            <a:r>
              <a:rPr lang="en-GB" dirty="0"/>
              <a:t>Match exactly one character</a:t>
            </a:r>
          </a:p>
          <a:p>
            <a:pPr marL="514350" indent="-514350">
              <a:buFont typeface="+mj-lt"/>
              <a:buAutoNum type="alphaUcPeriod"/>
            </a:pPr>
            <a:r>
              <a:rPr lang="en-GB" b="1" dirty="0">
                <a:solidFill>
                  <a:srgbClr val="00B050"/>
                </a:solidFill>
              </a:rPr>
              <a:t>Match zero or more repetitions of a character</a:t>
            </a:r>
          </a:p>
          <a:p>
            <a:pPr marL="514350" indent="-514350">
              <a:buFont typeface="+mj-lt"/>
              <a:buAutoNum type="alphaUcPeriod"/>
            </a:pPr>
            <a:r>
              <a:rPr lang="en-GB" dirty="0"/>
              <a:t>Match one or more repetitions of a character</a:t>
            </a:r>
          </a:p>
          <a:p>
            <a:pPr marL="514350" indent="-514350">
              <a:buFont typeface="+mj-lt"/>
              <a:buAutoNum type="alphaUcPeriod"/>
            </a:pPr>
            <a:r>
              <a:rPr lang="en-GB" dirty="0"/>
              <a:t>Match any single character</a:t>
            </a:r>
          </a:p>
          <a:p>
            <a:pPr marL="0" indent="0">
              <a:buNone/>
            </a:pPr>
            <a:endParaRPr lang="en-SG" dirty="0"/>
          </a:p>
        </p:txBody>
      </p:sp>
    </p:spTree>
    <p:extLst>
      <p:ext uri="{BB962C8B-B14F-4D97-AF65-F5344CB8AC3E}">
        <p14:creationId xmlns:p14="http://schemas.microsoft.com/office/powerpoint/2010/main" val="1417587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019A-BE67-C453-0E3A-8BA10DE1B846}"/>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C8E745-17FA-0972-8665-9C637236AA5B}"/>
              </a:ext>
            </a:extLst>
          </p:cNvPr>
          <p:cNvSpPr>
            <a:spLocks noGrp="1"/>
          </p:cNvSpPr>
          <p:nvPr>
            <p:ph idx="1"/>
          </p:nvPr>
        </p:nvSpPr>
        <p:spPr/>
        <p:txBody>
          <a:bodyPr/>
          <a:lstStyle/>
          <a:p>
            <a:pPr marL="0" indent="0">
              <a:buNone/>
            </a:pPr>
            <a:r>
              <a:rPr lang="en-GB" dirty="0"/>
              <a:t>Which regular expression would match the strings "ab", "abb", "</a:t>
            </a:r>
            <a:r>
              <a:rPr lang="en-GB" dirty="0" err="1"/>
              <a:t>abbb</a:t>
            </a:r>
            <a:r>
              <a:rPr lang="en-GB" dirty="0"/>
              <a:t>", and so on, but no other strings? The string “a” is </a:t>
            </a:r>
            <a:r>
              <a:rPr lang="en-GB" u="sng" dirty="0"/>
              <a:t>not</a:t>
            </a:r>
            <a:r>
              <a:rPr lang="en-GB" dirty="0"/>
              <a:t> acceptable.</a:t>
            </a:r>
          </a:p>
          <a:p>
            <a:pPr marL="514350" indent="-514350">
              <a:buFont typeface="+mj-lt"/>
              <a:buAutoNum type="alphaUcPeriod"/>
            </a:pPr>
            <a:r>
              <a:rPr lang="en-GB" dirty="0"/>
              <a:t>^abb*$</a:t>
            </a:r>
          </a:p>
          <a:p>
            <a:pPr marL="514350" indent="-514350">
              <a:buFont typeface="+mj-lt"/>
              <a:buAutoNum type="alphaUcPeriod"/>
            </a:pPr>
            <a:r>
              <a:rPr lang="en-GB" dirty="0"/>
              <a:t>^ab$</a:t>
            </a:r>
          </a:p>
          <a:p>
            <a:pPr marL="514350" indent="-514350">
              <a:buFont typeface="+mj-lt"/>
              <a:buAutoNum type="alphaUcPeriod"/>
            </a:pPr>
            <a:r>
              <a:rPr lang="en-GB" dirty="0"/>
              <a:t>^ab+$</a:t>
            </a:r>
          </a:p>
          <a:p>
            <a:pPr marL="514350" indent="-514350">
              <a:buFont typeface="+mj-lt"/>
              <a:buAutoNum type="alphaUcPeriod"/>
            </a:pPr>
            <a:r>
              <a:rPr lang="en-GB" dirty="0"/>
              <a:t>^</a:t>
            </a:r>
            <a:r>
              <a:rPr lang="en-GB" dirty="0" err="1"/>
              <a:t>a+ab</a:t>
            </a:r>
            <a:r>
              <a:rPr lang="en-GB" dirty="0"/>
              <a:t>$</a:t>
            </a:r>
          </a:p>
          <a:p>
            <a:endParaRPr lang="en-SG" dirty="0"/>
          </a:p>
        </p:txBody>
      </p:sp>
    </p:spTree>
    <p:extLst>
      <p:ext uri="{BB962C8B-B14F-4D97-AF65-F5344CB8AC3E}">
        <p14:creationId xmlns:p14="http://schemas.microsoft.com/office/powerpoint/2010/main" val="5122811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019A-BE67-C453-0E3A-8BA10DE1B846}"/>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C8E745-17FA-0972-8665-9C637236AA5B}"/>
              </a:ext>
            </a:extLst>
          </p:cNvPr>
          <p:cNvSpPr>
            <a:spLocks noGrp="1"/>
          </p:cNvSpPr>
          <p:nvPr>
            <p:ph idx="1"/>
          </p:nvPr>
        </p:nvSpPr>
        <p:spPr/>
        <p:txBody>
          <a:bodyPr/>
          <a:lstStyle/>
          <a:p>
            <a:pPr marL="0" indent="0">
              <a:buNone/>
            </a:pPr>
            <a:r>
              <a:rPr lang="en-GB" dirty="0"/>
              <a:t>Which regular expression would match the strings "ab", "abb", "</a:t>
            </a:r>
            <a:r>
              <a:rPr lang="en-GB" dirty="0" err="1"/>
              <a:t>abbb</a:t>
            </a:r>
            <a:r>
              <a:rPr lang="en-GB" dirty="0"/>
              <a:t>", and so on, but no other strings? The string “a” is </a:t>
            </a:r>
            <a:r>
              <a:rPr lang="en-GB" u="sng" dirty="0"/>
              <a:t>not</a:t>
            </a:r>
            <a:r>
              <a:rPr lang="en-GB" dirty="0"/>
              <a:t> acceptable.</a:t>
            </a:r>
          </a:p>
          <a:p>
            <a:pPr marL="514350" indent="-514350">
              <a:buFont typeface="+mj-lt"/>
              <a:buAutoNum type="alphaUcPeriod"/>
            </a:pPr>
            <a:r>
              <a:rPr lang="en-GB" b="1" dirty="0">
                <a:solidFill>
                  <a:srgbClr val="00B050"/>
                </a:solidFill>
              </a:rPr>
              <a:t>^abb*$ (but could be written in a simpler manner)</a:t>
            </a:r>
          </a:p>
          <a:p>
            <a:pPr marL="514350" indent="-514350">
              <a:buFont typeface="+mj-lt"/>
              <a:buAutoNum type="alphaUcPeriod"/>
            </a:pPr>
            <a:r>
              <a:rPr lang="en-GB" dirty="0"/>
              <a:t>^ab$</a:t>
            </a:r>
          </a:p>
          <a:p>
            <a:pPr marL="514350" indent="-514350">
              <a:buFont typeface="+mj-lt"/>
              <a:buAutoNum type="alphaUcPeriod"/>
            </a:pPr>
            <a:r>
              <a:rPr lang="en-GB" b="1" dirty="0">
                <a:solidFill>
                  <a:srgbClr val="00B050"/>
                </a:solidFill>
              </a:rPr>
              <a:t>^ab+$ (equivalent to </a:t>
            </a:r>
            <a:r>
              <a:rPr lang="en-GB" b="1" dirty="0" err="1">
                <a:solidFill>
                  <a:srgbClr val="00B050"/>
                </a:solidFill>
              </a:rPr>
              <a:t>aab</a:t>
            </a:r>
            <a:r>
              <a:rPr lang="en-GB" b="1" dirty="0">
                <a:solidFill>
                  <a:srgbClr val="00B050"/>
                </a:solidFill>
              </a:rPr>
              <a:t>* as b+ is equivalent to bb*)</a:t>
            </a:r>
          </a:p>
          <a:p>
            <a:pPr marL="514350" indent="-514350">
              <a:buFont typeface="+mj-lt"/>
              <a:buAutoNum type="alphaUcPeriod"/>
            </a:pPr>
            <a:r>
              <a:rPr lang="en-GB" dirty="0"/>
              <a:t>^</a:t>
            </a:r>
            <a:r>
              <a:rPr lang="en-GB" dirty="0" err="1"/>
              <a:t>a+ab</a:t>
            </a:r>
            <a:r>
              <a:rPr lang="en-GB" dirty="0"/>
              <a:t>$</a:t>
            </a:r>
          </a:p>
          <a:p>
            <a:endParaRPr lang="en-SG" dirty="0"/>
          </a:p>
        </p:txBody>
      </p:sp>
    </p:spTree>
    <p:extLst>
      <p:ext uri="{BB962C8B-B14F-4D97-AF65-F5344CB8AC3E}">
        <p14:creationId xmlns:p14="http://schemas.microsoft.com/office/powerpoint/2010/main" val="4016554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019A-BE67-C453-0E3A-8BA10DE1B846}"/>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C8E745-17FA-0972-8665-9C637236AA5B}"/>
              </a:ext>
            </a:extLst>
          </p:cNvPr>
          <p:cNvSpPr>
            <a:spLocks noGrp="1"/>
          </p:cNvSpPr>
          <p:nvPr>
            <p:ph idx="1"/>
          </p:nvPr>
        </p:nvSpPr>
        <p:spPr/>
        <p:txBody>
          <a:bodyPr/>
          <a:lstStyle/>
          <a:p>
            <a:pPr marL="0" indent="0">
              <a:buNone/>
            </a:pPr>
            <a:r>
              <a:rPr lang="en-GB" dirty="0"/>
              <a:t>Which of the strings below is considered regular language for the regular expression “a\?b” ? </a:t>
            </a:r>
          </a:p>
          <a:p>
            <a:pPr marL="514350" indent="-514350">
              <a:buFont typeface="+mj-lt"/>
              <a:buAutoNum type="alphaUcPeriod"/>
            </a:pPr>
            <a:r>
              <a:rPr lang="en-GB" dirty="0"/>
              <a:t>a</a:t>
            </a:r>
          </a:p>
          <a:p>
            <a:pPr marL="514350" indent="-514350">
              <a:buFont typeface="+mj-lt"/>
              <a:buAutoNum type="alphaUcPeriod"/>
            </a:pPr>
            <a:r>
              <a:rPr lang="en-GB" dirty="0"/>
              <a:t>ab</a:t>
            </a:r>
          </a:p>
          <a:p>
            <a:pPr marL="514350" indent="-514350">
              <a:buFont typeface="+mj-lt"/>
              <a:buAutoNum type="alphaUcPeriod"/>
            </a:pPr>
            <a:r>
              <a:rPr lang="en-GB" dirty="0" err="1"/>
              <a:t>a?b</a:t>
            </a:r>
            <a:endParaRPr lang="en-GB" dirty="0"/>
          </a:p>
          <a:p>
            <a:pPr marL="514350" indent="-514350">
              <a:buFont typeface="+mj-lt"/>
              <a:buAutoNum type="alphaUcPeriod"/>
            </a:pPr>
            <a:r>
              <a:rPr lang="en-GB" dirty="0"/>
              <a:t>a\b</a:t>
            </a:r>
          </a:p>
          <a:p>
            <a:pPr marL="514350" indent="-514350">
              <a:buFont typeface="+mj-lt"/>
              <a:buAutoNum type="alphaUcPeriod"/>
            </a:pPr>
            <a:r>
              <a:rPr lang="en-GB" dirty="0" err="1"/>
              <a:t>ca?bddd</a:t>
            </a:r>
            <a:endParaRPr lang="en-GB" dirty="0"/>
          </a:p>
          <a:p>
            <a:pPr marL="514350" indent="-514350">
              <a:buFont typeface="+mj-lt"/>
              <a:buAutoNum type="alphaUcPeriod"/>
            </a:pPr>
            <a:endParaRPr lang="en-GB" dirty="0"/>
          </a:p>
          <a:p>
            <a:endParaRPr lang="en-SG" dirty="0"/>
          </a:p>
        </p:txBody>
      </p:sp>
    </p:spTree>
    <p:extLst>
      <p:ext uri="{BB962C8B-B14F-4D97-AF65-F5344CB8AC3E}">
        <p14:creationId xmlns:p14="http://schemas.microsoft.com/office/powerpoint/2010/main" val="3938870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019A-BE67-C453-0E3A-8BA10DE1B846}"/>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C8E745-17FA-0972-8665-9C637236AA5B}"/>
              </a:ext>
            </a:extLst>
          </p:cNvPr>
          <p:cNvSpPr>
            <a:spLocks noGrp="1"/>
          </p:cNvSpPr>
          <p:nvPr>
            <p:ph idx="1"/>
          </p:nvPr>
        </p:nvSpPr>
        <p:spPr/>
        <p:txBody>
          <a:bodyPr/>
          <a:lstStyle/>
          <a:p>
            <a:pPr marL="0" indent="0">
              <a:buNone/>
            </a:pPr>
            <a:r>
              <a:rPr lang="en-GB" dirty="0"/>
              <a:t>Which of the strings below is considered regular language for the regular expression “a\?b” ? </a:t>
            </a:r>
          </a:p>
          <a:p>
            <a:pPr marL="514350" indent="-514350">
              <a:buFont typeface="+mj-lt"/>
              <a:buAutoNum type="alphaUcPeriod"/>
            </a:pPr>
            <a:r>
              <a:rPr lang="en-GB" dirty="0"/>
              <a:t>a</a:t>
            </a:r>
          </a:p>
          <a:p>
            <a:pPr marL="514350" indent="-514350">
              <a:buFont typeface="+mj-lt"/>
              <a:buAutoNum type="alphaUcPeriod"/>
            </a:pPr>
            <a:r>
              <a:rPr lang="en-GB" dirty="0"/>
              <a:t>ab</a:t>
            </a:r>
          </a:p>
          <a:p>
            <a:pPr marL="514350" indent="-514350">
              <a:buFont typeface="+mj-lt"/>
              <a:buAutoNum type="alphaUcPeriod"/>
            </a:pPr>
            <a:r>
              <a:rPr lang="en-GB" b="1" dirty="0" err="1">
                <a:solidFill>
                  <a:srgbClr val="00B050"/>
                </a:solidFill>
              </a:rPr>
              <a:t>a?b</a:t>
            </a:r>
            <a:endParaRPr lang="en-GB" b="1" dirty="0">
              <a:solidFill>
                <a:srgbClr val="00B050"/>
              </a:solidFill>
            </a:endParaRPr>
          </a:p>
          <a:p>
            <a:pPr marL="514350" indent="-514350">
              <a:buFont typeface="+mj-lt"/>
              <a:buAutoNum type="alphaUcPeriod"/>
            </a:pPr>
            <a:r>
              <a:rPr lang="en-GB" dirty="0"/>
              <a:t>a\b</a:t>
            </a:r>
          </a:p>
          <a:p>
            <a:pPr marL="514350" indent="-514350">
              <a:buFont typeface="+mj-lt"/>
              <a:buAutoNum type="alphaUcPeriod"/>
            </a:pPr>
            <a:r>
              <a:rPr lang="en-GB" b="1" dirty="0" err="1">
                <a:solidFill>
                  <a:srgbClr val="00B050"/>
                </a:solidFill>
              </a:rPr>
              <a:t>ca?bddd</a:t>
            </a:r>
            <a:endParaRPr lang="en-GB" b="1" dirty="0">
              <a:solidFill>
                <a:srgbClr val="00B050"/>
              </a:solidFill>
            </a:endParaRPr>
          </a:p>
          <a:p>
            <a:endParaRPr lang="en-SG" dirty="0"/>
          </a:p>
        </p:txBody>
      </p:sp>
    </p:spTree>
    <p:extLst>
      <p:ext uri="{BB962C8B-B14F-4D97-AF65-F5344CB8AC3E}">
        <p14:creationId xmlns:p14="http://schemas.microsoft.com/office/powerpoint/2010/main" val="3522887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B7688-9364-4B2E-9F0B-BDFE4629A9CA}"/>
              </a:ext>
            </a:extLst>
          </p:cNvPr>
          <p:cNvSpPr>
            <a:spLocks noGrp="1"/>
          </p:cNvSpPr>
          <p:nvPr>
            <p:ph type="title"/>
          </p:nvPr>
        </p:nvSpPr>
        <p:spPr/>
        <p:txBody>
          <a:bodyPr/>
          <a:lstStyle/>
          <a:p>
            <a:r>
              <a:rPr lang="en-GB" dirty="0"/>
              <a:t>The Square Bracket notation in </a:t>
            </a:r>
            <a:r>
              <a:rPr lang="en-GB" dirty="0" err="1"/>
              <a:t>RegEx</a:t>
            </a:r>
            <a:endParaRPr lang="en-SG" dirty="0"/>
          </a:p>
        </p:txBody>
      </p:sp>
      <p:sp>
        <p:nvSpPr>
          <p:cNvPr id="5" name="Content Placeholder 4">
            <a:extLst>
              <a:ext uri="{FF2B5EF4-FFF2-40B4-BE49-F238E27FC236}">
                <a16:creationId xmlns:a16="http://schemas.microsoft.com/office/drawing/2014/main" id="{B3F89993-8E2D-39C7-D73F-D6F5D0507F8F}"/>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Square Bracket notation in </a:t>
            </a:r>
            <a:r>
              <a:rPr lang="en-GB" b="1" dirty="0" err="1"/>
              <a:t>RegEx</a:t>
            </a:r>
            <a:r>
              <a:rPr lang="en-GB" b="1" dirty="0"/>
              <a:t>):</a:t>
            </a:r>
          </a:p>
          <a:p>
            <a:pPr marL="0" indent="0">
              <a:buNone/>
            </a:pPr>
            <a:r>
              <a:rPr lang="en-GB" dirty="0"/>
              <a:t>In </a:t>
            </a:r>
            <a:r>
              <a:rPr lang="en-GB" dirty="0" err="1"/>
              <a:t>RegEx</a:t>
            </a:r>
            <a:r>
              <a:rPr lang="en-GB" dirty="0"/>
              <a:t>, the square brackets [] denote a character class, which is a set of characters that can match a single character in our string </a:t>
            </a:r>
            <a:r>
              <a:rPr lang="en-GB" i="1" dirty="0"/>
              <a:t>x</a:t>
            </a:r>
            <a:r>
              <a:rPr lang="en-GB" dirty="0"/>
              <a:t>.</a:t>
            </a:r>
            <a:br>
              <a:rPr lang="en-GB" dirty="0"/>
            </a:br>
            <a:r>
              <a:rPr lang="en-GB" dirty="0"/>
              <a:t>For instance, </a:t>
            </a:r>
          </a:p>
          <a:p>
            <a:pPr>
              <a:buFont typeface="Arial" panose="020B0604020202020204" pitchFamily="34" charset="0"/>
              <a:buChar char="•"/>
            </a:pPr>
            <a:r>
              <a:rPr lang="en-GB" dirty="0"/>
              <a:t>[a-z]: matches any lowercase letter from a to z,</a:t>
            </a:r>
          </a:p>
          <a:p>
            <a:pPr>
              <a:buFont typeface="Arial" panose="020B0604020202020204" pitchFamily="34" charset="0"/>
              <a:buChar char="•"/>
            </a:pPr>
            <a:r>
              <a:rPr lang="en-GB" dirty="0"/>
              <a:t>[A-Z]: matches any uppercase letter from A to Z,</a:t>
            </a:r>
          </a:p>
          <a:p>
            <a:r>
              <a:rPr lang="en-SG" dirty="0"/>
              <a:t>[0-9]: matches any digit.</a:t>
            </a:r>
          </a:p>
          <a:p>
            <a:pPr marL="0" indent="0">
              <a:buNone/>
            </a:pPr>
            <a:endParaRPr lang="en-SG" dirty="0"/>
          </a:p>
          <a:p>
            <a:pPr marL="0" indent="0">
              <a:buNone/>
            </a:pPr>
            <a:r>
              <a:rPr lang="en-SG" dirty="0"/>
              <a:t>This [0-9] notation is a convenient replacement for its equivalent (0|1|2|3|4|5|6|7|8|9).</a:t>
            </a:r>
          </a:p>
        </p:txBody>
      </p:sp>
    </p:spTree>
    <p:extLst>
      <p:ext uri="{BB962C8B-B14F-4D97-AF65-F5344CB8AC3E}">
        <p14:creationId xmlns:p14="http://schemas.microsoft.com/office/powerpoint/2010/main" val="146061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3EBC4E-9343-6585-EBBC-A930787B2623}"/>
              </a:ext>
            </a:extLst>
          </p:cNvPr>
          <p:cNvSpPr>
            <a:spLocks noGrp="1"/>
          </p:cNvSpPr>
          <p:nvPr>
            <p:ph type="title"/>
          </p:nvPr>
        </p:nvSpPr>
        <p:spPr/>
        <p:txBody>
          <a:bodyPr/>
          <a:lstStyle/>
          <a:p>
            <a:r>
              <a:rPr lang="en-GB" dirty="0"/>
              <a:t>Negating a grouping</a:t>
            </a:r>
            <a:endParaRPr lang="en-SG" dirty="0"/>
          </a:p>
        </p:txBody>
      </p:sp>
      <p:sp>
        <p:nvSpPr>
          <p:cNvPr id="6" name="Content Placeholder 5">
            <a:extLst>
              <a:ext uri="{FF2B5EF4-FFF2-40B4-BE49-F238E27FC236}">
                <a16:creationId xmlns:a16="http://schemas.microsoft.com/office/drawing/2014/main" id="{9B6A00C8-E3FA-09B1-418B-292BC486CB87}"/>
              </a:ext>
            </a:extLst>
          </p:cNvPr>
          <p:cNvSpPr>
            <a:spLocks noGrp="1"/>
          </p:cNvSpPr>
          <p:nvPr>
            <p:ph idx="1"/>
          </p:nvPr>
        </p:nvSpPr>
        <p:spPr/>
        <p:txBody>
          <a:bodyPr/>
          <a:lstStyle/>
          <a:p>
            <a:pPr marL="0" indent="0">
              <a:buNone/>
            </a:pPr>
            <a:r>
              <a:rPr lang="en-GB" b="1" dirty="0"/>
              <a:t>A quick note on the Caret symbol </a:t>
            </a:r>
            <a:r>
              <a:rPr lang="en-GB" b="1" dirty="0">
                <a:solidFill>
                  <a:srgbClr val="00B050"/>
                </a:solidFill>
              </a:rPr>
              <a:t>^</a:t>
            </a:r>
            <a:r>
              <a:rPr lang="en-GB" b="1" dirty="0"/>
              <a:t>:</a:t>
            </a:r>
          </a:p>
          <a:p>
            <a:pPr marL="0" indent="0">
              <a:buNone/>
            </a:pPr>
            <a:r>
              <a:rPr lang="en-GB" dirty="0"/>
              <a:t>When used inside a character class (i.e., between square brackets), the caret symbol </a:t>
            </a:r>
            <a:r>
              <a:rPr lang="en-GB" b="1" dirty="0">
                <a:solidFill>
                  <a:srgbClr val="00B050"/>
                </a:solidFill>
              </a:rPr>
              <a:t>^</a:t>
            </a:r>
            <a:r>
              <a:rPr lang="en-GB" dirty="0"/>
              <a:t> </a:t>
            </a:r>
            <a:r>
              <a:rPr lang="en-GB" b="1" dirty="0"/>
              <a:t>negates the character class</a:t>
            </a:r>
            <a:r>
              <a:rPr lang="en-GB" dirty="0"/>
              <a:t>.</a:t>
            </a:r>
          </a:p>
          <a:p>
            <a:pPr marL="0" indent="0">
              <a:buNone/>
            </a:pPr>
            <a:r>
              <a:rPr lang="en-GB" dirty="0"/>
              <a:t>For example,</a:t>
            </a:r>
          </a:p>
          <a:p>
            <a:r>
              <a:rPr lang="en-GB" dirty="0"/>
              <a:t>the regex ^a matches any string that begins with the character "a", </a:t>
            </a:r>
          </a:p>
          <a:p>
            <a:r>
              <a:rPr lang="en-GB" dirty="0"/>
              <a:t>while the regex [^a] matches any character that is not "a".</a:t>
            </a:r>
          </a:p>
          <a:p>
            <a:endParaRPr lang="en-SG" dirty="0"/>
          </a:p>
        </p:txBody>
      </p:sp>
    </p:spTree>
    <p:extLst>
      <p:ext uri="{BB962C8B-B14F-4D97-AF65-F5344CB8AC3E}">
        <p14:creationId xmlns:p14="http://schemas.microsoft.com/office/powerpoint/2010/main" val="2491784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7ED8-6428-B0D7-4FF7-4DB5A32F061D}"/>
              </a:ext>
            </a:extLst>
          </p:cNvPr>
          <p:cNvSpPr>
            <a:spLocks noGrp="1"/>
          </p:cNvSpPr>
          <p:nvPr>
            <p:ph type="title"/>
          </p:nvPr>
        </p:nvSpPr>
        <p:spPr/>
        <p:txBody>
          <a:bodyPr/>
          <a:lstStyle/>
          <a:p>
            <a:r>
              <a:rPr lang="en-GB" dirty="0"/>
              <a:t>Additional notations</a:t>
            </a:r>
            <a:endParaRPr lang="en-SG" dirty="0"/>
          </a:p>
        </p:txBody>
      </p:sp>
      <p:sp>
        <p:nvSpPr>
          <p:cNvPr id="3" name="Content Placeholder 2">
            <a:extLst>
              <a:ext uri="{FF2B5EF4-FFF2-40B4-BE49-F238E27FC236}">
                <a16:creationId xmlns:a16="http://schemas.microsoft.com/office/drawing/2014/main" id="{8821F76F-B59B-FBFA-F2D2-1D9ABA97022B}"/>
              </a:ext>
            </a:extLst>
          </p:cNvPr>
          <p:cNvSpPr>
            <a:spLocks noGrp="1"/>
          </p:cNvSpPr>
          <p:nvPr>
            <p:ph idx="1"/>
          </p:nvPr>
        </p:nvSpPr>
        <p:spPr>
          <a:xfrm>
            <a:off x="838200" y="1825624"/>
            <a:ext cx="10515600" cy="5032375"/>
          </a:xfrm>
        </p:spPr>
        <p:txBody>
          <a:bodyPr>
            <a:normAutofit/>
          </a:bodyPr>
          <a:lstStyle/>
          <a:p>
            <a:pPr marL="0" indent="0">
              <a:buNone/>
            </a:pPr>
            <a:r>
              <a:rPr lang="en-GB" dirty="0"/>
              <a:t>More groupings can be used in </a:t>
            </a:r>
            <a:r>
              <a:rPr lang="en-GB" dirty="0" err="1"/>
              <a:t>RegEx</a:t>
            </a:r>
            <a:endParaRPr lang="en-GB" dirty="0"/>
          </a:p>
          <a:p>
            <a:r>
              <a:rPr lang="en-GB" b="1" dirty="0">
                <a:solidFill>
                  <a:srgbClr val="00B050"/>
                </a:solidFill>
              </a:rPr>
              <a:t>. </a:t>
            </a:r>
            <a:r>
              <a:rPr lang="en-GB" dirty="0"/>
              <a:t>: The dot (.) is a metacharacter that matches any single character except for a newline character. For example, the regular expression "</a:t>
            </a:r>
            <a:r>
              <a:rPr lang="en-GB" dirty="0" err="1"/>
              <a:t>a.b</a:t>
            </a:r>
            <a:r>
              <a:rPr lang="en-GB" dirty="0"/>
              <a:t>" would match "</a:t>
            </a:r>
            <a:r>
              <a:rPr lang="en-GB" dirty="0" err="1"/>
              <a:t>axb</a:t>
            </a:r>
            <a:r>
              <a:rPr lang="en-GB" dirty="0"/>
              <a:t>", "a7b", "a b", and so on, but not "a\</a:t>
            </a:r>
            <a:r>
              <a:rPr lang="en-GB" dirty="0" err="1"/>
              <a:t>nb</a:t>
            </a:r>
            <a:r>
              <a:rPr lang="en-GB" dirty="0"/>
              <a:t>".</a:t>
            </a:r>
          </a:p>
          <a:p>
            <a:r>
              <a:rPr lang="en-GB" b="1" dirty="0">
                <a:solidFill>
                  <a:srgbClr val="00B050"/>
                </a:solidFill>
              </a:rPr>
              <a:t>\d</a:t>
            </a:r>
            <a:r>
              <a:rPr lang="en-GB" dirty="0"/>
              <a:t>: This character class matches any digit character (i.e., 0-9).</a:t>
            </a:r>
          </a:p>
          <a:p>
            <a:r>
              <a:rPr lang="en-GB" b="1" dirty="0">
                <a:solidFill>
                  <a:srgbClr val="00B050"/>
                </a:solidFill>
              </a:rPr>
              <a:t>\w</a:t>
            </a:r>
            <a:r>
              <a:rPr lang="en-GB" dirty="0"/>
              <a:t>: This character class matches any "word" character, which includes uppercase and lowercase letters, digits, and underscore symbol.</a:t>
            </a:r>
            <a:br>
              <a:rPr lang="en-GB" dirty="0"/>
            </a:br>
            <a:r>
              <a:rPr lang="en-GB" dirty="0"/>
              <a:t>It is equivalent to [a-zA-Z0-9_].</a:t>
            </a:r>
            <a:endParaRPr lang="en-SG" dirty="0"/>
          </a:p>
        </p:txBody>
      </p:sp>
    </p:spTree>
    <p:extLst>
      <p:ext uri="{BB962C8B-B14F-4D97-AF65-F5344CB8AC3E}">
        <p14:creationId xmlns:p14="http://schemas.microsoft.com/office/powerpoint/2010/main" val="26362707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7ED8-6428-B0D7-4FF7-4DB5A32F061D}"/>
              </a:ext>
            </a:extLst>
          </p:cNvPr>
          <p:cNvSpPr>
            <a:spLocks noGrp="1"/>
          </p:cNvSpPr>
          <p:nvPr>
            <p:ph type="title"/>
          </p:nvPr>
        </p:nvSpPr>
        <p:spPr/>
        <p:txBody>
          <a:bodyPr/>
          <a:lstStyle/>
          <a:p>
            <a:r>
              <a:rPr lang="en-GB" dirty="0"/>
              <a:t>Additional notations</a:t>
            </a:r>
            <a:endParaRPr lang="en-SG" dirty="0"/>
          </a:p>
        </p:txBody>
      </p:sp>
      <p:sp>
        <p:nvSpPr>
          <p:cNvPr id="3" name="Content Placeholder 2">
            <a:extLst>
              <a:ext uri="{FF2B5EF4-FFF2-40B4-BE49-F238E27FC236}">
                <a16:creationId xmlns:a16="http://schemas.microsoft.com/office/drawing/2014/main" id="{8821F76F-B59B-FBFA-F2D2-1D9ABA97022B}"/>
              </a:ext>
            </a:extLst>
          </p:cNvPr>
          <p:cNvSpPr>
            <a:spLocks noGrp="1"/>
          </p:cNvSpPr>
          <p:nvPr>
            <p:ph idx="1"/>
          </p:nvPr>
        </p:nvSpPr>
        <p:spPr>
          <a:xfrm>
            <a:off x="838200" y="1825624"/>
            <a:ext cx="10515600" cy="5032375"/>
          </a:xfrm>
        </p:spPr>
        <p:txBody>
          <a:bodyPr>
            <a:normAutofit/>
          </a:bodyPr>
          <a:lstStyle/>
          <a:p>
            <a:pPr marL="0" indent="0">
              <a:buNone/>
            </a:pPr>
            <a:r>
              <a:rPr lang="en-GB" dirty="0"/>
              <a:t>More groupings can be used in </a:t>
            </a:r>
            <a:r>
              <a:rPr lang="en-GB" dirty="0" err="1"/>
              <a:t>RegEx</a:t>
            </a:r>
            <a:endParaRPr lang="en-GB" dirty="0"/>
          </a:p>
          <a:p>
            <a:r>
              <a:rPr lang="en-GB" b="1" dirty="0">
                <a:solidFill>
                  <a:srgbClr val="00B050"/>
                </a:solidFill>
              </a:rPr>
              <a:t>\s</a:t>
            </a:r>
            <a:r>
              <a:rPr lang="en-GB" dirty="0"/>
              <a:t>: This character class matches any whitespace character, including spaces, tabs, and newline characters.</a:t>
            </a:r>
          </a:p>
          <a:p>
            <a:r>
              <a:rPr lang="en-GB" b="1" dirty="0">
                <a:solidFill>
                  <a:srgbClr val="00B050"/>
                </a:solidFill>
              </a:rPr>
              <a:t>[\t\n\r\f\v]</a:t>
            </a:r>
            <a:r>
              <a:rPr lang="en-GB" dirty="0"/>
              <a:t>: This character class matches any whitespace character, including tabs (\t), newline characters (\n), carriage returns (\r), form feeds (\f), and vertical tabs (\v). It's equivalent to \s, but it doesn't include spaces.</a:t>
            </a:r>
          </a:p>
        </p:txBody>
      </p:sp>
    </p:spTree>
    <p:extLst>
      <p:ext uri="{BB962C8B-B14F-4D97-AF65-F5344CB8AC3E}">
        <p14:creationId xmlns:p14="http://schemas.microsoft.com/office/powerpoint/2010/main" val="1308959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Consider the regular expression “^[A-Z]+$”, which strings below are considered regular language for this </a:t>
            </a:r>
            <a:r>
              <a:rPr lang="en-GB" dirty="0" err="1"/>
              <a:t>RegEx</a:t>
            </a:r>
            <a:r>
              <a:rPr lang="en-GB" dirty="0"/>
              <a:t>? </a:t>
            </a:r>
          </a:p>
          <a:p>
            <a:pPr marL="514350" indent="-514350">
              <a:buFont typeface="+mj-lt"/>
              <a:buAutoNum type="alphaUcPeriod"/>
            </a:pPr>
            <a:r>
              <a:rPr lang="en-GB" dirty="0"/>
              <a:t>“” (empty string)</a:t>
            </a:r>
          </a:p>
          <a:p>
            <a:pPr marL="514350" indent="-514350">
              <a:buFont typeface="+mj-lt"/>
              <a:buAutoNum type="alphaUcPeriod"/>
            </a:pPr>
            <a:r>
              <a:rPr lang="en-GB" dirty="0"/>
              <a:t>“B”</a:t>
            </a:r>
          </a:p>
          <a:p>
            <a:pPr marL="514350" indent="-514350">
              <a:buFont typeface="+mj-lt"/>
              <a:buAutoNum type="alphaUcPeriod"/>
            </a:pPr>
            <a:r>
              <a:rPr lang="en-GB" dirty="0"/>
              <a:t>“ABC”</a:t>
            </a:r>
          </a:p>
          <a:p>
            <a:pPr marL="514350" indent="-514350">
              <a:buFont typeface="+mj-lt"/>
              <a:buAutoNum type="alphaUcPeriod"/>
            </a:pPr>
            <a:r>
              <a:rPr lang="en-GB" dirty="0"/>
              <a:t>“A1B2C3”</a:t>
            </a:r>
          </a:p>
          <a:p>
            <a:pPr marL="514350" indent="-514350">
              <a:buFont typeface="+mj-lt"/>
              <a:buAutoNum type="alphaUcPeriod"/>
            </a:pPr>
            <a:r>
              <a:rPr lang="en-GB" dirty="0"/>
              <a:t>“a”</a:t>
            </a:r>
          </a:p>
          <a:p>
            <a:pPr marL="514350" indent="-514350">
              <a:buFont typeface="+mj-lt"/>
              <a:buAutoNum type="alphaUcPeriod"/>
            </a:pPr>
            <a:r>
              <a:rPr lang="en-GB" dirty="0"/>
              <a:t>“</a:t>
            </a:r>
            <a:r>
              <a:rPr lang="en-GB" dirty="0" err="1"/>
              <a:t>abC</a:t>
            </a:r>
            <a:r>
              <a:rPr lang="en-GB" dirty="0"/>
              <a:t>”</a:t>
            </a:r>
          </a:p>
          <a:p>
            <a:pPr marL="514350" indent="-514350">
              <a:buFont typeface="+mj-lt"/>
              <a:buAutoNum type="alphaUcPeriod"/>
            </a:pPr>
            <a:r>
              <a:rPr lang="en-GB" dirty="0"/>
              <a:t>“123”</a:t>
            </a:r>
          </a:p>
        </p:txBody>
      </p:sp>
    </p:spTree>
    <p:extLst>
      <p:ext uri="{BB962C8B-B14F-4D97-AF65-F5344CB8AC3E}">
        <p14:creationId xmlns:p14="http://schemas.microsoft.com/office/powerpoint/2010/main" val="3142642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Consider the regular expression “^[A-Z]+$”, which strings below are considered regular language for this </a:t>
            </a:r>
            <a:r>
              <a:rPr lang="en-GB" dirty="0" err="1"/>
              <a:t>RegEx</a:t>
            </a:r>
            <a:r>
              <a:rPr lang="en-GB" dirty="0"/>
              <a:t>? </a:t>
            </a:r>
          </a:p>
          <a:p>
            <a:pPr marL="514350" indent="-514350">
              <a:buFont typeface="+mj-lt"/>
              <a:buAutoNum type="alphaUcPeriod"/>
            </a:pPr>
            <a:r>
              <a:rPr lang="en-GB" dirty="0"/>
              <a:t>“” (empty string)</a:t>
            </a:r>
          </a:p>
          <a:p>
            <a:pPr marL="514350" indent="-514350">
              <a:buFont typeface="+mj-lt"/>
              <a:buAutoNum type="alphaUcPeriod"/>
            </a:pPr>
            <a:r>
              <a:rPr lang="en-GB" b="1" dirty="0">
                <a:solidFill>
                  <a:srgbClr val="00B050"/>
                </a:solidFill>
              </a:rPr>
              <a:t>“B”</a:t>
            </a:r>
          </a:p>
          <a:p>
            <a:pPr marL="514350" indent="-514350">
              <a:buFont typeface="+mj-lt"/>
              <a:buAutoNum type="alphaUcPeriod"/>
            </a:pPr>
            <a:r>
              <a:rPr lang="en-GB" b="1" dirty="0">
                <a:solidFill>
                  <a:srgbClr val="00B050"/>
                </a:solidFill>
              </a:rPr>
              <a:t>“ABC”</a:t>
            </a:r>
          </a:p>
          <a:p>
            <a:pPr marL="514350" indent="-514350">
              <a:buFont typeface="+mj-lt"/>
              <a:buAutoNum type="alphaUcPeriod"/>
            </a:pPr>
            <a:r>
              <a:rPr lang="en-GB" dirty="0"/>
              <a:t>“A1B2C3”</a:t>
            </a:r>
          </a:p>
          <a:p>
            <a:pPr marL="514350" indent="-514350">
              <a:buFont typeface="+mj-lt"/>
              <a:buAutoNum type="alphaUcPeriod"/>
            </a:pPr>
            <a:r>
              <a:rPr lang="en-GB" dirty="0"/>
              <a:t>“a”</a:t>
            </a:r>
          </a:p>
          <a:p>
            <a:pPr marL="514350" indent="-514350">
              <a:buFont typeface="+mj-lt"/>
              <a:buAutoNum type="alphaUcPeriod"/>
            </a:pPr>
            <a:r>
              <a:rPr lang="en-GB" dirty="0"/>
              <a:t>“</a:t>
            </a:r>
            <a:r>
              <a:rPr lang="en-GB" dirty="0" err="1"/>
              <a:t>abC</a:t>
            </a:r>
            <a:r>
              <a:rPr lang="en-GB" dirty="0"/>
              <a:t>”</a:t>
            </a:r>
          </a:p>
          <a:p>
            <a:pPr marL="514350" indent="-514350">
              <a:buFont typeface="+mj-lt"/>
              <a:buAutoNum type="alphaUcPeriod"/>
            </a:pPr>
            <a:r>
              <a:rPr lang="en-GB" dirty="0"/>
              <a:t>“123”</a:t>
            </a:r>
          </a:p>
        </p:txBody>
      </p:sp>
    </p:spTree>
    <p:extLst>
      <p:ext uri="{BB962C8B-B14F-4D97-AF65-F5344CB8AC3E}">
        <p14:creationId xmlns:p14="http://schemas.microsoft.com/office/powerpoint/2010/main" val="24294518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What does the regular expression \w+ match?</a:t>
            </a:r>
          </a:p>
          <a:p>
            <a:pPr marL="514350" indent="-514350">
              <a:buFont typeface="+mj-lt"/>
              <a:buAutoNum type="alphaUcPeriod"/>
            </a:pPr>
            <a:r>
              <a:rPr lang="en-GB" dirty="0"/>
              <a:t>Any string that contains at least one whitespace character</a:t>
            </a:r>
          </a:p>
          <a:p>
            <a:pPr marL="514350" indent="-514350">
              <a:buFont typeface="+mj-lt"/>
              <a:buAutoNum type="alphaUcPeriod"/>
            </a:pPr>
            <a:r>
              <a:rPr lang="en-GB" dirty="0"/>
              <a:t>Any string that starts with a digit and ends with a letter</a:t>
            </a:r>
          </a:p>
          <a:p>
            <a:pPr marL="514350" indent="-514350">
              <a:buFont typeface="+mj-lt"/>
              <a:buAutoNum type="alphaUcPeriod"/>
            </a:pPr>
            <a:r>
              <a:rPr lang="en-GB" dirty="0"/>
              <a:t>Any string that contains one or more “word” characters</a:t>
            </a:r>
          </a:p>
          <a:p>
            <a:pPr marL="514350" indent="-514350">
              <a:buFont typeface="+mj-lt"/>
              <a:buAutoNum type="alphaUcPeriod"/>
            </a:pPr>
            <a:r>
              <a:rPr lang="en-GB" dirty="0"/>
              <a:t>Any string that contains exactly one “word” character</a:t>
            </a:r>
          </a:p>
        </p:txBody>
      </p:sp>
    </p:spTree>
    <p:extLst>
      <p:ext uri="{BB962C8B-B14F-4D97-AF65-F5344CB8AC3E}">
        <p14:creationId xmlns:p14="http://schemas.microsoft.com/office/powerpoint/2010/main" val="39979707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What does the regular expression \w+ match?</a:t>
            </a:r>
          </a:p>
          <a:p>
            <a:pPr marL="514350" indent="-514350">
              <a:buFont typeface="+mj-lt"/>
              <a:buAutoNum type="alphaUcPeriod"/>
            </a:pPr>
            <a:r>
              <a:rPr lang="en-GB" dirty="0"/>
              <a:t>Any string that contains at least one whitespace character</a:t>
            </a:r>
          </a:p>
          <a:p>
            <a:pPr marL="514350" indent="-514350">
              <a:buFont typeface="+mj-lt"/>
              <a:buAutoNum type="alphaUcPeriod"/>
            </a:pPr>
            <a:r>
              <a:rPr lang="en-GB" dirty="0"/>
              <a:t>Any string that starts with a digit and ends with a letter</a:t>
            </a:r>
          </a:p>
          <a:p>
            <a:pPr marL="514350" indent="-514350">
              <a:buFont typeface="+mj-lt"/>
              <a:buAutoNum type="alphaUcPeriod"/>
            </a:pPr>
            <a:r>
              <a:rPr lang="en-GB" b="1" dirty="0">
                <a:solidFill>
                  <a:srgbClr val="00B050"/>
                </a:solidFill>
              </a:rPr>
              <a:t>Any string that contains one or more “word” characters</a:t>
            </a:r>
          </a:p>
          <a:p>
            <a:pPr marL="514350" indent="-514350">
              <a:buFont typeface="+mj-lt"/>
              <a:buAutoNum type="alphaUcPeriod"/>
            </a:pPr>
            <a:r>
              <a:rPr lang="en-GB" dirty="0"/>
              <a:t>Any string that contains exactly one “word” character</a:t>
            </a:r>
          </a:p>
        </p:txBody>
      </p:sp>
    </p:spTree>
    <p:extLst>
      <p:ext uri="{BB962C8B-B14F-4D97-AF65-F5344CB8AC3E}">
        <p14:creationId xmlns:p14="http://schemas.microsoft.com/office/powerpoint/2010/main" val="114969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What does the regular expression </a:t>
            </a:r>
            <a:r>
              <a:rPr lang="en-GB" i="1" dirty="0"/>
              <a:t>\scat\s</a:t>
            </a:r>
            <a:r>
              <a:rPr lang="en-GB" dirty="0"/>
              <a:t> match?</a:t>
            </a:r>
          </a:p>
          <a:p>
            <a:pPr marL="514350" indent="-514350">
              <a:buFont typeface="+mj-lt"/>
              <a:buAutoNum type="alphaUcPeriod"/>
            </a:pPr>
            <a:r>
              <a:rPr lang="en-GB" dirty="0"/>
              <a:t>Any string that contains the substring “cat”</a:t>
            </a:r>
          </a:p>
          <a:p>
            <a:pPr marL="514350" indent="-514350">
              <a:buFont typeface="+mj-lt"/>
              <a:buAutoNum type="alphaUcPeriod"/>
            </a:pPr>
            <a:r>
              <a:rPr lang="en-GB" dirty="0"/>
              <a:t>Any string that starts with the letter “c” and ends with the letter “t” </a:t>
            </a:r>
          </a:p>
          <a:p>
            <a:pPr marL="514350" indent="-514350">
              <a:buFont typeface="+mj-lt"/>
              <a:buAutoNum type="alphaUcPeriod"/>
            </a:pPr>
            <a:r>
              <a:rPr lang="en-GB" dirty="0"/>
              <a:t>Any string that contains the substring “cat” surrounded by whitespace characters</a:t>
            </a:r>
          </a:p>
          <a:p>
            <a:pPr marL="514350" indent="-514350">
              <a:buFont typeface="+mj-lt"/>
              <a:buAutoNum type="alphaUcPeriod"/>
            </a:pPr>
            <a:r>
              <a:rPr lang="en-GB" dirty="0"/>
              <a:t>Any string that contains the substring “cat” surrounded by any characters</a:t>
            </a:r>
          </a:p>
        </p:txBody>
      </p:sp>
    </p:spTree>
    <p:extLst>
      <p:ext uri="{BB962C8B-B14F-4D97-AF65-F5344CB8AC3E}">
        <p14:creationId xmlns:p14="http://schemas.microsoft.com/office/powerpoint/2010/main" val="16431558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What does the regular expression </a:t>
            </a:r>
            <a:r>
              <a:rPr lang="en-GB" i="1" dirty="0"/>
              <a:t>\scat\s</a:t>
            </a:r>
            <a:r>
              <a:rPr lang="en-GB" dirty="0"/>
              <a:t> match?</a:t>
            </a:r>
          </a:p>
          <a:p>
            <a:pPr marL="514350" indent="-514350">
              <a:buFont typeface="+mj-lt"/>
              <a:buAutoNum type="alphaUcPeriod"/>
            </a:pPr>
            <a:r>
              <a:rPr lang="en-GB" dirty="0"/>
              <a:t>Any string that contains the substring “cat”</a:t>
            </a:r>
          </a:p>
          <a:p>
            <a:pPr marL="514350" indent="-514350">
              <a:buFont typeface="+mj-lt"/>
              <a:buAutoNum type="alphaUcPeriod"/>
            </a:pPr>
            <a:r>
              <a:rPr lang="en-GB" dirty="0"/>
              <a:t>Any string that starts with the letter “c” and ends with the letter “t” </a:t>
            </a:r>
          </a:p>
          <a:p>
            <a:pPr marL="514350" indent="-514350">
              <a:buFont typeface="+mj-lt"/>
              <a:buAutoNum type="alphaUcPeriod"/>
            </a:pPr>
            <a:r>
              <a:rPr lang="en-GB" b="1" dirty="0">
                <a:solidFill>
                  <a:srgbClr val="00B050"/>
                </a:solidFill>
              </a:rPr>
              <a:t>Any string that contains the substring “cat” surrounded by whitespace characters</a:t>
            </a:r>
          </a:p>
          <a:p>
            <a:pPr marL="514350" indent="-514350">
              <a:buFont typeface="+mj-lt"/>
              <a:buAutoNum type="alphaUcPeriod"/>
            </a:pPr>
            <a:r>
              <a:rPr lang="en-GB" dirty="0"/>
              <a:t>Any string that contains the substring “cat” surrounded by any characters</a:t>
            </a:r>
          </a:p>
        </p:txBody>
      </p:sp>
    </p:spTree>
    <p:extLst>
      <p:ext uri="{BB962C8B-B14F-4D97-AF65-F5344CB8AC3E}">
        <p14:creationId xmlns:p14="http://schemas.microsoft.com/office/powerpoint/2010/main" val="37847505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What does the regular expression ^[a-z]+\d?$ match?</a:t>
            </a:r>
          </a:p>
          <a:p>
            <a:pPr marL="514350" indent="-514350">
              <a:buFont typeface="+mj-lt"/>
              <a:buAutoNum type="alphaUcPeriod"/>
            </a:pPr>
            <a:r>
              <a:rPr lang="en-GB" dirty="0"/>
              <a:t>Any string that starts with a lowercase letter and ends with a digit </a:t>
            </a:r>
          </a:p>
          <a:p>
            <a:pPr marL="514350" indent="-514350">
              <a:buFont typeface="+mj-lt"/>
              <a:buAutoNum type="alphaUcPeriod"/>
            </a:pPr>
            <a:r>
              <a:rPr lang="en-GB" dirty="0"/>
              <a:t>Any string that starts with a digit and ends with a lowercase letter </a:t>
            </a:r>
          </a:p>
          <a:p>
            <a:pPr marL="514350" indent="-514350">
              <a:buFont typeface="+mj-lt"/>
              <a:buAutoNum type="alphaUcPeriod"/>
            </a:pPr>
            <a:r>
              <a:rPr lang="en-GB" dirty="0"/>
              <a:t>Any string that starts and uses one or more lowercase letters, and optionally ends with a digit</a:t>
            </a:r>
          </a:p>
          <a:p>
            <a:pPr marL="514350" indent="-514350">
              <a:buFont typeface="+mj-lt"/>
              <a:buAutoNum type="alphaUcPeriod"/>
            </a:pPr>
            <a:r>
              <a:rPr lang="en-GB" dirty="0"/>
              <a:t>Any string that contains exactly one lowercase letter followed by a digit</a:t>
            </a:r>
          </a:p>
        </p:txBody>
      </p:sp>
    </p:spTree>
    <p:extLst>
      <p:ext uri="{BB962C8B-B14F-4D97-AF65-F5344CB8AC3E}">
        <p14:creationId xmlns:p14="http://schemas.microsoft.com/office/powerpoint/2010/main" val="41176249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F26-6E39-90F9-DA01-1CE2F3B4E345}"/>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88E7E02-41CA-5502-EC81-CC1584EA1981}"/>
              </a:ext>
            </a:extLst>
          </p:cNvPr>
          <p:cNvSpPr>
            <a:spLocks noGrp="1"/>
          </p:cNvSpPr>
          <p:nvPr>
            <p:ph idx="1"/>
          </p:nvPr>
        </p:nvSpPr>
        <p:spPr>
          <a:xfrm>
            <a:off x="838200" y="1825624"/>
            <a:ext cx="10515600" cy="5032375"/>
          </a:xfrm>
        </p:spPr>
        <p:txBody>
          <a:bodyPr>
            <a:normAutofit/>
          </a:bodyPr>
          <a:lstStyle/>
          <a:p>
            <a:pPr marL="0" indent="0">
              <a:buNone/>
            </a:pPr>
            <a:r>
              <a:rPr lang="en-GB" dirty="0"/>
              <a:t>What does the regular expression ^[a-z]+\d?$ match?</a:t>
            </a:r>
          </a:p>
          <a:p>
            <a:pPr marL="514350" indent="-514350">
              <a:buFont typeface="+mj-lt"/>
              <a:buAutoNum type="alphaUcPeriod"/>
            </a:pPr>
            <a:r>
              <a:rPr lang="en-GB" dirty="0"/>
              <a:t>Any string that starts with a lowercase letter and ends with a digit </a:t>
            </a:r>
          </a:p>
          <a:p>
            <a:pPr marL="514350" indent="-514350">
              <a:buFont typeface="+mj-lt"/>
              <a:buAutoNum type="alphaUcPeriod"/>
            </a:pPr>
            <a:r>
              <a:rPr lang="en-GB" dirty="0"/>
              <a:t>Any string that starts with a digit and ends with a lowercase letter </a:t>
            </a:r>
          </a:p>
          <a:p>
            <a:pPr marL="514350" indent="-514350">
              <a:buFont typeface="+mj-lt"/>
              <a:buAutoNum type="alphaUcPeriod"/>
            </a:pPr>
            <a:r>
              <a:rPr lang="en-GB" b="1" dirty="0">
                <a:solidFill>
                  <a:srgbClr val="00B050"/>
                </a:solidFill>
              </a:rPr>
              <a:t>Any string that starts and uses one or more lowercase letters, and optionally ends with a digit</a:t>
            </a:r>
          </a:p>
          <a:p>
            <a:pPr marL="514350" indent="-514350">
              <a:buFont typeface="+mj-lt"/>
              <a:buAutoNum type="alphaUcPeriod"/>
            </a:pPr>
            <a:r>
              <a:rPr lang="en-GB" dirty="0"/>
              <a:t>Any string that contains exactly one lowercase letter followed by a digit</a:t>
            </a:r>
          </a:p>
        </p:txBody>
      </p:sp>
    </p:spTree>
    <p:extLst>
      <p:ext uri="{BB962C8B-B14F-4D97-AF65-F5344CB8AC3E}">
        <p14:creationId xmlns:p14="http://schemas.microsoft.com/office/powerpoint/2010/main" val="41828978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E06F-0A7A-596E-78BE-130B9399252C}"/>
              </a:ext>
            </a:extLst>
          </p:cNvPr>
          <p:cNvSpPr>
            <a:spLocks noGrp="1"/>
          </p:cNvSpPr>
          <p:nvPr>
            <p:ph type="title"/>
          </p:nvPr>
        </p:nvSpPr>
        <p:spPr/>
        <p:txBody>
          <a:bodyPr/>
          <a:lstStyle/>
          <a:p>
            <a:r>
              <a:rPr lang="en-GB" dirty="0"/>
              <a:t>The </a:t>
            </a:r>
            <a:r>
              <a:rPr lang="en-GB" dirty="0" err="1"/>
              <a:t>RegEx</a:t>
            </a:r>
            <a:r>
              <a:rPr lang="en-GB" dirty="0"/>
              <a:t> library in C</a:t>
            </a:r>
            <a:endParaRPr lang="en-SG" dirty="0"/>
          </a:p>
        </p:txBody>
      </p:sp>
      <p:sp>
        <p:nvSpPr>
          <p:cNvPr id="3" name="Content Placeholder 2">
            <a:extLst>
              <a:ext uri="{FF2B5EF4-FFF2-40B4-BE49-F238E27FC236}">
                <a16:creationId xmlns:a16="http://schemas.microsoft.com/office/drawing/2014/main" id="{B653FE18-D081-79E9-0ADC-A0FEE2EF2C01}"/>
              </a:ext>
            </a:extLst>
          </p:cNvPr>
          <p:cNvSpPr>
            <a:spLocks noGrp="1"/>
          </p:cNvSpPr>
          <p:nvPr>
            <p:ph idx="1"/>
          </p:nvPr>
        </p:nvSpPr>
        <p:spPr>
          <a:xfrm>
            <a:off x="838200" y="1825624"/>
            <a:ext cx="10515600" cy="5032375"/>
          </a:xfrm>
        </p:spPr>
        <p:txBody>
          <a:bodyPr>
            <a:normAutofit/>
          </a:bodyPr>
          <a:lstStyle/>
          <a:p>
            <a:pPr marL="0" indent="0">
              <a:buNone/>
            </a:pPr>
            <a:r>
              <a:rPr lang="en-GB" dirty="0"/>
              <a:t>The </a:t>
            </a:r>
            <a:r>
              <a:rPr lang="en-GB" dirty="0" err="1"/>
              <a:t>RegEx</a:t>
            </a:r>
            <a:r>
              <a:rPr lang="en-GB" dirty="0"/>
              <a:t> library is a library of functions and tools for working with regular expressions in C (among other languages), and provides a set of functions and tools for compiling, matching, and manipulating regular expressions</a:t>
            </a:r>
          </a:p>
          <a:p>
            <a:pPr>
              <a:buFont typeface="Arial" panose="020B0604020202020204" pitchFamily="34" charset="0"/>
              <a:buChar char="•"/>
            </a:pPr>
            <a:r>
              <a:rPr lang="en-GB" dirty="0"/>
              <a:t>Compiling a regular expression pattern into its equivalent FSM,</a:t>
            </a:r>
          </a:p>
          <a:p>
            <a:pPr>
              <a:buFont typeface="Arial" panose="020B0604020202020204" pitchFamily="34" charset="0"/>
              <a:buChar char="•"/>
            </a:pPr>
            <a:r>
              <a:rPr lang="en-GB" dirty="0"/>
              <a:t>Use this regular expression FSM on a given input string,</a:t>
            </a:r>
          </a:p>
          <a:p>
            <a:pPr>
              <a:buFont typeface="Arial" panose="020B0604020202020204" pitchFamily="34" charset="0"/>
              <a:buChar char="•"/>
            </a:pPr>
            <a:r>
              <a:rPr lang="en-GB" dirty="0"/>
              <a:t>Therefore, deciding if the input string is acceptable for this </a:t>
            </a:r>
            <a:r>
              <a:rPr lang="en-GB" dirty="0" err="1"/>
              <a:t>RegEx</a:t>
            </a:r>
            <a:r>
              <a:rPr lang="en-GB" dirty="0"/>
              <a:t>.</a:t>
            </a:r>
          </a:p>
          <a:p>
            <a:pPr>
              <a:buFont typeface="Arial" panose="020B0604020202020204" pitchFamily="34" charset="0"/>
              <a:buChar char="•"/>
            </a:pPr>
            <a:r>
              <a:rPr lang="en-GB" dirty="0"/>
              <a:t>Etc.</a:t>
            </a:r>
          </a:p>
          <a:p>
            <a:pPr marL="0" indent="0">
              <a:buNone/>
            </a:pPr>
            <a:endParaRPr lang="en-SG" dirty="0"/>
          </a:p>
        </p:txBody>
      </p:sp>
    </p:spTree>
    <p:extLst>
      <p:ext uri="{BB962C8B-B14F-4D97-AF65-F5344CB8AC3E}">
        <p14:creationId xmlns:p14="http://schemas.microsoft.com/office/powerpoint/2010/main" val="31740821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E06F-0A7A-596E-78BE-130B9399252C}"/>
              </a:ext>
            </a:extLst>
          </p:cNvPr>
          <p:cNvSpPr>
            <a:spLocks noGrp="1"/>
          </p:cNvSpPr>
          <p:nvPr>
            <p:ph type="title"/>
          </p:nvPr>
        </p:nvSpPr>
        <p:spPr/>
        <p:txBody>
          <a:bodyPr/>
          <a:lstStyle/>
          <a:p>
            <a:r>
              <a:rPr lang="en-GB" dirty="0"/>
              <a:t>The </a:t>
            </a:r>
            <a:r>
              <a:rPr lang="en-GB" dirty="0" err="1"/>
              <a:t>RegEx</a:t>
            </a:r>
            <a:r>
              <a:rPr lang="en-GB" dirty="0"/>
              <a:t> library in C</a:t>
            </a:r>
            <a:endParaRPr lang="en-SG" dirty="0"/>
          </a:p>
        </p:txBody>
      </p:sp>
      <p:sp>
        <p:nvSpPr>
          <p:cNvPr id="3" name="Content Placeholder 2">
            <a:extLst>
              <a:ext uri="{FF2B5EF4-FFF2-40B4-BE49-F238E27FC236}">
                <a16:creationId xmlns:a16="http://schemas.microsoft.com/office/drawing/2014/main" id="{B653FE18-D081-79E9-0ADC-A0FEE2EF2C01}"/>
              </a:ext>
            </a:extLst>
          </p:cNvPr>
          <p:cNvSpPr>
            <a:spLocks noGrp="1"/>
          </p:cNvSpPr>
          <p:nvPr>
            <p:ph idx="1"/>
          </p:nvPr>
        </p:nvSpPr>
        <p:spPr>
          <a:xfrm>
            <a:off x="838200" y="1825624"/>
            <a:ext cx="10515600" cy="5032375"/>
          </a:xfrm>
        </p:spPr>
        <p:txBody>
          <a:bodyPr>
            <a:normAutofit/>
          </a:bodyPr>
          <a:lstStyle/>
          <a:p>
            <a:pPr marL="0" indent="0">
              <a:buNone/>
            </a:pPr>
            <a:r>
              <a:rPr lang="en-GB" dirty="0">
                <a:solidFill>
                  <a:schemeClr val="bg1">
                    <a:lumMod val="65000"/>
                  </a:schemeClr>
                </a:solidFill>
              </a:rPr>
              <a:t>The </a:t>
            </a:r>
            <a:r>
              <a:rPr lang="en-GB" dirty="0" err="1">
                <a:solidFill>
                  <a:schemeClr val="bg1">
                    <a:lumMod val="65000"/>
                  </a:schemeClr>
                </a:solidFill>
              </a:rPr>
              <a:t>RegEx</a:t>
            </a:r>
            <a:r>
              <a:rPr lang="en-GB" dirty="0">
                <a:solidFill>
                  <a:schemeClr val="bg1">
                    <a:lumMod val="65000"/>
                  </a:schemeClr>
                </a:solidFill>
              </a:rPr>
              <a:t> library is a library of functions and tools for working with regular expressions in C (among other languages), and provides a set of functions and tools for compiling, matching, and manipulating regular expressions</a:t>
            </a:r>
          </a:p>
          <a:p>
            <a:pPr>
              <a:buFont typeface="Arial" panose="020B0604020202020204" pitchFamily="34" charset="0"/>
              <a:buChar char="•"/>
            </a:pPr>
            <a:r>
              <a:rPr lang="en-GB" dirty="0">
                <a:solidFill>
                  <a:schemeClr val="bg1">
                    <a:lumMod val="65000"/>
                  </a:schemeClr>
                </a:solidFill>
              </a:rPr>
              <a:t>Compiling a regular expression pattern into its equivalent FSM,</a:t>
            </a:r>
          </a:p>
          <a:p>
            <a:pPr>
              <a:buFont typeface="Arial" panose="020B0604020202020204" pitchFamily="34" charset="0"/>
              <a:buChar char="•"/>
            </a:pPr>
            <a:r>
              <a:rPr lang="en-GB" dirty="0">
                <a:solidFill>
                  <a:schemeClr val="bg1">
                    <a:lumMod val="65000"/>
                  </a:schemeClr>
                </a:solidFill>
              </a:rPr>
              <a:t>Use this regular expression FSM on a given input string,</a:t>
            </a:r>
          </a:p>
          <a:p>
            <a:pPr>
              <a:buFont typeface="Arial" panose="020B0604020202020204" pitchFamily="34" charset="0"/>
              <a:buChar char="•"/>
            </a:pPr>
            <a:r>
              <a:rPr lang="en-GB" dirty="0">
                <a:solidFill>
                  <a:schemeClr val="bg1">
                    <a:lumMod val="65000"/>
                  </a:schemeClr>
                </a:solidFill>
              </a:rPr>
              <a:t>Therefore, deciding if the input string is acceptable for this </a:t>
            </a:r>
            <a:r>
              <a:rPr lang="en-GB" dirty="0" err="1">
                <a:solidFill>
                  <a:schemeClr val="bg1">
                    <a:lumMod val="65000"/>
                  </a:schemeClr>
                </a:solidFill>
              </a:rPr>
              <a:t>RegEx</a:t>
            </a:r>
            <a:r>
              <a:rPr lang="en-GB" dirty="0">
                <a:solidFill>
                  <a:schemeClr val="bg1">
                    <a:lumMod val="65000"/>
                  </a:schemeClr>
                </a:solidFill>
              </a:rPr>
              <a:t>.</a:t>
            </a:r>
          </a:p>
          <a:p>
            <a:pPr>
              <a:buFont typeface="Arial" panose="020B0604020202020204" pitchFamily="34" charset="0"/>
              <a:buChar char="•"/>
            </a:pPr>
            <a:r>
              <a:rPr lang="en-GB" dirty="0">
                <a:solidFill>
                  <a:schemeClr val="bg1">
                    <a:lumMod val="65000"/>
                  </a:schemeClr>
                </a:solidFill>
              </a:rPr>
              <a:t>Etc.</a:t>
            </a:r>
          </a:p>
          <a:p>
            <a:pPr marL="0" indent="0">
              <a:buNone/>
            </a:pPr>
            <a:endParaRPr lang="en-SG" dirty="0">
              <a:solidFill>
                <a:schemeClr val="bg1">
                  <a:lumMod val="65000"/>
                </a:schemeClr>
              </a:solidFill>
            </a:endParaRPr>
          </a:p>
        </p:txBody>
      </p:sp>
      <p:sp>
        <p:nvSpPr>
          <p:cNvPr id="6" name="TextBox 5">
            <a:extLst>
              <a:ext uri="{FF2B5EF4-FFF2-40B4-BE49-F238E27FC236}">
                <a16:creationId xmlns:a16="http://schemas.microsoft.com/office/drawing/2014/main" id="{2A275368-269B-92F0-E3AB-F74C09BE057C}"/>
              </a:ext>
            </a:extLst>
          </p:cNvPr>
          <p:cNvSpPr txBox="1"/>
          <p:nvPr/>
        </p:nvSpPr>
        <p:spPr>
          <a:xfrm rot="20466896">
            <a:off x="536005" y="2826007"/>
            <a:ext cx="10244515" cy="2308324"/>
          </a:xfrm>
          <a:prstGeom prst="rect">
            <a:avLst/>
          </a:prstGeom>
          <a:noFill/>
        </p:spPr>
        <p:txBody>
          <a:bodyPr wrap="square" rtlCol="0">
            <a:spAutoFit/>
          </a:bodyPr>
          <a:lstStyle/>
          <a:p>
            <a:pPr algn="ctr"/>
            <a:r>
              <a:rPr lang="en-GB" sz="4800" b="1" dirty="0">
                <a:ln w="22225">
                  <a:solidFill>
                    <a:schemeClr val="tx1"/>
                  </a:solidFill>
                  <a:prstDash val="solid"/>
                </a:ln>
                <a:solidFill>
                  <a:schemeClr val="accent1">
                    <a:lumMod val="50000"/>
                  </a:schemeClr>
                </a:solidFill>
              </a:rPr>
              <a:t>Will be useful to recognize keywords and other things during the Tokenization part of the compiler!</a:t>
            </a:r>
            <a:endParaRPr lang="en-SG" sz="4800" b="1" dirty="0">
              <a:ln w="22225">
                <a:solidFill>
                  <a:schemeClr val="tx1"/>
                </a:solidFill>
                <a:prstDash val="solid"/>
              </a:ln>
              <a:solidFill>
                <a:schemeClr val="accent1">
                  <a:lumMod val="50000"/>
                </a:schemeClr>
              </a:solidFill>
            </a:endParaRPr>
          </a:p>
        </p:txBody>
      </p:sp>
    </p:spTree>
    <p:extLst>
      <p:ext uri="{BB962C8B-B14F-4D97-AF65-F5344CB8AC3E}">
        <p14:creationId xmlns:p14="http://schemas.microsoft.com/office/powerpoint/2010/main" val="34229295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8623B9-61CF-4DC8-BE8A-A66848C055CA}"/>
              </a:ext>
            </a:extLst>
          </p:cNvPr>
          <p:cNvPicPr>
            <a:picLocks noChangeAspect="1"/>
          </p:cNvPicPr>
          <p:nvPr/>
        </p:nvPicPr>
        <p:blipFill>
          <a:blip r:embed="rId2"/>
          <a:stretch>
            <a:fillRect/>
          </a:stretch>
        </p:blipFill>
        <p:spPr>
          <a:xfrm>
            <a:off x="2401373" y="0"/>
            <a:ext cx="7389254" cy="6858000"/>
          </a:xfrm>
          <a:prstGeom prst="rect">
            <a:avLst/>
          </a:prstGeom>
        </p:spPr>
      </p:pic>
    </p:spTree>
    <p:extLst>
      <p:ext uri="{BB962C8B-B14F-4D97-AF65-F5344CB8AC3E}">
        <p14:creationId xmlns:p14="http://schemas.microsoft.com/office/powerpoint/2010/main" val="13120709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505A60-B116-6F03-A9D7-8E50DCFBCE0F}"/>
              </a:ext>
            </a:extLst>
          </p:cNvPr>
          <p:cNvSpPr>
            <a:spLocks noGrp="1"/>
          </p:cNvSpPr>
          <p:nvPr>
            <p:ph type="title"/>
          </p:nvPr>
        </p:nvSpPr>
        <p:spPr/>
        <p:txBody>
          <a:bodyPr/>
          <a:lstStyle/>
          <a:p>
            <a:r>
              <a:rPr lang="en-GB" dirty="0"/>
              <a:t>More stuff about </a:t>
            </a:r>
            <a:r>
              <a:rPr lang="en-GB" dirty="0" err="1"/>
              <a:t>RegEx</a:t>
            </a:r>
            <a:endParaRPr lang="en-GB" dirty="0"/>
          </a:p>
        </p:txBody>
      </p:sp>
      <p:sp>
        <p:nvSpPr>
          <p:cNvPr id="6" name="Text Placeholder 5">
            <a:extLst>
              <a:ext uri="{FF2B5EF4-FFF2-40B4-BE49-F238E27FC236}">
                <a16:creationId xmlns:a16="http://schemas.microsoft.com/office/drawing/2014/main" id="{1CC8FDEB-7528-F344-A819-519A4D80B8F1}"/>
              </a:ext>
            </a:extLst>
          </p:cNvPr>
          <p:cNvSpPr>
            <a:spLocks noGrp="1"/>
          </p:cNvSpPr>
          <p:nvPr>
            <p:ph type="body" idx="1"/>
          </p:nvPr>
        </p:nvSpPr>
        <p:spPr/>
        <p:txBody>
          <a:bodyPr/>
          <a:lstStyle/>
          <a:p>
            <a:r>
              <a:rPr lang="en-GB" dirty="0"/>
              <a:t>For curiosity, but probably very niche in practice.</a:t>
            </a:r>
          </a:p>
        </p:txBody>
      </p:sp>
    </p:spTree>
    <p:extLst>
      <p:ext uri="{BB962C8B-B14F-4D97-AF65-F5344CB8AC3E}">
        <p14:creationId xmlns:p14="http://schemas.microsoft.com/office/powerpoint/2010/main" val="39430747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2A5E-DC4B-3EE0-0CA7-7D99FD1E65C5}"/>
              </a:ext>
            </a:extLst>
          </p:cNvPr>
          <p:cNvSpPr>
            <a:spLocks noGrp="1"/>
          </p:cNvSpPr>
          <p:nvPr>
            <p:ph type="title"/>
          </p:nvPr>
        </p:nvSpPr>
        <p:spPr/>
        <p:txBody>
          <a:bodyPr/>
          <a:lstStyle/>
          <a:p>
            <a:r>
              <a:rPr lang="en-GB" dirty="0"/>
              <a:t>The curly braces in </a:t>
            </a:r>
            <a:r>
              <a:rPr lang="en-GB" dirty="0" err="1"/>
              <a:t>RegEx</a:t>
            </a:r>
            <a:endParaRPr lang="en-SG" dirty="0"/>
          </a:p>
        </p:txBody>
      </p:sp>
      <p:sp>
        <p:nvSpPr>
          <p:cNvPr id="3" name="Content Placeholder 2">
            <a:extLst>
              <a:ext uri="{FF2B5EF4-FFF2-40B4-BE49-F238E27FC236}">
                <a16:creationId xmlns:a16="http://schemas.microsoft.com/office/drawing/2014/main" id="{2392BE80-8D03-5C6C-7563-1BA103BA7F9B}"/>
              </a:ext>
            </a:extLst>
          </p:cNvPr>
          <p:cNvSpPr>
            <a:spLocks noGrp="1"/>
          </p:cNvSpPr>
          <p:nvPr>
            <p:ph sz="half" idx="1"/>
          </p:nvPr>
        </p:nvSpPr>
        <p:spPr>
          <a:xfrm>
            <a:off x="838200" y="1825624"/>
            <a:ext cx="5181600" cy="5032375"/>
          </a:xfrm>
        </p:spPr>
        <p:txBody>
          <a:bodyPr>
            <a:normAutofit/>
          </a:bodyPr>
          <a:lstStyle/>
          <a:p>
            <a:pPr marL="0" indent="0">
              <a:buNone/>
            </a:pPr>
            <a:r>
              <a:rPr lang="en-GB" dirty="0"/>
              <a:t>In </a:t>
            </a:r>
            <a:r>
              <a:rPr lang="en-GB" dirty="0" err="1"/>
              <a:t>RegEx</a:t>
            </a:r>
            <a:r>
              <a:rPr lang="en-GB" dirty="0"/>
              <a:t>, the </a:t>
            </a:r>
            <a:r>
              <a:rPr lang="en-GB" b="1" dirty="0"/>
              <a:t>curly braces (</a:t>
            </a:r>
            <a:r>
              <a:rPr lang="en-GB" b="1" dirty="0">
                <a:solidFill>
                  <a:srgbClr val="00B050"/>
                </a:solidFill>
              </a:rPr>
              <a:t>{}</a:t>
            </a:r>
            <a:r>
              <a:rPr lang="en-GB" b="1" dirty="0"/>
              <a:t>) </a:t>
            </a:r>
            <a:r>
              <a:rPr lang="en-GB" dirty="0"/>
              <a:t>are used to </a:t>
            </a:r>
            <a:r>
              <a:rPr lang="en-GB" b="1" dirty="0"/>
              <a:t>specify how many times a preceding element should be matched</a:t>
            </a:r>
            <a:r>
              <a:rPr lang="en-GB" dirty="0"/>
              <a:t>.</a:t>
            </a:r>
          </a:p>
          <a:p>
            <a:r>
              <a:rPr lang="en-GB" b="1" dirty="0">
                <a:solidFill>
                  <a:srgbClr val="00B050"/>
                </a:solidFill>
              </a:rPr>
              <a:t>{n} </a:t>
            </a:r>
            <a:r>
              <a:rPr lang="en-GB" dirty="0"/>
              <a:t>matches the preceding element exactly n times,</a:t>
            </a:r>
          </a:p>
          <a:p>
            <a:r>
              <a:rPr lang="en-GB" b="1" dirty="0">
                <a:solidFill>
                  <a:srgbClr val="00B050"/>
                </a:solidFill>
              </a:rPr>
              <a:t>{</a:t>
            </a:r>
            <a:r>
              <a:rPr lang="en-GB" b="1" dirty="0" err="1">
                <a:solidFill>
                  <a:srgbClr val="00B050"/>
                </a:solidFill>
              </a:rPr>
              <a:t>n,m</a:t>
            </a:r>
            <a:r>
              <a:rPr lang="en-GB" b="1" dirty="0">
                <a:solidFill>
                  <a:srgbClr val="00B050"/>
                </a:solidFill>
              </a:rPr>
              <a:t>} </a:t>
            </a:r>
            <a:r>
              <a:rPr lang="en-GB" dirty="0"/>
              <a:t>matches the preceding element between n and m times (inclusive), </a:t>
            </a:r>
          </a:p>
          <a:p>
            <a:r>
              <a:rPr lang="en-GB" dirty="0"/>
              <a:t>and </a:t>
            </a:r>
            <a:r>
              <a:rPr lang="en-GB" b="1" dirty="0">
                <a:solidFill>
                  <a:srgbClr val="00B050"/>
                </a:solidFill>
              </a:rPr>
              <a:t>{n,} </a:t>
            </a:r>
            <a:r>
              <a:rPr lang="en-GB" dirty="0"/>
              <a:t>matches the preceding element at least n times.</a:t>
            </a:r>
          </a:p>
        </p:txBody>
      </p:sp>
      <p:sp>
        <p:nvSpPr>
          <p:cNvPr id="4" name="Content Placeholder 3">
            <a:extLst>
              <a:ext uri="{FF2B5EF4-FFF2-40B4-BE49-F238E27FC236}">
                <a16:creationId xmlns:a16="http://schemas.microsoft.com/office/drawing/2014/main" id="{7A2AC50E-1465-5908-D118-3F008F99595A}"/>
              </a:ext>
            </a:extLst>
          </p:cNvPr>
          <p:cNvSpPr>
            <a:spLocks noGrp="1"/>
          </p:cNvSpPr>
          <p:nvPr>
            <p:ph sz="half" idx="2"/>
          </p:nvPr>
        </p:nvSpPr>
        <p:spPr>
          <a:xfrm>
            <a:off x="6172200" y="1825625"/>
            <a:ext cx="5181600" cy="5032374"/>
          </a:xfrm>
        </p:spPr>
        <p:txBody>
          <a:bodyPr>
            <a:normAutofit/>
          </a:bodyPr>
          <a:lstStyle/>
          <a:p>
            <a:pPr marL="0" indent="0">
              <a:buNone/>
            </a:pPr>
            <a:r>
              <a:rPr lang="en-GB" dirty="0"/>
              <a:t>For instance,</a:t>
            </a:r>
          </a:p>
          <a:p>
            <a:pPr>
              <a:buFont typeface="Arial" panose="020B0604020202020204" pitchFamily="34" charset="0"/>
              <a:buChar char="•"/>
            </a:pPr>
            <a:r>
              <a:rPr lang="en-GB" dirty="0"/>
              <a:t>a{3} matches the string "</a:t>
            </a:r>
            <a:r>
              <a:rPr lang="en-GB" dirty="0" err="1"/>
              <a:t>aaa</a:t>
            </a:r>
            <a:r>
              <a:rPr lang="en-GB" dirty="0"/>
              <a:t>", but not "aa" or "</a:t>
            </a:r>
            <a:r>
              <a:rPr lang="en-GB" dirty="0" err="1"/>
              <a:t>aaaa</a:t>
            </a:r>
            <a:r>
              <a:rPr lang="en-GB" dirty="0"/>
              <a:t>".</a:t>
            </a:r>
          </a:p>
          <a:p>
            <a:pPr>
              <a:buFont typeface="Arial" panose="020B0604020202020204" pitchFamily="34" charset="0"/>
              <a:buChar char="•"/>
            </a:pPr>
            <a:r>
              <a:rPr lang="en-GB" dirty="0"/>
              <a:t>a{2,4} matches the string "aa", "</a:t>
            </a:r>
            <a:r>
              <a:rPr lang="en-GB" dirty="0" err="1"/>
              <a:t>aaa</a:t>
            </a:r>
            <a:r>
              <a:rPr lang="en-GB" dirty="0"/>
              <a:t>", or "</a:t>
            </a:r>
            <a:r>
              <a:rPr lang="en-GB" dirty="0" err="1"/>
              <a:t>aaaa</a:t>
            </a:r>
            <a:r>
              <a:rPr lang="en-GB" dirty="0"/>
              <a:t>", but not "a" or "</a:t>
            </a:r>
            <a:r>
              <a:rPr lang="en-GB" dirty="0" err="1"/>
              <a:t>aaaaa</a:t>
            </a:r>
            <a:r>
              <a:rPr lang="en-GB" dirty="0"/>
              <a:t>". This is equivalent to </a:t>
            </a:r>
            <a:r>
              <a:rPr lang="en-GB" dirty="0" err="1"/>
              <a:t>aaa?a</a:t>
            </a:r>
            <a:r>
              <a:rPr lang="en-GB" dirty="0"/>
              <a:t>?</a:t>
            </a:r>
          </a:p>
          <a:p>
            <a:r>
              <a:rPr lang="en-GB" dirty="0"/>
              <a:t>\d{2,} matches any string that contains at least two digits, such as "123", "45", or "6789". This is equivalent to aa+</a:t>
            </a:r>
          </a:p>
          <a:p>
            <a:pPr>
              <a:buFont typeface="Arial" panose="020B0604020202020204" pitchFamily="34" charset="0"/>
              <a:buChar char="•"/>
            </a:pPr>
            <a:endParaRPr lang="en-GB" dirty="0"/>
          </a:p>
          <a:p>
            <a:endParaRPr lang="en-SG" dirty="0"/>
          </a:p>
        </p:txBody>
      </p:sp>
    </p:spTree>
    <p:extLst>
      <p:ext uri="{BB962C8B-B14F-4D97-AF65-F5344CB8AC3E}">
        <p14:creationId xmlns:p14="http://schemas.microsoft.com/office/powerpoint/2010/main" val="29607152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61155-567C-1EA4-DAB5-AC8D0F49E06E}"/>
              </a:ext>
            </a:extLst>
          </p:cNvPr>
          <p:cNvSpPr>
            <a:spLocks noGrp="1"/>
          </p:cNvSpPr>
          <p:nvPr>
            <p:ph type="title"/>
          </p:nvPr>
        </p:nvSpPr>
        <p:spPr/>
        <p:txBody>
          <a:bodyPr/>
          <a:lstStyle/>
          <a:p>
            <a:r>
              <a:rPr lang="en-GB" dirty="0"/>
              <a:t>The boundary \b</a:t>
            </a:r>
            <a:endParaRPr lang="en-SG" dirty="0"/>
          </a:p>
        </p:txBody>
      </p:sp>
      <p:sp>
        <p:nvSpPr>
          <p:cNvPr id="5" name="Content Placeholder 4">
            <a:extLst>
              <a:ext uri="{FF2B5EF4-FFF2-40B4-BE49-F238E27FC236}">
                <a16:creationId xmlns:a16="http://schemas.microsoft.com/office/drawing/2014/main" id="{E5137030-99A3-029A-F495-3B4FFF5F5DF1}"/>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boundary \b):</a:t>
            </a:r>
          </a:p>
          <a:p>
            <a:pPr marL="0" indent="0">
              <a:buNone/>
            </a:pPr>
            <a:r>
              <a:rPr lang="en-GB" b="1" dirty="0"/>
              <a:t>The metacharacter </a:t>
            </a:r>
            <a:r>
              <a:rPr lang="en-GB" b="1" dirty="0">
                <a:solidFill>
                  <a:srgbClr val="00B050"/>
                </a:solidFill>
              </a:rPr>
              <a:t>\b </a:t>
            </a:r>
            <a:r>
              <a:rPr lang="en-GB" b="1" dirty="0"/>
              <a:t>matches a word boundary.</a:t>
            </a:r>
          </a:p>
          <a:p>
            <a:pPr marL="0" indent="0">
              <a:buNone/>
            </a:pPr>
            <a:r>
              <a:rPr lang="en-GB" dirty="0"/>
              <a:t>It is a position </a:t>
            </a:r>
            <a:r>
              <a:rPr lang="en-GB" b="1" dirty="0"/>
              <a:t>between</a:t>
            </a:r>
            <a:r>
              <a:rPr lang="en-GB" dirty="0"/>
              <a:t> </a:t>
            </a:r>
            <a:r>
              <a:rPr lang="en-GB" b="1" dirty="0"/>
              <a:t>a</a:t>
            </a:r>
            <a:r>
              <a:rPr lang="en-GB" dirty="0"/>
              <a:t> </a:t>
            </a:r>
            <a:r>
              <a:rPr lang="en-GB" b="1" dirty="0"/>
              <a:t>word character and a non-word character</a:t>
            </a:r>
            <a:r>
              <a:rPr lang="en-GB" dirty="0"/>
              <a:t>, or </a:t>
            </a:r>
            <a:r>
              <a:rPr lang="en-GB" b="1" dirty="0"/>
              <a:t>between a non-word character and a word character</a:t>
            </a:r>
            <a:r>
              <a:rPr lang="en-GB" dirty="0"/>
              <a:t>.</a:t>
            </a:r>
          </a:p>
          <a:p>
            <a:pPr marL="0" indent="0">
              <a:buNone/>
            </a:pPr>
            <a:r>
              <a:rPr lang="en-GB" dirty="0"/>
              <a:t>For example, the regex pattern \</a:t>
            </a:r>
            <a:r>
              <a:rPr lang="en-GB" dirty="0" err="1"/>
              <a:t>bcat</a:t>
            </a:r>
            <a:r>
              <a:rPr lang="en-GB" dirty="0"/>
              <a:t>\b matches the word "cat" when it occurs on its own as a separate word, but not when it appears as part of another word like "category" or "scat":</a:t>
            </a:r>
          </a:p>
          <a:p>
            <a:pPr>
              <a:buFont typeface="Arial" panose="020B0604020202020204" pitchFamily="34" charset="0"/>
              <a:buChar char="•"/>
            </a:pPr>
            <a:r>
              <a:rPr lang="en-GB" dirty="0"/>
              <a:t>“The cat is black and white” works, so does “I love my cat”.</a:t>
            </a:r>
          </a:p>
          <a:p>
            <a:pPr>
              <a:buFont typeface="Arial" panose="020B0604020202020204" pitchFamily="34" charset="0"/>
              <a:buChar char="•"/>
            </a:pPr>
            <a:r>
              <a:rPr lang="en-GB" dirty="0"/>
              <a:t>“The category of my work is computer science” does not.</a:t>
            </a:r>
          </a:p>
          <a:p>
            <a:pPr marL="0" indent="0">
              <a:buNone/>
            </a:pPr>
            <a:r>
              <a:rPr lang="en-GB" dirty="0"/>
              <a:t>The \b can then be used to recognize while in “while(something…)”.</a:t>
            </a:r>
            <a:endParaRPr lang="en-SG" dirty="0"/>
          </a:p>
        </p:txBody>
      </p:sp>
    </p:spTree>
    <p:extLst>
      <p:ext uri="{BB962C8B-B14F-4D97-AF65-F5344CB8AC3E}">
        <p14:creationId xmlns:p14="http://schemas.microsoft.com/office/powerpoint/2010/main" val="27262418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414BDA-CCA7-BBEE-352E-62BC7C0EB74E}"/>
              </a:ext>
            </a:extLst>
          </p:cNvPr>
          <p:cNvSpPr>
            <a:spLocks noGrp="1"/>
          </p:cNvSpPr>
          <p:nvPr>
            <p:ph type="title"/>
          </p:nvPr>
        </p:nvSpPr>
        <p:spPr/>
        <p:txBody>
          <a:bodyPr/>
          <a:lstStyle/>
          <a:p>
            <a:r>
              <a:rPr lang="en-GB" dirty="0"/>
              <a:t>Some additional practice</a:t>
            </a:r>
          </a:p>
        </p:txBody>
      </p:sp>
      <p:sp>
        <p:nvSpPr>
          <p:cNvPr id="5" name="Text Placeholder 4">
            <a:extLst>
              <a:ext uri="{FF2B5EF4-FFF2-40B4-BE49-F238E27FC236}">
                <a16:creationId xmlns:a16="http://schemas.microsoft.com/office/drawing/2014/main" id="{E0D2B17C-D2DA-4360-28AA-5822F3D80B51}"/>
              </a:ext>
            </a:extLst>
          </p:cNvPr>
          <p:cNvSpPr>
            <a:spLocks noGrp="1"/>
          </p:cNvSpPr>
          <p:nvPr>
            <p:ph type="body" idx="1"/>
          </p:nvPr>
        </p:nvSpPr>
        <p:spPr/>
        <p:txBody>
          <a:bodyPr/>
          <a:lstStyle/>
          <a:p>
            <a:r>
              <a:rPr lang="en-GB"/>
              <a:t>From past year </a:t>
            </a:r>
            <a:r>
              <a:rPr lang="en-GB" dirty="0" err="1"/>
              <a:t>homeworks</a:t>
            </a:r>
            <a:endParaRPr lang="en-GB" dirty="0"/>
          </a:p>
        </p:txBody>
      </p:sp>
    </p:spTree>
    <p:extLst>
      <p:ext uri="{BB962C8B-B14F-4D97-AF65-F5344CB8AC3E}">
        <p14:creationId xmlns:p14="http://schemas.microsoft.com/office/powerpoint/2010/main" val="12007815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BBF15-CB96-D200-19DD-08AA54AB1BB5}"/>
              </a:ext>
            </a:extLst>
          </p:cNvPr>
          <p:cNvSpPr>
            <a:spLocks noGrp="1"/>
          </p:cNvSpPr>
          <p:nvPr>
            <p:ph idx="1"/>
          </p:nvPr>
        </p:nvSpPr>
        <p:spPr>
          <a:xfrm>
            <a:off x="255639" y="275304"/>
            <a:ext cx="11769213" cy="6582696"/>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You are working for a survey company in Singapore. You will be sending forms to a vast quantity of SG-based users, asking for their names and phone numbers, along with many survey questions regarding various topics. Every survey form will require the participants to enter their phone number, as a string of digits.</a:t>
            </a:r>
          </a:p>
          <a:p>
            <a:pPr marL="0" marR="0" lvl="0" indent="0" algn="l" defTabSz="914400" rtl="0" eaLnBrk="0" fontAlgn="base" latinLnBrk="0" hangingPunct="0">
              <a:lnSpc>
                <a:spcPct val="100000"/>
              </a:lnSpc>
              <a:spcBef>
                <a:spcPct val="0"/>
              </a:spcBef>
              <a:spcAft>
                <a:spcPct val="0"/>
              </a:spcAft>
              <a:buClrTx/>
              <a:buSzTx/>
              <a:buFontTx/>
              <a:buNone/>
              <a:tabLst/>
            </a:pPr>
            <a:endParaRPr lang="en-GB" altLang="en-US" sz="2400" dirty="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Some algorithm will be used to remove all the whitespaces in the string entered by the user for you, and you should expect one of the three string formats below after the string has been cleaned. After cleaning the strings will look like “63036600”, “+6563036600”,</a:t>
            </a:r>
            <a:r>
              <a:rPr lang="en-GB" altLang="en-US" sz="2400" dirty="0"/>
              <a:t> or </a:t>
            </a: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“006563036600”. Possibly with other digits than those shown.</a:t>
            </a:r>
            <a:b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br>
            <a:b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br>
            <a:r>
              <a:rPr kumimoji="0" lang="en-GB" altLang="en-US" sz="2400" b="1"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Question: Can you write a </a:t>
            </a:r>
            <a:r>
              <a:rPr kumimoji="0" lang="en-GB" altLang="en-US" sz="2400" b="1" u="none" strike="noStrike" cap="none" normalizeH="0" baseline="0" dirty="0" err="1">
                <a:ln>
                  <a:noFill/>
                </a:ln>
                <a:solidFill>
                  <a:schemeClr val="tx1"/>
                </a:solidFill>
                <a:effectLst/>
                <a:ea typeface="Calibri" panose="020F0502020204030204" pitchFamily="34" charset="0"/>
                <a:cs typeface="Times New Roman" panose="02020603050405020304" pitchFamily="18" charset="0"/>
              </a:rPr>
              <a:t>RegEx</a:t>
            </a:r>
            <a:r>
              <a:rPr kumimoji="0" lang="en-GB" altLang="en-US" sz="2400" b="1"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for checking if the phone number consists of eight digit and maybe a country code +65 or 0065 that might have been added to the phone number?</a:t>
            </a:r>
            <a:endParaRPr kumimoji="0" lang="en-GB" altLang="en-US" sz="2400" b="1"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We expect the users to enter only digits, no phone numbers with more than 8 digits (unless country codes are used), and no country codes other than +65 or 0065.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 phone number not using 8 digits (before a country code is added) is invalid.</a:t>
            </a:r>
            <a:endParaRPr kumimoji="0" lang="en-GB" altLang="en-US" sz="2400" b="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Any other country code than +65 or 0065 should be rejected.</a:t>
            </a:r>
            <a:endParaRPr kumimoji="0" lang="en-GB" altLang="en-US" sz="2400" b="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We shall only check for valid characters: it is ok if our </a:t>
            </a:r>
            <a:r>
              <a:rPr kumimoji="0" lang="en-GB" altLang="en-US" sz="2400" b="0" u="none" strike="noStrike" cap="none" normalizeH="0" baseline="0" dirty="0" err="1">
                <a:ln>
                  <a:noFill/>
                </a:ln>
                <a:solidFill>
                  <a:schemeClr val="tx1"/>
                </a:solidFill>
                <a:effectLst/>
                <a:ea typeface="Calibri" panose="020F0502020204030204" pitchFamily="34" charset="0"/>
                <a:cs typeface="Times New Roman" panose="02020603050405020304" pitchFamily="18" charset="0"/>
              </a:rPr>
              <a:t>RegEx</a:t>
            </a:r>
            <a:r>
              <a:rPr kumimoji="0" lang="en-GB" altLang="en-US" sz="2400" b="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does not catch a phone number +6500000000, which is obviously fake.</a:t>
            </a:r>
            <a:endParaRPr kumimoji="0" lang="en-GB" altLang="en-US" sz="2400" b="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209443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591C4-A472-9DFB-545C-7C646FC465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0F8BCD-1F74-0CCD-9D50-EB70D633319C}"/>
              </a:ext>
            </a:extLst>
          </p:cNvPr>
          <p:cNvSpPr>
            <a:spLocks noGrp="1"/>
          </p:cNvSpPr>
          <p:nvPr>
            <p:ph idx="1"/>
          </p:nvPr>
        </p:nvSpPr>
        <p:spPr>
          <a:xfrm>
            <a:off x="838199" y="275304"/>
            <a:ext cx="10843901" cy="6582696"/>
          </a:xfrm>
        </p:spPr>
        <p:txBody>
          <a:bodyPr>
            <a:normAutofit/>
          </a:bodyPr>
          <a:lstStyle/>
          <a:p>
            <a:pPr marL="0" lvl="0" indent="0">
              <a:lnSpc>
                <a:spcPct val="107000"/>
              </a:lnSpc>
              <a:spcAft>
                <a:spcPts val="800"/>
              </a:spcAft>
              <a:buNone/>
            </a:pPr>
            <a:r>
              <a:rPr lang="en-GB" sz="2400" dirty="0">
                <a:effectLst/>
                <a:latin typeface="Calibri" panose="020F0502020204030204" pitchFamily="34" charset="0"/>
                <a:ea typeface="Calibri" panose="020F0502020204030204" pitchFamily="34" charset="0"/>
                <a:cs typeface="Times New Roman" panose="02020603050405020304" pitchFamily="18" charset="0"/>
              </a:rPr>
              <a:t>Let us consider strings consisting of 0s and 1s only.</a:t>
            </a:r>
          </a:p>
          <a:p>
            <a:pPr marL="0" lvl="0" indent="0">
              <a:lnSpc>
                <a:spcPct val="107000"/>
              </a:lnSpc>
              <a:spcAft>
                <a:spcPts val="800"/>
              </a:spcAft>
              <a:buNone/>
            </a:pPr>
            <a:r>
              <a:rPr lang="en-GB" sz="2400" dirty="0">
                <a:effectLst/>
                <a:latin typeface="Calibri" panose="020F0502020204030204" pitchFamily="34" charset="0"/>
                <a:ea typeface="Calibri" panose="020F0502020204030204" pitchFamily="34" charset="0"/>
                <a:cs typeface="Times New Roman" panose="02020603050405020304" pitchFamily="18" charset="0"/>
              </a:rPr>
              <a:t>We would like to check for strings that have the same digit in their first, third, fifth, etc. location. Have a look at the table below for some examples of acceptable and not acceptable strings.</a:t>
            </a:r>
          </a:p>
          <a:p>
            <a:pPr marL="0" lvl="0" indent="0">
              <a:lnSpc>
                <a:spcPct val="107000"/>
              </a:lnSpc>
              <a:spcAft>
                <a:spcPts val="800"/>
              </a:spcAft>
              <a:buNone/>
            </a:pPr>
            <a:r>
              <a:rPr lang="en-GB" sz="2400" b="1" dirty="0">
                <a:latin typeface="Calibri" panose="020F0502020204030204" pitchFamily="34" charset="0"/>
                <a:ea typeface="Calibri" panose="020F0502020204030204" pitchFamily="34" charset="0"/>
                <a:cs typeface="Times New Roman" panose="02020603050405020304" pitchFamily="18" charset="0"/>
              </a:rPr>
              <a:t>Question: </a:t>
            </a:r>
            <a:r>
              <a:rPr lang="en-SG" sz="2400" b="1" dirty="0">
                <a:effectLst/>
                <a:latin typeface="Calibri" panose="020F0502020204030204" pitchFamily="34" charset="0"/>
                <a:ea typeface="Calibri" panose="020F0502020204030204" pitchFamily="34" charset="0"/>
                <a:cs typeface="Times New Roman" panose="02020603050405020304" pitchFamily="18" charset="0"/>
              </a:rPr>
              <a:t>Your friend Chris claims that it is impossible to describe this pattern using a </a:t>
            </a:r>
            <a:r>
              <a:rPr lang="en-SG" sz="2400" b="1" dirty="0" err="1">
                <a:effectLst/>
                <a:latin typeface="Calibri" panose="020F0502020204030204" pitchFamily="34" charset="0"/>
                <a:ea typeface="Calibri" panose="020F0502020204030204" pitchFamily="34" charset="0"/>
                <a:cs typeface="Times New Roman" panose="02020603050405020304" pitchFamily="18" charset="0"/>
              </a:rPr>
              <a:t>RegEx</a:t>
            </a:r>
            <a:r>
              <a:rPr lang="en-SG" sz="2400" b="1" dirty="0">
                <a:effectLst/>
                <a:latin typeface="Calibri" panose="020F0502020204030204" pitchFamily="34" charset="0"/>
                <a:ea typeface="Calibri" panose="020F0502020204030204" pitchFamily="34" charset="0"/>
                <a:cs typeface="Times New Roman" panose="02020603050405020304" pitchFamily="18" charset="0"/>
              </a:rPr>
              <a:t>. Do you agree with him and can you explain why this is not possible</a:t>
            </a:r>
            <a:r>
              <a:rPr lang="en-SG" sz="2400" b="1" dirty="0">
                <a:latin typeface="Calibri" panose="020F0502020204030204" pitchFamily="34" charset="0"/>
                <a:ea typeface="Calibri" panose="020F0502020204030204" pitchFamily="34" charset="0"/>
                <a:cs typeface="Times New Roman" panose="02020603050405020304" pitchFamily="18" charset="0"/>
              </a:rPr>
              <a:t>?</a:t>
            </a:r>
            <a:br>
              <a:rPr lang="en-SG" sz="2400" b="1" dirty="0">
                <a:latin typeface="Calibri" panose="020F0502020204030204" pitchFamily="34" charset="0"/>
                <a:ea typeface="Calibri" panose="020F0502020204030204" pitchFamily="34" charset="0"/>
                <a:cs typeface="Times New Roman" panose="02020603050405020304" pitchFamily="18" charset="0"/>
              </a:rPr>
            </a:br>
            <a:r>
              <a:rPr lang="en-SG" sz="2400" b="1" dirty="0">
                <a:latin typeface="Calibri" panose="020F0502020204030204" pitchFamily="34" charset="0"/>
                <a:ea typeface="Calibri" panose="020F0502020204030204" pitchFamily="34" charset="0"/>
                <a:cs typeface="Times New Roman" panose="02020603050405020304" pitchFamily="18" charset="0"/>
              </a:rPr>
              <a:t>O</a:t>
            </a:r>
            <a:r>
              <a:rPr lang="en-SG" sz="2400" b="1" dirty="0">
                <a:effectLst/>
                <a:latin typeface="Calibri" panose="020F0502020204030204" pitchFamily="34" charset="0"/>
                <a:ea typeface="Calibri" panose="020F0502020204030204" pitchFamily="34" charset="0"/>
                <a:cs typeface="Times New Roman" panose="02020603050405020304" pitchFamily="18" charset="0"/>
              </a:rPr>
              <a:t>r can you provide a </a:t>
            </a:r>
            <a:r>
              <a:rPr lang="en-SG" sz="2400" b="1" dirty="0" err="1">
                <a:effectLst/>
                <a:latin typeface="Calibri" panose="020F0502020204030204" pitchFamily="34" charset="0"/>
                <a:ea typeface="Calibri" panose="020F0502020204030204" pitchFamily="34" charset="0"/>
                <a:cs typeface="Times New Roman" panose="02020603050405020304" pitchFamily="18" charset="0"/>
              </a:rPr>
              <a:t>RegEx</a:t>
            </a:r>
            <a:r>
              <a:rPr lang="en-SG" sz="2400" b="1" dirty="0">
                <a:effectLst/>
                <a:latin typeface="Calibri" panose="020F0502020204030204" pitchFamily="34" charset="0"/>
                <a:ea typeface="Calibri" panose="020F0502020204030204" pitchFamily="34" charset="0"/>
                <a:cs typeface="Times New Roman" panose="02020603050405020304" pitchFamily="18" charset="0"/>
              </a:rPr>
              <a:t> that works for this task and prove Chris wrong?</a:t>
            </a:r>
            <a:endParaRPr lang="en-GB" sz="2400" b="1" dirty="0">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E3967BA7-38A3-3945-BED8-F2729E004FB3}"/>
              </a:ext>
            </a:extLst>
          </p:cNvPr>
          <p:cNvPicPr>
            <a:picLocks noChangeAspect="1"/>
          </p:cNvPicPr>
          <p:nvPr/>
        </p:nvPicPr>
        <p:blipFill>
          <a:blip r:embed="rId2"/>
          <a:stretch>
            <a:fillRect/>
          </a:stretch>
        </p:blipFill>
        <p:spPr>
          <a:xfrm>
            <a:off x="230263" y="3871453"/>
            <a:ext cx="11846643" cy="2381864"/>
          </a:xfrm>
          <a:prstGeom prst="rect">
            <a:avLst/>
          </a:prstGeom>
        </p:spPr>
      </p:pic>
    </p:spTree>
    <p:extLst>
      <p:ext uri="{BB962C8B-B14F-4D97-AF65-F5344CB8AC3E}">
        <p14:creationId xmlns:p14="http://schemas.microsoft.com/office/powerpoint/2010/main" val="3878320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1550</TotalTime>
  <Words>5697</Words>
  <Application>Microsoft Office PowerPoint</Application>
  <PresentationFormat>Widescreen</PresentationFormat>
  <Paragraphs>544</Paragraphs>
  <Slides>69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Calibri</vt:lpstr>
      <vt:lpstr>Calibri Light</vt:lpstr>
      <vt:lpstr>Cambria Math</vt:lpstr>
      <vt:lpstr>Wingdings</vt:lpstr>
      <vt:lpstr>Office Theme</vt:lpstr>
      <vt:lpstr>50.051 Programming Language Concepts  W5-S2 Regular Expressions and Pattern Recognition in C</vt:lpstr>
      <vt:lpstr>Regular Expressions</vt:lpstr>
      <vt:lpstr>Regular Expressions</vt:lpstr>
      <vt:lpstr>Technically, we have already played with RegEx FSMs! (Remember previous activities).</vt:lpstr>
      <vt:lpstr>Technically, we have already played with RegEx FSMs! (Practice 1).</vt:lpstr>
      <vt:lpstr>The most basic RegEx</vt:lpstr>
      <vt:lpstr>The most basic RegEx</vt:lpstr>
      <vt:lpstr>PowerPoint Presentation</vt:lpstr>
      <vt:lpstr>The most basic RegEx</vt:lpstr>
      <vt:lpstr>PowerPoint Presentation</vt:lpstr>
      <vt:lpstr>The infamous Epsilon transition</vt:lpstr>
      <vt:lpstr>About the Non-Deterministic FSMs</vt:lpstr>
      <vt:lpstr>A use case for Epsilon (Practice 2)</vt:lpstr>
      <vt:lpstr>A use case for Epsilon (Practice 2)</vt:lpstr>
      <vt:lpstr>On the use of the Epsilon Transitions in RegEx</vt:lpstr>
      <vt:lpstr>Concatenation of RegEx</vt:lpstr>
      <vt:lpstr>Concatenation of RegEx</vt:lpstr>
      <vt:lpstr>Concatenation of RegEx</vt:lpstr>
      <vt:lpstr>Concatenation of RegEx</vt:lpstr>
      <vt:lpstr>Back to our Practice 1</vt:lpstr>
      <vt:lpstr>Choice of RegEx</vt:lpstr>
      <vt:lpstr>Choice of RegEx</vt:lpstr>
      <vt:lpstr>Choice of RegEx</vt:lpstr>
      <vt:lpstr>Choice of RegEx</vt:lpstr>
      <vt:lpstr>Choice of RegEx</vt:lpstr>
      <vt:lpstr>On the use of parentheses in RegEx</vt:lpstr>
      <vt:lpstr>On the use of the escape character in RegEx</vt:lpstr>
      <vt:lpstr>Closure or Kleene operator</vt:lpstr>
      <vt:lpstr>Closure or Kleene operator</vt:lpstr>
      <vt:lpstr>An important note: partial vs full matching</vt:lpstr>
      <vt:lpstr>Full string matching vs. substring matching</vt:lpstr>
      <vt:lpstr>Full string matching vs. substring matching</vt:lpstr>
      <vt:lpstr>Closure or Kleene operator</vt:lpstr>
      <vt:lpstr>Beginning (^) and End ($) of a string</vt:lpstr>
      <vt:lpstr>Full string matching vs. substring matching</vt:lpstr>
      <vt:lpstr>Closure or Kleene operator</vt:lpstr>
      <vt:lpstr>Closure or Kleene operator</vt:lpstr>
      <vt:lpstr>Variations of the Kleene operator</vt:lpstr>
      <vt:lpstr>Variations of the Kleene operator</vt:lpstr>
      <vt:lpstr>The Kleene Theorem</vt:lpstr>
      <vt:lpstr>Quiz Time!</vt:lpstr>
      <vt:lpstr>Quiz Time!</vt:lpstr>
      <vt:lpstr>Quiz Time!</vt:lpstr>
      <vt:lpstr>Quiz Time!</vt:lpstr>
      <vt:lpstr>Quiz Time!</vt:lpstr>
      <vt:lpstr>Quiz Time!</vt:lpstr>
      <vt:lpstr>Quiz Time!</vt:lpstr>
      <vt:lpstr>Quiz Time!</vt:lpstr>
      <vt:lpstr>The Square Bracket notation in RegEx</vt:lpstr>
      <vt:lpstr>Negating a grouping</vt:lpstr>
      <vt:lpstr>Additional notations</vt:lpstr>
      <vt:lpstr>Additional notations</vt:lpstr>
      <vt:lpstr>Quiz time!</vt:lpstr>
      <vt:lpstr>Quiz time!</vt:lpstr>
      <vt:lpstr>Quiz time!</vt:lpstr>
      <vt:lpstr>Quiz time!</vt:lpstr>
      <vt:lpstr>Quiz time!</vt:lpstr>
      <vt:lpstr>Quiz time!</vt:lpstr>
      <vt:lpstr>Quiz time!</vt:lpstr>
      <vt:lpstr>Quiz time!</vt:lpstr>
      <vt:lpstr>The RegEx library in C</vt:lpstr>
      <vt:lpstr>The RegEx library in C</vt:lpstr>
      <vt:lpstr>PowerPoint Presentation</vt:lpstr>
      <vt:lpstr>More stuff about RegEx</vt:lpstr>
      <vt:lpstr>The curly braces in RegEx</vt:lpstr>
      <vt:lpstr>The boundary \b</vt:lpstr>
      <vt:lpstr>Some additional practice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1</cp:revision>
  <dcterms:created xsi:type="dcterms:W3CDTF">2023-03-02T06:54:24Z</dcterms:created>
  <dcterms:modified xsi:type="dcterms:W3CDTF">2026-01-14T08:48:45Z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