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77" r:id="rId2"/>
    <p:sldId id="478" r:id="rId3"/>
    <p:sldId id="461" r:id="rId4"/>
    <p:sldId id="495" r:id="rId5"/>
    <p:sldId id="496" r:id="rId6"/>
    <p:sldId id="427" r:id="rId7"/>
    <p:sldId id="471" r:id="rId8"/>
    <p:sldId id="491" r:id="rId9"/>
    <p:sldId id="488" r:id="rId10"/>
    <p:sldId id="489" r:id="rId11"/>
    <p:sldId id="494" r:id="rId12"/>
    <p:sldId id="479" r:id="rId13"/>
    <p:sldId id="497" r:id="rId14"/>
    <p:sldId id="492" r:id="rId15"/>
    <p:sldId id="425" r:id="rId16"/>
    <p:sldId id="484" r:id="rId17"/>
    <p:sldId id="485" r:id="rId18"/>
    <p:sldId id="486" r:id="rId19"/>
    <p:sldId id="490" r:id="rId20"/>
    <p:sldId id="475" r:id="rId21"/>
    <p:sldId id="472" r:id="rId22"/>
    <p:sldId id="493" r:id="rId23"/>
    <p:sldId id="483" r:id="rId24"/>
    <p:sldId id="480" r:id="rId25"/>
    <p:sldId id="4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  <p14:sldId id="478"/>
          </p14:sldIdLst>
        </p14:section>
        <p14:section name="Practice 1" id="{8BFB6506-7DAF-4CBA-840D-7C4D5D2330C7}">
          <p14:sldIdLst>
            <p14:sldId id="461"/>
            <p14:sldId id="495"/>
            <p14:sldId id="496"/>
          </p14:sldIdLst>
        </p14:section>
        <p14:section name="Practice 2" id="{BEBF9EB2-4CC1-4047-9DFB-3340021424C6}">
          <p14:sldIdLst>
            <p14:sldId id="427"/>
            <p14:sldId id="471"/>
            <p14:sldId id="491"/>
            <p14:sldId id="488"/>
            <p14:sldId id="489"/>
            <p14:sldId id="494"/>
          </p14:sldIdLst>
        </p14:section>
        <p14:section name="Practice 3" id="{E418DCCC-2607-4961-9997-AA9C3D007C90}">
          <p14:sldIdLst>
            <p14:sldId id="479"/>
            <p14:sldId id="497"/>
          </p14:sldIdLst>
        </p14:section>
        <p14:section name="Practice 4" id="{8D9981F4-89C5-4E2E-83E7-370312361351}">
          <p14:sldIdLst>
            <p14:sldId id="492"/>
            <p14:sldId id="425"/>
            <p14:sldId id="484"/>
            <p14:sldId id="485"/>
            <p14:sldId id="486"/>
          </p14:sldIdLst>
        </p14:section>
        <p14:section name="Practice 5" id="{CEA9C366-00A0-46F5-9B79-C7EB3FE2A02A}">
          <p14:sldIdLst>
            <p14:sldId id="490"/>
          </p14:sldIdLst>
        </p14:section>
        <p14:section name="Practice 6" id="{6552A220-0B64-4242-A470-F78B311E1B3D}">
          <p14:sldIdLst>
            <p14:sldId id="475"/>
          </p14:sldIdLst>
        </p14:section>
        <p14:section name="Practice 7" id="{EB2843FF-64F2-4BE8-A022-1FDAF65FE899}">
          <p14:sldIdLst>
            <p14:sldId id="472"/>
          </p14:sldIdLst>
        </p14:section>
        <p14:section name="Practice 8" id="{8889392A-EE1A-493B-8487-5BD5A957ED69}">
          <p14:sldIdLst>
            <p14:sldId id="493"/>
          </p14:sldIdLst>
        </p14:section>
        <p14:section name="Extras" id="{A62F056F-13CA-4FAC-B1B4-8519018B3EAE}">
          <p14:sldIdLst>
            <p14:sldId id="483"/>
            <p14:sldId id="480"/>
            <p14:sldId id="4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891D4-B643-40CE-9C68-4EBAAA481236}" v="2" dt="2026-02-25T12:11:45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6-02-25T12:11:45.296" v="15"/>
      <pc:docMkLst>
        <pc:docMk/>
      </pc:docMkLst>
      <pc:sldChg chg="modSp mod">
        <pc:chgData name="Matthieu De Mari" userId="dfb708c9-d8dc-439f-9a3b-c772bf4a311c" providerId="ADAL" clId="{81E9B007-0C2C-493E-9B93-55A62C9C1F12}" dt="2026-02-25T12:11:45.296" v="15"/>
        <pc:sldMkLst>
          <pc:docMk/>
          <pc:sldMk cId="735803367" sldId="497"/>
        </pc:sldMkLst>
        <pc:spChg chg="mod">
          <ac:chgData name="Matthieu De Mari" userId="dfb708c9-d8dc-439f-9a3b-c772bf4a311c" providerId="ADAL" clId="{81E9B007-0C2C-493E-9B93-55A62C9C1F12}" dt="2026-02-25T12:11:45.296" v="15"/>
          <ac:spMkLst>
            <pc:docMk/>
            <pc:sldMk cId="735803367" sldId="497"/>
            <ac:spMk id="3" creationId="{B69A07B3-A9E8-C946-60F8-7CFFF43819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25/2/2026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myname.thing@sutd.edu.sg" TargetMode="External"/><Relationship Id="rId2" Type="http://schemas.openxmlformats.org/officeDocument/2006/relationships/hyperlink" Target="mailto:name_stuff@something.somethi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W5-S3 Practical</a:t>
            </a:r>
            <a:br>
              <a:rPr lang="en-US" dirty="0"/>
            </a:br>
            <a:r>
              <a:rPr lang="en-US" dirty="0"/>
              <a:t>on FSMs and </a:t>
            </a:r>
            <a:r>
              <a:rPr lang="en-US" dirty="0" err="1"/>
              <a:t>RegEx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3303-6BEE-B55B-1528-CEF71CF1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40D30-5DA4-2380-8026-32BB9AF1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5343"/>
          </a:xfrm>
        </p:spPr>
        <p:txBody>
          <a:bodyPr/>
          <a:lstStyle/>
          <a:p>
            <a:r>
              <a:rPr lang="en-GB" dirty="0"/>
              <a:t>In today’s session, we have prepared a few practice activities for today, regarding FSMs and </a:t>
            </a:r>
            <a:r>
              <a:rPr lang="en-GB" dirty="0" err="1"/>
              <a:t>RegEx</a:t>
            </a:r>
            <a:r>
              <a:rPr lang="en-GB" dirty="0"/>
              <a:t>.</a:t>
            </a:r>
          </a:p>
          <a:p>
            <a:r>
              <a:rPr lang="en-GB" dirty="0"/>
              <a:t>Some of these activities’ answers will be discussed together in class.</a:t>
            </a:r>
            <a:br>
              <a:rPr lang="en-GB" dirty="0"/>
            </a:br>
            <a:r>
              <a:rPr lang="en-GB" i="1" dirty="0"/>
              <a:t>(But probably not all of them!)</a:t>
            </a:r>
          </a:p>
          <a:p>
            <a:r>
              <a:rPr lang="en-GB" dirty="0"/>
              <a:t>We advise to take them in order.</a:t>
            </a:r>
          </a:p>
          <a:p>
            <a:endParaRPr lang="en-GB" dirty="0"/>
          </a:p>
          <a:p>
            <a:r>
              <a:rPr lang="en-GB" b="1" dirty="0">
                <a:solidFill>
                  <a:srgbClr val="C00000"/>
                </a:solidFill>
              </a:rPr>
              <a:t>Some of these practice activities (i.e. activities 1, 2 and  3) require a checkoff, call the instructor/TA when </a:t>
            </a:r>
            <a:r>
              <a:rPr lang="en-GB" b="1" u="sng" dirty="0">
                <a:solidFill>
                  <a:srgbClr val="C00000"/>
                </a:solidFill>
              </a:rPr>
              <a:t>all your solutions are ready.</a:t>
            </a:r>
          </a:p>
          <a:p>
            <a:r>
              <a:rPr lang="en-GB" dirty="0">
                <a:solidFill>
                  <a:srgbClr val="C00000"/>
                </a:solidFill>
              </a:rPr>
              <a:t>Once done, additional practice that is not part of the checkoff.</a:t>
            </a:r>
          </a:p>
        </p:txBody>
      </p:sp>
    </p:spTree>
    <p:extLst>
      <p:ext uri="{BB962C8B-B14F-4D97-AF65-F5344CB8AC3E}">
        <p14:creationId xmlns:p14="http://schemas.microsoft.com/office/powerpoint/2010/main" val="429160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2BBD4-DD1B-5251-E3E3-787BE668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(part of checkoff)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A05B0-4FFE-B6B2-11E3-F6DFC537C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65207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1:</a:t>
            </a:r>
            <a:r>
              <a:rPr lang="en-GB" dirty="0"/>
              <a:t> How would you modify this FSM with accepting states, so that it considers as acceptable inputs any </a:t>
            </a:r>
            <a:r>
              <a:rPr lang="en-GB" b="1" dirty="0"/>
              <a:t>string </a:t>
            </a:r>
            <a:r>
              <a:rPr lang="en-GB" b="1" i="1" dirty="0"/>
              <a:t>x</a:t>
            </a:r>
            <a:r>
              <a:rPr lang="en-GB" b="1" dirty="0"/>
              <a:t> of 0 and 1, that have an even number of zeroes?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Show a C code that runs </a:t>
            </a:r>
            <a:r>
              <a:rPr lang="en-GB" u="sng" dirty="0"/>
              <a:t>the FSM you have produced for Q1</a:t>
            </a:r>
            <a:r>
              <a:rPr lang="en-GB" dirty="0"/>
              <a:t>. You may reuse the template from the W5S1 lecture.</a:t>
            </a:r>
          </a:p>
          <a:p>
            <a:pPr marL="0" indent="0">
              <a:buNone/>
            </a:pPr>
            <a:r>
              <a:rPr lang="en-GB" b="1" dirty="0"/>
              <a:t>Question 3:</a:t>
            </a:r>
            <a:r>
              <a:rPr lang="en-GB" dirty="0"/>
              <a:t> Can this pattern be described by using a </a:t>
            </a:r>
            <a:r>
              <a:rPr lang="en-GB" dirty="0" err="1"/>
              <a:t>RegEx</a:t>
            </a:r>
            <a:r>
              <a:rPr lang="en-GB" dirty="0"/>
              <a:t>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09A53E-8FBF-D357-DFA6-93CC525B18D5}"/>
              </a:ext>
            </a:extLst>
          </p:cNvPr>
          <p:cNvCxnSpPr>
            <a:cxnSpLocks/>
          </p:cNvCxnSpPr>
          <p:nvPr/>
        </p:nvCxnSpPr>
        <p:spPr>
          <a:xfrm flipH="1">
            <a:off x="9450277" y="515815"/>
            <a:ext cx="6338" cy="12960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CEA9245-4BAF-733F-0655-67AB3E1C13A8}"/>
              </a:ext>
            </a:extLst>
          </p:cNvPr>
          <p:cNvSpPr/>
          <p:nvPr/>
        </p:nvSpPr>
        <p:spPr>
          <a:xfrm>
            <a:off x="8910277" y="1811824"/>
            <a:ext cx="1080000" cy="108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Start</a:t>
            </a:r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6E3B2E-6AC9-D50E-A27E-1E1B7499BD23}"/>
              </a:ext>
            </a:extLst>
          </p:cNvPr>
          <p:cNvSpPr/>
          <p:nvPr/>
        </p:nvSpPr>
        <p:spPr>
          <a:xfrm>
            <a:off x="7211154" y="4633179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7A7345-E449-9B52-AB6E-B22A25A83D7F}"/>
              </a:ext>
            </a:extLst>
          </p:cNvPr>
          <p:cNvSpPr/>
          <p:nvPr/>
        </p:nvSpPr>
        <p:spPr>
          <a:xfrm>
            <a:off x="10609400" y="4633179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1</a:t>
            </a:r>
            <a:endParaRPr lang="en-SG" b="1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110E34-B615-8286-22CF-810DA0A39A3A}"/>
              </a:ext>
            </a:extLst>
          </p:cNvPr>
          <p:cNvCxnSpPr>
            <a:cxnSpLocks/>
            <a:stCxn id="11" idx="5"/>
            <a:endCxn id="15" idx="1"/>
          </p:cNvCxnSpPr>
          <p:nvPr/>
        </p:nvCxnSpPr>
        <p:spPr>
          <a:xfrm>
            <a:off x="9832115" y="2733662"/>
            <a:ext cx="935447" cy="205767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C04609-42E6-F14B-8282-098658B148A3}"/>
              </a:ext>
            </a:extLst>
          </p:cNvPr>
          <p:cNvCxnSpPr>
            <a:cxnSpLocks/>
            <a:stCxn id="11" idx="3"/>
            <a:endCxn id="12" idx="7"/>
          </p:cNvCxnSpPr>
          <p:nvPr/>
        </p:nvCxnSpPr>
        <p:spPr>
          <a:xfrm flipH="1">
            <a:off x="8132992" y="2733662"/>
            <a:ext cx="935447" cy="205767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30C07D3-DD84-9CAD-389C-0697B272CC5E}"/>
              </a:ext>
            </a:extLst>
          </p:cNvPr>
          <p:cNvSpPr txBox="1"/>
          <p:nvPr/>
        </p:nvSpPr>
        <p:spPr>
          <a:xfrm>
            <a:off x="10285047" y="3290277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en-SG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619E34-8B41-4425-4FD5-566688B406C8}"/>
              </a:ext>
            </a:extLst>
          </p:cNvPr>
          <p:cNvSpPr txBox="1"/>
          <p:nvPr/>
        </p:nvSpPr>
        <p:spPr>
          <a:xfrm>
            <a:off x="8291154" y="3290277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0</a:t>
            </a:r>
            <a:endParaRPr lang="en-SG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689019-E2EF-D000-42A8-FA9415BBB214}"/>
              </a:ext>
            </a:extLst>
          </p:cNvPr>
          <p:cNvCxnSpPr>
            <a:cxnSpLocks/>
            <a:stCxn id="15" idx="3"/>
            <a:endCxn id="12" idx="5"/>
          </p:cNvCxnSpPr>
          <p:nvPr/>
        </p:nvCxnSpPr>
        <p:spPr>
          <a:xfrm flipH="1">
            <a:off x="8132992" y="5555017"/>
            <a:ext cx="263457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19C0A37-FE42-D1D0-7C2E-A8A586FE772A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8291154" y="5173179"/>
            <a:ext cx="231824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37D8662-2156-DE73-63FD-661EEF315528}"/>
              </a:ext>
            </a:extLst>
          </p:cNvPr>
          <p:cNvSpPr txBox="1"/>
          <p:nvPr/>
        </p:nvSpPr>
        <p:spPr>
          <a:xfrm>
            <a:off x="9288100" y="5752189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0</a:t>
            </a:r>
            <a:endParaRPr lang="en-SG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DF95B0-9637-90DA-C6B2-6C6157785EF3}"/>
              </a:ext>
            </a:extLst>
          </p:cNvPr>
          <p:cNvSpPr txBox="1"/>
          <p:nvPr/>
        </p:nvSpPr>
        <p:spPr>
          <a:xfrm>
            <a:off x="9281296" y="4639790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en-SG" b="1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00193EC-1CAD-06AE-49FB-97E8E1B835C0}"/>
              </a:ext>
            </a:extLst>
          </p:cNvPr>
          <p:cNvSpPr/>
          <p:nvPr/>
        </p:nvSpPr>
        <p:spPr>
          <a:xfrm>
            <a:off x="6771537" y="4284488"/>
            <a:ext cx="926617" cy="1866588"/>
          </a:xfrm>
          <a:custGeom>
            <a:avLst/>
            <a:gdLst>
              <a:gd name="connsiteX0" fmla="*/ 895355 w 926617"/>
              <a:gd name="connsiteY0" fmla="*/ 318774 h 1866588"/>
              <a:gd name="connsiteX1" fmla="*/ 488955 w 926617"/>
              <a:gd name="connsiteY1" fmla="*/ 6158 h 1866588"/>
              <a:gd name="connsiteX2" fmla="*/ 43478 w 926617"/>
              <a:gd name="connsiteY2" fmla="*/ 568866 h 1866588"/>
              <a:gd name="connsiteX3" fmla="*/ 90371 w 926617"/>
              <a:gd name="connsiteY3" fmla="*/ 1389481 h 1866588"/>
              <a:gd name="connsiteX4" fmla="*/ 692155 w 926617"/>
              <a:gd name="connsiteY4" fmla="*/ 1866220 h 1866588"/>
              <a:gd name="connsiteX5" fmla="*/ 926617 w 926617"/>
              <a:gd name="connsiteY5" fmla="*/ 1452004 h 186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617" h="1866588">
                <a:moveTo>
                  <a:pt x="895355" y="318774"/>
                </a:moveTo>
                <a:cubicBezTo>
                  <a:pt x="763144" y="141625"/>
                  <a:pt x="630934" y="-35524"/>
                  <a:pt x="488955" y="6158"/>
                </a:cubicBezTo>
                <a:cubicBezTo>
                  <a:pt x="346975" y="47840"/>
                  <a:pt x="109909" y="338312"/>
                  <a:pt x="43478" y="568866"/>
                </a:cubicBezTo>
                <a:cubicBezTo>
                  <a:pt x="-22953" y="799420"/>
                  <a:pt x="-17742" y="1173255"/>
                  <a:pt x="90371" y="1389481"/>
                </a:cubicBezTo>
                <a:cubicBezTo>
                  <a:pt x="198484" y="1605707"/>
                  <a:pt x="552781" y="1855799"/>
                  <a:pt x="692155" y="1866220"/>
                </a:cubicBezTo>
                <a:cubicBezTo>
                  <a:pt x="831529" y="1876641"/>
                  <a:pt x="879073" y="1664322"/>
                  <a:pt x="926617" y="145200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A1207DA-99E1-CC3C-93CD-53C83BDE20CF}"/>
              </a:ext>
            </a:extLst>
          </p:cNvPr>
          <p:cNvSpPr/>
          <p:nvPr/>
        </p:nvSpPr>
        <p:spPr>
          <a:xfrm rot="10800000">
            <a:off x="11148706" y="4192995"/>
            <a:ext cx="926617" cy="1866588"/>
          </a:xfrm>
          <a:custGeom>
            <a:avLst/>
            <a:gdLst>
              <a:gd name="connsiteX0" fmla="*/ 895355 w 926617"/>
              <a:gd name="connsiteY0" fmla="*/ 318774 h 1866588"/>
              <a:gd name="connsiteX1" fmla="*/ 488955 w 926617"/>
              <a:gd name="connsiteY1" fmla="*/ 6158 h 1866588"/>
              <a:gd name="connsiteX2" fmla="*/ 43478 w 926617"/>
              <a:gd name="connsiteY2" fmla="*/ 568866 h 1866588"/>
              <a:gd name="connsiteX3" fmla="*/ 90371 w 926617"/>
              <a:gd name="connsiteY3" fmla="*/ 1389481 h 1866588"/>
              <a:gd name="connsiteX4" fmla="*/ 692155 w 926617"/>
              <a:gd name="connsiteY4" fmla="*/ 1866220 h 1866588"/>
              <a:gd name="connsiteX5" fmla="*/ 926617 w 926617"/>
              <a:gd name="connsiteY5" fmla="*/ 1452004 h 186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617" h="1866588">
                <a:moveTo>
                  <a:pt x="895355" y="318774"/>
                </a:moveTo>
                <a:cubicBezTo>
                  <a:pt x="763144" y="141625"/>
                  <a:pt x="630934" y="-35524"/>
                  <a:pt x="488955" y="6158"/>
                </a:cubicBezTo>
                <a:cubicBezTo>
                  <a:pt x="346975" y="47840"/>
                  <a:pt x="109909" y="338312"/>
                  <a:pt x="43478" y="568866"/>
                </a:cubicBezTo>
                <a:cubicBezTo>
                  <a:pt x="-22953" y="799420"/>
                  <a:pt x="-17742" y="1173255"/>
                  <a:pt x="90371" y="1389481"/>
                </a:cubicBezTo>
                <a:cubicBezTo>
                  <a:pt x="198484" y="1605707"/>
                  <a:pt x="552781" y="1855799"/>
                  <a:pt x="692155" y="1866220"/>
                </a:cubicBezTo>
                <a:cubicBezTo>
                  <a:pt x="831529" y="1876641"/>
                  <a:pt x="879073" y="1664322"/>
                  <a:pt x="926617" y="145200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1B86D9-ADF5-092E-4BE3-51DA9C615AA9}"/>
              </a:ext>
            </a:extLst>
          </p:cNvPr>
          <p:cNvSpPr txBox="1"/>
          <p:nvPr/>
        </p:nvSpPr>
        <p:spPr>
          <a:xfrm>
            <a:off x="11677420" y="3915156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en-SG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8A7C77-9F19-3960-F5A3-DA56BFE914B0}"/>
              </a:ext>
            </a:extLst>
          </p:cNvPr>
          <p:cNvSpPr txBox="1"/>
          <p:nvPr/>
        </p:nvSpPr>
        <p:spPr>
          <a:xfrm>
            <a:off x="6648431" y="3915156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0</a:t>
            </a:r>
            <a:endParaRPr lang="en-SG" b="1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A84D6C-FEB5-AD5A-43D5-62D965E7C5C1}"/>
              </a:ext>
            </a:extLst>
          </p:cNvPr>
          <p:cNvSpPr/>
          <p:nvPr/>
        </p:nvSpPr>
        <p:spPr>
          <a:xfrm>
            <a:off x="7258508" y="4684809"/>
            <a:ext cx="990000" cy="9900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0</a:t>
            </a:r>
            <a:endParaRPr lang="en-SG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4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6D0C-BFED-14C4-AFB0-91497720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258F-027F-2034-B904-CD92D21E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(solution)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E0488-B9CB-D4AE-791C-BB0C7D10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48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1:</a:t>
            </a:r>
            <a:r>
              <a:rPr lang="en-GB" dirty="0"/>
              <a:t> The answer was already given in the W5S1 slides on Monday.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9F1B8-98C4-3DF8-EB00-7A56D3FB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2" y="2611466"/>
            <a:ext cx="7772400" cy="40941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790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8A801-ABD9-5347-6717-6386678D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743A-4EA2-7C4A-3AF8-D966F4AD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(solution)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7A5DE-294A-4206-C771-AA76AF255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48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2:</a:t>
            </a:r>
            <a:r>
              <a:rPr lang="en-GB" dirty="0"/>
              <a:t> Should be fairly easy by reusing the W5S1 code template.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3: </a:t>
            </a:r>
            <a:r>
              <a:rPr lang="en-GB" dirty="0"/>
              <a:t>Lots of possible </a:t>
            </a:r>
            <a:r>
              <a:rPr lang="en-GB" dirty="0" err="1"/>
              <a:t>RegEx</a:t>
            </a:r>
            <a:r>
              <a:rPr lang="en-GB" dirty="0"/>
              <a:t> can be proposed here.</a:t>
            </a:r>
            <a:br>
              <a:rPr lang="en-GB" dirty="0"/>
            </a:br>
            <a:r>
              <a:rPr lang="en-GB" dirty="0"/>
              <a:t>The most common one was ^(1*|1*01*01*)*$.</a:t>
            </a:r>
          </a:p>
        </p:txBody>
      </p:sp>
    </p:spTree>
    <p:extLst>
      <p:ext uri="{BB962C8B-B14F-4D97-AF65-F5344CB8AC3E}">
        <p14:creationId xmlns:p14="http://schemas.microsoft.com/office/powerpoint/2010/main" val="67622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648A-AE56-92BD-5D3B-752FC65D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 (part of checkoff)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531A-DF2E-8A8B-EC2F-9959422B1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vending machine and draw its </a:t>
            </a:r>
            <a:r>
              <a:rPr lang="en-GB" b="1" dirty="0"/>
              <a:t>FSM with outputs</a:t>
            </a:r>
            <a:r>
              <a:rPr lang="en-GB" dirty="0"/>
              <a:t>.</a:t>
            </a:r>
          </a:p>
          <a:p>
            <a:r>
              <a:rPr lang="en-GB" dirty="0"/>
              <a:t>States will represent the current balance (in terms of money that has been inserted so far).</a:t>
            </a:r>
          </a:p>
          <a:p>
            <a:r>
              <a:rPr lang="en-GB" dirty="0"/>
              <a:t>This FSM will have three possible actions/inputs.</a:t>
            </a:r>
          </a:p>
          <a:p>
            <a:pPr lvl="1"/>
            <a:r>
              <a:rPr lang="en-GB" sz="2800" b="1" dirty="0"/>
              <a:t>“A0.5”: </a:t>
            </a:r>
            <a:r>
              <a:rPr lang="en-GB" sz="2800" dirty="0"/>
              <a:t>insert a 50 cents coin,</a:t>
            </a:r>
          </a:p>
          <a:p>
            <a:pPr lvl="1"/>
            <a:r>
              <a:rPr lang="en-GB" sz="2800" b="1" dirty="0"/>
              <a:t>“A1”: </a:t>
            </a:r>
            <a:r>
              <a:rPr lang="en-GB" sz="2800" dirty="0"/>
              <a:t>insert a 1 dollar coin,</a:t>
            </a:r>
          </a:p>
          <a:p>
            <a:pPr lvl="1"/>
            <a:r>
              <a:rPr lang="en-GB" sz="2800" b="1" dirty="0"/>
              <a:t>“PB”: </a:t>
            </a:r>
            <a:r>
              <a:rPr lang="en-GB" sz="2800" dirty="0"/>
              <a:t>press the machine button.</a:t>
            </a:r>
          </a:p>
          <a:p>
            <a:pPr marL="0" indent="0">
              <a:buNone/>
            </a:pPr>
            <a:endParaRPr lang="en-GB" dirty="0"/>
          </a:p>
          <a:p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EB8E3-EE89-9C30-2760-98585B9477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also has four possible outputs:</a:t>
            </a:r>
          </a:p>
          <a:p>
            <a:r>
              <a:rPr lang="en-SG" b="1" dirty="0"/>
              <a:t>“B0.5”: </a:t>
            </a:r>
            <a:r>
              <a:rPr lang="en-SG" dirty="0"/>
              <a:t>give back a 50 cent coin to the user,</a:t>
            </a:r>
          </a:p>
          <a:p>
            <a:r>
              <a:rPr lang="en-SG" b="1" dirty="0"/>
              <a:t>“B1”: </a:t>
            </a:r>
            <a:r>
              <a:rPr lang="en-SG" dirty="0"/>
              <a:t>give back a 1 dollar coin to the user,</a:t>
            </a:r>
          </a:p>
          <a:p>
            <a:r>
              <a:rPr lang="en-SG" b="1" dirty="0"/>
              <a:t>“C”: </a:t>
            </a:r>
            <a:r>
              <a:rPr lang="en-SG" dirty="0"/>
              <a:t>give a chocolate bar to the user,</a:t>
            </a:r>
          </a:p>
          <a:p>
            <a:r>
              <a:rPr lang="en-SG" b="1" dirty="0"/>
              <a:t>“N”: </a:t>
            </a:r>
            <a:r>
              <a:rPr lang="en-SG" dirty="0"/>
              <a:t>do nothing.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8663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648A-AE56-92BD-5D3B-752FC65D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 (part of checkoff)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531A-DF2E-8A8B-EC2F-9959422B1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would like to define a vending machine that has the following logic.</a:t>
            </a:r>
          </a:p>
          <a:p>
            <a:r>
              <a:rPr lang="en-GB" b="1" dirty="0"/>
              <a:t>Rule 1: </a:t>
            </a:r>
            <a:r>
              <a:rPr lang="en-GB" dirty="0"/>
              <a:t>Whenever a coin is inserted by the user, the total balance is updated (can be represented as a state of some sort?).</a:t>
            </a:r>
          </a:p>
          <a:p>
            <a:r>
              <a:rPr lang="en-GB" b="1" dirty="0"/>
              <a:t>Rule 2: </a:t>
            </a:r>
            <a:r>
              <a:rPr lang="en-GB" dirty="0"/>
              <a:t>If the user has inserted 1.5 dollars in total and presses the button, a bar will be given to the user, and the balance will go to 0.</a:t>
            </a:r>
          </a:p>
          <a:p>
            <a:r>
              <a:rPr lang="en-GB" b="1" dirty="0"/>
              <a:t>Rule 3: </a:t>
            </a:r>
            <a:r>
              <a:rPr lang="en-GB" dirty="0"/>
              <a:t>If the user presses the button but the balance is not exactly 1.5 dollars, nothing happens.</a:t>
            </a:r>
          </a:p>
          <a:p>
            <a:r>
              <a:rPr lang="en-GB" b="1" dirty="0"/>
              <a:t>Rule 4: </a:t>
            </a:r>
            <a:r>
              <a:rPr lang="en-GB" dirty="0"/>
              <a:t>If the user inserts a coin and the new balance exceeds (strictly) the maximal allowed balance of 1.5 dollars, then the machine will return the last coin the user has inserted.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57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06A1-FACB-3062-D492-671C1501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8235-7CDE-0D0F-486A-DD55CD63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 (part of checkoff)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9C618-ACBF-3E67-9273-E97C3B594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1: </a:t>
            </a:r>
            <a:r>
              <a:rPr lang="en-GB" dirty="0"/>
              <a:t>What could the possible states for this FSM be?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2:</a:t>
            </a:r>
            <a:r>
              <a:rPr lang="en-GB" dirty="0"/>
              <a:t> Draw the state diagram for this FSM.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3: </a:t>
            </a:r>
            <a:r>
              <a:rPr lang="en-GB" dirty="0"/>
              <a:t>What if we wanted to break rule 4 and asked for the machine to keep track of </a:t>
            </a:r>
            <a:r>
              <a:rPr lang="en-GB" u="sng" dirty="0"/>
              <a:t>any</a:t>
            </a:r>
            <a:r>
              <a:rPr lang="en-GB" dirty="0"/>
              <a:t> amount of money we would have inserted. The machine would then return the change only after the button has been pressed.</a:t>
            </a:r>
            <a:br>
              <a:rPr lang="en-GB" dirty="0"/>
            </a:br>
            <a:r>
              <a:rPr lang="en-GB" dirty="0"/>
              <a:t>Could this be represented with a simple FSM as before?</a:t>
            </a:r>
            <a:br>
              <a:rPr lang="en-GB" dirty="0"/>
            </a:br>
            <a:r>
              <a:rPr lang="en-GB" dirty="0"/>
              <a:t>If yes, show the FSM in question.</a:t>
            </a:r>
            <a:br>
              <a:rPr lang="en-GB" dirty="0"/>
            </a:br>
            <a:r>
              <a:rPr lang="en-GB" dirty="0"/>
              <a:t>If not, briefly explain why.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97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6C26-E324-2252-13C0-5021C71A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 (solution)</a:t>
            </a:r>
          </a:p>
        </p:txBody>
      </p:sp>
      <p:pic>
        <p:nvPicPr>
          <p:cNvPr id="5" name="Picture 4" descr="A white board with a diagram and a diagram on it&#10;&#10;Description automatically generated">
            <a:extLst>
              <a:ext uri="{FF2B5EF4-FFF2-40B4-BE49-F238E27FC236}">
                <a16:creationId xmlns:a16="http://schemas.microsoft.com/office/drawing/2014/main" id="{B6469C21-0F91-C4F3-FD73-ECB832938E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18" b="15843"/>
          <a:stretch/>
        </p:blipFill>
        <p:spPr>
          <a:xfrm>
            <a:off x="383457" y="1809135"/>
            <a:ext cx="11612319" cy="407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8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AA23-BCD5-DD3F-DFAD-57E821CC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AB8C-62B5-14AD-14A3-C08E0F5D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 (solution)</a:t>
            </a:r>
          </a:p>
        </p:txBody>
      </p:sp>
      <p:pic>
        <p:nvPicPr>
          <p:cNvPr id="4" name="Picture 3" descr="A whiteboard with a diagram on it&#10;&#10;Description automatically generated">
            <a:extLst>
              <a:ext uri="{FF2B5EF4-FFF2-40B4-BE49-F238E27FC236}">
                <a16:creationId xmlns:a16="http://schemas.microsoft.com/office/drawing/2014/main" id="{ED65A7D1-3D2B-F1F9-5360-CA5028223A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12" b="19283"/>
          <a:stretch/>
        </p:blipFill>
        <p:spPr>
          <a:xfrm>
            <a:off x="422787" y="1504335"/>
            <a:ext cx="11346426" cy="523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13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6A60-1F4A-0B98-5DE5-ABE6FF80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2E25-5BDC-44A4-782D-E10C1991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 (solution)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D53AE-33B4-1E84-C3CA-779E0186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3: </a:t>
            </a:r>
            <a:r>
              <a:rPr lang="en-GB" dirty="0"/>
              <a:t>No, because it would require an infinite number of states to do so, and this cannot be done with a </a:t>
            </a:r>
            <a:r>
              <a:rPr lang="en-GB" u="sng" dirty="0"/>
              <a:t>finite state</a:t>
            </a:r>
            <a:r>
              <a:rPr lang="en-GB" dirty="0"/>
              <a:t> machine.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5925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0FDD-41EF-72FB-7D17-9CF28190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 (part of checkoff)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A8A1F-C034-8100-4C77-99713E725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1: </a:t>
            </a:r>
            <a:r>
              <a:rPr lang="en-GB" dirty="0"/>
              <a:t>What is the </a:t>
            </a:r>
            <a:r>
              <a:rPr lang="en-GB" dirty="0" err="1"/>
              <a:t>RegEx</a:t>
            </a:r>
            <a:r>
              <a:rPr lang="en-GB" dirty="0"/>
              <a:t> describing a </a:t>
            </a:r>
            <a:r>
              <a:rPr lang="en-GB" b="1" dirty="0"/>
              <a:t>valid int number</a:t>
            </a:r>
            <a:r>
              <a:rPr lang="en-GB" dirty="0"/>
              <a:t>?</a:t>
            </a:r>
          </a:p>
          <a:p>
            <a:pPr marL="0" indent="0">
              <a:buNone/>
            </a:pPr>
            <a:r>
              <a:rPr lang="en-GB" dirty="0"/>
              <a:t>It should accept “0”, “123”, “-154”, “+2”, etc. </a:t>
            </a:r>
            <a:br>
              <a:rPr lang="en-GB" dirty="0"/>
            </a:br>
            <a:r>
              <a:rPr lang="en-GB" dirty="0"/>
              <a:t>It should not accept “0127”.</a:t>
            </a:r>
          </a:p>
          <a:p>
            <a:pPr marL="0" indent="0">
              <a:buNone/>
            </a:pPr>
            <a:r>
              <a:rPr lang="en-GB" i="1" dirty="0"/>
              <a:t>(Note: we will not care about upper-lower limits for these int/float that are due to memory sizes.) 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What is the </a:t>
            </a:r>
            <a:r>
              <a:rPr lang="en-GB" dirty="0" err="1"/>
              <a:t>RegEx</a:t>
            </a:r>
            <a:r>
              <a:rPr lang="en-GB" dirty="0"/>
              <a:t> describing a </a:t>
            </a:r>
            <a:r>
              <a:rPr lang="en-GB" b="1" dirty="0"/>
              <a:t>valid float number </a:t>
            </a:r>
            <a:r>
              <a:rPr lang="en-GB" dirty="0"/>
              <a:t>(in Python)?</a:t>
            </a:r>
          </a:p>
          <a:p>
            <a:pPr marL="0" indent="0">
              <a:buNone/>
            </a:pPr>
            <a:r>
              <a:rPr lang="en-GB" dirty="0"/>
              <a:t>It should accept “0”, “123”, “-154”, “12.7”, “+0.5”, “5.000”, “.5”, etc.</a:t>
            </a:r>
          </a:p>
          <a:p>
            <a:pPr marL="0" indent="0">
              <a:buNone/>
            </a:pPr>
            <a:r>
              <a:rPr lang="en-GB" dirty="0"/>
              <a:t>It should not accept “01.07”, “--0.2”, or “1.7.2”</a:t>
            </a:r>
          </a:p>
          <a:p>
            <a:pPr marL="0" indent="0">
              <a:buNone/>
            </a:pPr>
            <a:r>
              <a:rPr lang="en-GB" i="1" dirty="0"/>
              <a:t>(Note: for both questions, ignore exponential notations, i.e. “5.6e3”.)</a:t>
            </a:r>
          </a:p>
        </p:txBody>
      </p:sp>
    </p:spTree>
    <p:extLst>
      <p:ext uri="{BB962C8B-B14F-4D97-AF65-F5344CB8AC3E}">
        <p14:creationId xmlns:p14="http://schemas.microsoft.com/office/powerpoint/2010/main" val="429345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596B-18EF-AA10-F5AA-90993E4B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B737-3383-645A-2A9A-72418108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 (part of checkoff)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A07B3-A9E8-C946-60F8-7CFFF4381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1: </a:t>
            </a:r>
            <a:r>
              <a:rPr lang="en-GB" dirty="0"/>
              <a:t>Again, many possible answers here.</a:t>
            </a:r>
            <a:endParaRPr lang="en-GB" b="1" dirty="0"/>
          </a:p>
          <a:p>
            <a:pPr marL="0" indent="0">
              <a:buNone/>
            </a:pPr>
            <a:r>
              <a:rPr lang="en-GB" dirty="0"/>
              <a:t>The most common one was ^(\+|-)?(0|[1-9]\d*)$.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Again, many possible answers here.</a:t>
            </a:r>
          </a:p>
          <a:p>
            <a:pPr marL="0" indent="0">
              <a:buNone/>
            </a:pPr>
            <a:r>
              <a:rPr lang="en-GB" dirty="0"/>
              <a:t>The most common one was ^(\+|-)?(0|[1-9]\d*)(\.\d+)?$.</a:t>
            </a:r>
          </a:p>
          <a:p>
            <a:pPr marL="0" indent="0">
              <a:buNone/>
            </a:pPr>
            <a:r>
              <a:rPr lang="en-GB" i="1" dirty="0"/>
              <a:t>It might have to be modified into ^</a:t>
            </a:r>
            <a:r>
              <a:rPr lang="en-GB" dirty="0"/>
              <a:t>(\+|-)</a:t>
            </a:r>
            <a:r>
              <a:rPr lang="en-GB" i="1" dirty="0"/>
              <a:t>?(0|[1-9]\d*)?(\.\d+)?$ to accept numbers such as “.57”.</a:t>
            </a:r>
          </a:p>
        </p:txBody>
      </p:sp>
    </p:spTree>
    <p:extLst>
      <p:ext uri="{BB962C8B-B14F-4D97-AF65-F5344CB8AC3E}">
        <p14:creationId xmlns:p14="http://schemas.microsoft.com/office/powerpoint/2010/main" val="735803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925B64-A0B0-E757-2BFD-15DAAF96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are done with the checkoff activities, congrats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996DF-1B4D-A28C-088A-848D3A881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there are more tasks for you to practice with.</a:t>
            </a:r>
          </a:p>
        </p:txBody>
      </p:sp>
    </p:spTree>
    <p:extLst>
      <p:ext uri="{BB962C8B-B14F-4D97-AF65-F5344CB8AC3E}">
        <p14:creationId xmlns:p14="http://schemas.microsoft.com/office/powerpoint/2010/main" val="2371486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8A17-E60D-362A-62E7-52411B12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4F5BD-E60C-C34E-E6DB-FED2D849B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523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would like to write an FSM with stopping states and no outputs.</a:t>
            </a:r>
          </a:p>
          <a:p>
            <a:pPr marL="0" indent="0">
              <a:buNone/>
            </a:pPr>
            <a:r>
              <a:rPr lang="en-GB" dirty="0"/>
              <a:t>It will take as inputs, strings </a:t>
            </a:r>
            <a:r>
              <a:rPr lang="en-GB" i="1" dirty="0"/>
              <a:t>x</a:t>
            </a:r>
            <a:r>
              <a:rPr lang="en-GB" dirty="0"/>
              <a:t> consisting of combinations of four characters: Z, A, and M.</a:t>
            </a:r>
          </a:p>
          <a:p>
            <a:pPr marL="0" indent="0">
              <a:buNone/>
            </a:pPr>
            <a:r>
              <a:rPr lang="en-SG" dirty="0"/>
              <a:t>Possible inputs include “MAZ”, “AMAZ”, “ZZZZAM”, etc.</a:t>
            </a:r>
          </a:p>
          <a:p>
            <a:pPr marL="0" indent="0">
              <a:buNone/>
            </a:pPr>
            <a:r>
              <a:rPr lang="en-SG" dirty="0"/>
              <a:t>The only acceptable input should be exactly “ZAMZAM”.</a:t>
            </a:r>
          </a:p>
          <a:p>
            <a:pPr marL="0" indent="0">
              <a:buNone/>
            </a:pPr>
            <a:r>
              <a:rPr lang="en-SG" dirty="0"/>
              <a:t>The string “ZAMZAMZAMZAM” is not valid. </a:t>
            </a:r>
          </a:p>
        </p:txBody>
      </p:sp>
    </p:spTree>
    <p:extLst>
      <p:ext uri="{BB962C8B-B14F-4D97-AF65-F5344CB8AC3E}">
        <p14:creationId xmlns:p14="http://schemas.microsoft.com/office/powerpoint/2010/main" val="2244529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1423-7A25-A3D4-B35B-D9E88A89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E136-FA8A-5292-BF4F-E8E40789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E61D7-6FC0-FC0A-CD4E-0A8E9DD3D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523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Consider a FSM state diagram, which:</a:t>
            </a:r>
          </a:p>
          <a:p>
            <a:pPr>
              <a:buFontTx/>
              <a:buChar char="-"/>
            </a:pPr>
            <a:r>
              <a:rPr lang="en-SG" dirty="0"/>
              <a:t>Has 8 States (Start, Z1, A1, M1, Z2, A2, M2, Invalid),</a:t>
            </a:r>
          </a:p>
          <a:p>
            <a:pPr>
              <a:buFontTx/>
              <a:buChar char="-"/>
            </a:pPr>
            <a:r>
              <a:rPr lang="en-SG" dirty="0"/>
              <a:t>Has 3 possible Actions (Z, A, M),</a:t>
            </a:r>
          </a:p>
          <a:p>
            <a:pPr>
              <a:buFontTx/>
              <a:buChar char="-"/>
            </a:pPr>
            <a:r>
              <a:rPr lang="en-SG" dirty="0"/>
              <a:t>Has the Start state defined as the starting state,</a:t>
            </a:r>
          </a:p>
          <a:p>
            <a:pPr>
              <a:buFontTx/>
              <a:buChar char="-"/>
            </a:pPr>
            <a:r>
              <a:rPr lang="en-SG" dirty="0"/>
              <a:t>Has only one stopping/accepting state,</a:t>
            </a:r>
          </a:p>
          <a:p>
            <a:pPr>
              <a:buFontTx/>
              <a:buChar char="-"/>
            </a:pPr>
            <a:r>
              <a:rPr lang="en-SG" dirty="0"/>
              <a:t>Has the FSM stop in this stopping/accepting state, </a:t>
            </a:r>
            <a:r>
              <a:rPr lang="en-SG" u="sng" dirty="0"/>
              <a:t>if and only if </a:t>
            </a:r>
            <a:r>
              <a:rPr lang="en-SG" i="1" u="sng" dirty="0"/>
              <a:t>x</a:t>
            </a:r>
            <a:r>
              <a:rPr lang="en-SG" u="sng" dirty="0"/>
              <a:t> is exactly “ZAMZAM”</a:t>
            </a:r>
            <a:r>
              <a:rPr lang="en-SG" dirty="0"/>
              <a:t>; otherwise, it stops in another state.</a:t>
            </a:r>
          </a:p>
          <a:p>
            <a:pPr>
              <a:buFontTx/>
              <a:buChar char="-"/>
            </a:pPr>
            <a:endParaRPr lang="en-SG" dirty="0"/>
          </a:p>
          <a:p>
            <a:pPr marL="0" indent="0">
              <a:buNone/>
            </a:pPr>
            <a:r>
              <a:rPr lang="en-SG" dirty="0"/>
              <a:t>This FSM is shown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4147471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642D-B9EB-0D91-7B83-AE13CE33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3C5D-7160-E63A-91A1-C51F7BE6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</a:t>
            </a:r>
            <a:endParaRPr lang="en-SG" dirty="0"/>
          </a:p>
        </p:txBody>
      </p:sp>
      <p:pic>
        <p:nvPicPr>
          <p:cNvPr id="5" name="Picture 4" descr="A whiteboard with green writing&#10;&#10;Description automatically generated">
            <a:extLst>
              <a:ext uri="{FF2B5EF4-FFF2-40B4-BE49-F238E27FC236}">
                <a16:creationId xmlns:a16="http://schemas.microsoft.com/office/drawing/2014/main" id="{EC15C6B9-4734-B92E-28AD-CA98C28A17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88" b="18995"/>
          <a:stretch/>
        </p:blipFill>
        <p:spPr>
          <a:xfrm>
            <a:off x="252725" y="1808675"/>
            <a:ext cx="11686549" cy="46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39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EA4A-4F18-EAB1-6827-B646A48A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713C-9E0E-2CC8-4B9D-357A7B66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72E66-0DA2-4A70-BE8D-790977876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4000"/>
            <a:ext cx="10985391" cy="5333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Question: </a:t>
            </a:r>
            <a:r>
              <a:rPr lang="en-SG" dirty="0"/>
              <a:t>What would be the minimal number of states for this FSM?</a:t>
            </a:r>
            <a:br>
              <a:rPr lang="en-SG" dirty="0"/>
            </a:br>
            <a:r>
              <a:rPr lang="en-SG" dirty="0"/>
              <a:t>Do we really need 8 states (Z1, A1, M1, Z2, A2, M2, start and invalid) as shown in the previous slide? Or can it be done with less states, for instance 5 states (Z, A, M + start and invalid) by adding some nicely chosen transitions to the state diagram below?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DD069-C079-4FA3-B3AC-7B8995A4B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009" y="3657599"/>
            <a:ext cx="7159982" cy="301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08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5753-D0E0-4122-B4C3-04D38560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5CF4-0CAB-D495-9135-1E2FDB32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5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BFC2F-EAEA-C7A2-C1BD-F564C9ACE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are now interested to modify this FSM with stopping states, so that it considers as acceptable inputs </a:t>
            </a:r>
            <a:r>
              <a:rPr lang="en-GB" b="1" dirty="0"/>
              <a:t>any string </a:t>
            </a:r>
            <a:r>
              <a:rPr lang="en-GB" b="1" i="1" dirty="0"/>
              <a:t>x</a:t>
            </a:r>
            <a:r>
              <a:rPr lang="en-GB" b="1" dirty="0"/>
              <a:t> of 0 and 1, that have the same number of zeroes and ones.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1: </a:t>
            </a:r>
            <a:r>
              <a:rPr lang="en-GB" dirty="0"/>
              <a:t>Can this be described using an FSM of some sort?</a:t>
            </a:r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Can this be described as a </a:t>
            </a:r>
            <a:r>
              <a:rPr lang="en-GB" dirty="0" err="1"/>
              <a:t>RegEx</a:t>
            </a:r>
            <a:r>
              <a:rPr lang="en-GB" dirty="0"/>
              <a:t> of some sort?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45B868-7C3E-23A0-1DCA-A1A17ACFA1CE}"/>
              </a:ext>
            </a:extLst>
          </p:cNvPr>
          <p:cNvCxnSpPr>
            <a:cxnSpLocks/>
          </p:cNvCxnSpPr>
          <p:nvPr/>
        </p:nvCxnSpPr>
        <p:spPr>
          <a:xfrm flipH="1">
            <a:off x="9450277" y="515815"/>
            <a:ext cx="6338" cy="12960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DA7AB5D-60A6-BF17-082E-7C6FF68AD70C}"/>
              </a:ext>
            </a:extLst>
          </p:cNvPr>
          <p:cNvSpPr/>
          <p:nvPr/>
        </p:nvSpPr>
        <p:spPr>
          <a:xfrm>
            <a:off x="8910277" y="1811824"/>
            <a:ext cx="1080000" cy="108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Start</a:t>
            </a:r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8DE789-26C2-8C9B-2DB4-37C0D3F65962}"/>
              </a:ext>
            </a:extLst>
          </p:cNvPr>
          <p:cNvSpPr/>
          <p:nvPr/>
        </p:nvSpPr>
        <p:spPr>
          <a:xfrm>
            <a:off x="7211154" y="4633179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5A7ED2-C582-98F1-8B9A-8D9314D05682}"/>
              </a:ext>
            </a:extLst>
          </p:cNvPr>
          <p:cNvSpPr/>
          <p:nvPr/>
        </p:nvSpPr>
        <p:spPr>
          <a:xfrm>
            <a:off x="10609400" y="4633179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1</a:t>
            </a:r>
            <a:endParaRPr lang="en-SG" b="1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B90F94-E28D-0ABE-0D4F-E7EB81870940}"/>
              </a:ext>
            </a:extLst>
          </p:cNvPr>
          <p:cNvCxnSpPr>
            <a:cxnSpLocks/>
            <a:stCxn id="11" idx="5"/>
            <a:endCxn id="15" idx="1"/>
          </p:cNvCxnSpPr>
          <p:nvPr/>
        </p:nvCxnSpPr>
        <p:spPr>
          <a:xfrm>
            <a:off x="9832115" y="2733662"/>
            <a:ext cx="935447" cy="205767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20D47B-A36D-E7B2-348F-7137362C06D1}"/>
              </a:ext>
            </a:extLst>
          </p:cNvPr>
          <p:cNvCxnSpPr>
            <a:cxnSpLocks/>
            <a:stCxn id="11" idx="3"/>
            <a:endCxn id="12" idx="7"/>
          </p:cNvCxnSpPr>
          <p:nvPr/>
        </p:nvCxnSpPr>
        <p:spPr>
          <a:xfrm flipH="1">
            <a:off x="8132992" y="2733662"/>
            <a:ext cx="935447" cy="205767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1A69B0-0B97-E375-73AD-A77EF1FA66E3}"/>
              </a:ext>
            </a:extLst>
          </p:cNvPr>
          <p:cNvSpPr txBox="1"/>
          <p:nvPr/>
        </p:nvSpPr>
        <p:spPr>
          <a:xfrm>
            <a:off x="10285047" y="3290277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en-SG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CA7B41-5F30-F686-5C44-D8FD88A4E53E}"/>
              </a:ext>
            </a:extLst>
          </p:cNvPr>
          <p:cNvSpPr txBox="1"/>
          <p:nvPr/>
        </p:nvSpPr>
        <p:spPr>
          <a:xfrm>
            <a:off x="8291154" y="3290277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0</a:t>
            </a:r>
            <a:endParaRPr lang="en-SG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190281-0B76-2E1C-F9B0-A47BF0C9F3AA}"/>
              </a:ext>
            </a:extLst>
          </p:cNvPr>
          <p:cNvCxnSpPr>
            <a:cxnSpLocks/>
            <a:stCxn id="15" idx="3"/>
            <a:endCxn id="12" idx="5"/>
          </p:cNvCxnSpPr>
          <p:nvPr/>
        </p:nvCxnSpPr>
        <p:spPr>
          <a:xfrm flipH="1">
            <a:off x="8132992" y="5555017"/>
            <a:ext cx="263457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4DE83A-0555-958E-90AB-6D4EC42EF5E9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8291154" y="5173179"/>
            <a:ext cx="231824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F2E421C-6BDF-0A2B-529A-95ACDAE20E21}"/>
              </a:ext>
            </a:extLst>
          </p:cNvPr>
          <p:cNvSpPr txBox="1"/>
          <p:nvPr/>
        </p:nvSpPr>
        <p:spPr>
          <a:xfrm>
            <a:off x="9288100" y="5752189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0</a:t>
            </a:r>
            <a:endParaRPr lang="en-SG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11F109-80C8-B348-847C-E774D3A42EA3}"/>
              </a:ext>
            </a:extLst>
          </p:cNvPr>
          <p:cNvSpPr txBox="1"/>
          <p:nvPr/>
        </p:nvSpPr>
        <p:spPr>
          <a:xfrm>
            <a:off x="9281296" y="4639790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en-SG" b="1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5DEDA01-3A7E-FAB5-4E43-CF1AE7A5E7E3}"/>
              </a:ext>
            </a:extLst>
          </p:cNvPr>
          <p:cNvSpPr/>
          <p:nvPr/>
        </p:nvSpPr>
        <p:spPr>
          <a:xfrm>
            <a:off x="6771537" y="4284488"/>
            <a:ext cx="926617" cy="1866588"/>
          </a:xfrm>
          <a:custGeom>
            <a:avLst/>
            <a:gdLst>
              <a:gd name="connsiteX0" fmla="*/ 895355 w 926617"/>
              <a:gd name="connsiteY0" fmla="*/ 318774 h 1866588"/>
              <a:gd name="connsiteX1" fmla="*/ 488955 w 926617"/>
              <a:gd name="connsiteY1" fmla="*/ 6158 h 1866588"/>
              <a:gd name="connsiteX2" fmla="*/ 43478 w 926617"/>
              <a:gd name="connsiteY2" fmla="*/ 568866 h 1866588"/>
              <a:gd name="connsiteX3" fmla="*/ 90371 w 926617"/>
              <a:gd name="connsiteY3" fmla="*/ 1389481 h 1866588"/>
              <a:gd name="connsiteX4" fmla="*/ 692155 w 926617"/>
              <a:gd name="connsiteY4" fmla="*/ 1866220 h 1866588"/>
              <a:gd name="connsiteX5" fmla="*/ 926617 w 926617"/>
              <a:gd name="connsiteY5" fmla="*/ 1452004 h 186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617" h="1866588">
                <a:moveTo>
                  <a:pt x="895355" y="318774"/>
                </a:moveTo>
                <a:cubicBezTo>
                  <a:pt x="763144" y="141625"/>
                  <a:pt x="630934" y="-35524"/>
                  <a:pt x="488955" y="6158"/>
                </a:cubicBezTo>
                <a:cubicBezTo>
                  <a:pt x="346975" y="47840"/>
                  <a:pt x="109909" y="338312"/>
                  <a:pt x="43478" y="568866"/>
                </a:cubicBezTo>
                <a:cubicBezTo>
                  <a:pt x="-22953" y="799420"/>
                  <a:pt x="-17742" y="1173255"/>
                  <a:pt x="90371" y="1389481"/>
                </a:cubicBezTo>
                <a:cubicBezTo>
                  <a:pt x="198484" y="1605707"/>
                  <a:pt x="552781" y="1855799"/>
                  <a:pt x="692155" y="1866220"/>
                </a:cubicBezTo>
                <a:cubicBezTo>
                  <a:pt x="831529" y="1876641"/>
                  <a:pt x="879073" y="1664322"/>
                  <a:pt x="926617" y="145200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D211A82-9069-3499-CF3A-01FB12DB423A}"/>
              </a:ext>
            </a:extLst>
          </p:cNvPr>
          <p:cNvSpPr/>
          <p:nvPr/>
        </p:nvSpPr>
        <p:spPr>
          <a:xfrm rot="10800000">
            <a:off x="11148706" y="4192995"/>
            <a:ext cx="926617" cy="1866588"/>
          </a:xfrm>
          <a:custGeom>
            <a:avLst/>
            <a:gdLst>
              <a:gd name="connsiteX0" fmla="*/ 895355 w 926617"/>
              <a:gd name="connsiteY0" fmla="*/ 318774 h 1866588"/>
              <a:gd name="connsiteX1" fmla="*/ 488955 w 926617"/>
              <a:gd name="connsiteY1" fmla="*/ 6158 h 1866588"/>
              <a:gd name="connsiteX2" fmla="*/ 43478 w 926617"/>
              <a:gd name="connsiteY2" fmla="*/ 568866 h 1866588"/>
              <a:gd name="connsiteX3" fmla="*/ 90371 w 926617"/>
              <a:gd name="connsiteY3" fmla="*/ 1389481 h 1866588"/>
              <a:gd name="connsiteX4" fmla="*/ 692155 w 926617"/>
              <a:gd name="connsiteY4" fmla="*/ 1866220 h 1866588"/>
              <a:gd name="connsiteX5" fmla="*/ 926617 w 926617"/>
              <a:gd name="connsiteY5" fmla="*/ 1452004 h 186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617" h="1866588">
                <a:moveTo>
                  <a:pt x="895355" y="318774"/>
                </a:moveTo>
                <a:cubicBezTo>
                  <a:pt x="763144" y="141625"/>
                  <a:pt x="630934" y="-35524"/>
                  <a:pt x="488955" y="6158"/>
                </a:cubicBezTo>
                <a:cubicBezTo>
                  <a:pt x="346975" y="47840"/>
                  <a:pt x="109909" y="338312"/>
                  <a:pt x="43478" y="568866"/>
                </a:cubicBezTo>
                <a:cubicBezTo>
                  <a:pt x="-22953" y="799420"/>
                  <a:pt x="-17742" y="1173255"/>
                  <a:pt x="90371" y="1389481"/>
                </a:cubicBezTo>
                <a:cubicBezTo>
                  <a:pt x="198484" y="1605707"/>
                  <a:pt x="552781" y="1855799"/>
                  <a:pt x="692155" y="1866220"/>
                </a:cubicBezTo>
                <a:cubicBezTo>
                  <a:pt x="831529" y="1876641"/>
                  <a:pt x="879073" y="1664322"/>
                  <a:pt x="926617" y="145200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B166A4-58FC-29FB-B5D2-34D7EFA64BD0}"/>
              </a:ext>
            </a:extLst>
          </p:cNvPr>
          <p:cNvSpPr txBox="1"/>
          <p:nvPr/>
        </p:nvSpPr>
        <p:spPr>
          <a:xfrm>
            <a:off x="11677420" y="3915156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en-SG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BF606E-D225-7AF5-C5F6-5EE72F226634}"/>
              </a:ext>
            </a:extLst>
          </p:cNvPr>
          <p:cNvSpPr txBox="1"/>
          <p:nvPr/>
        </p:nvSpPr>
        <p:spPr>
          <a:xfrm>
            <a:off x="6648431" y="3915156"/>
            <a:ext cx="3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0</a:t>
            </a:r>
            <a:endParaRPr lang="en-SG" b="1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06237FA-B0EE-1193-9D86-07F8DC5F6127}"/>
              </a:ext>
            </a:extLst>
          </p:cNvPr>
          <p:cNvSpPr/>
          <p:nvPr/>
        </p:nvSpPr>
        <p:spPr>
          <a:xfrm>
            <a:off x="7258508" y="4684809"/>
            <a:ext cx="990000" cy="9900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0</a:t>
            </a:r>
            <a:endParaRPr lang="en-SG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989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EEB4-0350-8BF6-2588-5A070D89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6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30554-1CE4-F556-52DE-9DD7CF54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Question 1: </a:t>
            </a:r>
            <a:r>
              <a:rPr lang="en-GB" dirty="0"/>
              <a:t>Design an FSM that detects whether a binary input string </a:t>
            </a:r>
            <a:r>
              <a:rPr lang="en-GB" i="1" dirty="0"/>
              <a:t>x</a:t>
            </a:r>
            <a:r>
              <a:rPr lang="en-GB" dirty="0"/>
              <a:t> consists of an alternating bit pattern (e.g., "01010101" or "10101010").</a:t>
            </a:r>
          </a:p>
          <a:p>
            <a:pPr marL="0" indent="0">
              <a:buNone/>
            </a:pPr>
            <a:r>
              <a:rPr lang="en-GB" dirty="0"/>
              <a:t>The FSM should end in an accepting state if and only if the entire input string follows an alternating pattern.</a:t>
            </a:r>
          </a:p>
          <a:p>
            <a:pPr marL="0" indent="0">
              <a:buNone/>
            </a:pPr>
            <a:r>
              <a:rPr lang="en-GB" dirty="0"/>
              <a:t>As possible test cases, note that “0”, “1”, “101”, “01010”, “10”, and “0101” are valid according to this pattern.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SG" b="1" dirty="0"/>
              <a:t>Question 2: </a:t>
            </a:r>
            <a:r>
              <a:rPr lang="en-SG" dirty="0"/>
              <a:t>Can this pattern be written as a </a:t>
            </a:r>
            <a:r>
              <a:rPr lang="en-SG" dirty="0" err="1"/>
              <a:t>RegEx</a:t>
            </a:r>
            <a:r>
              <a:rPr lang="en-S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3310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648A-AE56-92BD-5D3B-752FC65D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7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531A-DF2E-8A8B-EC2F-9959422B1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Q1: </a:t>
            </a:r>
            <a:r>
              <a:rPr lang="en-GB" dirty="0"/>
              <a:t>What is the </a:t>
            </a:r>
            <a:r>
              <a:rPr lang="en-GB" dirty="0" err="1"/>
              <a:t>RegEx</a:t>
            </a:r>
            <a:r>
              <a:rPr lang="en-GB" dirty="0"/>
              <a:t> for checking that a string corresponds to a valid </a:t>
            </a:r>
            <a:r>
              <a:rPr lang="en-GB" b="1" dirty="0"/>
              <a:t>int/float number written in exp form</a:t>
            </a:r>
            <a:r>
              <a:rPr lang="en-GB" dirty="0"/>
              <a:t>? (e.g. it should accept 1e5, +4.1e7, -2.3e4 but not 3.5e2.4).</a:t>
            </a:r>
          </a:p>
          <a:p>
            <a:pPr marL="0" indent="0">
              <a:buNone/>
            </a:pPr>
            <a:r>
              <a:rPr lang="en-GB" b="1" dirty="0"/>
              <a:t>Q2: </a:t>
            </a:r>
            <a:r>
              <a:rPr lang="en-GB" dirty="0"/>
              <a:t>What is the </a:t>
            </a:r>
            <a:r>
              <a:rPr lang="en-GB" dirty="0" err="1"/>
              <a:t>RegEx</a:t>
            </a:r>
            <a:r>
              <a:rPr lang="en-GB" dirty="0"/>
              <a:t> for checking that a string corresponds to a valid </a:t>
            </a:r>
            <a:r>
              <a:rPr lang="en-GB" b="1" dirty="0"/>
              <a:t>Singaporean</a:t>
            </a:r>
            <a:r>
              <a:rPr lang="en-GB" dirty="0"/>
              <a:t> </a:t>
            </a:r>
            <a:r>
              <a:rPr lang="en-GB" b="1" dirty="0"/>
              <a:t>phone number? </a:t>
            </a:r>
            <a:r>
              <a:rPr lang="en-GB" dirty="0"/>
              <a:t>(e.g. it should accept </a:t>
            </a:r>
            <a:r>
              <a:rPr kumimoji="0" lang="en-GB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“63036600”, “+6563036600”,</a:t>
            </a:r>
            <a:r>
              <a:rPr lang="en-GB" altLang="en-US" sz="2800" dirty="0"/>
              <a:t> </a:t>
            </a:r>
            <a:r>
              <a:rPr kumimoji="0" lang="en-GB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“006563036600”, etc.</a:t>
            </a:r>
            <a:r>
              <a:rPr lang="en-GB" dirty="0"/>
              <a:t>)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Q3: </a:t>
            </a:r>
            <a:r>
              <a:rPr lang="en-GB" dirty="0"/>
              <a:t>What is the </a:t>
            </a:r>
            <a:r>
              <a:rPr lang="en-GB" dirty="0" err="1"/>
              <a:t>RegEx</a:t>
            </a:r>
            <a:r>
              <a:rPr lang="en-GB" dirty="0"/>
              <a:t> for checking that a string corresponds to a valid </a:t>
            </a:r>
            <a:r>
              <a:rPr lang="en-GB" b="1" dirty="0"/>
              <a:t>email address? </a:t>
            </a:r>
            <a:r>
              <a:rPr lang="en-GB" dirty="0"/>
              <a:t>(e.g. it could be </a:t>
            </a:r>
            <a:r>
              <a:rPr lang="en-GB" dirty="0" err="1">
                <a:hlinkClick r:id="rId2"/>
              </a:rPr>
              <a:t>name_stuff@something.something</a:t>
            </a:r>
            <a:r>
              <a:rPr lang="en-GB" dirty="0"/>
              <a:t>, </a:t>
            </a:r>
            <a:r>
              <a:rPr lang="en-GB" dirty="0">
                <a:hlinkClick r:id="rId3"/>
              </a:rPr>
              <a:t>myname.thing@sutd.edu.sg</a:t>
            </a:r>
            <a:r>
              <a:rPr lang="en-GB" dirty="0"/>
              <a:t>, etc.)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Remember to use full string matching for these tasks!</a:t>
            </a:r>
          </a:p>
        </p:txBody>
      </p:sp>
    </p:spTree>
    <p:extLst>
      <p:ext uri="{BB962C8B-B14F-4D97-AF65-F5344CB8AC3E}">
        <p14:creationId xmlns:p14="http://schemas.microsoft.com/office/powerpoint/2010/main" val="2469439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C2DD-15F8-3FC2-A335-7C317CF4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A8B18-27A6-89B4-E1DE-98CEFD98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Consider input strings that are combinations of 0 and 1.</a:t>
            </a:r>
            <a:br>
              <a:rPr lang="en-GB" dirty="0"/>
            </a:br>
            <a:r>
              <a:rPr lang="en-GB" dirty="0"/>
              <a:t>A string should be considered acceptable </a:t>
            </a:r>
            <a:r>
              <a:rPr lang="en-GB" b="1" u="sng" dirty="0"/>
              <a:t>if and only if it does not contain two successive zeroes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Question 1: </a:t>
            </a:r>
            <a:r>
              <a:rPr lang="en-GB" dirty="0"/>
              <a:t>Draw an FSM with accepting states for this task.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Can the pattern be described as a </a:t>
            </a:r>
            <a:r>
              <a:rPr lang="en-GB" dirty="0" err="1"/>
              <a:t>RegEx</a:t>
            </a:r>
            <a:r>
              <a:rPr lang="en-GB" dirty="0"/>
              <a:t>? If 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3009801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414BDA-CCA7-BBEE-352E-62BC7C0EB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additional practice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B17C-D2DA-4360-28AA-5822F3D80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From last year’s </a:t>
            </a:r>
            <a:r>
              <a:rPr lang="en-GB" dirty="0" err="1"/>
              <a:t>homeworks</a:t>
            </a:r>
            <a:r>
              <a:rPr lang="en-GB" dirty="0"/>
              <a:t>, already mentioned in W4S2.</a:t>
            </a:r>
          </a:p>
        </p:txBody>
      </p:sp>
    </p:spTree>
    <p:extLst>
      <p:ext uri="{BB962C8B-B14F-4D97-AF65-F5344CB8AC3E}">
        <p14:creationId xmlns:p14="http://schemas.microsoft.com/office/powerpoint/2010/main" val="1200781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C845-5534-1E8B-597E-22D316A6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as extra, to keep </a:t>
            </a:r>
            <a:r>
              <a:rPr lang="en-GB"/>
              <a:t>you busy…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6C5B-EC9B-9707-2E3C-496D72ABC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For each of the previous activities involving FSMs:</a:t>
            </a:r>
          </a:p>
          <a:p>
            <a:r>
              <a:rPr lang="en-GB" dirty="0"/>
              <a:t>Code said FSM in C.</a:t>
            </a:r>
          </a:p>
          <a:p>
            <a:r>
              <a:rPr lang="en-GB" dirty="0"/>
              <a:t>Most FSM problems can be resolved using an FSM with accepting states, or by using an FSM with outputs. Try implementing both versions.</a:t>
            </a:r>
          </a:p>
          <a:p>
            <a:pPr marL="0" indent="0">
              <a:buNone/>
            </a:pPr>
            <a:r>
              <a:rPr lang="en-GB" dirty="0"/>
              <a:t>In the case of </a:t>
            </a:r>
            <a:r>
              <a:rPr lang="en-GB" dirty="0" err="1"/>
              <a:t>RegEx</a:t>
            </a:r>
            <a:r>
              <a:rPr lang="en-GB" dirty="0"/>
              <a:t>:</a:t>
            </a:r>
          </a:p>
          <a:p>
            <a:r>
              <a:rPr lang="en-GB" dirty="0"/>
              <a:t>Code the </a:t>
            </a:r>
            <a:r>
              <a:rPr lang="en-GB" dirty="0" err="1"/>
              <a:t>RegEx</a:t>
            </a:r>
            <a:r>
              <a:rPr lang="en-GB" dirty="0"/>
              <a:t> using the W5S2 template and then check that it has the correct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dirty="0"/>
              <a:t>If you </a:t>
            </a:r>
            <a:r>
              <a:rPr lang="en-GB" dirty="0" err="1"/>
              <a:t>RegEx</a:t>
            </a:r>
            <a:r>
              <a:rPr lang="en-GB" dirty="0"/>
              <a:t> uses advanced notations (such as ? or + or [] or \d or \w, etc.), rewrite said regex using only the three fundamental operations (concatenation, choice and Kleene * symbol)</a:t>
            </a:r>
          </a:p>
        </p:txBody>
      </p:sp>
    </p:spTree>
    <p:extLst>
      <p:ext uri="{BB962C8B-B14F-4D97-AF65-F5344CB8AC3E}">
        <p14:creationId xmlns:p14="http://schemas.microsoft.com/office/powerpoint/2010/main" val="1299130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591C4-A472-9DFB-545C-7C646FC4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8BCD-1F74-0CCD-9D50-EB70D6333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04"/>
            <a:ext cx="10515600" cy="6582696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boss: </a:t>
            </a: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 us consider strings consisting of 0s and 1s only.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would like to check for strings that have the same digit in their first, third, fifth, etc. location. Have a look at the table below for some examples of acceptable and not acceptable strings.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Question: </a:t>
            </a:r>
            <a:r>
              <a:rPr lang="en-S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friend Chris claims that it is impossible to describe this pattern using a </a:t>
            </a:r>
            <a:r>
              <a:rPr lang="en-SG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RegEx</a:t>
            </a:r>
            <a:r>
              <a:rPr lang="en-S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Do you agree with him, or can you provide a </a:t>
            </a:r>
            <a:r>
              <a:rPr lang="en-SG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RegEx</a:t>
            </a:r>
            <a:r>
              <a:rPr lang="en-S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works for this task?</a:t>
            </a: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967BA7-38A3-3945-BED8-F2729E00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3" y="3871453"/>
            <a:ext cx="11846643" cy="238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2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1768</Words>
  <Application>Microsoft Office PowerPoint</Application>
  <PresentationFormat>Widescreen</PresentationFormat>
  <Paragraphs>135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50.051 Programming Language Concepts  W5-S3 Practical on FSMs and RegEx</vt:lpstr>
      <vt:lpstr>Practice Activities</vt:lpstr>
      <vt:lpstr>Practice 1 (part of checkoff)</vt:lpstr>
      <vt:lpstr>Practice 1 (solution)</vt:lpstr>
      <vt:lpstr>Practice 1 (solution)</vt:lpstr>
      <vt:lpstr>Practice 2 (part of checkoff)</vt:lpstr>
      <vt:lpstr>Practice 2 (part of checkoff)</vt:lpstr>
      <vt:lpstr>Practice 2 (part of checkoff)</vt:lpstr>
      <vt:lpstr>Practice 2 (solution)</vt:lpstr>
      <vt:lpstr>Practice 2 (solution)</vt:lpstr>
      <vt:lpstr>Practice 2 (solution)</vt:lpstr>
      <vt:lpstr>Practice 3 (part of checkoff)</vt:lpstr>
      <vt:lpstr>Practice 3 (part of checkoff)</vt:lpstr>
      <vt:lpstr>You are done with the checkoff activities, congrats</vt:lpstr>
      <vt:lpstr>Practice 4</vt:lpstr>
      <vt:lpstr>Practice 4</vt:lpstr>
      <vt:lpstr>Practice 4</vt:lpstr>
      <vt:lpstr>Practice 4</vt:lpstr>
      <vt:lpstr>Practice 5</vt:lpstr>
      <vt:lpstr>Practice 6</vt:lpstr>
      <vt:lpstr>Practice 7</vt:lpstr>
      <vt:lpstr>Practice 8</vt:lpstr>
      <vt:lpstr>Some additional practice</vt:lpstr>
      <vt:lpstr>And as extra, to keep you busy…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3</cp:revision>
  <dcterms:created xsi:type="dcterms:W3CDTF">2023-03-02T06:54:24Z</dcterms:created>
  <dcterms:modified xsi:type="dcterms:W3CDTF">2026-02-25T12:11:58Z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