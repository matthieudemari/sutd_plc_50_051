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3"/>
  </p:notesMasterIdLst>
  <p:sldIdLst>
    <p:sldId id="377" r:id="rId2"/>
    <p:sldId id="554" r:id="rId3"/>
    <p:sldId id="380" r:id="rId4"/>
    <p:sldId id="381" r:id="rId5"/>
    <p:sldId id="385" r:id="rId6"/>
    <p:sldId id="393" r:id="rId7"/>
    <p:sldId id="394" r:id="rId8"/>
    <p:sldId id="378" r:id="rId9"/>
    <p:sldId id="556" r:id="rId10"/>
    <p:sldId id="557" r:id="rId11"/>
    <p:sldId id="555" r:id="rId12"/>
    <p:sldId id="558" r:id="rId13"/>
    <p:sldId id="559" r:id="rId14"/>
    <p:sldId id="560" r:id="rId15"/>
    <p:sldId id="561" r:id="rId16"/>
    <p:sldId id="562" r:id="rId17"/>
    <p:sldId id="566" r:id="rId18"/>
    <p:sldId id="565" r:id="rId19"/>
    <p:sldId id="568" r:id="rId20"/>
    <p:sldId id="573" r:id="rId21"/>
    <p:sldId id="569" r:id="rId22"/>
    <p:sldId id="570" r:id="rId23"/>
    <p:sldId id="571" r:id="rId24"/>
    <p:sldId id="572" r:id="rId25"/>
    <p:sldId id="567" r:id="rId26"/>
    <p:sldId id="574" r:id="rId27"/>
    <p:sldId id="575" r:id="rId28"/>
    <p:sldId id="624" r:id="rId29"/>
    <p:sldId id="576" r:id="rId30"/>
    <p:sldId id="577" r:id="rId31"/>
    <p:sldId id="578" r:id="rId32"/>
    <p:sldId id="580" r:id="rId33"/>
    <p:sldId id="579" r:id="rId34"/>
    <p:sldId id="581" r:id="rId35"/>
    <p:sldId id="582" r:id="rId36"/>
    <p:sldId id="583" r:id="rId37"/>
    <p:sldId id="584" r:id="rId38"/>
    <p:sldId id="585" r:id="rId39"/>
    <p:sldId id="586" r:id="rId40"/>
    <p:sldId id="587" r:id="rId41"/>
    <p:sldId id="588" r:id="rId42"/>
    <p:sldId id="589" r:id="rId43"/>
    <p:sldId id="590" r:id="rId44"/>
    <p:sldId id="591" r:id="rId45"/>
    <p:sldId id="592" r:id="rId46"/>
    <p:sldId id="593" r:id="rId47"/>
    <p:sldId id="605" r:id="rId48"/>
    <p:sldId id="606" r:id="rId49"/>
    <p:sldId id="608" r:id="rId50"/>
    <p:sldId id="609" r:id="rId51"/>
    <p:sldId id="610" r:id="rId52"/>
    <p:sldId id="611" r:id="rId53"/>
    <p:sldId id="612" r:id="rId54"/>
    <p:sldId id="614" r:id="rId55"/>
    <p:sldId id="613" r:id="rId56"/>
    <p:sldId id="615" r:id="rId57"/>
    <p:sldId id="616" r:id="rId58"/>
    <p:sldId id="617" r:id="rId59"/>
    <p:sldId id="618" r:id="rId60"/>
    <p:sldId id="621" r:id="rId61"/>
    <p:sldId id="622" r:id="rId62"/>
    <p:sldId id="619" r:id="rId63"/>
    <p:sldId id="620" r:id="rId64"/>
    <p:sldId id="625" r:id="rId65"/>
    <p:sldId id="623" r:id="rId66"/>
    <p:sldId id="626" r:id="rId67"/>
    <p:sldId id="627" r:id="rId68"/>
    <p:sldId id="628" r:id="rId69"/>
    <p:sldId id="629" r:id="rId70"/>
    <p:sldId id="630" r:id="rId71"/>
    <p:sldId id="631" r:id="rId72"/>
    <p:sldId id="632" r:id="rId73"/>
    <p:sldId id="633" r:id="rId74"/>
    <p:sldId id="635" r:id="rId75"/>
    <p:sldId id="636" r:id="rId76"/>
    <p:sldId id="637" r:id="rId77"/>
    <p:sldId id="634" r:id="rId78"/>
    <p:sldId id="639" r:id="rId79"/>
    <p:sldId id="640" r:id="rId80"/>
    <p:sldId id="641" r:id="rId81"/>
    <p:sldId id="642" r:id="rId82"/>
    <p:sldId id="643" r:id="rId83"/>
    <p:sldId id="644" r:id="rId84"/>
    <p:sldId id="645" r:id="rId85"/>
    <p:sldId id="595" r:id="rId86"/>
    <p:sldId id="649" r:id="rId87"/>
    <p:sldId id="651" r:id="rId88"/>
    <p:sldId id="652" r:id="rId89"/>
    <p:sldId id="655" r:id="rId90"/>
    <p:sldId id="656" r:id="rId91"/>
    <p:sldId id="657" r:id="rId92"/>
    <p:sldId id="601" r:id="rId93"/>
    <p:sldId id="658" r:id="rId94"/>
    <p:sldId id="650" r:id="rId95"/>
    <p:sldId id="654" r:id="rId96"/>
    <p:sldId id="659" r:id="rId97"/>
    <p:sldId id="660" r:id="rId98"/>
    <p:sldId id="664" r:id="rId99"/>
    <p:sldId id="665" r:id="rId100"/>
    <p:sldId id="666" r:id="rId101"/>
    <p:sldId id="663" r:id="rId102"/>
    <p:sldId id="667" r:id="rId103"/>
    <p:sldId id="668" r:id="rId104"/>
    <p:sldId id="669" r:id="rId105"/>
    <p:sldId id="670" r:id="rId106"/>
    <p:sldId id="662" r:id="rId107"/>
    <p:sldId id="672" r:id="rId108"/>
    <p:sldId id="661" r:id="rId109"/>
    <p:sldId id="600" r:id="rId110"/>
    <p:sldId id="673" r:id="rId111"/>
    <p:sldId id="674" r:id="rId112"/>
    <p:sldId id="675" r:id="rId113"/>
    <p:sldId id="676" r:id="rId114"/>
    <p:sldId id="677" r:id="rId115"/>
    <p:sldId id="680" r:id="rId116"/>
    <p:sldId id="681" r:id="rId117"/>
    <p:sldId id="678" r:id="rId118"/>
    <p:sldId id="679" r:id="rId119"/>
    <p:sldId id="646" r:id="rId120"/>
    <p:sldId id="647" r:id="rId121"/>
    <p:sldId id="648" r:id="rId1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78B9027-D5BB-40A0-9AF0-3B950F71C46E}">
          <p14:sldIdLst>
            <p14:sldId id="377"/>
          </p14:sldIdLst>
        </p14:section>
        <p14:section name="Moving to middle-end" id="{5114B557-2D11-4838-A5E6-396F67DDAC5C}">
          <p14:sldIdLst>
            <p14:sldId id="554"/>
            <p14:sldId id="380"/>
          </p14:sldIdLst>
        </p14:section>
        <p14:section name="Three Address Code (TAC)" id="{9063DD05-64AF-405D-9CCE-2D4CC31F8998}">
          <p14:sldIdLst>
            <p14:sldId id="381"/>
            <p14:sldId id="385"/>
            <p14:sldId id="393"/>
            <p14:sldId id="394"/>
            <p14:sldId id="378"/>
            <p14:sldId id="556"/>
          </p14:sldIdLst>
        </p14:section>
        <p14:section name="TAC grammar" id="{3186CA28-C8FD-4BFE-A7A9-026DE8CA070A}">
          <p14:sldIdLst>
            <p14:sldId id="557"/>
            <p14:sldId id="555"/>
            <p14:sldId id="558"/>
            <p14:sldId id="559"/>
            <p14:sldId id="560"/>
            <p14:sldId id="561"/>
          </p14:sldIdLst>
        </p14:section>
        <p14:section name="TAC for simple expressions" id="{D59048AF-091F-4FB3-931F-A24FDDF360E2}">
          <p14:sldIdLst>
            <p14:sldId id="562"/>
            <p14:sldId id="566"/>
            <p14:sldId id="565"/>
          </p14:sldIdLst>
        </p14:section>
        <p14:section name="Answer is in the AST" id="{B55E6DE5-1C60-4062-9DEE-BCB97D693162}">
          <p14:sldIdLst>
            <p14:sldId id="568"/>
            <p14:sldId id="573"/>
            <p14:sldId id="569"/>
            <p14:sldId id="570"/>
            <p14:sldId id="571"/>
            <p14:sldId id="572"/>
          </p14:sldIdLst>
        </p14:section>
        <p14:section name="TAC generator functions" id="{4C1413F6-4F4E-40C7-9CE1-8315CA615F33}">
          <p14:sldIdLst>
            <p14:sldId id="567"/>
            <p14:sldId id="574"/>
            <p14:sldId id="575"/>
            <p14:sldId id="624"/>
            <p14:sldId id="576"/>
            <p14:sldId id="577"/>
            <p14:sldId id="578"/>
            <p14:sldId id="580"/>
            <p14:sldId id="579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</p14:sldIdLst>
        </p14:section>
        <p14:section name="Practice on TAC for booleans" id="{9484AD6D-6B23-467F-9A5C-B4F6401609C1}">
          <p14:sldIdLst>
            <p14:sldId id="592"/>
          </p14:sldIdLst>
        </p14:section>
        <p14:section name="A cgen() for if statement" id="{FC511BD6-1A48-43C1-97A4-93A373C8D55B}">
          <p14:sldIdLst>
            <p14:sldId id="593"/>
            <p14:sldId id="605"/>
            <p14:sldId id="606"/>
            <p14:sldId id="608"/>
            <p14:sldId id="609"/>
            <p14:sldId id="610"/>
            <p14:sldId id="611"/>
            <p14:sldId id="612"/>
            <p14:sldId id="614"/>
            <p14:sldId id="613"/>
            <p14:sldId id="615"/>
            <p14:sldId id="616"/>
            <p14:sldId id="617"/>
            <p14:sldId id="618"/>
            <p14:sldId id="621"/>
            <p14:sldId id="622"/>
          </p14:sldIdLst>
        </p14:section>
        <p14:section name="TAC for if statement" id="{42721359-3C63-45F1-8737-9F22A0F5ED79}">
          <p14:sldIdLst>
            <p14:sldId id="619"/>
            <p14:sldId id="620"/>
            <p14:sldId id="625"/>
            <p14:sldId id="623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5"/>
            <p14:sldId id="636"/>
            <p14:sldId id="637"/>
            <p14:sldId id="634"/>
            <p14:sldId id="639"/>
            <p14:sldId id="640"/>
            <p14:sldId id="641"/>
            <p14:sldId id="642"/>
            <p14:sldId id="643"/>
            <p14:sldId id="644"/>
            <p14:sldId id="645"/>
          </p14:sldIdLst>
        </p14:section>
        <p14:section name="TAC for function calls" id="{20C4639E-7D7A-4FD4-8FFB-21120A19927E}">
          <p14:sldIdLst>
            <p14:sldId id="595"/>
            <p14:sldId id="649"/>
          </p14:sldIdLst>
        </p14:section>
        <p14:section name="Defining stacks for function calls" id="{78144EC3-800A-4ECA-A57B-9F13EA48780D}">
          <p14:sldIdLst>
            <p14:sldId id="651"/>
            <p14:sldId id="652"/>
            <p14:sldId id="655"/>
            <p14:sldId id="656"/>
            <p14:sldId id="657"/>
            <p14:sldId id="601"/>
            <p14:sldId id="658"/>
            <p14:sldId id="650"/>
            <p14:sldId id="654"/>
          </p14:sldIdLst>
        </p14:section>
        <p14:section name="Back to our function example" id="{83A8B766-87FE-4790-8BA5-51E56AFF8139}">
          <p14:sldIdLst>
            <p14:sldId id="659"/>
          </p14:sldIdLst>
        </p14:section>
        <p14:section name="Program counter, Function pointer, Global variables" id="{7148BB94-27BC-40AC-9889-57D14BB7B875}">
          <p14:sldIdLst>
            <p14:sldId id="660"/>
            <p14:sldId id="664"/>
            <p14:sldId id="665"/>
            <p14:sldId id="666"/>
            <p14:sldId id="663"/>
            <p14:sldId id="667"/>
            <p14:sldId id="668"/>
            <p14:sldId id="669"/>
            <p14:sldId id="670"/>
            <p14:sldId id="662"/>
            <p14:sldId id="672"/>
            <p14:sldId id="661"/>
          </p14:sldIdLst>
        </p14:section>
        <p14:section name="A quick word regarding the TAC for objects" id="{8F62BD49-C17A-4299-8799-C58F4CF60029}">
          <p14:sldIdLst>
            <p14:sldId id="600"/>
            <p14:sldId id="673"/>
          </p14:sldIdLst>
        </p14:section>
        <p14:section name="Conclusion" id="{230BF18C-8A66-4BC1-8577-F3D75D12EA7E}">
          <p14:sldIdLst>
            <p14:sldId id="674"/>
            <p14:sldId id="675"/>
          </p14:sldIdLst>
        </p14:section>
        <p14:section name="Quiz time!" id="{C38A097A-B994-4104-A405-60854AFD0529}">
          <p14:sldIdLst>
            <p14:sldId id="676"/>
            <p14:sldId id="677"/>
            <p14:sldId id="680"/>
            <p14:sldId id="681"/>
            <p14:sldId id="678"/>
            <p14:sldId id="679"/>
          </p14:sldIdLst>
        </p14:section>
        <p14:section name="Practice for while statement" id="{6880F097-A289-4C66-8B05-6D8CD38ADAFB}">
          <p14:sldIdLst>
            <p14:sldId id="646"/>
          </p14:sldIdLst>
        </p14:section>
        <p14:section name="Practice for loops" id="{25D40605-4DF1-4722-A1DC-774D2C0B56B3}">
          <p14:sldIdLst>
            <p14:sldId id="647"/>
          </p14:sldIdLst>
        </p14:section>
        <p14:section name="Practice for loops" id="{A35DF196-6061-40DB-AB71-679CF34021AD}">
          <p14:sldIdLst>
            <p14:sldId id="6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B37E7B-2C63-881E-D1CD-0B80C5165243}" name="Matthieu DE MARI" initials="MDM" userId="15f9bd7465eafad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128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129" Type="http://schemas.microsoft.com/office/2018/10/relationships/authors" Target="author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delSld modSld modSection">
      <pc:chgData name="Matthieu De Mari" userId="dfb708c9-d8dc-439f-9a3b-c772bf4a311c" providerId="ADAL" clId="{81E9B007-0C2C-493E-9B93-55A62C9C1F12}" dt="2026-01-14T10:09:16.469" v="91" actId="20577"/>
      <pc:docMkLst>
        <pc:docMk/>
      </pc:docMkLst>
      <pc:sldChg chg="modSp mod">
        <pc:chgData name="Matthieu De Mari" userId="dfb708c9-d8dc-439f-9a3b-c772bf4a311c" providerId="ADAL" clId="{81E9B007-0C2C-493E-9B93-55A62C9C1F12}" dt="2026-01-14T10:03:47.715" v="0" actId="20577"/>
        <pc:sldMkLst>
          <pc:docMk/>
          <pc:sldMk cId="1962447718" sldId="569"/>
        </pc:sldMkLst>
        <pc:spChg chg="mod">
          <ac:chgData name="Matthieu De Mari" userId="dfb708c9-d8dc-439f-9a3b-c772bf4a311c" providerId="ADAL" clId="{81E9B007-0C2C-493E-9B93-55A62C9C1F12}" dt="2026-01-14T10:03:47.715" v="0" actId="20577"/>
          <ac:spMkLst>
            <pc:docMk/>
            <pc:sldMk cId="1962447718" sldId="569"/>
            <ac:spMk id="31" creationId="{87EFACA4-5948-F58F-B632-AB51EC51F91F}"/>
          </ac:spMkLst>
        </pc:spChg>
      </pc:sldChg>
      <pc:sldChg chg="modSp mod">
        <pc:chgData name="Matthieu De Mari" userId="dfb708c9-d8dc-439f-9a3b-c772bf4a311c" providerId="ADAL" clId="{81E9B007-0C2C-493E-9B93-55A62C9C1F12}" dt="2026-01-14T10:03:50.701" v="1" actId="20577"/>
        <pc:sldMkLst>
          <pc:docMk/>
          <pc:sldMk cId="3847547340" sldId="570"/>
        </pc:sldMkLst>
        <pc:spChg chg="mod">
          <ac:chgData name="Matthieu De Mari" userId="dfb708c9-d8dc-439f-9a3b-c772bf4a311c" providerId="ADAL" clId="{81E9B007-0C2C-493E-9B93-55A62C9C1F12}" dt="2026-01-14T10:03:50.701" v="1" actId="20577"/>
          <ac:spMkLst>
            <pc:docMk/>
            <pc:sldMk cId="3847547340" sldId="570"/>
            <ac:spMk id="31" creationId="{87EFACA4-5948-F58F-B632-AB51EC51F91F}"/>
          </ac:spMkLst>
        </pc:spChg>
      </pc:sldChg>
      <pc:sldChg chg="modSp mod">
        <pc:chgData name="Matthieu De Mari" userId="dfb708c9-d8dc-439f-9a3b-c772bf4a311c" providerId="ADAL" clId="{81E9B007-0C2C-493E-9B93-55A62C9C1F12}" dt="2026-01-14T10:03:54.118" v="2" actId="20577"/>
        <pc:sldMkLst>
          <pc:docMk/>
          <pc:sldMk cId="1034175126" sldId="571"/>
        </pc:sldMkLst>
        <pc:spChg chg="mod">
          <ac:chgData name="Matthieu De Mari" userId="dfb708c9-d8dc-439f-9a3b-c772bf4a311c" providerId="ADAL" clId="{81E9B007-0C2C-493E-9B93-55A62C9C1F12}" dt="2026-01-14T10:03:54.118" v="2" actId="20577"/>
          <ac:spMkLst>
            <pc:docMk/>
            <pc:sldMk cId="1034175126" sldId="571"/>
            <ac:spMk id="31" creationId="{87EFACA4-5948-F58F-B632-AB51EC51F91F}"/>
          </ac:spMkLst>
        </pc:spChg>
      </pc:sldChg>
      <pc:sldChg chg="modSp mod">
        <pc:chgData name="Matthieu De Mari" userId="dfb708c9-d8dc-439f-9a3b-c772bf4a311c" providerId="ADAL" clId="{81E9B007-0C2C-493E-9B93-55A62C9C1F12}" dt="2026-01-14T10:03:58.474" v="3" actId="20577"/>
        <pc:sldMkLst>
          <pc:docMk/>
          <pc:sldMk cId="1343867445" sldId="572"/>
        </pc:sldMkLst>
        <pc:spChg chg="mod">
          <ac:chgData name="Matthieu De Mari" userId="dfb708c9-d8dc-439f-9a3b-c772bf4a311c" providerId="ADAL" clId="{81E9B007-0C2C-493E-9B93-55A62C9C1F12}" dt="2026-01-14T10:03:58.474" v="3" actId="20577"/>
          <ac:spMkLst>
            <pc:docMk/>
            <pc:sldMk cId="1343867445" sldId="572"/>
            <ac:spMk id="31" creationId="{87EFACA4-5948-F58F-B632-AB51EC51F91F}"/>
          </ac:spMkLst>
        </pc:spChg>
      </pc:sldChg>
      <pc:sldChg chg="del">
        <pc:chgData name="Matthieu De Mari" userId="dfb708c9-d8dc-439f-9a3b-c772bf4a311c" providerId="ADAL" clId="{81E9B007-0C2C-493E-9B93-55A62C9C1F12}" dt="2026-01-14T10:05:41.270" v="4" actId="47"/>
        <pc:sldMkLst>
          <pc:docMk/>
          <pc:sldMk cId="1314330588" sldId="603"/>
        </pc:sldMkLst>
      </pc:sldChg>
      <pc:sldChg chg="modSp mod">
        <pc:chgData name="Matthieu De Mari" userId="dfb708c9-d8dc-439f-9a3b-c772bf4a311c" providerId="ADAL" clId="{81E9B007-0C2C-493E-9B93-55A62C9C1F12}" dt="2026-01-14T10:07:50.354" v="44" actId="114"/>
        <pc:sldMkLst>
          <pc:docMk/>
          <pc:sldMk cId="630631656" sldId="641"/>
        </pc:sldMkLst>
        <pc:spChg chg="mod">
          <ac:chgData name="Matthieu De Mari" userId="dfb708c9-d8dc-439f-9a3b-c772bf4a311c" providerId="ADAL" clId="{81E9B007-0C2C-493E-9B93-55A62C9C1F12}" dt="2026-01-14T10:07:50.354" v="44" actId="114"/>
          <ac:spMkLst>
            <pc:docMk/>
            <pc:sldMk cId="630631656" sldId="641"/>
            <ac:spMk id="4" creationId="{44BB5CFE-3D83-DCE2-14F1-E5BA1B3912E3}"/>
          </ac:spMkLst>
        </pc:spChg>
      </pc:sldChg>
      <pc:sldChg chg="modSp mod">
        <pc:chgData name="Matthieu De Mari" userId="dfb708c9-d8dc-439f-9a3b-c772bf4a311c" providerId="ADAL" clId="{81E9B007-0C2C-493E-9B93-55A62C9C1F12}" dt="2026-01-14T10:08:15.757" v="90" actId="20577"/>
        <pc:sldMkLst>
          <pc:docMk/>
          <pc:sldMk cId="237858069" sldId="645"/>
        </pc:sldMkLst>
        <pc:spChg chg="mod">
          <ac:chgData name="Matthieu De Mari" userId="dfb708c9-d8dc-439f-9a3b-c772bf4a311c" providerId="ADAL" clId="{81E9B007-0C2C-493E-9B93-55A62C9C1F12}" dt="2026-01-14T10:08:15.757" v="90" actId="20577"/>
          <ac:spMkLst>
            <pc:docMk/>
            <pc:sldMk cId="237858069" sldId="645"/>
            <ac:spMk id="3" creationId="{A0028CF2-8C90-E6BD-6137-736FD2D2D82D}"/>
          </ac:spMkLst>
        </pc:spChg>
      </pc:sldChg>
      <pc:sldChg chg="modSp mod">
        <pc:chgData name="Matthieu De Mari" userId="dfb708c9-d8dc-439f-9a3b-c772bf4a311c" providerId="ADAL" clId="{81E9B007-0C2C-493E-9B93-55A62C9C1F12}" dt="2026-01-14T10:09:16.469" v="91" actId="20577"/>
        <pc:sldMkLst>
          <pc:docMk/>
          <pc:sldMk cId="2885160726" sldId="647"/>
        </pc:sldMkLst>
        <pc:spChg chg="mod">
          <ac:chgData name="Matthieu De Mari" userId="dfb708c9-d8dc-439f-9a3b-c772bf4a311c" providerId="ADAL" clId="{81E9B007-0C2C-493E-9B93-55A62C9C1F12}" dt="2026-01-14T10:09:16.469" v="91" actId="20577"/>
          <ac:spMkLst>
            <pc:docMk/>
            <pc:sldMk cId="2885160726" sldId="647"/>
            <ac:spMk id="3" creationId="{61EEC139-0483-5F35-50BA-7187F68B06F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B5FB12-AFD2-4938-AF65-703656EDD3D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5CB461D7-6873-421D-87CA-D8696FC3F110}">
      <dgm:prSet phldrT="[Text]"/>
      <dgm:spPr/>
      <dgm:t>
        <a:bodyPr/>
        <a:lstStyle/>
        <a:p>
          <a:pPr algn="l"/>
          <a:r>
            <a:rPr lang="en-GB" dirty="0"/>
            <a:t>      L0:</a:t>
          </a:r>
        </a:p>
        <a:p>
          <a:pPr algn="l"/>
          <a:r>
            <a:rPr lang="en-GB" dirty="0"/>
            <a:t>	x := 1</a:t>
          </a:r>
        </a:p>
        <a:p>
          <a:pPr algn="l"/>
          <a:r>
            <a:rPr lang="en-GB" dirty="0"/>
            <a:t>	</a:t>
          </a:r>
          <a:r>
            <a:rPr lang="en-GB" dirty="0" err="1"/>
            <a:t>i</a:t>
          </a:r>
          <a:r>
            <a:rPr lang="en-GB" dirty="0"/>
            <a:t> := 1</a:t>
          </a:r>
          <a:endParaRPr lang="en-SG" dirty="0"/>
        </a:p>
      </dgm:t>
    </dgm:pt>
    <dgm:pt modelId="{6B87ACD3-B77E-42A5-B216-E2CBB2F6D3E0}" type="parTrans" cxnId="{535C9C74-24BB-4DC9-925D-6AAAACCA1855}">
      <dgm:prSet/>
      <dgm:spPr/>
      <dgm:t>
        <a:bodyPr/>
        <a:lstStyle/>
        <a:p>
          <a:endParaRPr lang="en-SG"/>
        </a:p>
      </dgm:t>
    </dgm:pt>
    <dgm:pt modelId="{B8F72CD9-3294-4C53-81B9-1962EEB8535C}" type="sibTrans" cxnId="{535C9C74-24BB-4DC9-925D-6AAAACCA1855}">
      <dgm:prSet/>
      <dgm:spPr>
        <a:solidFill>
          <a:schemeClr val="bg1"/>
        </a:solidFill>
      </dgm:spPr>
      <dgm:t>
        <a:bodyPr/>
        <a:lstStyle/>
        <a:p>
          <a:endParaRPr lang="en-SG"/>
        </a:p>
      </dgm:t>
    </dgm:pt>
    <dgm:pt modelId="{15C4F38F-28B4-4F43-85A2-5548613A537E}">
      <dgm:prSet phldrT="[Text]"/>
      <dgm:spPr/>
      <dgm:t>
        <a:bodyPr/>
        <a:lstStyle/>
        <a:p>
          <a:pPr algn="l"/>
          <a:r>
            <a:rPr lang="en-GB" dirty="0"/>
            <a:t>      L1:</a:t>
          </a:r>
        </a:p>
        <a:p>
          <a:pPr algn="l"/>
          <a:r>
            <a:rPr lang="en-GB" dirty="0"/>
            <a:t>	x := x*x</a:t>
          </a:r>
        </a:p>
        <a:p>
          <a:pPr algn="l"/>
          <a:r>
            <a:rPr lang="en-GB" dirty="0"/>
            <a:t>	</a:t>
          </a:r>
          <a:r>
            <a:rPr lang="en-GB" dirty="0" err="1"/>
            <a:t>i</a:t>
          </a:r>
          <a:r>
            <a:rPr lang="en-GB" dirty="0"/>
            <a:t> := i+1</a:t>
          </a:r>
        </a:p>
        <a:p>
          <a:pPr algn="l"/>
          <a:r>
            <a:rPr lang="en-GB" dirty="0"/>
            <a:t>	if </a:t>
          </a:r>
          <a:r>
            <a:rPr lang="en-GB" dirty="0" err="1"/>
            <a:t>i</a:t>
          </a:r>
          <a:r>
            <a:rPr lang="en-GB" dirty="0"/>
            <a:t> &lt; 10 </a:t>
          </a:r>
          <a:r>
            <a:rPr lang="en-GB" dirty="0" err="1"/>
            <a:t>goto</a:t>
          </a:r>
          <a:r>
            <a:rPr lang="en-GB" dirty="0"/>
            <a:t> L1</a:t>
          </a:r>
        </a:p>
        <a:p>
          <a:pPr algn="l"/>
          <a:r>
            <a:rPr lang="en-GB" dirty="0"/>
            <a:t>	jump L2</a:t>
          </a:r>
          <a:endParaRPr lang="en-SG" dirty="0"/>
        </a:p>
      </dgm:t>
    </dgm:pt>
    <dgm:pt modelId="{DC91FEA2-DD6C-45E6-B1D2-43E4F4B3A890}" type="parTrans" cxnId="{58FF2BF7-7FF6-4559-BCDC-151B373F34AE}">
      <dgm:prSet/>
      <dgm:spPr/>
      <dgm:t>
        <a:bodyPr/>
        <a:lstStyle/>
        <a:p>
          <a:endParaRPr lang="en-SG"/>
        </a:p>
      </dgm:t>
    </dgm:pt>
    <dgm:pt modelId="{350F2161-32AB-425E-B0CE-4B9A42D368CA}" type="sibTrans" cxnId="{58FF2BF7-7FF6-4559-BCDC-151B373F34AE}">
      <dgm:prSet/>
      <dgm:spPr>
        <a:solidFill>
          <a:schemeClr val="bg1"/>
        </a:solidFill>
      </dgm:spPr>
      <dgm:t>
        <a:bodyPr/>
        <a:lstStyle/>
        <a:p>
          <a:endParaRPr lang="en-SG"/>
        </a:p>
      </dgm:t>
    </dgm:pt>
    <dgm:pt modelId="{6F787113-1D74-4B63-AAC3-E4321DFD9FD8}">
      <dgm:prSet phldrT="[Text]"/>
      <dgm:spPr/>
      <dgm:t>
        <a:bodyPr/>
        <a:lstStyle/>
        <a:p>
          <a:pPr algn="l"/>
          <a:r>
            <a:rPr lang="en-GB" dirty="0"/>
            <a:t>      L2:</a:t>
          </a:r>
        </a:p>
        <a:p>
          <a:pPr algn="l"/>
          <a:r>
            <a:rPr lang="en-GB" dirty="0"/>
            <a:t>	y := 10</a:t>
          </a:r>
          <a:endParaRPr lang="en-SG" dirty="0"/>
        </a:p>
      </dgm:t>
    </dgm:pt>
    <dgm:pt modelId="{AD2BEC14-D0F7-43FD-BC38-19563CE60BC8}" type="parTrans" cxnId="{A10B61E4-2FE7-4FB5-8314-79189D1F0D79}">
      <dgm:prSet/>
      <dgm:spPr/>
      <dgm:t>
        <a:bodyPr/>
        <a:lstStyle/>
        <a:p>
          <a:endParaRPr lang="en-SG"/>
        </a:p>
      </dgm:t>
    </dgm:pt>
    <dgm:pt modelId="{DFAE9780-06A8-4CE5-A35F-63A2935602AE}" type="sibTrans" cxnId="{A10B61E4-2FE7-4FB5-8314-79189D1F0D79}">
      <dgm:prSet/>
      <dgm:spPr/>
      <dgm:t>
        <a:bodyPr/>
        <a:lstStyle/>
        <a:p>
          <a:endParaRPr lang="en-SG"/>
        </a:p>
      </dgm:t>
    </dgm:pt>
    <dgm:pt modelId="{87375A12-360A-4E1A-A894-00676EFB6667}" type="pres">
      <dgm:prSet presAssocID="{7AB5FB12-AFD2-4938-AF65-703656EDD3D9}" presName="linearFlow" presStyleCnt="0">
        <dgm:presLayoutVars>
          <dgm:resizeHandles val="exact"/>
        </dgm:presLayoutVars>
      </dgm:prSet>
      <dgm:spPr/>
    </dgm:pt>
    <dgm:pt modelId="{3A4E3332-4C83-4201-84FE-4CA4CFD38686}" type="pres">
      <dgm:prSet presAssocID="{5CB461D7-6873-421D-87CA-D8696FC3F110}" presName="node" presStyleLbl="node1" presStyleIdx="0" presStyleCnt="3" custScaleX="198495">
        <dgm:presLayoutVars>
          <dgm:bulletEnabled val="1"/>
        </dgm:presLayoutVars>
      </dgm:prSet>
      <dgm:spPr/>
    </dgm:pt>
    <dgm:pt modelId="{2EA5733F-BCD4-4BF9-8CD1-12C3603D4844}" type="pres">
      <dgm:prSet presAssocID="{B8F72CD9-3294-4C53-81B9-1962EEB8535C}" presName="sibTrans" presStyleLbl="sibTrans2D1" presStyleIdx="0" presStyleCnt="2"/>
      <dgm:spPr/>
    </dgm:pt>
    <dgm:pt modelId="{7CAED8F2-B8AC-43B7-9152-A889DF19391C}" type="pres">
      <dgm:prSet presAssocID="{B8F72CD9-3294-4C53-81B9-1962EEB8535C}" presName="connectorText" presStyleLbl="sibTrans2D1" presStyleIdx="0" presStyleCnt="2"/>
      <dgm:spPr/>
    </dgm:pt>
    <dgm:pt modelId="{8C249723-6EB0-46BD-95FB-0212289BD10A}" type="pres">
      <dgm:prSet presAssocID="{15C4F38F-28B4-4F43-85A2-5548613A537E}" presName="node" presStyleLbl="node1" presStyleIdx="1" presStyleCnt="3" custScaleX="197789" custScaleY="233903">
        <dgm:presLayoutVars>
          <dgm:bulletEnabled val="1"/>
        </dgm:presLayoutVars>
      </dgm:prSet>
      <dgm:spPr/>
    </dgm:pt>
    <dgm:pt modelId="{8C1CAE36-3290-4D90-8EFB-C3D89724FD2A}" type="pres">
      <dgm:prSet presAssocID="{350F2161-32AB-425E-B0CE-4B9A42D368CA}" presName="sibTrans" presStyleLbl="sibTrans2D1" presStyleIdx="1" presStyleCnt="2"/>
      <dgm:spPr/>
    </dgm:pt>
    <dgm:pt modelId="{4F02977C-5FE1-4619-86B0-62C7BAF42EAF}" type="pres">
      <dgm:prSet presAssocID="{350F2161-32AB-425E-B0CE-4B9A42D368CA}" presName="connectorText" presStyleLbl="sibTrans2D1" presStyleIdx="1" presStyleCnt="2"/>
      <dgm:spPr/>
    </dgm:pt>
    <dgm:pt modelId="{DBEAE5F0-3CEE-4EDC-A1D3-38F71BB66409}" type="pres">
      <dgm:prSet presAssocID="{6F787113-1D74-4B63-AAC3-E4321DFD9FD8}" presName="node" presStyleLbl="node1" presStyleIdx="2" presStyleCnt="3" custScaleX="198495">
        <dgm:presLayoutVars>
          <dgm:bulletEnabled val="1"/>
        </dgm:presLayoutVars>
      </dgm:prSet>
      <dgm:spPr/>
    </dgm:pt>
  </dgm:ptLst>
  <dgm:cxnLst>
    <dgm:cxn modelId="{87F3731C-DED5-4F61-B1F5-B2AE2F659AFA}" type="presOf" srcId="{B8F72CD9-3294-4C53-81B9-1962EEB8535C}" destId="{2EA5733F-BCD4-4BF9-8CD1-12C3603D4844}" srcOrd="0" destOrd="0" presId="urn:microsoft.com/office/officeart/2005/8/layout/process2"/>
    <dgm:cxn modelId="{D5322724-5982-4BD2-AA62-6D99625451CC}" type="presOf" srcId="{6F787113-1D74-4B63-AAC3-E4321DFD9FD8}" destId="{DBEAE5F0-3CEE-4EDC-A1D3-38F71BB66409}" srcOrd="0" destOrd="0" presId="urn:microsoft.com/office/officeart/2005/8/layout/process2"/>
    <dgm:cxn modelId="{BEA18537-14D4-4850-A94C-11762AB7CCD6}" type="presOf" srcId="{15C4F38F-28B4-4F43-85A2-5548613A537E}" destId="{8C249723-6EB0-46BD-95FB-0212289BD10A}" srcOrd="0" destOrd="0" presId="urn:microsoft.com/office/officeart/2005/8/layout/process2"/>
    <dgm:cxn modelId="{E3F11163-6328-47A2-A41E-FA05B27AACE6}" type="presOf" srcId="{5CB461D7-6873-421D-87CA-D8696FC3F110}" destId="{3A4E3332-4C83-4201-84FE-4CA4CFD38686}" srcOrd="0" destOrd="0" presId="urn:microsoft.com/office/officeart/2005/8/layout/process2"/>
    <dgm:cxn modelId="{535C9C74-24BB-4DC9-925D-6AAAACCA1855}" srcId="{7AB5FB12-AFD2-4938-AF65-703656EDD3D9}" destId="{5CB461D7-6873-421D-87CA-D8696FC3F110}" srcOrd="0" destOrd="0" parTransId="{6B87ACD3-B77E-42A5-B216-E2CBB2F6D3E0}" sibTransId="{B8F72CD9-3294-4C53-81B9-1962EEB8535C}"/>
    <dgm:cxn modelId="{231AF682-9491-4AD4-B98A-01466C73B9E0}" type="presOf" srcId="{7AB5FB12-AFD2-4938-AF65-703656EDD3D9}" destId="{87375A12-360A-4E1A-A894-00676EFB6667}" srcOrd="0" destOrd="0" presId="urn:microsoft.com/office/officeart/2005/8/layout/process2"/>
    <dgm:cxn modelId="{459FBDBB-BFCE-4368-9E84-D0BEC6C5BA01}" type="presOf" srcId="{B8F72CD9-3294-4C53-81B9-1962EEB8535C}" destId="{7CAED8F2-B8AC-43B7-9152-A889DF19391C}" srcOrd="1" destOrd="0" presId="urn:microsoft.com/office/officeart/2005/8/layout/process2"/>
    <dgm:cxn modelId="{BA3305E0-51B3-428F-8108-86A78EAF98F7}" type="presOf" srcId="{350F2161-32AB-425E-B0CE-4B9A42D368CA}" destId="{8C1CAE36-3290-4D90-8EFB-C3D89724FD2A}" srcOrd="0" destOrd="0" presId="urn:microsoft.com/office/officeart/2005/8/layout/process2"/>
    <dgm:cxn modelId="{A10B61E4-2FE7-4FB5-8314-79189D1F0D79}" srcId="{7AB5FB12-AFD2-4938-AF65-703656EDD3D9}" destId="{6F787113-1D74-4B63-AAC3-E4321DFD9FD8}" srcOrd="2" destOrd="0" parTransId="{AD2BEC14-D0F7-43FD-BC38-19563CE60BC8}" sibTransId="{DFAE9780-06A8-4CE5-A35F-63A2935602AE}"/>
    <dgm:cxn modelId="{BCAB15F3-F37B-4B20-8E3F-0D2D4EE6E544}" type="presOf" srcId="{350F2161-32AB-425E-B0CE-4B9A42D368CA}" destId="{4F02977C-5FE1-4619-86B0-62C7BAF42EAF}" srcOrd="1" destOrd="0" presId="urn:microsoft.com/office/officeart/2005/8/layout/process2"/>
    <dgm:cxn modelId="{58FF2BF7-7FF6-4559-BCDC-151B373F34AE}" srcId="{7AB5FB12-AFD2-4938-AF65-703656EDD3D9}" destId="{15C4F38F-28B4-4F43-85A2-5548613A537E}" srcOrd="1" destOrd="0" parTransId="{DC91FEA2-DD6C-45E6-B1D2-43E4F4B3A890}" sibTransId="{350F2161-32AB-425E-B0CE-4B9A42D368CA}"/>
    <dgm:cxn modelId="{2C433F2E-1347-4BA1-BDC1-770BF1572221}" type="presParOf" srcId="{87375A12-360A-4E1A-A894-00676EFB6667}" destId="{3A4E3332-4C83-4201-84FE-4CA4CFD38686}" srcOrd="0" destOrd="0" presId="urn:microsoft.com/office/officeart/2005/8/layout/process2"/>
    <dgm:cxn modelId="{672534CF-DF54-4D57-BE65-73D11306C3B1}" type="presParOf" srcId="{87375A12-360A-4E1A-A894-00676EFB6667}" destId="{2EA5733F-BCD4-4BF9-8CD1-12C3603D4844}" srcOrd="1" destOrd="0" presId="urn:microsoft.com/office/officeart/2005/8/layout/process2"/>
    <dgm:cxn modelId="{B63920BA-7799-4BE9-9774-606AF380923E}" type="presParOf" srcId="{2EA5733F-BCD4-4BF9-8CD1-12C3603D4844}" destId="{7CAED8F2-B8AC-43B7-9152-A889DF19391C}" srcOrd="0" destOrd="0" presId="urn:microsoft.com/office/officeart/2005/8/layout/process2"/>
    <dgm:cxn modelId="{1F74D79C-50EA-49E6-9C11-90BFA4623E47}" type="presParOf" srcId="{87375A12-360A-4E1A-A894-00676EFB6667}" destId="{8C249723-6EB0-46BD-95FB-0212289BD10A}" srcOrd="2" destOrd="0" presId="urn:microsoft.com/office/officeart/2005/8/layout/process2"/>
    <dgm:cxn modelId="{CF7C55D1-4697-4B05-B469-487D75D153BE}" type="presParOf" srcId="{87375A12-360A-4E1A-A894-00676EFB6667}" destId="{8C1CAE36-3290-4D90-8EFB-C3D89724FD2A}" srcOrd="3" destOrd="0" presId="urn:microsoft.com/office/officeart/2005/8/layout/process2"/>
    <dgm:cxn modelId="{90FA38DD-C123-4D46-9E18-801CC241D6A5}" type="presParOf" srcId="{8C1CAE36-3290-4D90-8EFB-C3D89724FD2A}" destId="{4F02977C-5FE1-4619-86B0-62C7BAF42EAF}" srcOrd="0" destOrd="0" presId="urn:microsoft.com/office/officeart/2005/8/layout/process2"/>
    <dgm:cxn modelId="{AAC97404-D3F0-43AF-B9F4-E8331DE6B263}" type="presParOf" srcId="{87375A12-360A-4E1A-A894-00676EFB6667}" destId="{DBEAE5F0-3CEE-4EDC-A1D3-38F71BB66409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E3332-4C83-4201-84FE-4CA4CFD38686}">
      <dsp:nvSpPr>
        <dsp:cNvPr id="0" name=""/>
        <dsp:cNvSpPr/>
      </dsp:nvSpPr>
      <dsp:spPr>
        <a:xfrm>
          <a:off x="359506" y="772"/>
          <a:ext cx="4392250" cy="1229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      L0: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x := 1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</a:t>
          </a:r>
          <a:r>
            <a:rPr lang="en-GB" sz="1900" kern="1200" dirty="0" err="1"/>
            <a:t>i</a:t>
          </a:r>
          <a:r>
            <a:rPr lang="en-GB" sz="1900" kern="1200" dirty="0"/>
            <a:t> := 1</a:t>
          </a:r>
          <a:endParaRPr lang="en-SG" sz="1900" kern="1200" dirty="0"/>
        </a:p>
      </dsp:txBody>
      <dsp:txXfrm>
        <a:off x="395512" y="36778"/>
        <a:ext cx="4320238" cy="1157308"/>
      </dsp:txXfrm>
    </dsp:sp>
    <dsp:sp modelId="{2EA5733F-BCD4-4BF9-8CD1-12C3603D4844}">
      <dsp:nvSpPr>
        <dsp:cNvPr id="0" name=""/>
        <dsp:cNvSpPr/>
      </dsp:nvSpPr>
      <dsp:spPr>
        <a:xfrm rot="5400000">
          <a:off x="2325133" y="1260825"/>
          <a:ext cx="460995" cy="55319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500" kern="1200"/>
        </a:p>
      </dsp:txBody>
      <dsp:txXfrm rot="-5400000">
        <a:off x="2389673" y="1306924"/>
        <a:ext cx="331916" cy="322697"/>
      </dsp:txXfrm>
    </dsp:sp>
    <dsp:sp modelId="{8C249723-6EB0-46BD-95FB-0212289BD10A}">
      <dsp:nvSpPr>
        <dsp:cNvPr id="0" name=""/>
        <dsp:cNvSpPr/>
      </dsp:nvSpPr>
      <dsp:spPr>
        <a:xfrm>
          <a:off x="367317" y="1844752"/>
          <a:ext cx="4376628" cy="28754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      L1: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x := x*x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</a:t>
          </a:r>
          <a:r>
            <a:rPr lang="en-GB" sz="1900" kern="1200" dirty="0" err="1"/>
            <a:t>i</a:t>
          </a:r>
          <a:r>
            <a:rPr lang="en-GB" sz="1900" kern="1200" dirty="0"/>
            <a:t> := i+1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if </a:t>
          </a:r>
          <a:r>
            <a:rPr lang="en-GB" sz="1900" kern="1200" dirty="0" err="1"/>
            <a:t>i</a:t>
          </a:r>
          <a:r>
            <a:rPr lang="en-GB" sz="1900" kern="1200" dirty="0"/>
            <a:t> &lt; 10 </a:t>
          </a:r>
          <a:r>
            <a:rPr lang="en-GB" sz="1900" kern="1200" dirty="0" err="1"/>
            <a:t>goto</a:t>
          </a:r>
          <a:r>
            <a:rPr lang="en-GB" sz="1900" kern="1200" dirty="0"/>
            <a:t> L1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jump L2</a:t>
          </a:r>
          <a:endParaRPr lang="en-SG" sz="1900" kern="1200" dirty="0"/>
        </a:p>
      </dsp:txBody>
      <dsp:txXfrm>
        <a:off x="451535" y="1928970"/>
        <a:ext cx="4208192" cy="2706981"/>
      </dsp:txXfrm>
    </dsp:sp>
    <dsp:sp modelId="{8C1CAE36-3290-4D90-8EFB-C3D89724FD2A}">
      <dsp:nvSpPr>
        <dsp:cNvPr id="0" name=""/>
        <dsp:cNvSpPr/>
      </dsp:nvSpPr>
      <dsp:spPr>
        <a:xfrm rot="5400000">
          <a:off x="2325133" y="4750903"/>
          <a:ext cx="460995" cy="55319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500" kern="1200"/>
        </a:p>
      </dsp:txBody>
      <dsp:txXfrm rot="-5400000">
        <a:off x="2389673" y="4797002"/>
        <a:ext cx="331916" cy="322697"/>
      </dsp:txXfrm>
    </dsp:sp>
    <dsp:sp modelId="{DBEAE5F0-3CEE-4EDC-A1D3-38F71BB66409}">
      <dsp:nvSpPr>
        <dsp:cNvPr id="0" name=""/>
        <dsp:cNvSpPr/>
      </dsp:nvSpPr>
      <dsp:spPr>
        <a:xfrm>
          <a:off x="359506" y="5334830"/>
          <a:ext cx="4392250" cy="1229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      L2: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	y := 10</a:t>
          </a:r>
          <a:endParaRPr lang="en-SG" sz="1900" kern="1200" dirty="0"/>
        </a:p>
      </dsp:txBody>
      <dsp:txXfrm>
        <a:off x="395512" y="5370836"/>
        <a:ext cx="4320238" cy="1157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FC6A4-B085-437B-8084-693BEB2A32DE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275F3-0744-4B3F-986A-B720E2CE05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98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04E3-9B9E-0B91-AA29-B356F19B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6A716-5C7D-F23B-5221-64E9C8264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E-C464-1858-7CE8-EE087B71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678C-234A-A12A-C292-CF7A8FE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58BCA-A573-1FAE-54DF-9261AEC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90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C6-8674-88A5-68BA-4DF3EF7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233-6835-D2C8-D4B6-2377CA69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200-8CA3-3D50-247E-E169485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4F2-0C9D-182B-FAF9-7AF1B77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91B-956F-EA73-BCF4-F079628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0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325-7251-4FD9-5A0A-482D9675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414C-39F5-968A-8953-D6E4A4B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87D6-E021-15BD-3F47-6B3A2CEA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3CE0-0459-2E8E-3279-EF5B62D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9588-601F-7C26-2A07-334BD5E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0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D91B-BBA0-866E-9BF6-0971AE77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88D2-0925-B3F9-22BD-A25915E0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DBE8-2CD0-1238-EE02-0801D12E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1A08-9D08-4757-4860-2175B17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010B-6483-0B1F-5B0B-B6832388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635F-808F-F58D-6EB6-0AE5EFD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2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DC9-E3FF-E219-0E49-D7D20A9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6D7B-100B-C183-40D4-96803F1BB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DE0A-2907-D16A-F14E-54AFDA36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0E894-7CE5-F017-AA15-A24E5281D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20203-5A0A-1AF2-47B3-27418EB2D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A0826-6B70-B30F-F054-248E26E2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948B-56AE-8DB5-883D-7E0ADA5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0A08-E897-BB96-0E14-88D07380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70C-4ED2-C81B-9AC6-3791B46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A99B7-97F4-423D-BDAF-4827705C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D9FE-3730-E498-E87E-C5D4F1C9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A7511-9EBE-2037-4332-F5B0B6AA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30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8D6E9-5B1E-E414-B4BB-A00EAB4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7774D-CDCD-146B-FC2D-28E83A7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59B5-E4B6-9852-BE06-6B29AE88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E7E-7FFC-7D20-B361-9F3B52AD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E599-603D-2F32-D4D8-DBAFE762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E027-AF2D-0C5B-C650-3D1DF50C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35D9-EACF-710A-C495-B386C262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95A1-CCC7-8794-CBB7-67865E6A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8442F-C062-76CF-A283-7F9D400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20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101F-436C-78D4-3353-52675D70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DD766-D53E-402F-6ABB-7220593A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1012-864C-DA8A-6BE2-C7E016E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AF22-E284-A04F-35FA-BAC8CC4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B1FE-2F11-940A-0D5F-F3D399A4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09B1-55CB-156E-CD60-2B1EB9D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32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9D2-6E79-0D65-DB6E-B0BBE96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EEA9-80A3-BE9A-FF93-6F71EBDA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C008-F0D0-891C-DAED-28B00F77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38D0-440C-2B3C-B840-065F1217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32F4-0DEA-EC93-20BA-8671A4F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87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7E0DD-AE40-51F8-67ED-2757B9CE8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5760-CB0B-CCF8-974D-AF210249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C16-6EB9-6693-25EE-22631FB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9D08-60B1-AC3E-15DA-EDB52ED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9838-C42F-58BE-18FC-85DBA5C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7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2612-53E9-1472-DE56-3B9BA8CB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B86C-45DF-4306-D1E8-17192610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4949-C105-D7A3-A521-C8123DF3D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09B9-0678-1AEF-93C0-B1A3A7CDB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F84A-B605-98F7-7694-62AFD7A6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21BB-4993-C3D7-45BA-3941EB0C1E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F943D-E5F8-C50D-F37B-649E0AB3F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1628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natalieagus.github.io/50002/notes/stackandprocedures" TargetMode="Externa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s://natalieagus.github.io/50002/notes/stackandprocedures" TargetMode="Externa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W11-S2 (Bonus)</a:t>
            </a:r>
            <a:br>
              <a:rPr lang="en-US"/>
            </a:br>
            <a:r>
              <a:rPr lang="en-US"/>
              <a:t>Intermediate</a:t>
            </a:r>
            <a:r>
              <a:rPr lang="en-US" dirty="0"/>
              <a:t> </a:t>
            </a:r>
            <a:r>
              <a:rPr lang="en-US"/>
              <a:t>Code </a:t>
            </a:r>
            <a:r>
              <a:rPr lang="en-US" dirty="0"/>
              <a:t>Generation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E011-EC84-BEF1-2304-F949009D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is legal!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83C5B-604A-B5C1-BAB7-C9C0B23E2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Legal Code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legal code </a:t>
            </a:r>
            <a:r>
              <a:rPr lang="en-GB" dirty="0"/>
              <a:t>is a program that adheres to all the rules of a programming language. It passed through various stages, including:</a:t>
            </a:r>
          </a:p>
          <a:p>
            <a:r>
              <a:rPr lang="en-GB" b="1" dirty="0"/>
              <a:t>Lexical Analysis</a:t>
            </a:r>
          </a:p>
          <a:p>
            <a:r>
              <a:rPr lang="en-GB" b="1" dirty="0"/>
              <a:t>Syntax Analysis</a:t>
            </a:r>
          </a:p>
          <a:p>
            <a:r>
              <a:rPr lang="en-GB" b="1" dirty="0"/>
              <a:t>Semantic Analysis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6CE14-D01C-974B-6A05-5340C9F7D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Property: </a:t>
            </a:r>
            <a:r>
              <a:rPr lang="en-GB" dirty="0"/>
              <a:t>A code is considered legal if it satisfies the requirements of lexical analysis, syntax analysis, semantic analysis.</a:t>
            </a:r>
          </a:p>
          <a:p>
            <a:pPr marL="0" indent="0">
              <a:buNone/>
            </a:pPr>
            <a:r>
              <a:rPr lang="en-GB" b="1" dirty="0"/>
              <a:t>A code that is deemed legal should be able to run correctly, after it has been transformed into machine code.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80489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middle-end of a compiler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(The middle-end part of a compiler):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middle-end of a compiler </a:t>
            </a:r>
            <a:r>
              <a:rPr lang="en-GB" dirty="0"/>
              <a:t>follows the front-end analysis and it consists of a series of operations and transformations to optimize and improve its efficiency.</a:t>
            </a:r>
          </a:p>
          <a:p>
            <a:pPr marL="0" indent="0">
              <a:buNone/>
            </a:pPr>
            <a:r>
              <a:rPr lang="en-GB" dirty="0"/>
              <a:t>It involves tasks, such as:</a:t>
            </a:r>
          </a:p>
          <a:p>
            <a:r>
              <a:rPr lang="en-GB" b="1" dirty="0"/>
              <a:t>Intermediate code generation</a:t>
            </a:r>
          </a:p>
          <a:p>
            <a:r>
              <a:rPr lang="en-GB" b="1" dirty="0"/>
              <a:t>Code optimization</a:t>
            </a:r>
            <a:r>
              <a:rPr lang="en-GB" dirty="0"/>
              <a:t>,</a:t>
            </a:r>
          </a:p>
          <a:p>
            <a:r>
              <a:rPr lang="en-GB" dirty="0"/>
              <a:t>and </a:t>
            </a:r>
            <a:r>
              <a:rPr lang="en-GB" b="1" dirty="0"/>
              <a:t>Data-flow analysis</a:t>
            </a:r>
            <a:r>
              <a:rPr lang="en-GB" dirty="0"/>
              <a:t>.</a:t>
            </a:r>
            <a:endParaRPr lang="en-SG" dirty="0"/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19" y="1547446"/>
            <a:ext cx="5154106" cy="53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74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18D872-7EAD-92D5-BFAD-15DDF554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Intermediate code generation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E6CBB-40B9-5E99-2250-21041EBB5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Intermediate code generation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Intermediate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code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generation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is the process of transforming the source code into a code that is more abstract and closer to machine language.</a:t>
            </a:r>
          </a:p>
          <a:p>
            <a:pPr marL="0" indent="0">
              <a:buNone/>
            </a:pPr>
            <a:r>
              <a:rPr lang="en-GB" dirty="0"/>
              <a:t>Making a direct jump from source code to target code might prove difficult. </a:t>
            </a:r>
            <a:endParaRPr lang="en-GB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D5F4D7-398B-ACD9-E7C7-C4E1B498201A}"/>
              </a:ext>
            </a:extLst>
          </p:cNvPr>
          <p:cNvSpPr/>
          <p:nvPr/>
        </p:nvSpPr>
        <p:spPr>
          <a:xfrm>
            <a:off x="2012390" y="5697413"/>
            <a:ext cx="1738994" cy="10909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Source code</a:t>
            </a:r>
            <a:endParaRPr lang="en-GB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6238F-C2D4-C7A4-F8DA-C5A96E50E27E}"/>
              </a:ext>
            </a:extLst>
          </p:cNvPr>
          <p:cNvSpPr/>
          <p:nvPr/>
        </p:nvSpPr>
        <p:spPr>
          <a:xfrm>
            <a:off x="8440616" y="5697413"/>
            <a:ext cx="1738994" cy="10909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Target code</a:t>
            </a:r>
            <a:endParaRPr lang="en-GB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FBA987-C549-8E00-0F07-6541ABAD191C}"/>
              </a:ext>
            </a:extLst>
          </p:cNvPr>
          <p:cNvSpPr/>
          <p:nvPr/>
        </p:nvSpPr>
        <p:spPr>
          <a:xfrm>
            <a:off x="5226503" y="4606434"/>
            <a:ext cx="1738994" cy="10909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Intermediate code</a:t>
            </a:r>
            <a:endParaRPr lang="en-GB" b="1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E7D4BA-48DE-3049-144F-854ACF1FFE48}"/>
              </a:ext>
            </a:extLst>
          </p:cNvPr>
          <p:cNvSpPr/>
          <p:nvPr/>
        </p:nvSpPr>
        <p:spPr>
          <a:xfrm>
            <a:off x="2883878" y="5150337"/>
            <a:ext cx="2258645" cy="547075"/>
          </a:xfrm>
          <a:custGeom>
            <a:avLst/>
            <a:gdLst>
              <a:gd name="connsiteX0" fmla="*/ 0 w 2344615"/>
              <a:gd name="connsiteY0" fmla="*/ 617416 h 617416"/>
              <a:gd name="connsiteX1" fmla="*/ 2344615 w 2344615"/>
              <a:gd name="connsiteY1" fmla="*/ 0 h 61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44615" h="617416">
                <a:moveTo>
                  <a:pt x="0" y="617416"/>
                </a:moveTo>
                <a:cubicBezTo>
                  <a:pt x="633697" y="308708"/>
                  <a:pt x="1267395" y="0"/>
                  <a:pt x="2344615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8BAD85A-B884-B031-4B8E-F6602A7E6FBD}"/>
              </a:ext>
            </a:extLst>
          </p:cNvPr>
          <p:cNvSpPr/>
          <p:nvPr/>
        </p:nvSpPr>
        <p:spPr>
          <a:xfrm rot="1616786">
            <a:off x="6971896" y="5113326"/>
            <a:ext cx="2153799" cy="544263"/>
          </a:xfrm>
          <a:custGeom>
            <a:avLst/>
            <a:gdLst>
              <a:gd name="connsiteX0" fmla="*/ 0 w 2344615"/>
              <a:gd name="connsiteY0" fmla="*/ 617416 h 617416"/>
              <a:gd name="connsiteX1" fmla="*/ 2344615 w 2344615"/>
              <a:gd name="connsiteY1" fmla="*/ 0 h 61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44615" h="617416">
                <a:moveTo>
                  <a:pt x="0" y="617416"/>
                </a:moveTo>
                <a:cubicBezTo>
                  <a:pt x="633697" y="308708"/>
                  <a:pt x="1267395" y="0"/>
                  <a:pt x="2344615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E3696F-84E4-8BDA-A284-36E5CD78A76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751384" y="6242903"/>
            <a:ext cx="4572001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057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18D872-7EAD-92D5-BFAD-15DDF554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Intermediate code generation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E6CBB-40B9-5E99-2250-21041EBB5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Intermediate code generation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Intermediate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code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generation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is the process of transforming the source code into a code that is more abstract and closer to machine language.</a:t>
            </a:r>
          </a:p>
          <a:p>
            <a:pPr marL="0" indent="0">
              <a:buNone/>
            </a:pPr>
            <a:r>
              <a:rPr lang="en-GB" dirty="0"/>
              <a:t>Making a direct jump from source code to target code might prove difficult.</a:t>
            </a:r>
          </a:p>
          <a:p>
            <a:pPr marL="0" indent="0">
              <a:buNone/>
            </a:pPr>
            <a:r>
              <a:rPr lang="en-GB" b="1" dirty="0"/>
              <a:t>For this reason, an intermediate code representation is often easier to manipulate and allows for optimization.</a:t>
            </a:r>
          </a:p>
          <a:p>
            <a:pPr marL="0" indent="0">
              <a:buNone/>
            </a:pPr>
            <a:r>
              <a:rPr lang="en-GB" dirty="0"/>
              <a:t>The intermediate code is not specific to any particular hardware or operating system and can be easily transformed into the final machine code (</a:t>
            </a:r>
            <a:r>
              <a:rPr lang="en-GB" b="1" dirty="0"/>
              <a:t>Intermediate code is roughly a high-level assembly code?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6117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16A8-77FB-83A2-DD3F-F56410FB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Three-address code representation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B7324-B540-3767-63C5-15C5025183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Three-address code </a:t>
                </a:r>
                <a:r>
                  <a:rPr lang="en-GB" b="1" dirty="0"/>
                  <a:t>representation):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B050"/>
                    </a:solidFill>
                  </a:rPr>
                  <a:t>Three-address code </a:t>
                </a:r>
                <a:r>
                  <a:rPr lang="en-GB" b="1" dirty="0"/>
                  <a:t>(or </a:t>
                </a:r>
                <a:r>
                  <a:rPr lang="en-GB" b="1" dirty="0">
                    <a:solidFill>
                      <a:srgbClr val="00B050"/>
                    </a:solidFill>
                  </a:rPr>
                  <a:t>TAC</a:t>
                </a:r>
                <a:r>
                  <a:rPr lang="en-GB" b="1" dirty="0"/>
                  <a:t>)</a:t>
                </a:r>
                <a:r>
                  <a:rPr lang="en-GB" b="1" dirty="0">
                    <a:solidFill>
                      <a:srgbClr val="00B050"/>
                    </a:solidFill>
                  </a:rPr>
                  <a:t> </a:t>
                </a:r>
                <a:r>
                  <a:rPr lang="en-GB" dirty="0"/>
                  <a:t>is a low-level intermediate code representation used by compilers to facilitate optimization and code generation.</a:t>
                </a:r>
              </a:p>
              <a:p>
                <a:pPr marL="0" indent="0">
                  <a:buNone/>
                </a:pPr>
                <a:r>
                  <a:rPr lang="en-GB" dirty="0"/>
                  <a:t>It is called </a:t>
                </a:r>
                <a:r>
                  <a:rPr lang="en-GB" b="1" dirty="0"/>
                  <a:t>“three-address” </a:t>
                </a:r>
                <a:r>
                  <a:rPr lang="en-GB" dirty="0"/>
                  <a:t>because each instruction in the code </a:t>
                </a:r>
                <a:r>
                  <a:rPr lang="en-GB" b="1" dirty="0"/>
                  <a:t>can have at most three operands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A typical three-address code instruction has the following format: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𝑜𝑝𝑒𝑟𝑎𝑛𝑑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𝑜𝑝𝑒𝑟𝑎𝑛𝑑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𝑜𝑝𝑒𝑟𝑎𝑡𝑜𝑟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𝑜𝑝𝑒𝑟𝑎𝑛𝑑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B7324-B540-3767-63C5-15C5025183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21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16A8-77FB-83A2-DD3F-F56410FB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Three-address code representation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B7324-B540-3767-63C5-15C502518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87478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For instance, the C code below can be transformed…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437BBC-8797-B9CD-ECD3-F2F387370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0892" y="1825625"/>
            <a:ext cx="513622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…into its equivalent three-address code representation.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C6C646-DC67-4AB1-AFDA-B4DBE2C0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0" y="3854107"/>
            <a:ext cx="6439799" cy="2457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403C7A-6971-2BDB-E0BB-7A61A07B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986" y="3215843"/>
            <a:ext cx="5830114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2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7C22-3F13-F09B-A3F3-9159A817C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1ED5-4BCD-572A-1669-AA807B747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Our plan for today!</a:t>
            </a:r>
          </a:p>
          <a:p>
            <a:r>
              <a:rPr lang="en-GB" dirty="0"/>
              <a:t>Introduction to TAC.</a:t>
            </a:r>
          </a:p>
          <a:p>
            <a:r>
              <a:rPr lang="en-GB" dirty="0"/>
              <a:t>TAC for simple expressions.</a:t>
            </a:r>
          </a:p>
          <a:p>
            <a:r>
              <a:rPr lang="en-GB" dirty="0"/>
              <a:t>TAC for functions and function calls.</a:t>
            </a:r>
          </a:p>
          <a:p>
            <a:r>
              <a:rPr lang="en-GB" dirty="0"/>
              <a:t>TAC for objects.</a:t>
            </a:r>
          </a:p>
          <a:p>
            <a:r>
              <a:rPr lang="en-GB" dirty="0"/>
              <a:t>TAC for arrays.</a:t>
            </a:r>
          </a:p>
          <a:p>
            <a:r>
              <a:rPr lang="en-GB" dirty="0"/>
              <a:t>Generating TAC.</a:t>
            </a:r>
          </a:p>
          <a:p>
            <a:r>
              <a:rPr lang="en-GB" dirty="0"/>
              <a:t>A few low-level details.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5401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9558-0A4F-B88B-7672-789D61DF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note before we start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FA322-4520-F107-C397-7998B5465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An important note before we start</a:t>
            </a:r>
          </a:p>
          <a:p>
            <a:r>
              <a:rPr lang="en-GB" dirty="0"/>
              <a:t>When generating IR at this level, you do not need to worry about optimizing it.</a:t>
            </a:r>
          </a:p>
          <a:p>
            <a:r>
              <a:rPr lang="en-GB" dirty="0"/>
              <a:t>It is okay to generate IR that has lots of unnecessary assignments, redundant computations, uses many temporary variables, etc.</a:t>
            </a:r>
          </a:p>
          <a:p>
            <a:endParaRPr lang="en-GB" dirty="0"/>
          </a:p>
          <a:p>
            <a:r>
              <a:rPr lang="en-GB" dirty="0"/>
              <a:t>In the next lecture, we will discuss how to optimize IR code.</a:t>
            </a:r>
          </a:p>
          <a:p>
            <a:r>
              <a:rPr lang="en-GB" dirty="0"/>
              <a:t>Optimization is tricky, but interesting!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1308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E6A1-C73D-4FA2-9330-21D7F189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CFG for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3FDC9-3E80-C74F-5720-132700EBE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Technically, the three-address code has a syntax and CFG of its 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595560-82EC-4938-BE3A-C25F3398CD14}"/>
                  </a:ext>
                </a:extLst>
              </p:cNvPr>
              <p:cNvSpPr>
                <a:spLocks noGrp="1"/>
              </p:cNvSpPr>
              <p:nvPr>
                <p:ph sz="half" idx="4294967295"/>
              </p:nvPr>
            </p:nvSpPr>
            <p:spPr>
              <a:xfrm>
                <a:off x="1766596" y="2506662"/>
                <a:ext cx="3620278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P </a:t>
                </a:r>
                <a:r>
                  <a:rPr lang="en-GB" dirty="0">
                    <a:sym typeface="Wingdings" panose="05000000000000000000" pitchFamily="2" charset="2"/>
                  </a:rPr>
                  <a:t> SP |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id := id op id</a:t>
                </a:r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id := op id</a:t>
                </a:r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id := id</a:t>
                </a: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push id</a:t>
                </a:r>
              </a:p>
              <a:p>
                <a:pPr marL="0" indent="0">
                  <a:buNone/>
                </a:pPr>
                <a:r>
                  <a:rPr lang="en-SG" dirty="0"/>
                  <a:t>S </a:t>
                </a:r>
                <a:r>
                  <a:rPr lang="en-SG" dirty="0">
                    <a:sym typeface="Wingdings" panose="05000000000000000000" pitchFamily="2" charset="2"/>
                  </a:rPr>
                  <a:t> if id </a:t>
                </a:r>
                <a:r>
                  <a:rPr lang="en-SG" dirty="0" err="1">
                    <a:sym typeface="Wingdings" panose="05000000000000000000" pitchFamily="2" charset="2"/>
                  </a:rPr>
                  <a:t>goto</a:t>
                </a:r>
                <a:r>
                  <a:rPr lang="en-SG" dirty="0">
                    <a:sym typeface="Wingdings" panose="05000000000000000000" pitchFamily="2" charset="2"/>
                  </a:rPr>
                  <a:t> L</a:t>
                </a:r>
              </a:p>
              <a:p>
                <a:pPr marL="0" indent="0">
                  <a:buNone/>
                </a:pPr>
                <a:r>
                  <a:rPr lang="en-SG" dirty="0">
                    <a:sym typeface="Wingdings" panose="05000000000000000000" pitchFamily="2" charset="2"/>
                  </a:rPr>
                  <a:t>S  L:</a:t>
                </a:r>
              </a:p>
              <a:p>
                <a:pPr marL="0" indent="0">
                  <a:buNone/>
                </a:pPr>
                <a:r>
                  <a:rPr lang="en-SG" dirty="0">
                    <a:sym typeface="Wingdings" panose="05000000000000000000" pitchFamily="2" charset="2"/>
                  </a:rPr>
                  <a:t>S  jump L</a:t>
                </a: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595560-82EC-4938-BE3A-C25F3398CD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4294967295"/>
              </p:nvPr>
            </p:nvSpPr>
            <p:spPr>
              <a:xfrm>
                <a:off x="1766596" y="2506662"/>
                <a:ext cx="3620278" cy="4351338"/>
              </a:xfrm>
              <a:blipFill>
                <a:blip r:embed="rId2"/>
                <a:stretch>
                  <a:fillRect l="-3535" t="-26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0C27C44-46A6-8D86-C29F-A9D3B92A5664}"/>
              </a:ext>
            </a:extLst>
          </p:cNvPr>
          <p:cNvSpPr txBox="1">
            <a:spLocks/>
          </p:cNvSpPr>
          <p:nvPr/>
        </p:nvSpPr>
        <p:spPr>
          <a:xfrm>
            <a:off x="6805127" y="2506662"/>
            <a:ext cx="44021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id </a:t>
            </a:r>
            <a:r>
              <a:rPr lang="en-GB" dirty="0">
                <a:sym typeface="Wingdings" panose="05000000000000000000" pitchFamily="2" charset="2"/>
              </a:rPr>
              <a:t> (any identifier name)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id </a:t>
            </a:r>
            <a:r>
              <a:rPr lang="en-GB" dirty="0">
                <a:sym typeface="Wingdings" panose="05000000000000000000" pitchFamily="2" charset="2"/>
              </a:rPr>
              <a:t> (any constant literal)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ym typeface="Wingdings" panose="05000000000000000000" pitchFamily="2" charset="2"/>
              </a:rPr>
              <a:t>op  (any basic operator</a:t>
            </a:r>
            <a:br>
              <a:rPr lang="en-GB" dirty="0">
                <a:sym typeface="Wingdings" panose="05000000000000000000" pitchFamily="2" charset="2"/>
              </a:rPr>
            </a:br>
            <a:r>
              <a:rPr lang="en-GB" dirty="0">
                <a:sym typeface="Wingdings" panose="05000000000000000000" pitchFamily="2" charset="2"/>
              </a:rPr>
              <a:t>             e.g. +, -, *, /, ==, &lt;,</a:t>
            </a:r>
            <a:br>
              <a:rPr lang="en-GB" dirty="0">
                <a:sym typeface="Wingdings" panose="05000000000000000000" pitchFamily="2" charset="2"/>
              </a:rPr>
            </a:br>
            <a:r>
              <a:rPr lang="en-GB" dirty="0">
                <a:sym typeface="Wingdings" panose="05000000000000000000" pitchFamily="2" charset="2"/>
              </a:rPr>
              <a:t>             ||, &amp;&amp;, etc. 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ym typeface="Wingdings" panose="05000000000000000000" pitchFamily="2" charset="2"/>
              </a:rPr>
              <a:t>L  L0 | L1 | … (block name)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ym typeface="Wingdings" panose="05000000000000000000" pitchFamily="2" charset="2"/>
              </a:rPr>
              <a:t>Normally, many more production rules for S…</a:t>
            </a:r>
            <a:endParaRPr lang="en-SG" dirty="0"/>
          </a:p>
          <a:p>
            <a:pPr marL="0" indent="0">
              <a:buFont typeface="Arial" panose="020B0604020202020204" pitchFamily="34" charset="0"/>
              <a:buNone/>
            </a:pPr>
            <a:endParaRPr lang="en-SG" dirty="0"/>
          </a:p>
          <a:p>
            <a:pPr marL="0" indent="0">
              <a:buFont typeface="Arial" panose="020B0604020202020204" pitchFamily="34" charset="0"/>
              <a:buNone/>
            </a:pPr>
            <a:endParaRPr lang="en-SG" dirty="0"/>
          </a:p>
          <a:p>
            <a:pPr marL="0" indent="0">
              <a:buFont typeface="Arial" panose="020B0604020202020204" pitchFamily="34" charset="0"/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3006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1B06-A507-4D2F-5FC0FD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block in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4944-D594-B5EC-4A8C-84B643D90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basic block </a:t>
            </a:r>
            <a:r>
              <a:rPr lang="en-GB" b="1" dirty="0"/>
              <a:t>in TAC):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basic block </a:t>
            </a:r>
            <a:r>
              <a:rPr lang="en-GB" dirty="0"/>
              <a:t>consists of a sequence of instructions in TAC, with:</a:t>
            </a:r>
          </a:p>
          <a:p>
            <a:r>
              <a:rPr lang="en-GB" dirty="0"/>
              <a:t>No labels (except at the first instruction),</a:t>
            </a:r>
          </a:p>
          <a:p>
            <a:r>
              <a:rPr lang="en-GB" dirty="0"/>
              <a:t>No jumps (except at the last instruction of the block).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Core idea behind basic blocks:</a:t>
            </a:r>
          </a:p>
          <a:p>
            <a:r>
              <a:rPr lang="en-SG" dirty="0"/>
              <a:t>Cannot jump in the middle of a basic block, only the beginning,</a:t>
            </a:r>
          </a:p>
          <a:p>
            <a:r>
              <a:rPr lang="en-SG" dirty="0"/>
              <a:t>Cannot jump out of a block, except at the end of it,</a:t>
            </a:r>
          </a:p>
          <a:p>
            <a:r>
              <a:rPr lang="en-SG" dirty="0"/>
              <a:t>Basic block is then a single-entry and single-exit code segment.</a:t>
            </a:r>
          </a:p>
        </p:txBody>
      </p:sp>
    </p:spTree>
    <p:extLst>
      <p:ext uri="{BB962C8B-B14F-4D97-AF65-F5344CB8AC3E}">
        <p14:creationId xmlns:p14="http://schemas.microsoft.com/office/powerpoint/2010/main" val="210722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1B06-A507-4D2F-5FC0FD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block in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4944-D594-B5EC-4A8C-84B643D90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 basic block always writes as:</a:t>
            </a:r>
          </a:p>
          <a:p>
            <a:r>
              <a:rPr lang="en-GB" dirty="0"/>
              <a:t>Start with a </a:t>
            </a:r>
            <a:r>
              <a:rPr lang="en-GB" b="1" dirty="0">
                <a:solidFill>
                  <a:schemeClr val="accent2"/>
                </a:solidFill>
              </a:rPr>
              <a:t>block name</a:t>
            </a:r>
            <a:r>
              <a:rPr lang="en-GB" dirty="0"/>
              <a:t>, by convention, in the form of Ln, with n an integer.</a:t>
            </a:r>
          </a:p>
          <a:p>
            <a:r>
              <a:rPr lang="en-GB" dirty="0"/>
              <a:t>Has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elementary operations </a:t>
            </a:r>
            <a:r>
              <a:rPr lang="en-GB" dirty="0"/>
              <a:t>in TAC format.</a:t>
            </a:r>
          </a:p>
          <a:p>
            <a:r>
              <a:rPr lang="en-GB" dirty="0"/>
              <a:t>Could have </a:t>
            </a:r>
            <a:r>
              <a:rPr lang="en-GB" b="1" dirty="0">
                <a:solidFill>
                  <a:srgbClr val="7030A0"/>
                </a:solidFill>
              </a:rPr>
              <a:t>conditional structures</a:t>
            </a:r>
            <a:r>
              <a:rPr lang="en-GB" dirty="0"/>
              <a:t>, using if.</a:t>
            </a:r>
          </a:p>
          <a:p>
            <a:r>
              <a:rPr lang="en-GB" b="1" dirty="0" err="1">
                <a:solidFill>
                  <a:srgbClr val="00B050"/>
                </a:solidFill>
              </a:rPr>
              <a:t>Goto</a:t>
            </a:r>
            <a:r>
              <a:rPr lang="en-GB" b="1" dirty="0">
                <a:solidFill>
                  <a:srgbClr val="00B050"/>
                </a:solidFill>
              </a:rPr>
              <a:t>/jump </a:t>
            </a:r>
            <a:r>
              <a:rPr lang="en-GB" dirty="0"/>
              <a:t>could reference current block or another block.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65029-C7BC-122A-DEF7-A19DA071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For instance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>
                <a:solidFill>
                  <a:schemeClr val="accent2"/>
                </a:solidFill>
              </a:rPr>
              <a:t>L1: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w := x - 1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z := w &gt; 0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i="1" dirty="0">
                <a:solidFill>
                  <a:srgbClr val="7030A0"/>
                </a:solidFill>
              </a:rPr>
              <a:t>if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z</a:t>
            </a:r>
            <a:r>
              <a:rPr lang="en-GB" i="1" dirty="0"/>
              <a:t> </a:t>
            </a:r>
            <a:r>
              <a:rPr lang="en-GB" i="1" dirty="0" err="1">
                <a:solidFill>
                  <a:srgbClr val="00B050"/>
                </a:solidFill>
              </a:rPr>
              <a:t>goto</a:t>
            </a:r>
            <a:r>
              <a:rPr lang="en-GB" i="1" dirty="0">
                <a:solidFill>
                  <a:srgbClr val="00B050"/>
                </a:solidFill>
              </a:rPr>
              <a:t> L1</a:t>
            </a:r>
          </a:p>
          <a:p>
            <a:pPr marL="0" indent="0">
              <a:buNone/>
            </a:pPr>
            <a:r>
              <a:rPr lang="en-GB" i="1" dirty="0"/>
              <a:t>           </a:t>
            </a:r>
            <a:r>
              <a:rPr lang="en-GB" i="1" dirty="0">
                <a:solidFill>
                  <a:srgbClr val="00B050"/>
                </a:solidFill>
              </a:rPr>
              <a:t>jump L2</a:t>
            </a:r>
            <a:endParaRPr lang="en-SG" i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6787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1B06-A507-4D2F-5FC0FD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block in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4944-D594-B5EC-4A8C-84B643D90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Which C code could have potentially generated this TAC?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65029-C7BC-122A-DEF7-A19DA071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For instance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>
                <a:solidFill>
                  <a:schemeClr val="accent2"/>
                </a:solidFill>
              </a:rPr>
              <a:t>L1: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w := x - 1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z := w &gt; 0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i="1" dirty="0">
                <a:solidFill>
                  <a:srgbClr val="7030A0"/>
                </a:solidFill>
              </a:rPr>
              <a:t>if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z</a:t>
            </a:r>
            <a:r>
              <a:rPr lang="en-GB" i="1" dirty="0"/>
              <a:t> </a:t>
            </a:r>
            <a:r>
              <a:rPr lang="en-GB" i="1" dirty="0" err="1">
                <a:solidFill>
                  <a:srgbClr val="00B050"/>
                </a:solidFill>
              </a:rPr>
              <a:t>goto</a:t>
            </a:r>
            <a:r>
              <a:rPr lang="en-GB" i="1" dirty="0">
                <a:solidFill>
                  <a:srgbClr val="00B050"/>
                </a:solidFill>
              </a:rPr>
              <a:t> L1</a:t>
            </a:r>
          </a:p>
          <a:p>
            <a:pPr marL="0" indent="0">
              <a:buNone/>
            </a:pPr>
            <a:r>
              <a:rPr lang="en-GB" i="1" dirty="0"/>
              <a:t>           </a:t>
            </a:r>
            <a:r>
              <a:rPr lang="en-GB" i="1" dirty="0">
                <a:solidFill>
                  <a:srgbClr val="00B050"/>
                </a:solidFill>
              </a:rPr>
              <a:t>jump L2</a:t>
            </a:r>
            <a:endParaRPr lang="en-SG" i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4359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76B2-1B06-A507-4D2F-5FC0FD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block in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4944-D594-B5EC-4A8C-84B643D90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Which C code could have potentially generated this TAC?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x = 4; </a:t>
            </a:r>
          </a:p>
          <a:p>
            <a:pPr marL="0" indent="0">
              <a:buNone/>
            </a:pPr>
            <a:r>
              <a:rPr lang="en-GB" dirty="0"/>
              <a:t>…                               (Some code L0)</a:t>
            </a:r>
          </a:p>
          <a:p>
            <a:pPr marL="0" indent="0">
              <a:buNone/>
            </a:pPr>
            <a:r>
              <a:rPr lang="en-GB" dirty="0"/>
              <a:t>do {</a:t>
            </a:r>
          </a:p>
          <a:p>
            <a:pPr marL="0" indent="0">
              <a:buNone/>
            </a:pPr>
            <a:r>
              <a:rPr lang="en-GB" dirty="0"/>
              <a:t>	x = x - 1</a:t>
            </a:r>
          </a:p>
          <a:p>
            <a:pPr marL="0" indent="0">
              <a:buNone/>
            </a:pPr>
            <a:r>
              <a:rPr lang="en-GB" dirty="0"/>
              <a:t>} while (x &gt; 0)</a:t>
            </a:r>
          </a:p>
          <a:p>
            <a:pPr marL="0" indent="0">
              <a:buNone/>
            </a:pPr>
            <a:r>
              <a:rPr lang="en-GB" dirty="0"/>
              <a:t>…                (Some more code in L2)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65029-C7BC-122A-DEF7-A19DA071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For instance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>
                <a:solidFill>
                  <a:schemeClr val="accent2"/>
                </a:solidFill>
              </a:rPr>
              <a:t>L1: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w := x - 1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	z := w &gt; 0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i="1" dirty="0">
                <a:solidFill>
                  <a:srgbClr val="7030A0"/>
                </a:solidFill>
              </a:rPr>
              <a:t>if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z</a:t>
            </a:r>
            <a:r>
              <a:rPr lang="en-GB" i="1" dirty="0"/>
              <a:t> </a:t>
            </a:r>
            <a:r>
              <a:rPr lang="en-GB" i="1" dirty="0" err="1">
                <a:solidFill>
                  <a:srgbClr val="00B050"/>
                </a:solidFill>
              </a:rPr>
              <a:t>goto</a:t>
            </a:r>
            <a:r>
              <a:rPr lang="en-GB" i="1" dirty="0">
                <a:solidFill>
                  <a:srgbClr val="00B050"/>
                </a:solidFill>
              </a:rPr>
              <a:t> L1</a:t>
            </a:r>
          </a:p>
          <a:p>
            <a:pPr marL="0" indent="0">
              <a:buNone/>
            </a:pPr>
            <a:r>
              <a:rPr lang="en-GB" i="1" dirty="0"/>
              <a:t>           </a:t>
            </a:r>
            <a:r>
              <a:rPr lang="en-GB" i="1" dirty="0">
                <a:solidFill>
                  <a:srgbClr val="00B050"/>
                </a:solidFill>
              </a:rPr>
              <a:t>jump L2</a:t>
            </a:r>
            <a:endParaRPr lang="en-SG" i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1424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463B-0C22-0F77-40FE-88AF66FC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flow graph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2C6F-5587-2D21-BE9B-404B8885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control-flow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graph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control-flow graph </a:t>
            </a:r>
            <a:r>
              <a:rPr lang="en-GB" dirty="0"/>
              <a:t>is a directed graph with basic blocks as nodes, and an edge from block A to block B if the execution can pass from the last instruction in A to the first instruction in B.</a:t>
            </a:r>
          </a:p>
          <a:p>
            <a:r>
              <a:rPr lang="en-GB" dirty="0"/>
              <a:t>E.g., the last instruction in A is jump LB</a:t>
            </a:r>
          </a:p>
          <a:p>
            <a:r>
              <a:rPr lang="en-GB" dirty="0"/>
              <a:t>E.g., execution can fall-through from block A to block B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12718C6-3124-31AC-774E-8737985798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1107174"/>
              </p:ext>
            </p:extLst>
          </p:nvPr>
        </p:nvGraphicFramePr>
        <p:xfrm>
          <a:off x="6768122" y="218831"/>
          <a:ext cx="5111263" cy="6564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57368A-99CA-FE00-7C63-A59AF2DEAB2B}"/>
              </a:ext>
            </a:extLst>
          </p:cNvPr>
          <p:cNvCxnSpPr/>
          <p:nvPr/>
        </p:nvCxnSpPr>
        <p:spPr>
          <a:xfrm>
            <a:off x="9284677" y="1544394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F33F9C-99EB-0AF2-5FB4-B17E37341A02}"/>
              </a:ext>
            </a:extLst>
          </p:cNvPr>
          <p:cNvCxnSpPr/>
          <p:nvPr/>
        </p:nvCxnSpPr>
        <p:spPr>
          <a:xfrm>
            <a:off x="9284677" y="5049594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69EBF7-E74C-E0AF-EA07-B553B4A85F83}"/>
              </a:ext>
            </a:extLst>
          </p:cNvPr>
          <p:cNvSpPr/>
          <p:nvPr/>
        </p:nvSpPr>
        <p:spPr>
          <a:xfrm>
            <a:off x="6595825" y="1687290"/>
            <a:ext cx="2688852" cy="3606135"/>
          </a:xfrm>
          <a:custGeom>
            <a:avLst/>
            <a:gdLst>
              <a:gd name="connsiteX0" fmla="*/ 2688852 w 2688852"/>
              <a:gd name="connsiteY0" fmla="*/ 3541202 h 3606135"/>
              <a:gd name="connsiteX1" fmla="*/ 445837 w 2688852"/>
              <a:gd name="connsiteY1" fmla="*/ 3502125 h 3606135"/>
              <a:gd name="connsiteX2" fmla="*/ 31621 w 2688852"/>
              <a:gd name="connsiteY2" fmla="*/ 2564279 h 3606135"/>
              <a:gd name="connsiteX3" fmla="*/ 55067 w 2688852"/>
              <a:gd name="connsiteY3" fmla="*/ 844895 h 3606135"/>
              <a:gd name="connsiteX4" fmla="*/ 266083 w 2688852"/>
              <a:gd name="connsiteY4" fmla="*/ 110248 h 3606135"/>
              <a:gd name="connsiteX5" fmla="*/ 2681037 w 2688852"/>
              <a:gd name="connsiteY5" fmla="*/ 16464 h 360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852" h="3606135">
                <a:moveTo>
                  <a:pt x="2688852" y="3541202"/>
                </a:moveTo>
                <a:cubicBezTo>
                  <a:pt x="1788780" y="3603073"/>
                  <a:pt x="888709" y="3664945"/>
                  <a:pt x="445837" y="3502125"/>
                </a:cubicBezTo>
                <a:cubicBezTo>
                  <a:pt x="2965" y="3339305"/>
                  <a:pt x="96749" y="3007151"/>
                  <a:pt x="31621" y="2564279"/>
                </a:cubicBezTo>
                <a:cubicBezTo>
                  <a:pt x="-33507" y="2121407"/>
                  <a:pt x="15990" y="1253900"/>
                  <a:pt x="55067" y="844895"/>
                </a:cubicBezTo>
                <a:cubicBezTo>
                  <a:pt x="94144" y="435890"/>
                  <a:pt x="-171578" y="248320"/>
                  <a:pt x="266083" y="110248"/>
                </a:cubicBezTo>
                <a:cubicBezTo>
                  <a:pt x="703744" y="-27824"/>
                  <a:pt x="1692390" y="-5680"/>
                  <a:pt x="2681037" y="16464"/>
                </a:cubicBezTo>
              </a:path>
            </a:pathLst>
          </a:custGeom>
          <a:noFill/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3606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3F2D-B27C-EDCC-EE10-0578A60C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0F0BC-4CCD-8D1E-F053-6B257D93B7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 code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SG" i="1" dirty="0"/>
              <a:t>int a;</a:t>
            </a:r>
          </a:p>
          <a:p>
            <a:pPr marL="0" indent="0">
              <a:buNone/>
            </a:pPr>
            <a:r>
              <a:rPr lang="en-SG" i="1" dirty="0"/>
              <a:t>int b;</a:t>
            </a:r>
          </a:p>
          <a:p>
            <a:pPr marL="0" indent="0">
              <a:buNone/>
            </a:pPr>
            <a:r>
              <a:rPr lang="en-SG" i="1" dirty="0"/>
              <a:t>a = 3</a:t>
            </a:r>
          </a:p>
          <a:p>
            <a:pPr marL="0" indent="0">
              <a:buNone/>
            </a:pPr>
            <a:r>
              <a:rPr lang="en-SG" i="1" dirty="0"/>
              <a:t>b = 1</a:t>
            </a:r>
          </a:p>
          <a:p>
            <a:pPr marL="0" indent="0">
              <a:buNone/>
            </a:pPr>
            <a:r>
              <a:rPr lang="en-SG" i="1" dirty="0"/>
              <a:t>c = 5 + 2*b</a:t>
            </a:r>
          </a:p>
          <a:p>
            <a:pPr marL="0" indent="0">
              <a:buNone/>
            </a:pPr>
            <a:r>
              <a:rPr lang="en-SG" i="1" dirty="0"/>
              <a:t>d = a*a + b*c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9C057-F25F-FAF4-B77E-62F24B17F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TAC code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i="1" dirty="0"/>
              <a:t>_t0 := 3</a:t>
            </a:r>
          </a:p>
          <a:p>
            <a:pPr marL="0" indent="0">
              <a:buNone/>
            </a:pPr>
            <a:r>
              <a:rPr lang="en-GB" i="1" dirty="0"/>
              <a:t>_t1 := 1</a:t>
            </a:r>
          </a:p>
          <a:p>
            <a:pPr marL="0" indent="0">
              <a:buNone/>
            </a:pPr>
            <a:r>
              <a:rPr lang="en-GB" i="1" dirty="0"/>
              <a:t>_t2 := 2 * _t1</a:t>
            </a:r>
          </a:p>
          <a:p>
            <a:pPr marL="0" indent="0">
              <a:buNone/>
            </a:pPr>
            <a:r>
              <a:rPr lang="en-GB" i="1" dirty="0"/>
              <a:t>_t3 := 5 + _t2</a:t>
            </a:r>
          </a:p>
          <a:p>
            <a:pPr marL="0" indent="0">
              <a:buNone/>
            </a:pPr>
            <a:r>
              <a:rPr lang="en-GB" i="1" dirty="0"/>
              <a:t>_t4 = _t0 * _t0</a:t>
            </a:r>
          </a:p>
          <a:p>
            <a:pPr marL="0" indent="0">
              <a:buNone/>
            </a:pPr>
            <a:r>
              <a:rPr lang="en-GB" i="1" dirty="0"/>
              <a:t>_t5 = _t1 * _t3</a:t>
            </a:r>
          </a:p>
          <a:p>
            <a:pPr marL="0" indent="0">
              <a:buNone/>
            </a:pPr>
            <a:r>
              <a:rPr lang="en-GB" i="1" dirty="0"/>
              <a:t>_t6 = _t4 + _t5 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2219053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929E-ACE9-25FD-F200-4EDA0C14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45EC11-6655-0EE5-D21D-D63693673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Observations</a:t>
            </a:r>
          </a:p>
          <a:p>
            <a:r>
              <a:rPr lang="en-GB" dirty="0"/>
              <a:t>The “three” in “three-address code” refers to the upmost number of operands in any instruction.</a:t>
            </a:r>
          </a:p>
          <a:p>
            <a:r>
              <a:rPr lang="en-GB" dirty="0"/>
              <a:t>Could technically have instructions with only two operands.</a:t>
            </a:r>
          </a:p>
          <a:p>
            <a:r>
              <a:rPr lang="en-GB" dirty="0"/>
              <a:t>Evaluating an expression with more than three subexpressions requires the introduction of temporary variables.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who holds the key to how to deconstruct a long mathematical expression into smaller three-operands expressions with the right precedence order?</a:t>
            </a:r>
          </a:p>
        </p:txBody>
      </p:sp>
    </p:spTree>
    <p:extLst>
      <p:ext uri="{BB962C8B-B14F-4D97-AF65-F5344CB8AC3E}">
        <p14:creationId xmlns:p14="http://schemas.microsoft.com/office/powerpoint/2010/main" val="9873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929E-ACE9-25FD-F200-4EDA0C14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45EC11-6655-0EE5-D21D-D63693673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Observations</a:t>
            </a:r>
          </a:p>
          <a:p>
            <a:r>
              <a:rPr lang="en-GB" dirty="0"/>
              <a:t>The “three” in “three-address code” refers to the upmost number of operands in any instruction.</a:t>
            </a:r>
          </a:p>
          <a:p>
            <a:r>
              <a:rPr lang="en-GB" dirty="0"/>
              <a:t>Could technically have instructions with only two operands.</a:t>
            </a:r>
          </a:p>
          <a:p>
            <a:r>
              <a:rPr lang="en-GB" dirty="0"/>
              <a:t>Evaluating an expression with more than three subexpressions requires the introduction of temporary variables.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who holds the key to how to deconstruct a long mathematical expression into smaller three-operands expressions with the right precedence order?</a:t>
            </a:r>
          </a:p>
          <a:p>
            <a:pPr marL="0" indent="0">
              <a:buNone/>
            </a:pPr>
            <a:r>
              <a:rPr lang="en-GB" b="1" dirty="0"/>
              <a:t>Answer: Your parse tree/abstract syntax tree from earlier!</a:t>
            </a:r>
          </a:p>
        </p:txBody>
      </p:sp>
    </p:spTree>
    <p:extLst>
      <p:ext uri="{BB962C8B-B14F-4D97-AF65-F5344CB8AC3E}">
        <p14:creationId xmlns:p14="http://schemas.microsoft.com/office/powerpoint/2010/main" val="2309418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3F2D-B27C-EDCC-EE10-0578A60C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0F0BC-4CCD-8D1E-F053-6B257D93B7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 code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SG" i="1" dirty="0"/>
              <a:t>int a;</a:t>
            </a:r>
          </a:p>
          <a:p>
            <a:pPr marL="0" indent="0">
              <a:buNone/>
            </a:pPr>
            <a:r>
              <a:rPr lang="en-SG" i="1" dirty="0"/>
              <a:t>int b;</a:t>
            </a:r>
          </a:p>
          <a:p>
            <a:pPr marL="0" indent="0">
              <a:buNone/>
            </a:pPr>
            <a:r>
              <a:rPr lang="en-SG" i="1" dirty="0"/>
              <a:t>a = 3</a:t>
            </a:r>
          </a:p>
          <a:p>
            <a:pPr marL="0" indent="0">
              <a:buNone/>
            </a:pPr>
            <a:r>
              <a:rPr lang="en-SG" i="1" dirty="0"/>
              <a:t>b = 1</a:t>
            </a:r>
          </a:p>
          <a:p>
            <a:pPr marL="0" indent="0">
              <a:buNone/>
            </a:pPr>
            <a:r>
              <a:rPr lang="en-SG" i="1" dirty="0"/>
              <a:t>c = 5 + 2*b</a:t>
            </a:r>
          </a:p>
          <a:p>
            <a:pPr marL="0" indent="0">
              <a:buNone/>
            </a:pPr>
            <a:r>
              <a:rPr lang="en-SG" i="1" dirty="0"/>
              <a:t>d = a*a + b*c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448B6-9922-CD3E-F40F-C85A10BEB1D2}"/>
              </a:ext>
            </a:extLst>
          </p:cNvPr>
          <p:cNvSpPr/>
          <p:nvPr/>
        </p:nvSpPr>
        <p:spPr>
          <a:xfrm>
            <a:off x="8284308" y="156307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9BB95-0E49-A34C-D27C-392113CBA786}"/>
              </a:ext>
            </a:extLst>
          </p:cNvPr>
          <p:cNvSpPr/>
          <p:nvPr/>
        </p:nvSpPr>
        <p:spPr>
          <a:xfrm>
            <a:off x="8284307" y="2478515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D6360-BCD4-4137-2113-C8BFD15AC886}"/>
              </a:ext>
            </a:extLst>
          </p:cNvPr>
          <p:cNvSpPr/>
          <p:nvPr/>
        </p:nvSpPr>
        <p:spPr>
          <a:xfrm>
            <a:off x="7213600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C5365-B4C4-8103-04F0-5826C43578CD}"/>
              </a:ext>
            </a:extLst>
          </p:cNvPr>
          <p:cNvSpPr/>
          <p:nvPr/>
        </p:nvSpPr>
        <p:spPr>
          <a:xfrm>
            <a:off x="9355014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8E534-84A1-9591-02EA-1B5F221D180C}"/>
              </a:ext>
            </a:extLst>
          </p:cNvPr>
          <p:cNvSpPr/>
          <p:nvPr/>
        </p:nvSpPr>
        <p:spPr>
          <a:xfrm>
            <a:off x="8284306" y="4309391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787D2-FD4A-F969-69C6-59A0ED7B3D34}"/>
              </a:ext>
            </a:extLst>
          </p:cNvPr>
          <p:cNvSpPr/>
          <p:nvPr/>
        </p:nvSpPr>
        <p:spPr>
          <a:xfrm>
            <a:off x="10425721" y="4309390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6FCD7-C913-6FD9-7BA1-8F49802CC9C4}"/>
              </a:ext>
            </a:extLst>
          </p:cNvPr>
          <p:cNvSpPr/>
          <p:nvPr/>
        </p:nvSpPr>
        <p:spPr>
          <a:xfrm>
            <a:off x="10425721" y="522482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5AC6CD-8B48-3651-7491-D5045A3B1BB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8819661" y="2133600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471324-7002-14DA-5DBF-6B435D7C657F}"/>
              </a:ext>
            </a:extLst>
          </p:cNvPr>
          <p:cNvCxnSpPr>
            <a:cxnSpLocks/>
          </p:cNvCxnSpPr>
          <p:nvPr/>
        </p:nvCxnSpPr>
        <p:spPr>
          <a:xfrm flipH="1">
            <a:off x="10961074" y="4879913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5C2C28-1738-C1F3-AE8E-77FD04A084D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890368" y="3964476"/>
            <a:ext cx="1070707" cy="3449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10452D-B067-884A-3264-079B434F9A7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819660" y="3964476"/>
            <a:ext cx="1070708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B25AC3-818D-7740-8FDE-3FB7C0B81AF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748954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A9622F-6D4A-BB2C-88A4-534CF1DFAA4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819661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2C06D4-3868-B33D-4BBC-302AD7BFB470}"/>
              </a:ext>
            </a:extLst>
          </p:cNvPr>
          <p:cNvSpPr txBox="1"/>
          <p:nvPr/>
        </p:nvSpPr>
        <p:spPr>
          <a:xfrm>
            <a:off x="5803598" y="2155349"/>
            <a:ext cx="2611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+:</a:t>
            </a:r>
            <a:br>
              <a:rPr lang="en-GB" dirty="0"/>
            </a:br>
            <a:r>
              <a:rPr lang="en-GB" dirty="0" err="1"/>
              <a:t>result.val</a:t>
            </a:r>
            <a:r>
              <a:rPr lang="en-GB" dirty="0"/>
              <a:t> = e1.val + e2.val </a:t>
            </a:r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EFACA4-5948-F58F-B632-AB51EC51F91F}"/>
              </a:ext>
            </a:extLst>
          </p:cNvPr>
          <p:cNvSpPr txBox="1"/>
          <p:nvPr/>
        </p:nvSpPr>
        <p:spPr>
          <a:xfrm>
            <a:off x="9564075" y="2725871"/>
            <a:ext cx="2793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*:</a:t>
            </a:r>
            <a:br>
              <a:rPr lang="en-GB" dirty="0"/>
            </a:br>
            <a:r>
              <a:rPr lang="en-GB" dirty="0" err="1"/>
              <a:t>result.val</a:t>
            </a:r>
            <a:r>
              <a:rPr lang="en-GB" dirty="0"/>
              <a:t> = e1.val * e2.val </a:t>
            </a:r>
            <a:endParaRPr lang="en-SG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1BED7C-4230-4C43-4724-2C9074AE7803}"/>
              </a:ext>
            </a:extLst>
          </p:cNvPr>
          <p:cNvSpPr txBox="1"/>
          <p:nvPr/>
        </p:nvSpPr>
        <p:spPr>
          <a:xfrm>
            <a:off x="9093201" y="4879913"/>
            <a:ext cx="133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b:</a:t>
            </a:r>
            <a:br>
              <a:rPr lang="en-GB" dirty="0"/>
            </a:br>
            <a:r>
              <a:rPr lang="en-GB" dirty="0" err="1"/>
              <a:t>b.val</a:t>
            </a:r>
            <a:r>
              <a:rPr lang="en-GB" dirty="0"/>
              <a:t> = 1.val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8616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3F2D-B27C-EDCC-EE10-0578A60C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0F0BC-4CCD-8D1E-F053-6B257D93B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911968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Your final translation is in the abstract syntax tree from earlier!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Remember, we have an AST, </a:t>
            </a:r>
          </a:p>
          <a:p>
            <a:r>
              <a:rPr lang="en-GB" dirty="0"/>
              <a:t>Annotated with elementary operations (syntax analysis),</a:t>
            </a:r>
          </a:p>
          <a:p>
            <a:r>
              <a:rPr lang="en-GB" dirty="0"/>
              <a:t>Annotated with scope information (semantic analysis),</a:t>
            </a:r>
          </a:p>
          <a:p>
            <a:r>
              <a:rPr lang="en-GB" dirty="0"/>
              <a:t>And annotated with type information (semantic analysis).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448B6-9922-CD3E-F40F-C85A10BEB1D2}"/>
              </a:ext>
            </a:extLst>
          </p:cNvPr>
          <p:cNvSpPr/>
          <p:nvPr/>
        </p:nvSpPr>
        <p:spPr>
          <a:xfrm>
            <a:off x="8284308" y="156307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9BB95-0E49-A34C-D27C-392113CBA786}"/>
              </a:ext>
            </a:extLst>
          </p:cNvPr>
          <p:cNvSpPr/>
          <p:nvPr/>
        </p:nvSpPr>
        <p:spPr>
          <a:xfrm>
            <a:off x="8284307" y="2478515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D6360-BCD4-4137-2113-C8BFD15AC886}"/>
              </a:ext>
            </a:extLst>
          </p:cNvPr>
          <p:cNvSpPr/>
          <p:nvPr/>
        </p:nvSpPr>
        <p:spPr>
          <a:xfrm>
            <a:off x="7213600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C5365-B4C4-8103-04F0-5826C43578CD}"/>
              </a:ext>
            </a:extLst>
          </p:cNvPr>
          <p:cNvSpPr/>
          <p:nvPr/>
        </p:nvSpPr>
        <p:spPr>
          <a:xfrm>
            <a:off x="9355014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8E534-84A1-9591-02EA-1B5F221D180C}"/>
              </a:ext>
            </a:extLst>
          </p:cNvPr>
          <p:cNvSpPr/>
          <p:nvPr/>
        </p:nvSpPr>
        <p:spPr>
          <a:xfrm>
            <a:off x="8284306" y="4309391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787D2-FD4A-F969-69C6-59A0ED7B3D34}"/>
              </a:ext>
            </a:extLst>
          </p:cNvPr>
          <p:cNvSpPr/>
          <p:nvPr/>
        </p:nvSpPr>
        <p:spPr>
          <a:xfrm>
            <a:off x="10425721" y="4309390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6FCD7-C913-6FD9-7BA1-8F49802CC9C4}"/>
              </a:ext>
            </a:extLst>
          </p:cNvPr>
          <p:cNvSpPr/>
          <p:nvPr/>
        </p:nvSpPr>
        <p:spPr>
          <a:xfrm>
            <a:off x="10425721" y="522482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5AC6CD-8B48-3651-7491-D5045A3B1BB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8819661" y="2133600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471324-7002-14DA-5DBF-6B435D7C657F}"/>
              </a:ext>
            </a:extLst>
          </p:cNvPr>
          <p:cNvCxnSpPr>
            <a:cxnSpLocks/>
          </p:cNvCxnSpPr>
          <p:nvPr/>
        </p:nvCxnSpPr>
        <p:spPr>
          <a:xfrm flipH="1">
            <a:off x="10961074" y="4879913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5C2C28-1738-C1F3-AE8E-77FD04A084D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890368" y="3964476"/>
            <a:ext cx="1070707" cy="3449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10452D-B067-884A-3264-079B434F9A7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819660" y="3964476"/>
            <a:ext cx="1070708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B25AC3-818D-7740-8FDE-3FB7C0B81AF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748954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A9622F-6D4A-BB2C-88A4-534CF1DFAA4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819661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2C06D4-3868-B33D-4BBC-302AD7BFB470}"/>
              </a:ext>
            </a:extLst>
          </p:cNvPr>
          <p:cNvSpPr txBox="1"/>
          <p:nvPr/>
        </p:nvSpPr>
        <p:spPr>
          <a:xfrm>
            <a:off x="5803598" y="2155349"/>
            <a:ext cx="2611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+:</a:t>
            </a:r>
            <a:br>
              <a:rPr lang="en-GB" dirty="0"/>
            </a:br>
            <a:r>
              <a:rPr lang="en-GB" dirty="0" err="1"/>
              <a:t>result.val</a:t>
            </a:r>
            <a:r>
              <a:rPr lang="en-GB" dirty="0"/>
              <a:t> = e1.val + e2.val </a:t>
            </a:r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EFACA4-5948-F58F-B632-AB51EC51F91F}"/>
              </a:ext>
            </a:extLst>
          </p:cNvPr>
          <p:cNvSpPr txBox="1"/>
          <p:nvPr/>
        </p:nvSpPr>
        <p:spPr>
          <a:xfrm>
            <a:off x="9564075" y="2725871"/>
            <a:ext cx="2793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*:</a:t>
            </a:r>
            <a:br>
              <a:rPr lang="en-GB" dirty="0"/>
            </a:br>
            <a:r>
              <a:rPr lang="en-GB" dirty="0" err="1"/>
              <a:t>result.val</a:t>
            </a:r>
            <a:r>
              <a:rPr lang="en-GB" dirty="0"/>
              <a:t> = e1.val * e2.val </a:t>
            </a:r>
            <a:endParaRPr lang="en-SG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1BED7C-4230-4C43-4724-2C9074AE7803}"/>
              </a:ext>
            </a:extLst>
          </p:cNvPr>
          <p:cNvSpPr txBox="1"/>
          <p:nvPr/>
        </p:nvSpPr>
        <p:spPr>
          <a:xfrm>
            <a:off x="9093201" y="4879913"/>
            <a:ext cx="133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b:</a:t>
            </a:r>
            <a:br>
              <a:rPr lang="en-GB" dirty="0"/>
            </a:br>
            <a:r>
              <a:rPr lang="en-GB" dirty="0" err="1"/>
              <a:t>b.val</a:t>
            </a:r>
            <a:r>
              <a:rPr lang="en-GB" dirty="0"/>
              <a:t> = 1.val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42166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3F2D-B27C-EDCC-EE10-0578A60C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0F0BC-4CCD-8D1E-F053-6B257D93B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609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Collecting each of the SDT instructions in the AST using our recursive descent tree algorithm/DFS gives…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i="1" dirty="0" err="1"/>
              <a:t>b.val</a:t>
            </a:r>
            <a:r>
              <a:rPr lang="en-GB" i="1" dirty="0"/>
              <a:t> = 1.val</a:t>
            </a:r>
          </a:p>
          <a:p>
            <a:pPr marL="0" indent="0">
              <a:buNone/>
            </a:pPr>
            <a:r>
              <a:rPr lang="en-GB" i="1" dirty="0" err="1"/>
              <a:t>result.val</a:t>
            </a:r>
            <a:r>
              <a:rPr lang="en-GB" i="1" dirty="0"/>
              <a:t> = e1.val * e2.val</a:t>
            </a:r>
          </a:p>
          <a:p>
            <a:pPr marL="0" indent="0">
              <a:buNone/>
            </a:pPr>
            <a:r>
              <a:rPr lang="en-GB" i="1" dirty="0" err="1"/>
              <a:t>result.val</a:t>
            </a:r>
            <a:r>
              <a:rPr lang="en-GB" i="1" dirty="0"/>
              <a:t> = e1.val + e2.val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448B6-9922-CD3E-F40F-C85A10BEB1D2}"/>
              </a:ext>
            </a:extLst>
          </p:cNvPr>
          <p:cNvSpPr/>
          <p:nvPr/>
        </p:nvSpPr>
        <p:spPr>
          <a:xfrm>
            <a:off x="8284308" y="156307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9BB95-0E49-A34C-D27C-392113CBA786}"/>
              </a:ext>
            </a:extLst>
          </p:cNvPr>
          <p:cNvSpPr/>
          <p:nvPr/>
        </p:nvSpPr>
        <p:spPr>
          <a:xfrm>
            <a:off x="8284307" y="2478515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D6360-BCD4-4137-2113-C8BFD15AC886}"/>
              </a:ext>
            </a:extLst>
          </p:cNvPr>
          <p:cNvSpPr/>
          <p:nvPr/>
        </p:nvSpPr>
        <p:spPr>
          <a:xfrm>
            <a:off x="7213600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C5365-B4C4-8103-04F0-5826C43578CD}"/>
              </a:ext>
            </a:extLst>
          </p:cNvPr>
          <p:cNvSpPr/>
          <p:nvPr/>
        </p:nvSpPr>
        <p:spPr>
          <a:xfrm>
            <a:off x="9355014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8E534-84A1-9591-02EA-1B5F221D180C}"/>
              </a:ext>
            </a:extLst>
          </p:cNvPr>
          <p:cNvSpPr/>
          <p:nvPr/>
        </p:nvSpPr>
        <p:spPr>
          <a:xfrm>
            <a:off x="8284306" y="4309391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787D2-FD4A-F969-69C6-59A0ED7B3D34}"/>
              </a:ext>
            </a:extLst>
          </p:cNvPr>
          <p:cNvSpPr/>
          <p:nvPr/>
        </p:nvSpPr>
        <p:spPr>
          <a:xfrm>
            <a:off x="10425721" y="4309390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6FCD7-C913-6FD9-7BA1-8F49802CC9C4}"/>
              </a:ext>
            </a:extLst>
          </p:cNvPr>
          <p:cNvSpPr/>
          <p:nvPr/>
        </p:nvSpPr>
        <p:spPr>
          <a:xfrm>
            <a:off x="10425721" y="522482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5AC6CD-8B48-3651-7491-D5045A3B1BB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8819661" y="2133600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471324-7002-14DA-5DBF-6B435D7C657F}"/>
              </a:ext>
            </a:extLst>
          </p:cNvPr>
          <p:cNvCxnSpPr>
            <a:cxnSpLocks/>
          </p:cNvCxnSpPr>
          <p:nvPr/>
        </p:nvCxnSpPr>
        <p:spPr>
          <a:xfrm flipH="1">
            <a:off x="10961074" y="4879913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5C2C28-1738-C1F3-AE8E-77FD04A084D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890368" y="3964476"/>
            <a:ext cx="1070707" cy="3449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10452D-B067-884A-3264-079B434F9A7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819660" y="3964476"/>
            <a:ext cx="1070708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B25AC3-818D-7740-8FDE-3FB7C0B81AF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748954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A9622F-6D4A-BB2C-88A4-534CF1DFAA4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819661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2C06D4-3868-B33D-4BBC-302AD7BFB470}"/>
              </a:ext>
            </a:extLst>
          </p:cNvPr>
          <p:cNvSpPr txBox="1"/>
          <p:nvPr/>
        </p:nvSpPr>
        <p:spPr>
          <a:xfrm>
            <a:off x="5689601" y="2155349"/>
            <a:ext cx="2725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+:</a:t>
            </a:r>
            <a:br>
              <a:rPr lang="en-GB" dirty="0"/>
            </a:br>
            <a:r>
              <a:rPr lang="en-GB" dirty="0"/>
              <a:t>result+.</a:t>
            </a:r>
            <a:r>
              <a:rPr lang="en-GB" dirty="0" err="1"/>
              <a:t>val</a:t>
            </a:r>
            <a:r>
              <a:rPr lang="en-GB" dirty="0"/>
              <a:t> = e1.val + e2.val </a:t>
            </a:r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EFACA4-5948-F58F-B632-AB51EC51F91F}"/>
              </a:ext>
            </a:extLst>
          </p:cNvPr>
          <p:cNvSpPr txBox="1"/>
          <p:nvPr/>
        </p:nvSpPr>
        <p:spPr>
          <a:xfrm>
            <a:off x="9564075" y="2725871"/>
            <a:ext cx="2793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*:</a:t>
            </a:r>
            <a:br>
              <a:rPr lang="en-GB" dirty="0"/>
            </a:br>
            <a:r>
              <a:rPr lang="en-GB" dirty="0" err="1"/>
              <a:t>result.val</a:t>
            </a:r>
            <a:r>
              <a:rPr lang="en-GB" dirty="0"/>
              <a:t> = e1.val * e2.val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F697B-02C6-FC23-A4E0-E63441D206A1}"/>
              </a:ext>
            </a:extLst>
          </p:cNvPr>
          <p:cNvSpPr txBox="1"/>
          <p:nvPr/>
        </p:nvSpPr>
        <p:spPr>
          <a:xfrm>
            <a:off x="9093201" y="4879913"/>
            <a:ext cx="133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b:</a:t>
            </a:r>
            <a:br>
              <a:rPr lang="en-GB" dirty="0"/>
            </a:br>
            <a:r>
              <a:rPr lang="en-GB" dirty="0" err="1"/>
              <a:t>b.val</a:t>
            </a:r>
            <a:r>
              <a:rPr lang="en-GB" dirty="0"/>
              <a:t> = 1.val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62447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3F2D-B27C-EDCC-EE10-0578A60C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0F0BC-4CCD-8D1E-F053-6B257D93B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60953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Using  _</a:t>
            </a:r>
            <a:r>
              <a:rPr lang="en-GB" b="1" dirty="0" err="1"/>
              <a:t>tx</a:t>
            </a:r>
            <a:r>
              <a:rPr lang="en-GB" b="1" dirty="0"/>
              <a:t> notations in order to disambiguate and recognizing connections…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i="1" dirty="0"/>
              <a:t>_t0.val = 1.val</a:t>
            </a:r>
          </a:p>
          <a:p>
            <a:pPr marL="0" indent="0">
              <a:buNone/>
            </a:pPr>
            <a:r>
              <a:rPr lang="en-GB" i="1" dirty="0"/>
              <a:t>_t1.val = 2.val * _t0.val</a:t>
            </a:r>
          </a:p>
          <a:p>
            <a:pPr marL="0" indent="0">
              <a:buNone/>
            </a:pPr>
            <a:r>
              <a:rPr lang="en-GB" i="1" dirty="0"/>
              <a:t>_t2.val = 5.val + _t1.val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448B6-9922-CD3E-F40F-C85A10BEB1D2}"/>
              </a:ext>
            </a:extLst>
          </p:cNvPr>
          <p:cNvSpPr/>
          <p:nvPr/>
        </p:nvSpPr>
        <p:spPr>
          <a:xfrm>
            <a:off x="8284308" y="156307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9BB95-0E49-A34C-D27C-392113CBA786}"/>
              </a:ext>
            </a:extLst>
          </p:cNvPr>
          <p:cNvSpPr/>
          <p:nvPr/>
        </p:nvSpPr>
        <p:spPr>
          <a:xfrm>
            <a:off x="8284307" y="2478515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D6360-BCD4-4137-2113-C8BFD15AC886}"/>
              </a:ext>
            </a:extLst>
          </p:cNvPr>
          <p:cNvSpPr/>
          <p:nvPr/>
        </p:nvSpPr>
        <p:spPr>
          <a:xfrm>
            <a:off x="7213600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C5365-B4C4-8103-04F0-5826C43578CD}"/>
              </a:ext>
            </a:extLst>
          </p:cNvPr>
          <p:cNvSpPr/>
          <p:nvPr/>
        </p:nvSpPr>
        <p:spPr>
          <a:xfrm>
            <a:off x="9355014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8E534-84A1-9591-02EA-1B5F221D180C}"/>
              </a:ext>
            </a:extLst>
          </p:cNvPr>
          <p:cNvSpPr/>
          <p:nvPr/>
        </p:nvSpPr>
        <p:spPr>
          <a:xfrm>
            <a:off x="8284306" y="4309391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787D2-FD4A-F969-69C6-59A0ED7B3D34}"/>
              </a:ext>
            </a:extLst>
          </p:cNvPr>
          <p:cNvSpPr/>
          <p:nvPr/>
        </p:nvSpPr>
        <p:spPr>
          <a:xfrm>
            <a:off x="10425721" y="4309390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6FCD7-C913-6FD9-7BA1-8F49802CC9C4}"/>
              </a:ext>
            </a:extLst>
          </p:cNvPr>
          <p:cNvSpPr/>
          <p:nvPr/>
        </p:nvSpPr>
        <p:spPr>
          <a:xfrm>
            <a:off x="10425721" y="522482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5AC6CD-8B48-3651-7491-D5045A3B1BB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8819661" y="2133600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471324-7002-14DA-5DBF-6B435D7C657F}"/>
              </a:ext>
            </a:extLst>
          </p:cNvPr>
          <p:cNvCxnSpPr>
            <a:cxnSpLocks/>
          </p:cNvCxnSpPr>
          <p:nvPr/>
        </p:nvCxnSpPr>
        <p:spPr>
          <a:xfrm flipH="1">
            <a:off x="10961074" y="4879913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5C2C28-1738-C1F3-AE8E-77FD04A084D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890368" y="3964476"/>
            <a:ext cx="1070707" cy="3449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10452D-B067-884A-3264-079B434F9A7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819660" y="3964476"/>
            <a:ext cx="1070708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B25AC3-818D-7740-8FDE-3FB7C0B81AF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748954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A9622F-6D4A-BB2C-88A4-534CF1DFAA4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819661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2C06D4-3868-B33D-4BBC-302AD7BFB470}"/>
              </a:ext>
            </a:extLst>
          </p:cNvPr>
          <p:cNvSpPr txBox="1"/>
          <p:nvPr/>
        </p:nvSpPr>
        <p:spPr>
          <a:xfrm>
            <a:off x="5689601" y="2155349"/>
            <a:ext cx="2725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+:</a:t>
            </a:r>
            <a:br>
              <a:rPr lang="en-GB" dirty="0"/>
            </a:br>
            <a:r>
              <a:rPr lang="en-GB" dirty="0"/>
              <a:t>result+.</a:t>
            </a:r>
            <a:r>
              <a:rPr lang="en-GB" dirty="0" err="1"/>
              <a:t>val</a:t>
            </a:r>
            <a:r>
              <a:rPr lang="en-GB" dirty="0"/>
              <a:t> = e1.val + e2.val </a:t>
            </a:r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EFACA4-5948-F58F-B632-AB51EC51F91F}"/>
              </a:ext>
            </a:extLst>
          </p:cNvPr>
          <p:cNvSpPr txBox="1"/>
          <p:nvPr/>
        </p:nvSpPr>
        <p:spPr>
          <a:xfrm>
            <a:off x="9564075" y="2725871"/>
            <a:ext cx="2793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*:</a:t>
            </a:r>
            <a:br>
              <a:rPr lang="en-GB" dirty="0"/>
            </a:br>
            <a:r>
              <a:rPr lang="en-GB" dirty="0" err="1"/>
              <a:t>result.val</a:t>
            </a:r>
            <a:r>
              <a:rPr lang="en-GB" dirty="0"/>
              <a:t> = e1.val * e2.val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F697B-02C6-FC23-A4E0-E63441D206A1}"/>
              </a:ext>
            </a:extLst>
          </p:cNvPr>
          <p:cNvSpPr txBox="1"/>
          <p:nvPr/>
        </p:nvSpPr>
        <p:spPr>
          <a:xfrm>
            <a:off x="9093201" y="4879913"/>
            <a:ext cx="133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b:</a:t>
            </a:r>
            <a:br>
              <a:rPr lang="en-GB" dirty="0"/>
            </a:br>
            <a:r>
              <a:rPr lang="en-GB" dirty="0" err="1"/>
              <a:t>b.val</a:t>
            </a:r>
            <a:r>
              <a:rPr lang="en-GB" dirty="0"/>
              <a:t> = 1.val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7547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3F2D-B27C-EDCC-EE10-0578A60C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0F0BC-4CCD-8D1E-F053-6B257D93B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60953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Finally, recognizing that </a:t>
            </a:r>
            <a:r>
              <a:rPr lang="en-GB" b="1" dirty="0" err="1"/>
              <a:t>constant.val</a:t>
            </a:r>
            <a:r>
              <a:rPr lang="en-GB" b="1" dirty="0"/>
              <a:t> = constant</a:t>
            </a:r>
            <a:br>
              <a:rPr lang="en-GB" b="1" dirty="0"/>
            </a:br>
            <a:r>
              <a:rPr lang="en-GB" b="1" dirty="0"/>
              <a:t>(e.g. 5.val = 5)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i="1" dirty="0"/>
              <a:t>_t0.val = 1</a:t>
            </a:r>
          </a:p>
          <a:p>
            <a:pPr marL="0" indent="0">
              <a:buNone/>
            </a:pPr>
            <a:r>
              <a:rPr lang="en-GB" i="1" dirty="0"/>
              <a:t>_t1.val = 2 * _t0.val</a:t>
            </a:r>
          </a:p>
          <a:p>
            <a:pPr marL="0" indent="0">
              <a:buNone/>
            </a:pPr>
            <a:r>
              <a:rPr lang="en-GB" i="1" dirty="0"/>
              <a:t>_t2.val = 5 + _t1.val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448B6-9922-CD3E-F40F-C85A10BEB1D2}"/>
              </a:ext>
            </a:extLst>
          </p:cNvPr>
          <p:cNvSpPr/>
          <p:nvPr/>
        </p:nvSpPr>
        <p:spPr>
          <a:xfrm>
            <a:off x="8284308" y="156307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9BB95-0E49-A34C-D27C-392113CBA786}"/>
              </a:ext>
            </a:extLst>
          </p:cNvPr>
          <p:cNvSpPr/>
          <p:nvPr/>
        </p:nvSpPr>
        <p:spPr>
          <a:xfrm>
            <a:off x="8284307" y="2478515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D6360-BCD4-4137-2113-C8BFD15AC886}"/>
              </a:ext>
            </a:extLst>
          </p:cNvPr>
          <p:cNvSpPr/>
          <p:nvPr/>
        </p:nvSpPr>
        <p:spPr>
          <a:xfrm>
            <a:off x="7213600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C5365-B4C4-8103-04F0-5826C43578CD}"/>
              </a:ext>
            </a:extLst>
          </p:cNvPr>
          <p:cNvSpPr/>
          <p:nvPr/>
        </p:nvSpPr>
        <p:spPr>
          <a:xfrm>
            <a:off x="9355014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8E534-84A1-9591-02EA-1B5F221D180C}"/>
              </a:ext>
            </a:extLst>
          </p:cNvPr>
          <p:cNvSpPr/>
          <p:nvPr/>
        </p:nvSpPr>
        <p:spPr>
          <a:xfrm>
            <a:off x="8284306" y="4309391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787D2-FD4A-F969-69C6-59A0ED7B3D34}"/>
              </a:ext>
            </a:extLst>
          </p:cNvPr>
          <p:cNvSpPr/>
          <p:nvPr/>
        </p:nvSpPr>
        <p:spPr>
          <a:xfrm>
            <a:off x="10425721" y="4309390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6FCD7-C913-6FD9-7BA1-8F49802CC9C4}"/>
              </a:ext>
            </a:extLst>
          </p:cNvPr>
          <p:cNvSpPr/>
          <p:nvPr/>
        </p:nvSpPr>
        <p:spPr>
          <a:xfrm>
            <a:off x="10425721" y="522482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5AC6CD-8B48-3651-7491-D5045A3B1BB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8819661" y="2133600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471324-7002-14DA-5DBF-6B435D7C657F}"/>
              </a:ext>
            </a:extLst>
          </p:cNvPr>
          <p:cNvCxnSpPr>
            <a:cxnSpLocks/>
          </p:cNvCxnSpPr>
          <p:nvPr/>
        </p:nvCxnSpPr>
        <p:spPr>
          <a:xfrm flipH="1">
            <a:off x="10961074" y="4879913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5C2C28-1738-C1F3-AE8E-77FD04A084D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890368" y="3964476"/>
            <a:ext cx="1070707" cy="3449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10452D-B067-884A-3264-079B434F9A7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819660" y="3964476"/>
            <a:ext cx="1070708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B25AC3-818D-7740-8FDE-3FB7C0B81AF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748954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A9622F-6D4A-BB2C-88A4-534CF1DFAA4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819661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2C06D4-3868-B33D-4BBC-302AD7BFB470}"/>
              </a:ext>
            </a:extLst>
          </p:cNvPr>
          <p:cNvSpPr txBox="1"/>
          <p:nvPr/>
        </p:nvSpPr>
        <p:spPr>
          <a:xfrm>
            <a:off x="5689601" y="2155349"/>
            <a:ext cx="2725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+:</a:t>
            </a:r>
            <a:br>
              <a:rPr lang="en-GB" dirty="0"/>
            </a:br>
            <a:r>
              <a:rPr lang="en-GB" dirty="0"/>
              <a:t>result+.</a:t>
            </a:r>
            <a:r>
              <a:rPr lang="en-GB" dirty="0" err="1"/>
              <a:t>val</a:t>
            </a:r>
            <a:r>
              <a:rPr lang="en-GB" dirty="0"/>
              <a:t> = e1.val + e2.val </a:t>
            </a:r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EFACA4-5948-F58F-B632-AB51EC51F91F}"/>
              </a:ext>
            </a:extLst>
          </p:cNvPr>
          <p:cNvSpPr txBox="1"/>
          <p:nvPr/>
        </p:nvSpPr>
        <p:spPr>
          <a:xfrm>
            <a:off x="9564075" y="2725871"/>
            <a:ext cx="2793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*:</a:t>
            </a:r>
            <a:br>
              <a:rPr lang="en-GB" dirty="0"/>
            </a:br>
            <a:r>
              <a:rPr lang="en-GB" dirty="0" err="1"/>
              <a:t>result.val</a:t>
            </a:r>
            <a:r>
              <a:rPr lang="en-GB" dirty="0"/>
              <a:t> = e1.val * e2.val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F697B-02C6-FC23-A4E0-E63441D206A1}"/>
              </a:ext>
            </a:extLst>
          </p:cNvPr>
          <p:cNvSpPr txBox="1"/>
          <p:nvPr/>
        </p:nvSpPr>
        <p:spPr>
          <a:xfrm>
            <a:off x="9093201" y="4879913"/>
            <a:ext cx="133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b:</a:t>
            </a:r>
            <a:br>
              <a:rPr lang="en-GB" dirty="0"/>
            </a:br>
            <a:r>
              <a:rPr lang="en-GB" dirty="0" err="1"/>
              <a:t>b.val</a:t>
            </a:r>
            <a:r>
              <a:rPr lang="en-GB" dirty="0"/>
              <a:t> = 1.val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34175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3F2D-B27C-EDCC-EE10-0578A60C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simple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0F0BC-4CCD-8D1E-F053-6B257D93B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60953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Repeat for the AST computing  the value of d and chain instructions together!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i="1" dirty="0"/>
              <a:t>_t0.val = 1</a:t>
            </a:r>
          </a:p>
          <a:p>
            <a:pPr marL="0" indent="0">
              <a:buNone/>
            </a:pPr>
            <a:r>
              <a:rPr lang="en-GB" i="1" dirty="0"/>
              <a:t>_t1.val = 2 * _t0.val</a:t>
            </a:r>
          </a:p>
          <a:p>
            <a:pPr marL="0" indent="0">
              <a:buNone/>
            </a:pPr>
            <a:r>
              <a:rPr lang="en-GB" i="1" dirty="0"/>
              <a:t>_t2.val = 5 + _t1.val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448B6-9922-CD3E-F40F-C85A10BEB1D2}"/>
              </a:ext>
            </a:extLst>
          </p:cNvPr>
          <p:cNvSpPr/>
          <p:nvPr/>
        </p:nvSpPr>
        <p:spPr>
          <a:xfrm>
            <a:off x="8284308" y="156307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9BB95-0E49-A34C-D27C-392113CBA786}"/>
              </a:ext>
            </a:extLst>
          </p:cNvPr>
          <p:cNvSpPr/>
          <p:nvPr/>
        </p:nvSpPr>
        <p:spPr>
          <a:xfrm>
            <a:off x="8284307" y="2478515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D6360-BCD4-4137-2113-C8BFD15AC886}"/>
              </a:ext>
            </a:extLst>
          </p:cNvPr>
          <p:cNvSpPr/>
          <p:nvPr/>
        </p:nvSpPr>
        <p:spPr>
          <a:xfrm>
            <a:off x="7213600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C5365-B4C4-8103-04F0-5826C43578CD}"/>
              </a:ext>
            </a:extLst>
          </p:cNvPr>
          <p:cNvSpPr/>
          <p:nvPr/>
        </p:nvSpPr>
        <p:spPr>
          <a:xfrm>
            <a:off x="9355014" y="3393953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8E534-84A1-9591-02EA-1B5F221D180C}"/>
              </a:ext>
            </a:extLst>
          </p:cNvPr>
          <p:cNvSpPr/>
          <p:nvPr/>
        </p:nvSpPr>
        <p:spPr>
          <a:xfrm>
            <a:off x="8284306" y="4309391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787D2-FD4A-F969-69C6-59A0ED7B3D34}"/>
              </a:ext>
            </a:extLst>
          </p:cNvPr>
          <p:cNvSpPr/>
          <p:nvPr/>
        </p:nvSpPr>
        <p:spPr>
          <a:xfrm>
            <a:off x="10425721" y="4309390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6FCD7-C913-6FD9-7BA1-8F49802CC9C4}"/>
              </a:ext>
            </a:extLst>
          </p:cNvPr>
          <p:cNvSpPr/>
          <p:nvPr/>
        </p:nvSpPr>
        <p:spPr>
          <a:xfrm>
            <a:off x="10425721" y="5224827"/>
            <a:ext cx="1070707" cy="570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5AC6CD-8B48-3651-7491-D5045A3B1BB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8819661" y="2133600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471324-7002-14DA-5DBF-6B435D7C657F}"/>
              </a:ext>
            </a:extLst>
          </p:cNvPr>
          <p:cNvCxnSpPr>
            <a:cxnSpLocks/>
          </p:cNvCxnSpPr>
          <p:nvPr/>
        </p:nvCxnSpPr>
        <p:spPr>
          <a:xfrm flipH="1">
            <a:off x="10961074" y="4879913"/>
            <a:ext cx="1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5C2C28-1738-C1F3-AE8E-77FD04A084D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890368" y="3964476"/>
            <a:ext cx="1070707" cy="3449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10452D-B067-884A-3264-079B434F9A7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819660" y="3964476"/>
            <a:ext cx="1070708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B25AC3-818D-7740-8FDE-3FB7C0B81AF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748954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A9622F-6D4A-BB2C-88A4-534CF1DFAA4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819661" y="3049038"/>
            <a:ext cx="1070707" cy="344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2C06D4-3868-B33D-4BBC-302AD7BFB470}"/>
              </a:ext>
            </a:extLst>
          </p:cNvPr>
          <p:cNvSpPr txBox="1"/>
          <p:nvPr/>
        </p:nvSpPr>
        <p:spPr>
          <a:xfrm>
            <a:off x="5689601" y="2155349"/>
            <a:ext cx="2725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+:</a:t>
            </a:r>
            <a:br>
              <a:rPr lang="en-GB" dirty="0"/>
            </a:br>
            <a:r>
              <a:rPr lang="en-GB" dirty="0"/>
              <a:t>result+.</a:t>
            </a:r>
            <a:r>
              <a:rPr lang="en-GB" dirty="0" err="1"/>
              <a:t>val</a:t>
            </a:r>
            <a:r>
              <a:rPr lang="en-GB" dirty="0"/>
              <a:t> = e1.val + e2.val </a:t>
            </a:r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EFACA4-5948-F58F-B632-AB51EC51F91F}"/>
              </a:ext>
            </a:extLst>
          </p:cNvPr>
          <p:cNvSpPr txBox="1"/>
          <p:nvPr/>
        </p:nvSpPr>
        <p:spPr>
          <a:xfrm>
            <a:off x="9564075" y="2725871"/>
            <a:ext cx="2793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*:</a:t>
            </a:r>
            <a:br>
              <a:rPr lang="en-GB" dirty="0"/>
            </a:br>
            <a:r>
              <a:rPr lang="en-GB" dirty="0" err="1"/>
              <a:t>result.val</a:t>
            </a:r>
            <a:r>
              <a:rPr lang="en-GB" dirty="0"/>
              <a:t> = e1.val * e2.val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F697B-02C6-FC23-A4E0-E63441D206A1}"/>
              </a:ext>
            </a:extLst>
          </p:cNvPr>
          <p:cNvSpPr txBox="1"/>
          <p:nvPr/>
        </p:nvSpPr>
        <p:spPr>
          <a:xfrm>
            <a:off x="9093201" y="4879913"/>
            <a:ext cx="133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SDT for b:</a:t>
            </a:r>
            <a:br>
              <a:rPr lang="en-GB" dirty="0"/>
            </a:br>
            <a:r>
              <a:rPr lang="en-GB" dirty="0" err="1"/>
              <a:t>b.val</a:t>
            </a:r>
            <a:r>
              <a:rPr lang="en-GB" dirty="0"/>
              <a:t> = 1.val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3867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929E-ACE9-25FD-F200-4EDA0C14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78F6BC-577F-A02C-6DE7-C0249EEE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81677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Our SDT expressions are quite close to the TAC expressions already.</a:t>
            </a:r>
          </a:p>
          <a:p>
            <a:pPr marL="0" indent="0">
              <a:buNone/>
            </a:pPr>
            <a:r>
              <a:rPr lang="en-GB" dirty="0"/>
              <a:t>All we need is</a:t>
            </a:r>
          </a:p>
          <a:p>
            <a:r>
              <a:rPr lang="en-GB" dirty="0"/>
              <a:t>A mapping to translate our SDT elementary operations into their TAC equivalents (SDT: </a:t>
            </a:r>
            <a:r>
              <a:rPr lang="en-GB" dirty="0" err="1"/>
              <a:t>e.val</a:t>
            </a:r>
            <a:r>
              <a:rPr lang="en-GB" dirty="0"/>
              <a:t> = </a:t>
            </a:r>
            <a:r>
              <a:rPr lang="en-GB" dirty="0" err="1"/>
              <a:t>a.val</a:t>
            </a:r>
            <a:r>
              <a:rPr lang="en-GB" dirty="0"/>
              <a:t> + </a:t>
            </a:r>
            <a:r>
              <a:rPr lang="en-GB" dirty="0" err="1"/>
              <a:t>b.val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TAC: e:= a + b</a:t>
            </a:r>
            <a:r>
              <a:rPr lang="en-GB" dirty="0"/>
              <a:t>).</a:t>
            </a:r>
          </a:p>
          <a:p>
            <a:r>
              <a:rPr lang="en-GB" dirty="0"/>
              <a:t>A function that will correctly link variables using the edges of our abstract syntax tree (easily done).</a:t>
            </a:r>
          </a:p>
          <a:p>
            <a:r>
              <a:rPr lang="en-GB" dirty="0"/>
              <a:t>A function that will open registers </a:t>
            </a:r>
            <a:r>
              <a:rPr lang="en-GB" i="1" dirty="0"/>
              <a:t>_</a:t>
            </a:r>
            <a:r>
              <a:rPr lang="en-GB" i="1" dirty="0" err="1"/>
              <a:t>tn</a:t>
            </a:r>
            <a:r>
              <a:rPr lang="en-GB" i="1" dirty="0"/>
              <a:t>  </a:t>
            </a:r>
            <a:r>
              <a:rPr lang="en-GB" dirty="0"/>
              <a:t>and keep a counter on n.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Could be easily implemented (but would require an implementation of an abstract syntax tree object during parsing, which we did not do!).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792039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Core idea for implementation: </a:t>
            </a:r>
            <a:r>
              <a:rPr lang="en-GB" dirty="0"/>
              <a:t>define a code generation, or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function, whose behaviour is described below in a few scenarios.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(k) = { // here k refers to a constant literal</a:t>
            </a:r>
          </a:p>
          <a:p>
            <a:pPr marL="0" indent="0">
              <a:buNone/>
            </a:pPr>
            <a:r>
              <a:rPr lang="en-GB" i="1" dirty="0"/>
              <a:t>Choose a new temporary _</a:t>
            </a:r>
            <a:r>
              <a:rPr lang="en-GB" i="1" dirty="0" err="1"/>
              <a:t>tn</a:t>
            </a:r>
            <a:r>
              <a:rPr lang="en-GB" i="1" dirty="0"/>
              <a:t> using our counter n;</a:t>
            </a:r>
          </a:p>
          <a:p>
            <a:pPr marL="0" indent="0">
              <a:buNone/>
            </a:pPr>
            <a:r>
              <a:rPr lang="en-GB" i="1" dirty="0"/>
              <a:t>Increment n by 1;</a:t>
            </a:r>
          </a:p>
          <a:p>
            <a:pPr marL="0" indent="0">
              <a:buNone/>
            </a:pPr>
            <a:r>
              <a:rPr lang="en-GB" i="1" dirty="0"/>
              <a:t>Emit ( _</a:t>
            </a:r>
            <a:r>
              <a:rPr lang="en-GB" i="1" dirty="0" err="1"/>
              <a:t>tn</a:t>
            </a:r>
            <a:r>
              <a:rPr lang="en-GB" i="1" dirty="0"/>
              <a:t> = k );</a:t>
            </a:r>
          </a:p>
          <a:p>
            <a:pPr marL="0" indent="0">
              <a:buNone/>
            </a:pPr>
            <a:r>
              <a:rPr lang="en-GB" i="1" dirty="0"/>
              <a:t>Return _</a:t>
            </a:r>
            <a:r>
              <a:rPr lang="en-GB" i="1" dirty="0" err="1"/>
              <a:t>tn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1575239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Core idea for implementation: </a:t>
            </a:r>
            <a:r>
              <a:rPr lang="en-GB" dirty="0"/>
              <a:t>define a code generation, or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function, whose behaviour is described below in a few scenarios.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(id) = { // here id refers to an identifier (could be a _</a:t>
            </a:r>
            <a:r>
              <a:rPr lang="en-GB" i="1" dirty="0" err="1"/>
              <a:t>tn</a:t>
            </a:r>
            <a:r>
              <a:rPr lang="en-GB" i="1" dirty="0"/>
              <a:t>)</a:t>
            </a:r>
          </a:p>
          <a:p>
            <a:pPr marL="0" indent="0">
              <a:buNone/>
            </a:pPr>
            <a:r>
              <a:rPr lang="en-GB" i="1" dirty="0"/>
              <a:t>Choose a new temporary _</a:t>
            </a:r>
            <a:r>
              <a:rPr lang="en-GB" i="1" dirty="0" err="1"/>
              <a:t>tn</a:t>
            </a:r>
            <a:r>
              <a:rPr lang="en-GB" i="1" dirty="0"/>
              <a:t> using our counter n;</a:t>
            </a:r>
          </a:p>
          <a:p>
            <a:pPr marL="0" indent="0">
              <a:buNone/>
            </a:pPr>
            <a:r>
              <a:rPr lang="en-GB" i="1" dirty="0"/>
              <a:t>Increment n by 1;</a:t>
            </a:r>
          </a:p>
          <a:p>
            <a:pPr marL="0" indent="0">
              <a:buNone/>
            </a:pPr>
            <a:r>
              <a:rPr lang="en-GB" i="1" dirty="0"/>
              <a:t>Emit ( _</a:t>
            </a:r>
            <a:r>
              <a:rPr lang="en-GB" i="1" dirty="0" err="1"/>
              <a:t>tn</a:t>
            </a:r>
            <a:r>
              <a:rPr lang="en-GB" i="1" dirty="0"/>
              <a:t> = id );</a:t>
            </a:r>
          </a:p>
          <a:p>
            <a:pPr marL="0" indent="0">
              <a:buNone/>
            </a:pPr>
            <a:r>
              <a:rPr lang="en-GB" i="1" dirty="0"/>
              <a:t>Return _</a:t>
            </a:r>
            <a:r>
              <a:rPr lang="en-GB" i="1" dirty="0" err="1"/>
              <a:t>tn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3371216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Core idea for implementation: </a:t>
            </a:r>
            <a:r>
              <a:rPr lang="en-GB" dirty="0"/>
              <a:t>define a code generation, or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function, whose behaviour is described below in a few scenarios.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(id = k) = { // here id refers to an identifier (could be a _</a:t>
            </a:r>
            <a:r>
              <a:rPr lang="en-GB" i="1" dirty="0" err="1"/>
              <a:t>tn</a:t>
            </a:r>
            <a:r>
              <a:rPr lang="en-GB" i="1" dirty="0"/>
              <a:t>)</a:t>
            </a:r>
          </a:p>
          <a:p>
            <a:pPr marL="0" indent="0">
              <a:buNone/>
            </a:pPr>
            <a:r>
              <a:rPr lang="en-GB" i="1" dirty="0"/>
              <a:t>// and k refers to a constant literal.</a:t>
            </a:r>
          </a:p>
          <a:p>
            <a:pPr marL="0" indent="0">
              <a:buNone/>
            </a:pPr>
            <a:r>
              <a:rPr lang="en-GB" i="1" dirty="0"/>
              <a:t>Emit (id = k);</a:t>
            </a:r>
          </a:p>
          <a:p>
            <a:pPr marL="0" indent="0">
              <a:buNone/>
            </a:pPr>
            <a:r>
              <a:rPr lang="en-GB" b="1" i="1" dirty="0"/>
              <a:t>Return null;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2774131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Core idea for implementation: </a:t>
            </a:r>
            <a:r>
              <a:rPr lang="en-GB" dirty="0"/>
              <a:t>define a code generation, or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function, whose behaviour is described below in a few scenarios.</a:t>
            </a:r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(e1 + e2)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_</a:t>
            </a:r>
            <a:r>
              <a:rPr lang="en-GB" i="1" dirty="0" err="1"/>
              <a:t>tn</a:t>
            </a:r>
            <a:r>
              <a:rPr lang="en-GB" i="1" dirty="0"/>
              <a:t>,  _t(n+1),  _t(n+2));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(e1);</a:t>
            </a:r>
          </a:p>
          <a:p>
            <a:pPr marL="0" indent="0">
              <a:buNone/>
            </a:pPr>
            <a:r>
              <a:rPr lang="en-GB" i="1" dirty="0"/>
              <a:t>Let _t(n+1) = </a:t>
            </a:r>
            <a:r>
              <a:rPr lang="en-GB" i="1" dirty="0" err="1"/>
              <a:t>cgen</a:t>
            </a:r>
            <a:r>
              <a:rPr lang="en-GB" i="1" dirty="0"/>
              <a:t>(e2);</a:t>
            </a:r>
          </a:p>
          <a:p>
            <a:pPr marL="0" indent="0">
              <a:buNone/>
            </a:pPr>
            <a:r>
              <a:rPr lang="en-GB" i="1" dirty="0"/>
              <a:t>Emit (_t(n+2) = _</a:t>
            </a:r>
            <a:r>
              <a:rPr lang="en-GB" i="1" dirty="0" err="1"/>
              <a:t>tn</a:t>
            </a:r>
            <a:r>
              <a:rPr lang="en-GB" i="1" dirty="0"/>
              <a:t> + _t(n+1));</a:t>
            </a:r>
          </a:p>
          <a:p>
            <a:pPr marL="0" indent="0">
              <a:buNone/>
            </a:pPr>
            <a:r>
              <a:rPr lang="en-GB" i="1" dirty="0"/>
              <a:t>Return _t(n+2);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3790274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5 + x and n = 0.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(e1 + e2)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_</a:t>
            </a:r>
            <a:r>
              <a:rPr lang="en-GB" i="1" dirty="0" err="1"/>
              <a:t>tn</a:t>
            </a:r>
            <a:r>
              <a:rPr lang="en-GB" i="1" dirty="0"/>
              <a:t>,  _t(n+1),  _t(n+2));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(e1);</a:t>
            </a:r>
          </a:p>
          <a:p>
            <a:pPr marL="0" indent="0">
              <a:buNone/>
            </a:pPr>
            <a:r>
              <a:rPr lang="en-GB" i="1" dirty="0"/>
              <a:t>Let _t(n+1) = </a:t>
            </a:r>
            <a:r>
              <a:rPr lang="en-GB" i="1" dirty="0" err="1"/>
              <a:t>cgen</a:t>
            </a:r>
            <a:r>
              <a:rPr lang="en-GB" i="1" dirty="0"/>
              <a:t>(e2);</a:t>
            </a:r>
          </a:p>
          <a:p>
            <a:pPr marL="0" indent="0">
              <a:buNone/>
            </a:pPr>
            <a:r>
              <a:rPr lang="en-GB" i="1" dirty="0"/>
              <a:t>Emit (_t(n+2) = _</a:t>
            </a:r>
            <a:r>
              <a:rPr lang="en-GB" i="1" dirty="0" err="1"/>
              <a:t>tn</a:t>
            </a:r>
            <a:r>
              <a:rPr lang="en-GB" i="1" dirty="0"/>
              <a:t> + _t(n+1));</a:t>
            </a:r>
          </a:p>
          <a:p>
            <a:pPr marL="0" indent="0">
              <a:buNone/>
            </a:pPr>
            <a:r>
              <a:rPr lang="en-GB" i="1" dirty="0"/>
              <a:t>Return _t(n+2);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4076362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n = 0.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_</a:t>
            </a:r>
            <a:r>
              <a:rPr lang="en-GB" i="1" dirty="0" err="1"/>
              <a:t>tn</a:t>
            </a:r>
            <a:r>
              <a:rPr lang="en-GB" i="1" dirty="0"/>
              <a:t>,  _t(n+1),  _t(n+2));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_t(n+1)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(_t(n+2) = _</a:t>
            </a:r>
            <a:r>
              <a:rPr lang="en-GB" i="1" dirty="0" err="1"/>
              <a:t>tn</a:t>
            </a:r>
            <a:r>
              <a:rPr lang="en-GB" i="1" dirty="0"/>
              <a:t> + _t(n+1));</a:t>
            </a:r>
          </a:p>
          <a:p>
            <a:pPr marL="0" indent="0">
              <a:buNone/>
            </a:pPr>
            <a:r>
              <a:rPr lang="en-GB" i="1" dirty="0"/>
              <a:t>Return _t(n+2);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2983836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0.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Increment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i="1" dirty="0"/>
              <a:t>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83562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3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1498769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3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8989-51E0-0361-0359-7129F975EC26}"/>
              </a:ext>
            </a:extLst>
          </p:cNvPr>
          <p:cNvSpPr txBox="1"/>
          <p:nvPr/>
        </p:nvSpPr>
        <p:spPr>
          <a:xfrm>
            <a:off x="5728675" y="3909760"/>
            <a:ext cx="63460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 err="1"/>
              <a:t>cgen</a:t>
            </a:r>
            <a:r>
              <a:rPr lang="en-GB" sz="2400" i="1" dirty="0"/>
              <a:t>(5) = {</a:t>
            </a:r>
          </a:p>
          <a:p>
            <a:pPr marL="0" indent="0">
              <a:buNone/>
            </a:pPr>
            <a:r>
              <a:rPr lang="en-GB" sz="2400" i="1" dirty="0"/>
              <a:t>Choose a new temporary _</a:t>
            </a:r>
            <a:r>
              <a:rPr lang="en-GB" sz="2400" i="1" dirty="0" err="1"/>
              <a:t>tn</a:t>
            </a:r>
            <a:r>
              <a:rPr lang="en-GB" sz="2400" i="1" dirty="0"/>
              <a:t> using our counter n;</a:t>
            </a:r>
          </a:p>
          <a:p>
            <a:r>
              <a:rPr lang="en-GB" sz="2400" i="1" dirty="0"/>
              <a:t>Increment n by 1;</a:t>
            </a:r>
          </a:p>
          <a:p>
            <a:pPr marL="0" indent="0">
              <a:buNone/>
            </a:pPr>
            <a:r>
              <a:rPr lang="en-GB" sz="2400" i="1" dirty="0"/>
              <a:t>Emit ( _</a:t>
            </a:r>
            <a:r>
              <a:rPr lang="en-GB" sz="2400" i="1" dirty="0" err="1"/>
              <a:t>tn</a:t>
            </a:r>
            <a:r>
              <a:rPr lang="en-GB" sz="2400" i="1" dirty="0"/>
              <a:t> = k );</a:t>
            </a:r>
          </a:p>
          <a:p>
            <a:pPr marL="0" indent="0">
              <a:buNone/>
            </a:pPr>
            <a:r>
              <a:rPr lang="en-GB" sz="2400" i="1" dirty="0"/>
              <a:t>Return _</a:t>
            </a:r>
            <a:r>
              <a:rPr lang="en-GB" sz="2400" i="1" dirty="0" err="1"/>
              <a:t>tn</a:t>
            </a:r>
            <a:r>
              <a:rPr lang="en-GB" sz="2400" i="1" dirty="0"/>
              <a:t>;</a:t>
            </a:r>
          </a:p>
          <a:p>
            <a:pPr marL="0" indent="0">
              <a:buNone/>
            </a:pPr>
            <a:r>
              <a:rPr lang="en-GB" sz="2400" i="1" dirty="0"/>
              <a:t>}</a:t>
            </a:r>
            <a:endParaRPr lang="en-SG" sz="24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3BB659-6A14-E069-819E-6FAF072CEA07}"/>
              </a:ext>
            </a:extLst>
          </p:cNvPr>
          <p:cNvCxnSpPr/>
          <p:nvPr/>
        </p:nvCxnSpPr>
        <p:spPr>
          <a:xfrm flipV="1">
            <a:off x="3509108" y="4165600"/>
            <a:ext cx="2211754" cy="31261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112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8989-51E0-0361-0359-7129F975EC26}"/>
              </a:ext>
            </a:extLst>
          </p:cNvPr>
          <p:cNvSpPr txBox="1"/>
          <p:nvPr/>
        </p:nvSpPr>
        <p:spPr>
          <a:xfrm>
            <a:off x="5728675" y="3909760"/>
            <a:ext cx="6322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 err="1"/>
              <a:t>cgen</a:t>
            </a:r>
            <a:r>
              <a:rPr lang="en-GB" sz="2400" i="1" dirty="0"/>
              <a:t>(5) = {</a:t>
            </a:r>
          </a:p>
          <a:p>
            <a:pPr marL="0" indent="0">
              <a:buNone/>
            </a:pPr>
            <a:r>
              <a:rPr lang="en-GB" sz="2400" b="1" i="1" dirty="0"/>
              <a:t>Choose _t4</a:t>
            </a:r>
          </a:p>
          <a:p>
            <a:r>
              <a:rPr lang="en-GB" sz="2400" b="1" i="1" dirty="0"/>
              <a:t>Increment n by 1;</a:t>
            </a:r>
          </a:p>
          <a:p>
            <a:pPr marL="0" indent="0">
              <a:buNone/>
            </a:pPr>
            <a:r>
              <a:rPr lang="en-GB" sz="2400" i="1" dirty="0"/>
              <a:t>Emit ( _</a:t>
            </a:r>
            <a:r>
              <a:rPr lang="en-GB" sz="2400" i="1" dirty="0" err="1"/>
              <a:t>tn</a:t>
            </a:r>
            <a:r>
              <a:rPr lang="en-GB" sz="2400" i="1" dirty="0"/>
              <a:t> = k );</a:t>
            </a:r>
          </a:p>
          <a:p>
            <a:pPr marL="0" indent="0">
              <a:buNone/>
            </a:pPr>
            <a:r>
              <a:rPr lang="en-GB" sz="2400" i="1" dirty="0"/>
              <a:t>Return _</a:t>
            </a:r>
            <a:r>
              <a:rPr lang="en-GB" sz="2400" i="1" dirty="0" err="1"/>
              <a:t>tn</a:t>
            </a:r>
            <a:r>
              <a:rPr lang="en-GB" sz="2400" i="1" dirty="0"/>
              <a:t>;</a:t>
            </a:r>
          </a:p>
          <a:p>
            <a:pPr marL="0" indent="0">
              <a:buNone/>
            </a:pPr>
            <a:r>
              <a:rPr lang="en-GB" sz="2400" i="1" dirty="0"/>
              <a:t>}</a:t>
            </a:r>
            <a:endParaRPr lang="en-SG" sz="24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3BB659-6A14-E069-819E-6FAF072CEA07}"/>
              </a:ext>
            </a:extLst>
          </p:cNvPr>
          <p:cNvCxnSpPr/>
          <p:nvPr/>
        </p:nvCxnSpPr>
        <p:spPr>
          <a:xfrm flipV="1">
            <a:off x="3509108" y="4165600"/>
            <a:ext cx="2211754" cy="31261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562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8989-51E0-0361-0359-7129F975EC26}"/>
              </a:ext>
            </a:extLst>
          </p:cNvPr>
          <p:cNvSpPr txBox="1"/>
          <p:nvPr/>
        </p:nvSpPr>
        <p:spPr>
          <a:xfrm>
            <a:off x="5728675" y="3909760"/>
            <a:ext cx="6322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 err="1"/>
              <a:t>cgen</a:t>
            </a:r>
            <a:r>
              <a:rPr lang="en-GB" sz="2400" i="1" dirty="0"/>
              <a:t>(5) = {</a:t>
            </a:r>
          </a:p>
          <a:p>
            <a:pPr marL="0" indent="0">
              <a:buNone/>
            </a:pPr>
            <a:r>
              <a:rPr lang="en-GB" sz="2400" i="1" dirty="0"/>
              <a:t>Choose _t4</a:t>
            </a:r>
          </a:p>
          <a:p>
            <a:r>
              <a:rPr lang="en-GB" sz="2400" i="1" dirty="0"/>
              <a:t>Increment n by 1;</a:t>
            </a:r>
          </a:p>
          <a:p>
            <a:pPr marL="0" indent="0">
              <a:buNone/>
            </a:pPr>
            <a:r>
              <a:rPr lang="en-GB" sz="2400" b="1" i="1" dirty="0"/>
              <a:t>Emit ( _t4 = 5 );</a:t>
            </a:r>
          </a:p>
          <a:p>
            <a:pPr marL="0" indent="0">
              <a:buNone/>
            </a:pPr>
            <a:r>
              <a:rPr lang="en-GB" sz="2400" i="1" dirty="0"/>
              <a:t>Return _t4;</a:t>
            </a:r>
          </a:p>
          <a:p>
            <a:pPr marL="0" indent="0">
              <a:buNone/>
            </a:pPr>
            <a:r>
              <a:rPr lang="en-GB" sz="2400" i="1" dirty="0"/>
              <a:t>}</a:t>
            </a:r>
            <a:endParaRPr lang="en-SG" sz="24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3BB659-6A14-E069-819E-6FAF072CEA07}"/>
              </a:ext>
            </a:extLst>
          </p:cNvPr>
          <p:cNvCxnSpPr/>
          <p:nvPr/>
        </p:nvCxnSpPr>
        <p:spPr>
          <a:xfrm flipV="1">
            <a:off x="3509108" y="4165600"/>
            <a:ext cx="2211754" cy="31261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0623224-B13D-C709-62E8-6FFF7F0F2F4E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_t4 := 5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020E45-2DBC-25B2-EC40-442F9887524A}"/>
              </a:ext>
            </a:extLst>
          </p:cNvPr>
          <p:cNvCxnSpPr>
            <a:cxnSpLocks/>
          </p:cNvCxnSpPr>
          <p:nvPr/>
        </p:nvCxnSpPr>
        <p:spPr>
          <a:xfrm flipV="1">
            <a:off x="7831015" y="5038855"/>
            <a:ext cx="2383693" cy="228714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454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8989-51E0-0361-0359-7129F975EC26}"/>
              </a:ext>
            </a:extLst>
          </p:cNvPr>
          <p:cNvSpPr txBox="1"/>
          <p:nvPr/>
        </p:nvSpPr>
        <p:spPr>
          <a:xfrm>
            <a:off x="5728675" y="3909760"/>
            <a:ext cx="6322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 err="1"/>
              <a:t>cgen</a:t>
            </a:r>
            <a:r>
              <a:rPr lang="en-GB" sz="2400" i="1" dirty="0"/>
              <a:t>(5) = {</a:t>
            </a:r>
          </a:p>
          <a:p>
            <a:pPr marL="0" indent="0">
              <a:buNone/>
            </a:pPr>
            <a:r>
              <a:rPr lang="en-GB" sz="2400" i="1" dirty="0"/>
              <a:t>Choose _t4</a:t>
            </a:r>
          </a:p>
          <a:p>
            <a:r>
              <a:rPr lang="en-GB" sz="2400" i="1" dirty="0"/>
              <a:t>Increment n by 1;</a:t>
            </a:r>
          </a:p>
          <a:p>
            <a:pPr marL="0" indent="0">
              <a:buNone/>
            </a:pPr>
            <a:r>
              <a:rPr lang="en-GB" sz="2400" i="1" dirty="0"/>
              <a:t>Emit ( _t4 = 5 );</a:t>
            </a:r>
          </a:p>
          <a:p>
            <a:pPr marL="0" indent="0">
              <a:buNone/>
            </a:pPr>
            <a:r>
              <a:rPr lang="en-GB" sz="2400" b="1" i="1" dirty="0"/>
              <a:t>Return _t4;</a:t>
            </a:r>
          </a:p>
          <a:p>
            <a:pPr marL="0" indent="0">
              <a:buNone/>
            </a:pPr>
            <a:r>
              <a:rPr lang="en-GB" sz="2400" i="1" dirty="0"/>
              <a:t>}</a:t>
            </a:r>
            <a:endParaRPr lang="en-SG" sz="24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3BB659-6A14-E069-819E-6FAF072CEA07}"/>
              </a:ext>
            </a:extLst>
          </p:cNvPr>
          <p:cNvCxnSpPr/>
          <p:nvPr/>
        </p:nvCxnSpPr>
        <p:spPr>
          <a:xfrm flipV="1">
            <a:off x="3509108" y="4165600"/>
            <a:ext cx="2211754" cy="31261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0623224-B13D-C709-62E8-6FFF7F0F2F4E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_t4 := 5</a:t>
            </a:r>
          </a:p>
          <a:p>
            <a:pPr algn="ctr"/>
            <a:r>
              <a:rPr lang="en-SG" dirty="0"/>
              <a:t>_t0 := _t4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020E45-2DBC-25B2-EC40-442F9887524A}"/>
              </a:ext>
            </a:extLst>
          </p:cNvPr>
          <p:cNvCxnSpPr>
            <a:cxnSpLocks/>
          </p:cNvCxnSpPr>
          <p:nvPr/>
        </p:nvCxnSpPr>
        <p:spPr>
          <a:xfrm flipH="1" flipV="1">
            <a:off x="1899138" y="4626708"/>
            <a:ext cx="3829537" cy="976923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6FD66B-B36F-9134-1FFF-C8E67DA02E89}"/>
              </a:ext>
            </a:extLst>
          </p:cNvPr>
          <p:cNvCxnSpPr>
            <a:cxnSpLocks/>
          </p:cNvCxnSpPr>
          <p:nvPr/>
        </p:nvCxnSpPr>
        <p:spPr>
          <a:xfrm flipV="1">
            <a:off x="7307385" y="5165969"/>
            <a:ext cx="2915138" cy="43766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5433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3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8989-51E0-0361-0359-7129F975EC26}"/>
              </a:ext>
            </a:extLst>
          </p:cNvPr>
          <p:cNvSpPr txBox="1"/>
          <p:nvPr/>
        </p:nvSpPr>
        <p:spPr>
          <a:xfrm>
            <a:off x="5728675" y="3909760"/>
            <a:ext cx="63460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 err="1"/>
              <a:t>cgen</a:t>
            </a:r>
            <a:r>
              <a:rPr lang="en-GB" sz="2400" i="1" dirty="0"/>
              <a:t>(id) = {</a:t>
            </a:r>
          </a:p>
          <a:p>
            <a:pPr marL="0" indent="0">
              <a:buNone/>
            </a:pPr>
            <a:r>
              <a:rPr lang="en-GB" sz="2400" i="1" dirty="0"/>
              <a:t>Choose a new temporary _</a:t>
            </a:r>
            <a:r>
              <a:rPr lang="en-GB" sz="2400" i="1" dirty="0" err="1"/>
              <a:t>tn</a:t>
            </a:r>
            <a:r>
              <a:rPr lang="en-GB" sz="2400" i="1" dirty="0"/>
              <a:t> using our counter n;</a:t>
            </a:r>
          </a:p>
          <a:p>
            <a:r>
              <a:rPr lang="en-GB" sz="2400" i="1" dirty="0"/>
              <a:t>Increment n by 1;</a:t>
            </a:r>
          </a:p>
          <a:p>
            <a:pPr marL="0" indent="0">
              <a:buNone/>
            </a:pPr>
            <a:r>
              <a:rPr lang="en-GB" sz="2400" i="1" dirty="0"/>
              <a:t>Emit ( _</a:t>
            </a:r>
            <a:r>
              <a:rPr lang="en-GB" sz="2400" i="1" dirty="0" err="1"/>
              <a:t>tn</a:t>
            </a:r>
            <a:r>
              <a:rPr lang="en-GB" sz="2400" i="1" dirty="0"/>
              <a:t> = id );</a:t>
            </a:r>
          </a:p>
          <a:p>
            <a:pPr marL="0" indent="0">
              <a:buNone/>
            </a:pPr>
            <a:r>
              <a:rPr lang="en-GB" sz="2400" i="1" dirty="0"/>
              <a:t>Return _</a:t>
            </a:r>
            <a:r>
              <a:rPr lang="en-GB" sz="2400" i="1" dirty="0" err="1"/>
              <a:t>tn</a:t>
            </a:r>
            <a:r>
              <a:rPr lang="en-GB" sz="2400" i="1" dirty="0"/>
              <a:t>;</a:t>
            </a:r>
          </a:p>
          <a:p>
            <a:pPr marL="0" indent="0">
              <a:buNone/>
            </a:pPr>
            <a:r>
              <a:rPr lang="en-GB" sz="2400" i="1" dirty="0"/>
              <a:t>}</a:t>
            </a:r>
            <a:endParaRPr lang="en-SG" sz="2400" i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0CEF798-0A8D-5BF9-FCFC-D8624D0F1130}"/>
              </a:ext>
            </a:extLst>
          </p:cNvPr>
          <p:cNvCxnSpPr>
            <a:cxnSpLocks/>
          </p:cNvCxnSpPr>
          <p:nvPr/>
        </p:nvCxnSpPr>
        <p:spPr>
          <a:xfrm flipV="1">
            <a:off x="3493477" y="4165600"/>
            <a:ext cx="2227385" cy="84406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9968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5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8989-51E0-0361-0359-7129F975EC26}"/>
              </a:ext>
            </a:extLst>
          </p:cNvPr>
          <p:cNvSpPr txBox="1"/>
          <p:nvPr/>
        </p:nvSpPr>
        <p:spPr>
          <a:xfrm>
            <a:off x="5728675" y="3909760"/>
            <a:ext cx="6322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 err="1"/>
              <a:t>cgen</a:t>
            </a:r>
            <a:r>
              <a:rPr lang="en-GB" sz="2400" i="1" dirty="0"/>
              <a:t>(x) = {</a:t>
            </a:r>
          </a:p>
          <a:p>
            <a:pPr marL="0" indent="0">
              <a:buNone/>
            </a:pPr>
            <a:r>
              <a:rPr lang="en-GB" sz="2400" b="1" i="1" dirty="0"/>
              <a:t>Choose _t5</a:t>
            </a:r>
          </a:p>
          <a:p>
            <a:r>
              <a:rPr lang="en-GB" sz="2400" b="1" i="1" dirty="0"/>
              <a:t>Increment n by 1;</a:t>
            </a:r>
          </a:p>
          <a:p>
            <a:pPr marL="0" indent="0">
              <a:buNone/>
            </a:pPr>
            <a:r>
              <a:rPr lang="en-GB" sz="2400" i="1" dirty="0"/>
              <a:t>Emit ( _</a:t>
            </a:r>
            <a:r>
              <a:rPr lang="en-GB" sz="2400" i="1" dirty="0" err="1"/>
              <a:t>tn</a:t>
            </a:r>
            <a:r>
              <a:rPr lang="en-GB" sz="2400" i="1" dirty="0"/>
              <a:t> = id );</a:t>
            </a:r>
          </a:p>
          <a:p>
            <a:pPr marL="0" indent="0">
              <a:buNone/>
            </a:pPr>
            <a:r>
              <a:rPr lang="en-GB" sz="2400" i="1" dirty="0"/>
              <a:t>Return _</a:t>
            </a:r>
            <a:r>
              <a:rPr lang="en-GB" sz="2400" i="1" dirty="0" err="1"/>
              <a:t>tn</a:t>
            </a:r>
            <a:r>
              <a:rPr lang="en-GB" sz="2400" i="1" dirty="0"/>
              <a:t>;</a:t>
            </a:r>
          </a:p>
          <a:p>
            <a:pPr marL="0" indent="0">
              <a:buNone/>
            </a:pPr>
            <a:r>
              <a:rPr lang="en-GB" sz="2400" i="1" dirty="0"/>
              <a:t>}</a:t>
            </a:r>
            <a:endParaRPr lang="en-SG" sz="24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3701A9-AE82-CB14-3FF6-C5B9CCE8AFDB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_t4 := 5</a:t>
            </a:r>
          </a:p>
          <a:p>
            <a:pPr algn="ctr"/>
            <a:r>
              <a:rPr lang="en-SG" dirty="0"/>
              <a:t>_t0 := _t4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257E6E-092E-D999-6AA3-7D24D14BC4CF}"/>
              </a:ext>
            </a:extLst>
          </p:cNvPr>
          <p:cNvCxnSpPr>
            <a:cxnSpLocks/>
          </p:cNvCxnSpPr>
          <p:nvPr/>
        </p:nvCxnSpPr>
        <p:spPr>
          <a:xfrm flipV="1">
            <a:off x="3493477" y="4165600"/>
            <a:ext cx="2227385" cy="84406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2629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4E8989-51E0-0361-0359-7129F975EC26}"/>
              </a:ext>
            </a:extLst>
          </p:cNvPr>
          <p:cNvSpPr txBox="1"/>
          <p:nvPr/>
        </p:nvSpPr>
        <p:spPr>
          <a:xfrm>
            <a:off x="5728675" y="3909760"/>
            <a:ext cx="6322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 err="1"/>
              <a:t>cgen</a:t>
            </a:r>
            <a:r>
              <a:rPr lang="en-GB" sz="2400" i="1" dirty="0"/>
              <a:t>(x) = {</a:t>
            </a:r>
          </a:p>
          <a:p>
            <a:pPr marL="0" indent="0">
              <a:buNone/>
            </a:pPr>
            <a:r>
              <a:rPr lang="en-GB" sz="2400" i="1" dirty="0"/>
              <a:t>Choose _t5</a:t>
            </a:r>
          </a:p>
          <a:p>
            <a:r>
              <a:rPr lang="en-GB" sz="2400" i="1" dirty="0"/>
              <a:t>Increment n by 1;</a:t>
            </a:r>
          </a:p>
          <a:p>
            <a:pPr marL="0" indent="0">
              <a:buNone/>
            </a:pPr>
            <a:r>
              <a:rPr lang="en-GB" sz="2400" b="1" i="1" dirty="0"/>
              <a:t>Emit ( _t5 = x );</a:t>
            </a:r>
          </a:p>
          <a:p>
            <a:pPr marL="0" indent="0">
              <a:buNone/>
            </a:pPr>
            <a:r>
              <a:rPr lang="en-GB" sz="2400" i="1" dirty="0"/>
              <a:t>Return _</a:t>
            </a:r>
            <a:r>
              <a:rPr lang="en-GB" sz="2400" i="1" dirty="0" err="1"/>
              <a:t>tn</a:t>
            </a:r>
            <a:r>
              <a:rPr lang="en-GB" sz="2400" i="1" dirty="0"/>
              <a:t>;</a:t>
            </a:r>
          </a:p>
          <a:p>
            <a:pPr marL="0" indent="0">
              <a:buNone/>
            </a:pPr>
            <a:r>
              <a:rPr lang="en-GB" sz="2400" i="1" dirty="0"/>
              <a:t>}</a:t>
            </a:r>
            <a:endParaRPr lang="en-SG" sz="2400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633C16-7E22-0C8A-4A38-4A8D8FE113CF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_t4 := 5</a:t>
            </a:r>
          </a:p>
          <a:p>
            <a:pPr algn="ctr"/>
            <a:r>
              <a:rPr lang="en-SG" dirty="0"/>
              <a:t>_t0 := _t4</a:t>
            </a:r>
          </a:p>
          <a:p>
            <a:pPr algn="ctr"/>
            <a:r>
              <a:rPr lang="en-SG" dirty="0"/>
              <a:t>_t5 :=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020E45-2DBC-25B2-EC40-442F9887524A}"/>
              </a:ext>
            </a:extLst>
          </p:cNvPr>
          <p:cNvCxnSpPr>
            <a:cxnSpLocks/>
          </p:cNvCxnSpPr>
          <p:nvPr/>
        </p:nvCxnSpPr>
        <p:spPr>
          <a:xfrm>
            <a:off x="7831015" y="5259754"/>
            <a:ext cx="2446216" cy="10160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2841CB-2C54-A9D7-1881-6E99045057A4}"/>
              </a:ext>
            </a:extLst>
          </p:cNvPr>
          <p:cNvCxnSpPr>
            <a:cxnSpLocks/>
          </p:cNvCxnSpPr>
          <p:nvPr/>
        </p:nvCxnSpPr>
        <p:spPr>
          <a:xfrm flipV="1">
            <a:off x="3493477" y="4165600"/>
            <a:ext cx="2227385" cy="84406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3525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8989-51E0-0361-0359-7129F975EC26}"/>
              </a:ext>
            </a:extLst>
          </p:cNvPr>
          <p:cNvSpPr txBox="1"/>
          <p:nvPr/>
        </p:nvSpPr>
        <p:spPr>
          <a:xfrm>
            <a:off x="5728675" y="3909760"/>
            <a:ext cx="6322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 err="1"/>
              <a:t>cgen</a:t>
            </a:r>
            <a:r>
              <a:rPr lang="en-GB" sz="2400" i="1" dirty="0"/>
              <a:t>(x) = {</a:t>
            </a:r>
          </a:p>
          <a:p>
            <a:pPr marL="0" indent="0">
              <a:buNone/>
            </a:pPr>
            <a:r>
              <a:rPr lang="en-GB" sz="2400" i="1" dirty="0"/>
              <a:t>Choose _t5</a:t>
            </a:r>
          </a:p>
          <a:p>
            <a:r>
              <a:rPr lang="en-GB" sz="2400" i="1" dirty="0"/>
              <a:t>Increment n by 1;</a:t>
            </a:r>
          </a:p>
          <a:p>
            <a:pPr marL="0" indent="0">
              <a:buNone/>
            </a:pPr>
            <a:r>
              <a:rPr lang="en-GB" sz="2400" i="1" dirty="0"/>
              <a:t>Emit ( _t5 = x );</a:t>
            </a:r>
          </a:p>
          <a:p>
            <a:pPr marL="0" indent="0">
              <a:buNone/>
            </a:pPr>
            <a:r>
              <a:rPr lang="en-GB" sz="2400" b="1" i="1" dirty="0"/>
              <a:t>Return _t5;</a:t>
            </a:r>
          </a:p>
          <a:p>
            <a:pPr marL="0" indent="0">
              <a:buNone/>
            </a:pPr>
            <a:r>
              <a:rPr lang="en-GB" sz="2400" i="1" dirty="0"/>
              <a:t>}</a:t>
            </a:r>
            <a:endParaRPr lang="en-SG" sz="24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23224-B13D-C709-62E8-6FFF7F0F2F4E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_t4 := 5</a:t>
            </a:r>
          </a:p>
          <a:p>
            <a:pPr algn="ctr"/>
            <a:r>
              <a:rPr lang="en-SG" dirty="0"/>
              <a:t>_t0 := _t4</a:t>
            </a:r>
          </a:p>
          <a:p>
            <a:pPr algn="ctr"/>
            <a:r>
              <a:rPr lang="en-SG" dirty="0"/>
              <a:t>_t5 := x</a:t>
            </a:r>
          </a:p>
          <a:p>
            <a:pPr algn="ctr"/>
            <a:r>
              <a:rPr lang="en-SG" dirty="0"/>
              <a:t>_t1 := _t5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020E45-2DBC-25B2-EC40-442F9887524A}"/>
              </a:ext>
            </a:extLst>
          </p:cNvPr>
          <p:cNvCxnSpPr>
            <a:cxnSpLocks/>
          </p:cNvCxnSpPr>
          <p:nvPr/>
        </p:nvCxnSpPr>
        <p:spPr>
          <a:xfrm flipH="1" flipV="1">
            <a:off x="1969477" y="5017477"/>
            <a:ext cx="3759198" cy="586154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6FD66B-B36F-9134-1FFF-C8E67DA02E89}"/>
              </a:ext>
            </a:extLst>
          </p:cNvPr>
          <p:cNvCxnSpPr>
            <a:cxnSpLocks/>
          </p:cNvCxnSpPr>
          <p:nvPr/>
        </p:nvCxnSpPr>
        <p:spPr>
          <a:xfrm flipV="1">
            <a:off x="7307385" y="5455138"/>
            <a:ext cx="2915138" cy="148493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107788-0DDA-1ADA-6211-F1A6CF771FD0}"/>
              </a:ext>
            </a:extLst>
          </p:cNvPr>
          <p:cNvCxnSpPr>
            <a:cxnSpLocks/>
          </p:cNvCxnSpPr>
          <p:nvPr/>
        </p:nvCxnSpPr>
        <p:spPr>
          <a:xfrm flipV="1">
            <a:off x="3493477" y="4165600"/>
            <a:ext cx="2227385" cy="84406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6989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23224-B13D-C709-62E8-6FFF7F0F2F4E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_t4 := 5</a:t>
            </a:r>
          </a:p>
          <a:p>
            <a:pPr algn="ctr"/>
            <a:r>
              <a:rPr lang="en-SG" dirty="0"/>
              <a:t>_t0 := _t4</a:t>
            </a:r>
          </a:p>
          <a:p>
            <a:pPr algn="ctr"/>
            <a:r>
              <a:rPr lang="en-SG" dirty="0"/>
              <a:t>_t5 := x</a:t>
            </a:r>
          </a:p>
          <a:p>
            <a:pPr algn="ctr"/>
            <a:r>
              <a:rPr lang="en-SG" dirty="0"/>
              <a:t>_t1 := _t5</a:t>
            </a:r>
          </a:p>
          <a:p>
            <a:pPr algn="ctr"/>
            <a:r>
              <a:rPr lang="en-SG" dirty="0"/>
              <a:t>_t2 := _t0 + _t1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6FD66B-B36F-9134-1FFF-C8E67DA02E89}"/>
              </a:ext>
            </a:extLst>
          </p:cNvPr>
          <p:cNvCxnSpPr>
            <a:cxnSpLocks/>
          </p:cNvCxnSpPr>
          <p:nvPr/>
        </p:nvCxnSpPr>
        <p:spPr>
          <a:xfrm>
            <a:off x="4228123" y="5533292"/>
            <a:ext cx="5759939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055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7B1D-6856-5C89-3106-6D70EEB3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generation for SDT expressions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C20-6C04-3715-93F4-66CB95E5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instance, let us assume we have the expression </a:t>
            </a:r>
            <a:r>
              <a:rPr lang="en-GB" b="1" dirty="0">
                <a:solidFill>
                  <a:schemeClr val="accent2"/>
                </a:solidFill>
              </a:rPr>
              <a:t>5</a:t>
            </a:r>
            <a:r>
              <a:rPr lang="en-GB" b="1" dirty="0"/>
              <a:t> + </a:t>
            </a:r>
            <a:r>
              <a:rPr lang="en-GB" b="1" dirty="0">
                <a:solidFill>
                  <a:srgbClr val="7030A0"/>
                </a:solidFill>
              </a:rPr>
              <a:t>x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GB" b="1" dirty="0"/>
              <a:t> = </a:t>
            </a:r>
            <a:r>
              <a:rPr lang="en-GB" b="1" dirty="0">
                <a:solidFill>
                  <a:srgbClr val="00B050"/>
                </a:solidFill>
              </a:rPr>
              <a:t>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 + 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br>
              <a:rPr lang="en-GB" i="1" dirty="0"/>
            </a:br>
            <a:r>
              <a:rPr lang="en-GB" i="1" dirty="0"/>
              <a:t>(we shall name them as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, 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Increment n by 3;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7030A0"/>
                </a:solidFill>
              </a:rPr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 </a:t>
            </a:r>
            <a:r>
              <a:rPr lang="en-GB" i="1" dirty="0"/>
              <a:t>=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en-GB" i="1" dirty="0"/>
              <a:t> +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_t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23224-B13D-C709-62E8-6FFF7F0F2F4E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_t4 := 5</a:t>
            </a:r>
          </a:p>
          <a:p>
            <a:pPr algn="ctr"/>
            <a:r>
              <a:rPr lang="en-SG" dirty="0"/>
              <a:t>_t0 := _t4</a:t>
            </a:r>
          </a:p>
          <a:p>
            <a:pPr algn="ctr"/>
            <a:r>
              <a:rPr lang="en-SG" dirty="0"/>
              <a:t>_t5 := x</a:t>
            </a:r>
          </a:p>
          <a:p>
            <a:pPr algn="ctr"/>
            <a:r>
              <a:rPr lang="en-SG" dirty="0"/>
              <a:t>_t1 := _t5</a:t>
            </a:r>
          </a:p>
          <a:p>
            <a:pPr algn="ctr"/>
            <a:r>
              <a:rPr lang="en-SG" dirty="0"/>
              <a:t>_t2 := _t0 + _t1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6FD66B-B36F-9134-1FFF-C8E67DA02E89}"/>
              </a:ext>
            </a:extLst>
          </p:cNvPr>
          <p:cNvCxnSpPr>
            <a:cxnSpLocks/>
          </p:cNvCxnSpPr>
          <p:nvPr/>
        </p:nvCxnSpPr>
        <p:spPr>
          <a:xfrm>
            <a:off x="2711938" y="6072554"/>
            <a:ext cx="2313354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63505-E540-98D7-5533-36EAD18BA335}"/>
              </a:ext>
            </a:extLst>
          </p:cNvPr>
          <p:cNvSpPr txBox="1"/>
          <p:nvPr/>
        </p:nvSpPr>
        <p:spPr>
          <a:xfrm>
            <a:off x="5251938" y="5765679"/>
            <a:ext cx="3782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1"/>
                </a:solidFill>
              </a:rPr>
              <a:t>In case there are more operations after this!</a:t>
            </a:r>
            <a:endParaRPr lang="en-SG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8434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C6F7-D648-33E2-95A5-0D153523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Remember what we said earlier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9E1661-2155-3DDA-7F5E-6F12F8226BB7}"/>
              </a:ext>
            </a:extLst>
          </p:cNvPr>
          <p:cNvSpPr/>
          <p:nvPr/>
        </p:nvSpPr>
        <p:spPr>
          <a:xfrm>
            <a:off x="9229969" y="2415810"/>
            <a:ext cx="26650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  <a:br>
              <a:rPr lang="en-GB" b="1" dirty="0"/>
            </a:br>
            <a:r>
              <a:rPr lang="en-GB" b="1" dirty="0"/>
              <a:t>(not optimal but works!)</a:t>
            </a:r>
          </a:p>
          <a:p>
            <a:pPr algn="ctr"/>
            <a:endParaRPr lang="en-GB" b="1" dirty="0"/>
          </a:p>
          <a:p>
            <a:pPr algn="ctr"/>
            <a:r>
              <a:rPr lang="en-SG" dirty="0"/>
              <a:t>_t4 := 5</a:t>
            </a:r>
          </a:p>
          <a:p>
            <a:pPr algn="ctr"/>
            <a:r>
              <a:rPr lang="en-SG" dirty="0"/>
              <a:t>_t0 := _t4</a:t>
            </a:r>
          </a:p>
          <a:p>
            <a:pPr algn="ctr"/>
            <a:r>
              <a:rPr lang="en-SG" dirty="0"/>
              <a:t>_t5 := x</a:t>
            </a:r>
          </a:p>
          <a:p>
            <a:pPr algn="ctr"/>
            <a:r>
              <a:rPr lang="en-SG" dirty="0"/>
              <a:t>_t1 := _t5</a:t>
            </a:r>
          </a:p>
          <a:p>
            <a:pPr algn="ctr"/>
            <a:r>
              <a:rPr lang="en-SG" dirty="0"/>
              <a:t>_t2 := _t0 + _t1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E6453-0031-ADFC-8D7B-49C722D7E5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13" b="6217"/>
          <a:stretch/>
        </p:blipFill>
        <p:spPr>
          <a:xfrm>
            <a:off x="562443" y="1992924"/>
            <a:ext cx="8128264" cy="40952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4886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10DE-00BD-8B7F-57C3-B3F5BA60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Practice: TAC for </a:t>
            </a:r>
            <a:r>
              <a:rPr lang="en-GB" dirty="0" err="1"/>
              <a:t>booleans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BCA87-4197-C5B4-4D34-FF2CCC773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1:</a:t>
            </a:r>
            <a:r>
              <a:rPr lang="en-GB" dirty="0"/>
              <a:t> Following our idea for </a:t>
            </a:r>
            <a:r>
              <a:rPr lang="en-GB" i="1" dirty="0" err="1"/>
              <a:t>cgen</a:t>
            </a:r>
            <a:r>
              <a:rPr lang="en-GB" i="1" dirty="0"/>
              <a:t>(e1 + e2)</a:t>
            </a:r>
            <a:r>
              <a:rPr lang="en-GB" dirty="0"/>
              <a:t>, how would you define a </a:t>
            </a:r>
            <a:r>
              <a:rPr lang="en-GB" dirty="0" err="1"/>
              <a:t>cgen</a:t>
            </a:r>
            <a:r>
              <a:rPr lang="en-GB" dirty="0"/>
              <a:t>() for Boolean operations, e.g. </a:t>
            </a:r>
            <a:r>
              <a:rPr lang="en-GB" i="1" dirty="0" err="1"/>
              <a:t>cgen</a:t>
            </a:r>
            <a:r>
              <a:rPr lang="en-GB" i="1" dirty="0"/>
              <a:t>(e1 &lt;= e2)?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Remember that the CFG of the TAC languages allows for ==, &lt; and || operations, but not &lt;=!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2: </a:t>
            </a:r>
            <a:r>
              <a:rPr lang="en-GB" dirty="0"/>
              <a:t>Using our </a:t>
            </a:r>
            <a:r>
              <a:rPr lang="en-GB" i="1" dirty="0" err="1"/>
              <a:t>cgen</a:t>
            </a:r>
            <a:r>
              <a:rPr lang="en-GB" i="1" dirty="0"/>
              <a:t>()</a:t>
            </a:r>
            <a:r>
              <a:rPr lang="en-GB" dirty="0"/>
              <a:t> functions from earlier, how would you encode in TAC the operation “(5 + x) &lt;= 10”? Show your steps.</a:t>
            </a:r>
          </a:p>
          <a:p>
            <a:pPr marL="0" indent="0">
              <a:buNone/>
            </a:pP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14078964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6B19-3967-5A5A-655B-06C5E213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99CE-AC0C-B427-0CC9-EEF4B5998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Let us now assume that we have figured our TAC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for all Boolean operations.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would I encode an if statement in TAC code?</a:t>
            </a:r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</p:txBody>
      </p:sp>
    </p:spTree>
    <p:extLst>
      <p:ext uri="{BB962C8B-B14F-4D97-AF65-F5344CB8AC3E}">
        <p14:creationId xmlns:p14="http://schemas.microsoft.com/office/powerpoint/2010/main" val="11026748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6B19-3967-5A5A-655B-06C5E213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99CE-AC0C-B427-0CC9-EEF4B5998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now assume that we have figured our TAC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for all Boolean operations.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would I encode an if statement in TAC code?</a:t>
            </a:r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CFF10-B079-A8F9-8534-036F4A05E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759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could </a:t>
            </a:r>
            <a:r>
              <a:rPr lang="en-GB" i="1" dirty="0" err="1"/>
              <a:t>cgen</a:t>
            </a:r>
            <a:r>
              <a:rPr lang="en-GB" i="1" dirty="0"/>
              <a:t>(if S1 S2 else S3) </a:t>
            </a:r>
            <a:r>
              <a:rPr lang="en-GB" dirty="0"/>
              <a:t>be, with S1, S2 and S3 being statements of some sort?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88032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6B19-3967-5A5A-655B-06C5E213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99CE-AC0C-B427-0CC9-EEF4B5998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now assume that we have figured our TAC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for all Boolean operations.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would I encode an if statement in TAC code?</a:t>
            </a:r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CFF10-B079-A8F9-8534-036F4A05E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759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could </a:t>
            </a:r>
            <a:r>
              <a:rPr lang="en-GB" i="1" dirty="0" err="1"/>
              <a:t>cgen</a:t>
            </a:r>
            <a:r>
              <a:rPr lang="en-GB" i="1" dirty="0"/>
              <a:t>(if S1 S2 else S3) </a:t>
            </a:r>
            <a:r>
              <a:rPr lang="en-GB" dirty="0"/>
              <a:t>be, with S1, S2 and S3 being statements of some sort?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Remember two things:</a:t>
            </a:r>
          </a:p>
          <a:p>
            <a:r>
              <a:rPr lang="en-SG" dirty="0"/>
              <a:t>This if statement could be represented as a control-flow graph.</a:t>
            </a:r>
          </a:p>
        </p:txBody>
      </p:sp>
    </p:spTree>
    <p:extLst>
      <p:ext uri="{BB962C8B-B14F-4D97-AF65-F5344CB8AC3E}">
        <p14:creationId xmlns:p14="http://schemas.microsoft.com/office/powerpoint/2010/main" val="13208564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463B-0C22-0F77-40FE-88AF66FC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2C6F-5587-2D21-BE9B-404B8885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now assume that we have figured our TAC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for all Boolean operations.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would I encode an if statement in TAC code?</a:t>
            </a:r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57368A-99CA-FE00-7C63-A59AF2DEAB2B}"/>
              </a:ext>
            </a:extLst>
          </p:cNvPr>
          <p:cNvCxnSpPr/>
          <p:nvPr/>
        </p:nvCxnSpPr>
        <p:spPr>
          <a:xfrm>
            <a:off x="7831015" y="1620898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F33F9C-99EB-0AF2-5FB4-B17E37341A02}"/>
              </a:ext>
            </a:extLst>
          </p:cNvPr>
          <p:cNvCxnSpPr>
            <a:cxnSpLocks/>
          </p:cNvCxnSpPr>
          <p:nvPr/>
        </p:nvCxnSpPr>
        <p:spPr>
          <a:xfrm>
            <a:off x="11465169" y="1620898"/>
            <a:ext cx="0" cy="189602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CAA4C55-121B-48DB-3E58-9E7B1520E0BE}"/>
              </a:ext>
            </a:extLst>
          </p:cNvPr>
          <p:cNvGrpSpPr/>
          <p:nvPr/>
        </p:nvGrpSpPr>
        <p:grpSpPr>
          <a:xfrm>
            <a:off x="7401167" y="230189"/>
            <a:ext cx="4392250" cy="1229320"/>
            <a:chOff x="359506" y="772"/>
            <a:chExt cx="4392250" cy="122932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F179610-085A-6492-C303-907E806B937F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C00F5DF-9712-7512-119B-495C2383B005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L0: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w = x &lt; y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          if w </a:t>
              </a:r>
              <a:r>
                <a:rPr lang="en-GB" sz="1400" kern="1200" dirty="0" err="1"/>
                <a:t>goto</a:t>
              </a:r>
              <a:r>
                <a:rPr lang="en-GB" sz="1400" kern="1200" dirty="0"/>
                <a:t> L1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          jump L2</a:t>
              </a:r>
              <a:endParaRPr lang="en-SG" sz="14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599014-9B4B-C6E8-7332-D5F2F7CF9CB4}"/>
              </a:ext>
            </a:extLst>
          </p:cNvPr>
          <p:cNvGrpSpPr/>
          <p:nvPr/>
        </p:nvGrpSpPr>
        <p:grpSpPr>
          <a:xfrm>
            <a:off x="6553198" y="2191739"/>
            <a:ext cx="2911231" cy="1229320"/>
            <a:chOff x="359506" y="772"/>
            <a:chExt cx="4392250" cy="122932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F155993-B176-5B95-A7F1-545388EEEC42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29B8F531-7477-C714-430D-83726A9E31F0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L1: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dirty="0"/>
                <a:t>	z = x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jump L3</a:t>
              </a:r>
              <a:endParaRPr lang="en-SG" sz="1400" kern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EAC6EA-5264-AA90-4E3B-B5DF89A17326}"/>
              </a:ext>
            </a:extLst>
          </p:cNvPr>
          <p:cNvGrpSpPr/>
          <p:nvPr/>
        </p:nvGrpSpPr>
        <p:grpSpPr>
          <a:xfrm>
            <a:off x="9128368" y="3612265"/>
            <a:ext cx="2911231" cy="1229320"/>
            <a:chOff x="359506" y="772"/>
            <a:chExt cx="4392250" cy="12293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42017DB-BA69-9E22-FD40-02DC9343226F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7D1D6CA5-F409-4D4F-3F8E-6A6C375CAE79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L2: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dirty="0"/>
                <a:t>	z = y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jump L3</a:t>
              </a:r>
              <a:endParaRPr lang="en-SG" sz="14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0DD113-5034-2039-25DD-A598DD8EB6CC}"/>
              </a:ext>
            </a:extLst>
          </p:cNvPr>
          <p:cNvGrpSpPr/>
          <p:nvPr/>
        </p:nvGrpSpPr>
        <p:grpSpPr>
          <a:xfrm>
            <a:off x="7401167" y="5514016"/>
            <a:ext cx="4392250" cy="1229320"/>
            <a:chOff x="359506" y="772"/>
            <a:chExt cx="4392250" cy="122932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57A7655-D7BB-4B60-EB12-6CFAA766CF62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8E411441-D3B1-E94D-FC1D-E9F30973D431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L3: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z = z*z</a:t>
              </a:r>
              <a:endParaRPr lang="en-SG" sz="1400" kern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43EF56-6131-C73E-EEEE-7C103B99AA12}"/>
              </a:ext>
            </a:extLst>
          </p:cNvPr>
          <p:cNvCxnSpPr/>
          <p:nvPr/>
        </p:nvCxnSpPr>
        <p:spPr>
          <a:xfrm>
            <a:off x="10679723" y="4969790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58BA12-0746-CC68-DA6F-958969A95839}"/>
              </a:ext>
            </a:extLst>
          </p:cNvPr>
          <p:cNvCxnSpPr>
            <a:cxnSpLocks/>
          </p:cNvCxnSpPr>
          <p:nvPr/>
        </p:nvCxnSpPr>
        <p:spPr>
          <a:xfrm>
            <a:off x="7831015" y="3516923"/>
            <a:ext cx="0" cy="189602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6878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6B19-3967-5A5A-655B-06C5E213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99CE-AC0C-B427-0CC9-EEF4B5998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now assume that we have figured our TAC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for all Boolean operations.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would I encode an if statement in TAC code?</a:t>
            </a:r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CFF10-B079-A8F9-8534-036F4A05E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4"/>
            <a:ext cx="567592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could </a:t>
            </a:r>
            <a:r>
              <a:rPr lang="en-GB" i="1" dirty="0" err="1"/>
              <a:t>cgen</a:t>
            </a:r>
            <a:r>
              <a:rPr lang="en-GB" i="1" dirty="0"/>
              <a:t>(if S1 S2 else S3) </a:t>
            </a:r>
            <a:r>
              <a:rPr lang="en-GB" dirty="0"/>
              <a:t>be, with S1, S2 and S3 being statements of some sort?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Remember two things:</a:t>
            </a:r>
          </a:p>
          <a:p>
            <a:r>
              <a:rPr lang="en-SG" dirty="0"/>
              <a:t>This if statement could be represented as a control-flow graph.</a:t>
            </a:r>
          </a:p>
          <a:p>
            <a:r>
              <a:rPr lang="en-SG" dirty="0"/>
              <a:t>Our TAC grammar allows for</a:t>
            </a:r>
          </a:p>
          <a:p>
            <a:pPr marL="0" indent="0" algn="ctr">
              <a:buNone/>
            </a:pPr>
            <a:r>
              <a:rPr lang="en-SG" i="1" dirty="0"/>
              <a:t>S </a:t>
            </a:r>
            <a:r>
              <a:rPr lang="en-SG" i="1" dirty="0">
                <a:sym typeface="Wingdings" panose="05000000000000000000" pitchFamily="2" charset="2"/>
              </a:rPr>
              <a:t> if id </a:t>
            </a:r>
            <a:r>
              <a:rPr lang="en-SG" i="1" dirty="0" err="1">
                <a:sym typeface="Wingdings" panose="05000000000000000000" pitchFamily="2" charset="2"/>
              </a:rPr>
              <a:t>goto</a:t>
            </a:r>
            <a:r>
              <a:rPr lang="en-SG" i="1" dirty="0">
                <a:sym typeface="Wingdings" panose="05000000000000000000" pitchFamily="2" charset="2"/>
              </a:rPr>
              <a:t> L</a:t>
            </a:r>
          </a:p>
          <a:p>
            <a:pPr marL="0" indent="0" algn="ctr">
              <a:buNone/>
            </a:pPr>
            <a:r>
              <a:rPr lang="en-SG" i="1" dirty="0">
                <a:sym typeface="Wingdings" panose="05000000000000000000" pitchFamily="2" charset="2"/>
              </a:rPr>
              <a:t>S  L:</a:t>
            </a:r>
          </a:p>
          <a:p>
            <a:pPr marL="0" indent="0" algn="ctr">
              <a:buNone/>
            </a:pPr>
            <a:r>
              <a:rPr lang="en-SG" i="1" dirty="0">
                <a:sym typeface="Wingdings" panose="05000000000000000000" pitchFamily="2" charset="2"/>
              </a:rPr>
              <a:t>S  jump L</a:t>
            </a:r>
            <a:endParaRPr lang="en-SG" i="1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491963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(S1);</a:t>
            </a:r>
          </a:p>
          <a:p>
            <a:pPr marL="0" indent="0">
              <a:buNone/>
            </a:pPr>
            <a:r>
              <a:rPr lang="en-GB" i="1" dirty="0"/>
              <a:t>Let _t(n+1) = </a:t>
            </a:r>
            <a:r>
              <a:rPr lang="en-GB" i="1" dirty="0" err="1"/>
              <a:t>cgen</a:t>
            </a:r>
            <a:r>
              <a:rPr lang="en-GB" i="1" dirty="0"/>
              <a:t>(S2); ?</a:t>
            </a:r>
          </a:p>
          <a:p>
            <a:pPr marL="0" indent="0">
              <a:buNone/>
            </a:pPr>
            <a:r>
              <a:rPr lang="en-GB" i="1" dirty="0"/>
              <a:t>Let _t(n+2) = </a:t>
            </a:r>
            <a:r>
              <a:rPr lang="en-GB" i="1" dirty="0" err="1"/>
              <a:t>cgen</a:t>
            </a:r>
            <a:r>
              <a:rPr lang="en-GB" i="1" dirty="0"/>
              <a:t>(S3); ?</a:t>
            </a:r>
          </a:p>
          <a:p>
            <a:pPr marL="0" indent="0">
              <a:buNone/>
            </a:pPr>
            <a:r>
              <a:rPr lang="en-GB" i="1" dirty="0"/>
              <a:t>…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86054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need a second counter k, which will keep track of the block indexes for defining some Lk block labels. Add it along with n.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292164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n, k.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(S1);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</a:t>
            </a:r>
          </a:p>
          <a:p>
            <a:pPr marL="0" indent="0">
              <a:buNone/>
            </a:pPr>
            <a:r>
              <a:rPr lang="en-GB" i="1" dirty="0"/>
              <a:t>Emit(if 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</a:t>
            </a:r>
          </a:p>
          <a:p>
            <a:pPr marL="0" indent="0">
              <a:buNone/>
            </a:pPr>
            <a:r>
              <a:rPr lang="en-GB" i="1" dirty="0"/>
              <a:t>Emit(jump L(k+2)).</a:t>
            </a:r>
          </a:p>
          <a:p>
            <a:pPr marL="0" indent="0">
              <a:buNone/>
            </a:pPr>
            <a:r>
              <a:rPr lang="en-GB" i="1" dirty="0"/>
              <a:t>…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43493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463B-0C22-0F77-40FE-88AF66FC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2C6F-5587-2D21-BE9B-404B8885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now assume that we have figured our TAC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for all Boolean operations.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would I encode an if statement in TAC code?</a:t>
            </a:r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57368A-99CA-FE00-7C63-A59AF2DEAB2B}"/>
              </a:ext>
            </a:extLst>
          </p:cNvPr>
          <p:cNvCxnSpPr/>
          <p:nvPr/>
        </p:nvCxnSpPr>
        <p:spPr>
          <a:xfrm>
            <a:off x="7831015" y="1620898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F33F9C-99EB-0AF2-5FB4-B17E37341A02}"/>
              </a:ext>
            </a:extLst>
          </p:cNvPr>
          <p:cNvCxnSpPr>
            <a:cxnSpLocks/>
          </p:cNvCxnSpPr>
          <p:nvPr/>
        </p:nvCxnSpPr>
        <p:spPr>
          <a:xfrm>
            <a:off x="11465169" y="1620898"/>
            <a:ext cx="0" cy="189602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CAA4C55-121B-48DB-3E58-9E7B1520E0BE}"/>
              </a:ext>
            </a:extLst>
          </p:cNvPr>
          <p:cNvGrpSpPr/>
          <p:nvPr/>
        </p:nvGrpSpPr>
        <p:grpSpPr>
          <a:xfrm>
            <a:off x="7401167" y="230189"/>
            <a:ext cx="4392250" cy="1229320"/>
            <a:chOff x="359506" y="772"/>
            <a:chExt cx="4392250" cy="122932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F179610-085A-6492-C303-907E806B937F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C00F5DF-9712-7512-119B-495C2383B005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L0: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w = x &lt; y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          if w </a:t>
              </a:r>
              <a:r>
                <a:rPr lang="en-GB" sz="1400" kern="1200" dirty="0" err="1"/>
                <a:t>goto</a:t>
              </a:r>
              <a:r>
                <a:rPr lang="en-GB" sz="1400" kern="1200" dirty="0"/>
                <a:t> L1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          jump L2</a:t>
              </a:r>
              <a:endParaRPr lang="en-SG" sz="14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599014-9B4B-C6E8-7332-D5F2F7CF9CB4}"/>
              </a:ext>
            </a:extLst>
          </p:cNvPr>
          <p:cNvGrpSpPr/>
          <p:nvPr/>
        </p:nvGrpSpPr>
        <p:grpSpPr>
          <a:xfrm>
            <a:off x="6553198" y="2191739"/>
            <a:ext cx="2911231" cy="1229320"/>
            <a:chOff x="359506" y="772"/>
            <a:chExt cx="4392250" cy="122932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F155993-B176-5B95-A7F1-545388EEEC42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29B8F531-7477-C714-430D-83726A9E31F0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L1: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dirty="0"/>
                <a:t>	z = x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jump L3</a:t>
              </a:r>
              <a:endParaRPr lang="en-SG" sz="1400" kern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EAC6EA-5264-AA90-4E3B-B5DF89A17326}"/>
              </a:ext>
            </a:extLst>
          </p:cNvPr>
          <p:cNvGrpSpPr/>
          <p:nvPr/>
        </p:nvGrpSpPr>
        <p:grpSpPr>
          <a:xfrm>
            <a:off x="9128368" y="3612265"/>
            <a:ext cx="2911231" cy="1229320"/>
            <a:chOff x="359506" y="772"/>
            <a:chExt cx="4392250" cy="12293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42017DB-BA69-9E22-FD40-02DC9343226F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7D1D6CA5-F409-4D4F-3F8E-6A6C375CAE79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L2: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dirty="0"/>
                <a:t>	z = y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jump L3</a:t>
              </a:r>
              <a:endParaRPr lang="en-SG" sz="14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0DD113-5034-2039-25DD-A598DD8EB6CC}"/>
              </a:ext>
            </a:extLst>
          </p:cNvPr>
          <p:cNvGrpSpPr/>
          <p:nvPr/>
        </p:nvGrpSpPr>
        <p:grpSpPr>
          <a:xfrm>
            <a:off x="7401167" y="5514016"/>
            <a:ext cx="4392250" cy="1229320"/>
            <a:chOff x="359506" y="772"/>
            <a:chExt cx="4392250" cy="122932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57A7655-D7BB-4B60-EB12-6CFAA766CF62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8E411441-D3B1-E94D-FC1D-E9F30973D431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L3: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z = z*z</a:t>
              </a:r>
              <a:endParaRPr lang="en-SG" sz="1400" kern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43EF56-6131-C73E-EEEE-7C103B99AA12}"/>
              </a:ext>
            </a:extLst>
          </p:cNvPr>
          <p:cNvCxnSpPr/>
          <p:nvPr/>
        </p:nvCxnSpPr>
        <p:spPr>
          <a:xfrm>
            <a:off x="10679723" y="4969790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58BA12-0746-CC68-DA6F-958969A95839}"/>
              </a:ext>
            </a:extLst>
          </p:cNvPr>
          <p:cNvCxnSpPr>
            <a:cxnSpLocks/>
          </p:cNvCxnSpPr>
          <p:nvPr/>
        </p:nvCxnSpPr>
        <p:spPr>
          <a:xfrm>
            <a:off x="7831015" y="3516923"/>
            <a:ext cx="0" cy="189602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7512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n, k.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(S1);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 Emit(if 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</a:t>
            </a:r>
          </a:p>
          <a:p>
            <a:pPr marL="0" indent="0">
              <a:buNone/>
            </a:pPr>
            <a:r>
              <a:rPr lang="en-GB" i="1" dirty="0"/>
              <a:t>Let _t(n+1) = </a:t>
            </a:r>
            <a:r>
              <a:rPr lang="en-GB" i="1" dirty="0" err="1"/>
              <a:t>cgen</a:t>
            </a:r>
            <a:r>
              <a:rPr lang="en-GB" i="1" dirty="0"/>
              <a:t>(S2); </a:t>
            </a:r>
          </a:p>
          <a:p>
            <a:pPr marL="0" indent="0">
              <a:buNone/>
            </a:pPr>
            <a:r>
              <a:rPr lang="en-GB" i="1" dirty="0"/>
              <a:t>Emit(jump L(k+3)).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07982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463B-0C22-0F77-40FE-88AF66FC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2C6F-5587-2D21-BE9B-404B8885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now assume that we have figured our TAC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for all Boolean operations.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would I encode an if statement in TAC code?</a:t>
            </a:r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57368A-99CA-FE00-7C63-A59AF2DEAB2B}"/>
              </a:ext>
            </a:extLst>
          </p:cNvPr>
          <p:cNvCxnSpPr/>
          <p:nvPr/>
        </p:nvCxnSpPr>
        <p:spPr>
          <a:xfrm>
            <a:off x="7831015" y="1620898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F33F9C-99EB-0AF2-5FB4-B17E37341A02}"/>
              </a:ext>
            </a:extLst>
          </p:cNvPr>
          <p:cNvCxnSpPr>
            <a:cxnSpLocks/>
          </p:cNvCxnSpPr>
          <p:nvPr/>
        </p:nvCxnSpPr>
        <p:spPr>
          <a:xfrm>
            <a:off x="11465169" y="1620898"/>
            <a:ext cx="0" cy="189602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CAA4C55-121B-48DB-3E58-9E7B1520E0BE}"/>
              </a:ext>
            </a:extLst>
          </p:cNvPr>
          <p:cNvGrpSpPr/>
          <p:nvPr/>
        </p:nvGrpSpPr>
        <p:grpSpPr>
          <a:xfrm>
            <a:off x="7401167" y="230189"/>
            <a:ext cx="4392250" cy="1229320"/>
            <a:chOff x="359506" y="772"/>
            <a:chExt cx="4392250" cy="122932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F179610-085A-6492-C303-907E806B937F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C00F5DF-9712-7512-119B-495C2383B005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L0: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w = x &lt; y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          if w </a:t>
              </a:r>
              <a:r>
                <a:rPr lang="en-GB" sz="1400" kern="1200" dirty="0" err="1"/>
                <a:t>goto</a:t>
              </a:r>
              <a:r>
                <a:rPr lang="en-GB" sz="1400" kern="1200" dirty="0"/>
                <a:t> L1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          jump L2</a:t>
              </a:r>
              <a:endParaRPr lang="en-SG" sz="14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599014-9B4B-C6E8-7332-D5F2F7CF9CB4}"/>
              </a:ext>
            </a:extLst>
          </p:cNvPr>
          <p:cNvGrpSpPr/>
          <p:nvPr/>
        </p:nvGrpSpPr>
        <p:grpSpPr>
          <a:xfrm>
            <a:off x="6553198" y="2191739"/>
            <a:ext cx="2911231" cy="1229320"/>
            <a:chOff x="359506" y="772"/>
            <a:chExt cx="4392250" cy="122932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F155993-B176-5B95-A7F1-545388EEEC42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29B8F531-7477-C714-430D-83726A9E31F0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L1: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dirty="0"/>
                <a:t>	z = x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jump L3</a:t>
              </a:r>
              <a:endParaRPr lang="en-SG" sz="1400" kern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EAC6EA-5264-AA90-4E3B-B5DF89A17326}"/>
              </a:ext>
            </a:extLst>
          </p:cNvPr>
          <p:cNvGrpSpPr/>
          <p:nvPr/>
        </p:nvGrpSpPr>
        <p:grpSpPr>
          <a:xfrm>
            <a:off x="9128368" y="3612265"/>
            <a:ext cx="2911231" cy="1229320"/>
            <a:chOff x="359506" y="772"/>
            <a:chExt cx="4392250" cy="12293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42017DB-BA69-9E22-FD40-02DC9343226F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7D1D6CA5-F409-4D4F-3F8E-6A6C375CAE79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L2: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dirty="0"/>
                <a:t>	z = y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jump L3</a:t>
              </a:r>
              <a:endParaRPr lang="en-SG" sz="14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0DD113-5034-2039-25DD-A598DD8EB6CC}"/>
              </a:ext>
            </a:extLst>
          </p:cNvPr>
          <p:cNvGrpSpPr/>
          <p:nvPr/>
        </p:nvGrpSpPr>
        <p:grpSpPr>
          <a:xfrm>
            <a:off x="7401167" y="5514016"/>
            <a:ext cx="4392250" cy="1229320"/>
            <a:chOff x="359506" y="772"/>
            <a:chExt cx="4392250" cy="122932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57A7655-D7BB-4B60-EB12-6CFAA766CF62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8E411441-D3B1-E94D-FC1D-E9F30973D431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L3: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z = z*z</a:t>
              </a:r>
              <a:endParaRPr lang="en-SG" sz="1400" kern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43EF56-6131-C73E-EEEE-7C103B99AA12}"/>
              </a:ext>
            </a:extLst>
          </p:cNvPr>
          <p:cNvCxnSpPr/>
          <p:nvPr/>
        </p:nvCxnSpPr>
        <p:spPr>
          <a:xfrm>
            <a:off x="10679723" y="4969790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58BA12-0746-CC68-DA6F-958969A95839}"/>
              </a:ext>
            </a:extLst>
          </p:cNvPr>
          <p:cNvCxnSpPr>
            <a:cxnSpLocks/>
          </p:cNvCxnSpPr>
          <p:nvPr/>
        </p:nvCxnSpPr>
        <p:spPr>
          <a:xfrm>
            <a:off x="7831015" y="3516923"/>
            <a:ext cx="0" cy="189602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5432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TAC system counters: n, k.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(S1);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 Emit(if 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 Let _t(n+1) = </a:t>
            </a:r>
            <a:r>
              <a:rPr lang="en-GB" i="1" dirty="0" err="1"/>
              <a:t>cgen</a:t>
            </a:r>
            <a:r>
              <a:rPr lang="en-GB" i="1" dirty="0"/>
              <a:t>(S2); Emit(jump L(k+3)).</a:t>
            </a:r>
          </a:p>
          <a:p>
            <a:pPr marL="0" indent="0">
              <a:buNone/>
            </a:pPr>
            <a:r>
              <a:rPr lang="en-GB" i="1" dirty="0"/>
              <a:t>Emit(L(k+2):). Let _t(n+2) = </a:t>
            </a:r>
            <a:r>
              <a:rPr lang="en-GB" i="1" dirty="0" err="1"/>
              <a:t>cgen</a:t>
            </a:r>
            <a:r>
              <a:rPr lang="en-GB" i="1" dirty="0"/>
              <a:t>(S3); Emit(jump L(k+3)).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561431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463B-0C22-0F77-40FE-88AF66FC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2C6F-5587-2D21-BE9B-404B8885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now assume that we have figured our TAC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for all Boolean operations.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would I encode an if statement in TAC code?</a:t>
            </a:r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57368A-99CA-FE00-7C63-A59AF2DEAB2B}"/>
              </a:ext>
            </a:extLst>
          </p:cNvPr>
          <p:cNvCxnSpPr/>
          <p:nvPr/>
        </p:nvCxnSpPr>
        <p:spPr>
          <a:xfrm>
            <a:off x="7831015" y="1620898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F33F9C-99EB-0AF2-5FB4-B17E37341A02}"/>
              </a:ext>
            </a:extLst>
          </p:cNvPr>
          <p:cNvCxnSpPr>
            <a:cxnSpLocks/>
          </p:cNvCxnSpPr>
          <p:nvPr/>
        </p:nvCxnSpPr>
        <p:spPr>
          <a:xfrm>
            <a:off x="11465169" y="1620898"/>
            <a:ext cx="0" cy="189602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CAA4C55-121B-48DB-3E58-9E7B1520E0BE}"/>
              </a:ext>
            </a:extLst>
          </p:cNvPr>
          <p:cNvGrpSpPr/>
          <p:nvPr/>
        </p:nvGrpSpPr>
        <p:grpSpPr>
          <a:xfrm>
            <a:off x="7401167" y="230189"/>
            <a:ext cx="4392250" cy="1229320"/>
            <a:chOff x="359506" y="772"/>
            <a:chExt cx="4392250" cy="122932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F179610-085A-6492-C303-907E806B937F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C00F5DF-9712-7512-119B-495C2383B005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L0: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w = x &lt; y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          if w </a:t>
              </a:r>
              <a:r>
                <a:rPr lang="en-GB" sz="1400" kern="1200" dirty="0" err="1"/>
                <a:t>goto</a:t>
              </a:r>
              <a:r>
                <a:rPr lang="en-GB" sz="1400" kern="1200" dirty="0"/>
                <a:t> L1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          jump L2</a:t>
              </a:r>
              <a:endParaRPr lang="en-SG" sz="14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599014-9B4B-C6E8-7332-D5F2F7CF9CB4}"/>
              </a:ext>
            </a:extLst>
          </p:cNvPr>
          <p:cNvGrpSpPr/>
          <p:nvPr/>
        </p:nvGrpSpPr>
        <p:grpSpPr>
          <a:xfrm>
            <a:off x="6553198" y="2191739"/>
            <a:ext cx="2911231" cy="1229320"/>
            <a:chOff x="359506" y="772"/>
            <a:chExt cx="4392250" cy="122932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F155993-B176-5B95-A7F1-545388EEEC42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29B8F531-7477-C714-430D-83726A9E31F0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L1: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dirty="0"/>
                <a:t>	z = x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jump L3</a:t>
              </a:r>
              <a:endParaRPr lang="en-SG" sz="1400" kern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EAC6EA-5264-AA90-4E3B-B5DF89A17326}"/>
              </a:ext>
            </a:extLst>
          </p:cNvPr>
          <p:cNvGrpSpPr/>
          <p:nvPr/>
        </p:nvGrpSpPr>
        <p:grpSpPr>
          <a:xfrm>
            <a:off x="9128368" y="3612265"/>
            <a:ext cx="2911231" cy="1229320"/>
            <a:chOff x="359506" y="772"/>
            <a:chExt cx="4392250" cy="12293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42017DB-BA69-9E22-FD40-02DC9343226F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7D1D6CA5-F409-4D4F-3F8E-6A6C375CAE79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L2: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dirty="0"/>
                <a:t>	z = y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jump L3</a:t>
              </a:r>
              <a:endParaRPr lang="en-SG" sz="14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0DD113-5034-2039-25DD-A598DD8EB6CC}"/>
              </a:ext>
            </a:extLst>
          </p:cNvPr>
          <p:cNvGrpSpPr/>
          <p:nvPr/>
        </p:nvGrpSpPr>
        <p:grpSpPr>
          <a:xfrm>
            <a:off x="7401167" y="5514016"/>
            <a:ext cx="4392250" cy="1229320"/>
            <a:chOff x="359506" y="772"/>
            <a:chExt cx="4392250" cy="122932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57A7655-D7BB-4B60-EB12-6CFAA766CF62}"/>
                </a:ext>
              </a:extLst>
            </p:cNvPr>
            <p:cNvSpPr/>
            <p:nvPr/>
          </p:nvSpPr>
          <p:spPr>
            <a:xfrm>
              <a:off x="359506" y="772"/>
              <a:ext cx="4392250" cy="122932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8E411441-D3B1-E94D-FC1D-E9F30973D431}"/>
                </a:ext>
              </a:extLst>
            </p:cNvPr>
            <p:cNvSpPr txBox="1"/>
            <p:nvPr/>
          </p:nvSpPr>
          <p:spPr>
            <a:xfrm>
              <a:off x="395512" y="36778"/>
              <a:ext cx="4320238" cy="1157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      L3:</a:t>
              </a: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400" kern="1200" dirty="0"/>
                <a:t>	z = z*z</a:t>
              </a:r>
              <a:endParaRPr lang="en-SG" sz="1400" kern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43EF56-6131-C73E-EEEE-7C103B99AA12}"/>
              </a:ext>
            </a:extLst>
          </p:cNvPr>
          <p:cNvCxnSpPr/>
          <p:nvPr/>
        </p:nvCxnSpPr>
        <p:spPr>
          <a:xfrm>
            <a:off x="10679723" y="4969790"/>
            <a:ext cx="0" cy="409452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58BA12-0746-CC68-DA6F-958969A95839}"/>
              </a:ext>
            </a:extLst>
          </p:cNvPr>
          <p:cNvCxnSpPr>
            <a:cxnSpLocks/>
          </p:cNvCxnSpPr>
          <p:nvPr/>
        </p:nvCxnSpPr>
        <p:spPr>
          <a:xfrm>
            <a:off x="7831015" y="3516923"/>
            <a:ext cx="0" cy="189602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3946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n, k.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(S1);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 Emit(if 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 Let _t(n+1) = </a:t>
            </a:r>
            <a:r>
              <a:rPr lang="en-GB" i="1" dirty="0" err="1"/>
              <a:t>cgen</a:t>
            </a:r>
            <a:r>
              <a:rPr lang="en-GB" i="1" dirty="0"/>
              <a:t>(S2); Emit(jump L(k+3)).</a:t>
            </a:r>
          </a:p>
          <a:p>
            <a:pPr marL="0" indent="0">
              <a:buNone/>
            </a:pPr>
            <a:r>
              <a:rPr lang="en-GB" i="1" dirty="0"/>
              <a:t>Emit(L(k+2):). Let _t(n+2) = </a:t>
            </a:r>
            <a:r>
              <a:rPr lang="en-GB" i="1" dirty="0" err="1"/>
              <a:t>cgen</a:t>
            </a:r>
            <a:r>
              <a:rPr lang="en-GB" i="1" dirty="0"/>
              <a:t>(S3); Emit(jump L(k+3)).</a:t>
            </a:r>
          </a:p>
          <a:p>
            <a:pPr marL="0" indent="0">
              <a:buNone/>
            </a:pPr>
            <a:r>
              <a:rPr lang="en-GB" i="1" dirty="0"/>
              <a:t>Return?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603346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n, k.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(S1);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 Emit(if 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 Let _t(n+1) = </a:t>
            </a:r>
            <a:r>
              <a:rPr lang="en-GB" i="1" dirty="0" err="1"/>
              <a:t>cgen</a:t>
            </a:r>
            <a:r>
              <a:rPr lang="en-GB" i="1" dirty="0"/>
              <a:t>(S2); Emit(jump L(k+3)).</a:t>
            </a:r>
          </a:p>
          <a:p>
            <a:pPr marL="0" indent="0">
              <a:buNone/>
            </a:pPr>
            <a:r>
              <a:rPr lang="en-GB" i="1" dirty="0"/>
              <a:t>Emit(L(k+2):). Let _t(n+2) = </a:t>
            </a:r>
            <a:r>
              <a:rPr lang="en-GB" i="1" dirty="0" err="1"/>
              <a:t>cgen</a:t>
            </a:r>
            <a:r>
              <a:rPr lang="en-GB" i="1" dirty="0"/>
              <a:t>(S3); Emit(jump L(k+3)).</a:t>
            </a:r>
          </a:p>
          <a:p>
            <a:pPr marL="0" indent="0">
              <a:buNone/>
            </a:pPr>
            <a:r>
              <a:rPr lang="en-GB" i="1" strike="sngStrike" dirty="0"/>
              <a:t>Return?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227414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n, k.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(S1);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 Emit(if 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 Let _t(n+1) = </a:t>
            </a:r>
            <a:r>
              <a:rPr lang="en-GB" i="1" dirty="0" err="1"/>
              <a:t>cgen</a:t>
            </a:r>
            <a:r>
              <a:rPr lang="en-GB" i="1" dirty="0"/>
              <a:t>(S2); Emit(jump L(k+3)).</a:t>
            </a:r>
          </a:p>
          <a:p>
            <a:pPr marL="0" indent="0">
              <a:buNone/>
            </a:pPr>
            <a:r>
              <a:rPr lang="en-GB" i="1" dirty="0"/>
              <a:t>Emit(L(k+2):). Let _t(n+2) = </a:t>
            </a:r>
            <a:r>
              <a:rPr lang="en-GB" i="1" dirty="0" err="1"/>
              <a:t>cgen</a:t>
            </a:r>
            <a:r>
              <a:rPr lang="en-GB" i="1" dirty="0"/>
              <a:t>(S3); Emit(jump L(k+3)).</a:t>
            </a:r>
          </a:p>
          <a:p>
            <a:pPr marL="0" indent="0">
              <a:buNone/>
            </a:pPr>
            <a:r>
              <a:rPr lang="en-GB" i="1" dirty="0"/>
              <a:t>Emit(L(k+3):).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625215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Consider the code below.</a:t>
            </a:r>
            <a:r>
              <a:rPr lang="en-SG" dirty="0"/>
              <a:t> What will be the TAC for this code?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4887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Consider the code below.</a:t>
            </a:r>
            <a:r>
              <a:rPr lang="en-SG" dirty="0"/>
              <a:t> What will be the TAC for this code?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CAF0A-CD45-34D2-4624-77801DBD00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have to run two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operation in sequence to get the full TAC code.</a:t>
            </a:r>
          </a:p>
          <a:p>
            <a:r>
              <a:rPr lang="en-GB" i="1" dirty="0" err="1"/>
              <a:t>cgen</a:t>
            </a:r>
            <a:r>
              <a:rPr lang="en-GB" i="1" dirty="0"/>
              <a:t>(if x&lt;y z=x </a:t>
            </a:r>
            <a:r>
              <a:rPr lang="en-GB" i="1"/>
              <a:t>else z=</a:t>
            </a:r>
            <a:r>
              <a:rPr lang="en-GB" i="1" dirty="0"/>
              <a:t>y)</a:t>
            </a:r>
          </a:p>
          <a:p>
            <a:r>
              <a:rPr lang="en-GB" i="1" dirty="0" err="1"/>
              <a:t>cgen</a:t>
            </a:r>
            <a:r>
              <a:rPr lang="en-GB" i="1" dirty="0"/>
              <a:t>(z = z*z)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36427858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n = 0, k = 0.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(S1);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 Emit(if 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 Let _t(n+1) = </a:t>
            </a:r>
            <a:r>
              <a:rPr lang="en-GB" i="1" dirty="0" err="1"/>
              <a:t>cgen</a:t>
            </a:r>
            <a:r>
              <a:rPr lang="en-GB" i="1" dirty="0"/>
              <a:t>(S2); Emit(jump L(k+3)).</a:t>
            </a:r>
          </a:p>
          <a:p>
            <a:pPr marL="0" indent="0">
              <a:buNone/>
            </a:pPr>
            <a:r>
              <a:rPr lang="en-GB" i="1" dirty="0"/>
              <a:t>Emit(L(k+2):). Let _t(n+2) = </a:t>
            </a:r>
            <a:r>
              <a:rPr lang="en-GB" i="1" dirty="0" err="1"/>
              <a:t>cgen</a:t>
            </a:r>
            <a:r>
              <a:rPr lang="en-GB" i="1" dirty="0"/>
              <a:t>(S3); Emit(jump L(k+3)).</a:t>
            </a:r>
          </a:p>
          <a:p>
            <a:pPr marL="0" indent="0">
              <a:buNone/>
            </a:pPr>
            <a:r>
              <a:rPr lang="en-GB" i="1" dirty="0"/>
              <a:t>Emit(L(k+3):).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82123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n = 0, k = 0.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 Emit(if _</a:t>
            </a:r>
            <a:r>
              <a:rPr lang="en-GB" i="1" dirty="0" err="1"/>
              <a:t>tn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 Let _t(n+1)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L(k+3)).</a:t>
            </a:r>
          </a:p>
          <a:p>
            <a:pPr marL="0" indent="0">
              <a:buNone/>
            </a:pPr>
            <a:r>
              <a:rPr lang="en-GB" i="1" dirty="0"/>
              <a:t>Emit(L(k+2):). Let _t(n+2)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L(k+3)).</a:t>
            </a:r>
          </a:p>
          <a:p>
            <a:pPr marL="0" indent="0">
              <a:buNone/>
            </a:pPr>
            <a:r>
              <a:rPr lang="en-GB" i="1" dirty="0"/>
              <a:t>Emit(L(k+3):).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8009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3</a:t>
            </a:r>
            <a:r>
              <a:rPr lang="en-GB" b="1" dirty="0"/>
              <a:t>, k = 0.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i="1" dirty="0"/>
              <a:t>Emit(Lk:). 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L(k+3)).</a:t>
            </a:r>
          </a:p>
          <a:p>
            <a:pPr marL="0" indent="0">
              <a:buNone/>
            </a:pPr>
            <a:r>
              <a:rPr lang="en-GB" i="1" dirty="0"/>
              <a:t>Emit(L(k+2):).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L(k+3)).</a:t>
            </a:r>
          </a:p>
          <a:p>
            <a:pPr marL="0" indent="0">
              <a:buNone/>
            </a:pPr>
            <a:r>
              <a:rPr lang="en-GB" i="1" dirty="0"/>
              <a:t>Emit(L(k+3):).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91284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3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Choose four new block labels </a:t>
            </a:r>
            <a:r>
              <a:rPr lang="en-GB" i="1" dirty="0">
                <a:solidFill>
                  <a:srgbClr val="7030A0"/>
                </a:solidFill>
              </a:rPr>
              <a:t>Lk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7030A0"/>
                </a:solidFill>
              </a:rPr>
              <a:t>k by 4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L0:</a:t>
            </a:r>
            <a:r>
              <a:rPr lang="en-GB" i="1" dirty="0"/>
              <a:t>). 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L1</a:t>
            </a:r>
            <a:r>
              <a:rPr lang="en-GB" i="1" dirty="0"/>
              <a:t>). Emit(jump </a:t>
            </a:r>
            <a:r>
              <a:rPr lang="en-GB" i="1" dirty="0">
                <a:solidFill>
                  <a:srgbClr val="7030A0"/>
                </a:solidFill>
              </a:rPr>
              <a:t>L2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L1: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L2:</a:t>
            </a:r>
            <a:r>
              <a:rPr lang="en-GB" i="1" dirty="0"/>
              <a:t>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L3: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89953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3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Choose four new block labels </a:t>
            </a:r>
            <a:r>
              <a:rPr lang="en-GB" i="1" dirty="0">
                <a:solidFill>
                  <a:srgbClr val="7030A0"/>
                </a:solidFill>
              </a:rPr>
              <a:t>Lk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7030A0"/>
                </a:solidFill>
              </a:rPr>
              <a:t>k by 4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L0:</a:t>
            </a:r>
            <a:r>
              <a:rPr lang="en-GB" i="1" dirty="0"/>
              <a:t>). 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L1</a:t>
            </a:r>
            <a:r>
              <a:rPr lang="en-GB" i="1" dirty="0"/>
              <a:t>). Emit(jump </a:t>
            </a:r>
            <a:r>
              <a:rPr lang="en-GB" i="1" dirty="0">
                <a:solidFill>
                  <a:srgbClr val="7030A0"/>
                </a:solidFill>
              </a:rPr>
              <a:t>L2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L1: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L2:</a:t>
            </a:r>
            <a:r>
              <a:rPr lang="en-GB" i="1" dirty="0"/>
              <a:t>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L3: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829C7-676F-5C0F-98BB-CA1586A0FE31}"/>
              </a:ext>
            </a:extLst>
          </p:cNvPr>
          <p:cNvCxnSpPr>
            <a:cxnSpLocks/>
          </p:cNvCxnSpPr>
          <p:nvPr/>
        </p:nvCxnSpPr>
        <p:spPr>
          <a:xfrm>
            <a:off x="3790462" y="3429000"/>
            <a:ext cx="1656861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BCFA3-50BA-8D30-B9DA-630F86D9D84A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33971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3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(e1 &lt; e2)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_</a:t>
            </a:r>
            <a:r>
              <a:rPr lang="en-GB" i="1" dirty="0" err="1"/>
              <a:t>tn</a:t>
            </a:r>
            <a:r>
              <a:rPr lang="en-GB" i="1" dirty="0"/>
              <a:t>,  _t(n+1),  _t(n+2));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_</a:t>
            </a:r>
            <a:r>
              <a:rPr lang="en-GB" i="1" dirty="0" err="1"/>
              <a:t>tn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(e1);</a:t>
            </a:r>
          </a:p>
          <a:p>
            <a:pPr marL="0" indent="0">
              <a:buNone/>
            </a:pPr>
            <a:r>
              <a:rPr lang="en-GB" i="1" dirty="0"/>
              <a:t>Let _t(n+1) = </a:t>
            </a:r>
            <a:r>
              <a:rPr lang="en-GB" i="1" dirty="0" err="1"/>
              <a:t>cgen</a:t>
            </a:r>
            <a:r>
              <a:rPr lang="en-GB" i="1" dirty="0"/>
              <a:t>(e2);</a:t>
            </a:r>
          </a:p>
          <a:p>
            <a:pPr marL="0" indent="0">
              <a:buNone/>
            </a:pPr>
            <a:r>
              <a:rPr lang="en-GB" i="1" dirty="0"/>
              <a:t>Emit (_t(n+2) = _</a:t>
            </a:r>
            <a:r>
              <a:rPr lang="en-GB" i="1" dirty="0" err="1"/>
              <a:t>tn</a:t>
            </a:r>
            <a:r>
              <a:rPr lang="en-GB" i="1" dirty="0"/>
              <a:t> + _t(n+1));</a:t>
            </a:r>
          </a:p>
          <a:p>
            <a:pPr marL="0" indent="0">
              <a:buNone/>
            </a:pPr>
            <a:r>
              <a:rPr lang="en-GB" i="1" dirty="0"/>
              <a:t>Return _t(n+2);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BCFA3-50BA-8D30-B9DA-630F86D9D84A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273213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6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x &lt; 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</a:t>
            </a:r>
            <a:r>
              <a:rPr lang="en-GB" b="1" i="1" dirty="0"/>
              <a:t>_t4</a:t>
            </a:r>
            <a:r>
              <a:rPr lang="en-GB" i="1" dirty="0"/>
              <a:t>,  </a:t>
            </a:r>
            <a:r>
              <a:rPr lang="en-GB" b="1" i="1" dirty="0"/>
              <a:t>_t5</a:t>
            </a:r>
            <a:r>
              <a:rPr lang="en-GB" i="1" dirty="0"/>
              <a:t>,  </a:t>
            </a:r>
            <a:r>
              <a:rPr lang="en-GB" b="1" i="1" dirty="0"/>
              <a:t>_t6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_t4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_t5 </a:t>
            </a:r>
            <a:r>
              <a:rPr lang="en-GB" i="1" dirty="0"/>
              <a:t>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</a:t>
            </a:r>
            <a:r>
              <a:rPr lang="en-GB" b="1" i="1" dirty="0"/>
              <a:t>_t6 </a:t>
            </a:r>
            <a:r>
              <a:rPr lang="en-GB" i="1" dirty="0"/>
              <a:t>= </a:t>
            </a:r>
            <a:r>
              <a:rPr lang="en-GB" b="1" i="1" dirty="0"/>
              <a:t>_t4 &lt; _t5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</a:t>
            </a:r>
            <a:r>
              <a:rPr lang="en-GB" b="1" i="1" dirty="0"/>
              <a:t>_t6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BCFA3-50BA-8D30-B9DA-630F86D9D84A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524925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7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x &lt; 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</a:t>
            </a:r>
            <a:r>
              <a:rPr lang="en-GB" b="1" i="1" dirty="0"/>
              <a:t>_t4</a:t>
            </a:r>
            <a:r>
              <a:rPr lang="en-GB" i="1" dirty="0"/>
              <a:t>,  </a:t>
            </a:r>
            <a:r>
              <a:rPr lang="en-GB" b="1" i="1" dirty="0"/>
              <a:t>_t5</a:t>
            </a:r>
            <a:r>
              <a:rPr lang="en-GB" i="1" dirty="0"/>
              <a:t>,  </a:t>
            </a:r>
            <a:r>
              <a:rPr lang="en-GB" b="1" i="1" dirty="0"/>
              <a:t>_t6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_t4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_t5 </a:t>
            </a:r>
            <a:r>
              <a:rPr lang="en-GB" i="1" dirty="0"/>
              <a:t>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</a:t>
            </a:r>
            <a:r>
              <a:rPr lang="en-GB" b="1" i="1" dirty="0"/>
              <a:t>_t6 </a:t>
            </a:r>
            <a:r>
              <a:rPr lang="en-GB" i="1" dirty="0"/>
              <a:t>= </a:t>
            </a:r>
            <a:r>
              <a:rPr lang="en-GB" b="1" i="1" dirty="0"/>
              <a:t>_t4 &lt; _t5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</a:t>
            </a:r>
            <a:r>
              <a:rPr lang="en-GB" b="1" i="1" dirty="0"/>
              <a:t>_t6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BCFA3-50BA-8D30-B9DA-630F86D9D84A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endParaRPr lang="en-SG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1D9CB1F-80FD-5E1A-1B2A-CAB9B83E6C37}"/>
              </a:ext>
            </a:extLst>
          </p:cNvPr>
          <p:cNvCxnSpPr>
            <a:cxnSpLocks/>
          </p:cNvCxnSpPr>
          <p:nvPr/>
        </p:nvCxnSpPr>
        <p:spPr>
          <a:xfrm flipH="1" flipV="1">
            <a:off x="3477846" y="4501662"/>
            <a:ext cx="6760308" cy="343876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CA6A78-6007-7B5C-FFF1-EBF0C489D905}"/>
              </a:ext>
            </a:extLst>
          </p:cNvPr>
          <p:cNvCxnSpPr>
            <a:cxnSpLocks/>
          </p:cNvCxnSpPr>
          <p:nvPr/>
        </p:nvCxnSpPr>
        <p:spPr>
          <a:xfrm flipH="1">
            <a:off x="3477846" y="2211754"/>
            <a:ext cx="1187939" cy="2289908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8332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8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x &lt; 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</a:t>
            </a:r>
            <a:r>
              <a:rPr lang="en-GB" b="1" i="1" dirty="0"/>
              <a:t>_t4</a:t>
            </a:r>
            <a:r>
              <a:rPr lang="en-GB" i="1" dirty="0"/>
              <a:t>,  </a:t>
            </a:r>
            <a:r>
              <a:rPr lang="en-GB" b="1" i="1" dirty="0"/>
              <a:t>_t5</a:t>
            </a:r>
            <a:r>
              <a:rPr lang="en-GB" i="1" dirty="0"/>
              <a:t>,  </a:t>
            </a:r>
            <a:r>
              <a:rPr lang="en-GB" b="1" i="1" dirty="0"/>
              <a:t>_t6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_t4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_t5 </a:t>
            </a:r>
            <a:r>
              <a:rPr lang="en-GB" i="1" dirty="0"/>
              <a:t>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</a:t>
            </a:r>
            <a:r>
              <a:rPr lang="en-GB" b="1" i="1" dirty="0"/>
              <a:t>_t6 </a:t>
            </a:r>
            <a:r>
              <a:rPr lang="en-GB" i="1" dirty="0"/>
              <a:t>= </a:t>
            </a:r>
            <a:r>
              <a:rPr lang="en-GB" b="1" i="1" dirty="0"/>
              <a:t>_t4 &lt; _t5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</a:t>
            </a:r>
            <a:r>
              <a:rPr lang="en-GB" b="1" i="1" dirty="0"/>
              <a:t>_t6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BCFA3-50BA-8D30-B9DA-630F86D9D84A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endParaRPr lang="en-SG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1D9CB1F-80FD-5E1A-1B2A-CAB9B83E6C37}"/>
              </a:ext>
            </a:extLst>
          </p:cNvPr>
          <p:cNvCxnSpPr>
            <a:cxnSpLocks/>
          </p:cNvCxnSpPr>
          <p:nvPr/>
        </p:nvCxnSpPr>
        <p:spPr>
          <a:xfrm flipH="1">
            <a:off x="3477846" y="4845538"/>
            <a:ext cx="6760308" cy="179754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CA6A78-6007-7B5C-FFF1-EBF0C489D905}"/>
              </a:ext>
            </a:extLst>
          </p:cNvPr>
          <p:cNvCxnSpPr>
            <a:cxnSpLocks/>
          </p:cNvCxnSpPr>
          <p:nvPr/>
        </p:nvCxnSpPr>
        <p:spPr>
          <a:xfrm flipH="1">
            <a:off x="3477846" y="2211754"/>
            <a:ext cx="1187939" cy="2813538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6697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8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x &lt; 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</a:t>
            </a:r>
            <a:r>
              <a:rPr lang="en-GB" b="1" i="1" dirty="0"/>
              <a:t>_t4</a:t>
            </a:r>
            <a:r>
              <a:rPr lang="en-GB" i="1" dirty="0"/>
              <a:t>,  </a:t>
            </a:r>
            <a:r>
              <a:rPr lang="en-GB" b="1" i="1" dirty="0"/>
              <a:t>_t5</a:t>
            </a:r>
            <a:r>
              <a:rPr lang="en-GB" i="1" dirty="0"/>
              <a:t>,  </a:t>
            </a:r>
            <a:r>
              <a:rPr lang="en-GB" b="1" i="1" dirty="0"/>
              <a:t>_t6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_t4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x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_t5 </a:t>
            </a:r>
            <a:r>
              <a:rPr lang="en-GB" i="1" dirty="0"/>
              <a:t>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</a:t>
            </a:r>
            <a:r>
              <a:rPr lang="en-GB" b="1" i="1" dirty="0"/>
              <a:t>_t6 </a:t>
            </a:r>
            <a:r>
              <a:rPr lang="en-GB" i="1" dirty="0"/>
              <a:t>= </a:t>
            </a:r>
            <a:r>
              <a:rPr lang="en-GB" b="1" i="1" dirty="0"/>
              <a:t>_t4 &lt; _t5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Return </a:t>
            </a:r>
            <a:r>
              <a:rPr lang="en-GB" b="1" i="1" dirty="0"/>
              <a:t>_t6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BCFA3-50BA-8D30-B9DA-630F86D9D84A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endParaRPr lang="en-SG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1D9CB1F-80FD-5E1A-1B2A-CAB9B83E6C37}"/>
              </a:ext>
            </a:extLst>
          </p:cNvPr>
          <p:cNvCxnSpPr>
            <a:cxnSpLocks/>
          </p:cNvCxnSpPr>
          <p:nvPr/>
        </p:nvCxnSpPr>
        <p:spPr>
          <a:xfrm flipH="1">
            <a:off x="4235938" y="5470769"/>
            <a:ext cx="5752124" cy="78154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1211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3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Choose four new block labels </a:t>
            </a:r>
            <a:r>
              <a:rPr lang="en-GB" i="1" dirty="0">
                <a:solidFill>
                  <a:srgbClr val="7030A0"/>
                </a:solidFill>
              </a:rPr>
              <a:t>Lk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7030A0"/>
                </a:solidFill>
              </a:rPr>
              <a:t>k by 4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L0:</a:t>
            </a:r>
            <a:r>
              <a:rPr lang="en-GB" i="1" dirty="0"/>
              <a:t>). 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L1</a:t>
            </a:r>
            <a:r>
              <a:rPr lang="en-GB" i="1" dirty="0"/>
              <a:t>). Emit(jump </a:t>
            </a:r>
            <a:r>
              <a:rPr lang="en-GB" i="1" dirty="0">
                <a:solidFill>
                  <a:srgbClr val="7030A0"/>
                </a:solidFill>
              </a:rPr>
              <a:t>L2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L1: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L2:</a:t>
            </a:r>
            <a:r>
              <a:rPr lang="en-GB" i="1" dirty="0"/>
              <a:t>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L3: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829C7-676F-5C0F-98BB-CA1586A0FE31}"/>
              </a:ext>
            </a:extLst>
          </p:cNvPr>
          <p:cNvCxnSpPr>
            <a:cxnSpLocks/>
          </p:cNvCxnSpPr>
          <p:nvPr/>
        </p:nvCxnSpPr>
        <p:spPr>
          <a:xfrm>
            <a:off x="3790462" y="3429000"/>
            <a:ext cx="1656861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5C560DC-27F5-C42F-C975-95B90399ECD8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31897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3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Choose four new block labels </a:t>
            </a:r>
            <a:r>
              <a:rPr lang="en-GB" i="1" dirty="0">
                <a:solidFill>
                  <a:srgbClr val="7030A0"/>
                </a:solidFill>
              </a:rPr>
              <a:t>Lk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7030A0"/>
                </a:solidFill>
              </a:rPr>
              <a:t>k by 4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L0: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L1</a:t>
            </a:r>
            <a:r>
              <a:rPr lang="en-GB" i="1" dirty="0"/>
              <a:t>). Emit(jump </a:t>
            </a:r>
            <a:r>
              <a:rPr lang="en-GB" i="1" dirty="0">
                <a:solidFill>
                  <a:srgbClr val="7030A0"/>
                </a:solidFill>
              </a:rPr>
              <a:t>L2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L1: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L2:</a:t>
            </a:r>
            <a:r>
              <a:rPr lang="en-GB" i="1" dirty="0"/>
              <a:t>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L3: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829C7-676F-5C0F-98BB-CA1586A0FE31}"/>
              </a:ext>
            </a:extLst>
          </p:cNvPr>
          <p:cNvCxnSpPr>
            <a:cxnSpLocks/>
          </p:cNvCxnSpPr>
          <p:nvPr/>
        </p:nvCxnSpPr>
        <p:spPr>
          <a:xfrm>
            <a:off x="5369170" y="3882293"/>
            <a:ext cx="1656861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5C560DC-27F5-C42F-C975-95B90399ECD8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058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2F7D-227A-AFF0-861B-9C5841A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Revised TAC for control structures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48D0D-1379-D797-5A1E-647B4997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n, k.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S1 S2 else S3)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n. Increment n by 3;</a:t>
            </a:r>
          </a:p>
          <a:p>
            <a:pPr marL="0" indent="0">
              <a:buNone/>
            </a:pPr>
            <a:r>
              <a:rPr lang="en-GB" i="1" dirty="0"/>
              <a:t>Choose four new block labels Lk. Increment k by 4;</a:t>
            </a:r>
          </a:p>
          <a:p>
            <a:pPr marL="0" indent="0">
              <a:buNone/>
            </a:pPr>
            <a:r>
              <a:rPr lang="en-GB" b="1" i="1" dirty="0"/>
              <a:t>Emit(Lk:). Let _</a:t>
            </a:r>
            <a:r>
              <a:rPr lang="en-GB" b="1" i="1" dirty="0" err="1"/>
              <a:t>tn</a:t>
            </a:r>
            <a:r>
              <a:rPr lang="en-GB" b="1" i="1" dirty="0"/>
              <a:t> = </a:t>
            </a:r>
            <a:r>
              <a:rPr lang="en-GB" b="1" i="1" dirty="0" err="1"/>
              <a:t>cgen</a:t>
            </a:r>
            <a:r>
              <a:rPr lang="en-GB" b="1" i="1" dirty="0"/>
              <a:t>(S1);</a:t>
            </a:r>
          </a:p>
          <a:p>
            <a:pPr marL="0" indent="0">
              <a:buNone/>
            </a:pPr>
            <a:r>
              <a:rPr lang="en-GB" b="1" i="1" dirty="0"/>
              <a:t>Emit(if _</a:t>
            </a:r>
            <a:r>
              <a:rPr lang="en-GB" b="1" i="1" dirty="0" err="1"/>
              <a:t>tn</a:t>
            </a:r>
            <a:r>
              <a:rPr lang="en-GB" b="1" i="1" dirty="0"/>
              <a:t> </a:t>
            </a:r>
            <a:r>
              <a:rPr lang="en-GB" b="1" i="1" dirty="0" err="1"/>
              <a:t>goto</a:t>
            </a:r>
            <a:r>
              <a:rPr lang="en-GB" b="1" i="1" dirty="0"/>
              <a:t> L(k+1)). Emit(jump L(k+2)).</a:t>
            </a:r>
          </a:p>
          <a:p>
            <a:pPr marL="0" indent="0">
              <a:buNone/>
            </a:pPr>
            <a:r>
              <a:rPr lang="en-GB" i="1" dirty="0"/>
              <a:t>Emit(L(k+1):). Let _t(n+1) = </a:t>
            </a:r>
            <a:r>
              <a:rPr lang="en-GB" i="1" dirty="0" err="1"/>
              <a:t>cgen</a:t>
            </a:r>
            <a:r>
              <a:rPr lang="en-GB" i="1" dirty="0"/>
              <a:t>(S2); Emit(jump L(k+3)).</a:t>
            </a:r>
          </a:p>
          <a:p>
            <a:pPr marL="0" indent="0">
              <a:buNone/>
            </a:pPr>
            <a:r>
              <a:rPr lang="en-GB" i="1" dirty="0"/>
              <a:t>Emit(L(k+2):). Let _t(n+2) = </a:t>
            </a:r>
            <a:r>
              <a:rPr lang="en-GB" i="1" dirty="0" err="1"/>
              <a:t>cgen</a:t>
            </a:r>
            <a:r>
              <a:rPr lang="en-GB" i="1" dirty="0"/>
              <a:t>(S3); Emit(jump L(k+3)).</a:t>
            </a:r>
          </a:p>
          <a:p>
            <a:pPr marL="0" indent="0">
              <a:buNone/>
            </a:pPr>
            <a:r>
              <a:rPr lang="en-GB" i="1" dirty="0"/>
              <a:t>Emit(L(k+3):).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792398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8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Choose four new block labels </a:t>
            </a:r>
            <a:r>
              <a:rPr lang="en-GB" i="1" dirty="0">
                <a:solidFill>
                  <a:srgbClr val="7030A0"/>
                </a:solidFill>
              </a:rPr>
              <a:t>Lk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7030A0"/>
                </a:solidFill>
              </a:rPr>
              <a:t>k by 4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L0: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L1</a:t>
            </a:r>
            <a:r>
              <a:rPr lang="en-GB" i="1" dirty="0"/>
              <a:t>). Emit(jump </a:t>
            </a:r>
            <a:r>
              <a:rPr lang="en-GB" i="1" dirty="0">
                <a:solidFill>
                  <a:srgbClr val="7030A0"/>
                </a:solidFill>
              </a:rPr>
              <a:t>L2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L1: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L2:</a:t>
            </a:r>
            <a:r>
              <a:rPr lang="en-GB" i="1" dirty="0"/>
              <a:t>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L3: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829C7-676F-5C0F-98BB-CA1586A0FE31}"/>
              </a:ext>
            </a:extLst>
          </p:cNvPr>
          <p:cNvCxnSpPr>
            <a:cxnSpLocks/>
          </p:cNvCxnSpPr>
          <p:nvPr/>
        </p:nvCxnSpPr>
        <p:spPr>
          <a:xfrm>
            <a:off x="6096000" y="4359030"/>
            <a:ext cx="1656861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BB5CFE-3D83-DCE2-14F1-E5BA1B3912E3}"/>
              </a:ext>
            </a:extLst>
          </p:cNvPr>
          <p:cNvSpPr/>
          <p:nvPr/>
        </p:nvSpPr>
        <p:spPr>
          <a:xfrm>
            <a:off x="9659815" y="3243385"/>
            <a:ext cx="2258647" cy="324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if _t0 </a:t>
            </a:r>
            <a:r>
              <a:rPr lang="en-SG" dirty="0" err="1"/>
              <a:t>goto</a:t>
            </a:r>
            <a:r>
              <a:rPr lang="en-SG" dirty="0"/>
              <a:t> L1</a:t>
            </a:r>
          </a:p>
          <a:p>
            <a:pPr algn="ctr"/>
            <a:r>
              <a:rPr lang="en-SG" dirty="0"/>
              <a:t>jump L2</a:t>
            </a:r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33625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8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Choose four new block labels </a:t>
            </a:r>
            <a:r>
              <a:rPr lang="en-GB" i="1" dirty="0">
                <a:solidFill>
                  <a:srgbClr val="7030A0"/>
                </a:solidFill>
              </a:rPr>
              <a:t>Lk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7030A0"/>
                </a:solidFill>
              </a:rPr>
              <a:t>k by 4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L0: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L1</a:t>
            </a:r>
            <a:r>
              <a:rPr lang="en-GB" i="1" dirty="0"/>
              <a:t>). Emit(jump </a:t>
            </a:r>
            <a:r>
              <a:rPr lang="en-GB" i="1" dirty="0">
                <a:solidFill>
                  <a:srgbClr val="7030A0"/>
                </a:solidFill>
              </a:rPr>
              <a:t>L2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L1: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L2:</a:t>
            </a:r>
            <a:r>
              <a:rPr lang="en-GB" i="1" dirty="0"/>
              <a:t>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L3: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829C7-676F-5C0F-98BB-CA1586A0FE31}"/>
              </a:ext>
            </a:extLst>
          </p:cNvPr>
          <p:cNvCxnSpPr>
            <a:cxnSpLocks/>
          </p:cNvCxnSpPr>
          <p:nvPr/>
        </p:nvCxnSpPr>
        <p:spPr>
          <a:xfrm>
            <a:off x="7455877" y="4835768"/>
            <a:ext cx="1656861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BB5CFE-3D83-DCE2-14F1-E5BA1B3912E3}"/>
              </a:ext>
            </a:extLst>
          </p:cNvPr>
          <p:cNvSpPr/>
          <p:nvPr/>
        </p:nvSpPr>
        <p:spPr>
          <a:xfrm>
            <a:off x="9659815" y="211017"/>
            <a:ext cx="2258647" cy="62818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if _t0 </a:t>
            </a:r>
            <a:r>
              <a:rPr lang="en-SG" dirty="0" err="1"/>
              <a:t>goto</a:t>
            </a:r>
            <a:r>
              <a:rPr lang="en-SG" dirty="0"/>
              <a:t> L1</a:t>
            </a:r>
          </a:p>
          <a:p>
            <a:pPr algn="ctr"/>
            <a:r>
              <a:rPr lang="en-SG" dirty="0"/>
              <a:t>jump L2</a:t>
            </a:r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/>
              <a:t>z := x</a:t>
            </a:r>
          </a:p>
          <a:p>
            <a:pPr algn="ctr"/>
            <a:r>
              <a:rPr lang="en-SG" dirty="0"/>
              <a:t>_t1:= null</a:t>
            </a:r>
          </a:p>
          <a:p>
            <a:pPr algn="ctr"/>
            <a:r>
              <a:rPr lang="en-SG" dirty="0"/>
              <a:t>jump L3</a:t>
            </a:r>
          </a:p>
        </p:txBody>
      </p:sp>
    </p:spTree>
    <p:extLst>
      <p:ext uri="{BB962C8B-B14F-4D97-AF65-F5344CB8AC3E}">
        <p14:creationId xmlns:p14="http://schemas.microsoft.com/office/powerpoint/2010/main" val="13354186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8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Choose four new block labels </a:t>
            </a:r>
            <a:r>
              <a:rPr lang="en-GB" i="1" dirty="0">
                <a:solidFill>
                  <a:srgbClr val="7030A0"/>
                </a:solidFill>
              </a:rPr>
              <a:t>Lk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7030A0"/>
                </a:solidFill>
              </a:rPr>
              <a:t>k by 4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L0: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L1</a:t>
            </a:r>
            <a:r>
              <a:rPr lang="en-GB" i="1" dirty="0"/>
              <a:t>). Emit(jump </a:t>
            </a:r>
            <a:r>
              <a:rPr lang="en-GB" i="1" dirty="0">
                <a:solidFill>
                  <a:srgbClr val="7030A0"/>
                </a:solidFill>
              </a:rPr>
              <a:t>L2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L1: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L2:</a:t>
            </a:r>
            <a:r>
              <a:rPr lang="en-GB" i="1" dirty="0"/>
              <a:t>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L3: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829C7-676F-5C0F-98BB-CA1586A0FE31}"/>
              </a:ext>
            </a:extLst>
          </p:cNvPr>
          <p:cNvCxnSpPr>
            <a:cxnSpLocks/>
          </p:cNvCxnSpPr>
          <p:nvPr/>
        </p:nvCxnSpPr>
        <p:spPr>
          <a:xfrm>
            <a:off x="7471508" y="5273430"/>
            <a:ext cx="1656861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BB5CFE-3D83-DCE2-14F1-E5BA1B3912E3}"/>
              </a:ext>
            </a:extLst>
          </p:cNvPr>
          <p:cNvSpPr/>
          <p:nvPr/>
        </p:nvSpPr>
        <p:spPr>
          <a:xfrm>
            <a:off x="9659815" y="211017"/>
            <a:ext cx="2258647" cy="62818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if _t0 </a:t>
            </a:r>
            <a:r>
              <a:rPr lang="en-SG" dirty="0" err="1"/>
              <a:t>goto</a:t>
            </a:r>
            <a:r>
              <a:rPr lang="en-SG" dirty="0"/>
              <a:t> L1</a:t>
            </a:r>
          </a:p>
          <a:p>
            <a:pPr algn="ctr"/>
            <a:r>
              <a:rPr lang="en-SG" dirty="0"/>
              <a:t>jump L2</a:t>
            </a:r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/>
              <a:t>z := x</a:t>
            </a:r>
          </a:p>
          <a:p>
            <a:pPr algn="ctr"/>
            <a:r>
              <a:rPr lang="en-SG" dirty="0"/>
              <a:t>_t1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L2:</a:t>
            </a:r>
          </a:p>
          <a:p>
            <a:pPr algn="ctr"/>
            <a:r>
              <a:rPr lang="en-SG" dirty="0"/>
              <a:t>x := y</a:t>
            </a:r>
          </a:p>
          <a:p>
            <a:pPr algn="ctr"/>
            <a:r>
              <a:rPr lang="en-SG" dirty="0"/>
              <a:t>_t2 := null</a:t>
            </a:r>
          </a:p>
          <a:p>
            <a:pPr algn="ctr"/>
            <a:r>
              <a:rPr lang="en-SG" dirty="0"/>
              <a:t>jump L3</a:t>
            </a:r>
          </a:p>
        </p:txBody>
      </p:sp>
    </p:spTree>
    <p:extLst>
      <p:ext uri="{BB962C8B-B14F-4D97-AF65-F5344CB8AC3E}">
        <p14:creationId xmlns:p14="http://schemas.microsoft.com/office/powerpoint/2010/main" val="25770244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8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(if </a:t>
            </a:r>
            <a:r>
              <a:rPr lang="en-GB" i="1" dirty="0">
                <a:solidFill>
                  <a:schemeClr val="accent2"/>
                </a:solidFill>
              </a:rPr>
              <a:t>x&lt;y 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 else 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</a:t>
            </a:r>
            <a:r>
              <a:rPr lang="en-GB" i="1" dirty="0">
                <a:solidFill>
                  <a:srgbClr val="0070C0"/>
                </a:solidFill>
              </a:rPr>
              <a:t>n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0070C0"/>
                </a:solidFill>
              </a:rPr>
              <a:t>n by 3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Choose four new block labels </a:t>
            </a:r>
            <a:r>
              <a:rPr lang="en-GB" i="1" dirty="0">
                <a:solidFill>
                  <a:srgbClr val="7030A0"/>
                </a:solidFill>
              </a:rPr>
              <a:t>Lk</a:t>
            </a:r>
            <a:r>
              <a:rPr lang="en-GB" i="1" dirty="0"/>
              <a:t>. Increment </a:t>
            </a:r>
            <a:r>
              <a:rPr lang="en-GB" i="1" dirty="0">
                <a:solidFill>
                  <a:srgbClr val="7030A0"/>
                </a:solidFill>
              </a:rPr>
              <a:t>k by 4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L0: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/>
                </a:solidFill>
              </a:rPr>
              <a:t>x&lt;y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Emit(if </a:t>
            </a:r>
            <a:r>
              <a:rPr lang="en-GB" i="1" dirty="0">
                <a:solidFill>
                  <a:srgbClr val="0070C0"/>
                </a:solidFill>
              </a:rPr>
              <a:t>_t0</a:t>
            </a:r>
            <a:r>
              <a:rPr lang="en-GB" i="1" dirty="0"/>
              <a:t> </a:t>
            </a:r>
            <a:r>
              <a:rPr lang="en-GB" i="1" dirty="0" err="1"/>
              <a:t>goto</a:t>
            </a:r>
            <a:r>
              <a:rPr lang="en-GB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L1</a:t>
            </a:r>
            <a:r>
              <a:rPr lang="en-GB" i="1" dirty="0"/>
              <a:t>). Emit(jump </a:t>
            </a:r>
            <a:r>
              <a:rPr lang="en-GB" i="1" dirty="0">
                <a:solidFill>
                  <a:srgbClr val="7030A0"/>
                </a:solidFill>
              </a:rPr>
              <a:t>L2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L1:</a:t>
            </a:r>
            <a:r>
              <a:rPr lang="en-GB" i="1" dirty="0"/>
              <a:t>). Let </a:t>
            </a:r>
            <a:r>
              <a:rPr lang="en-GB" i="1" dirty="0">
                <a:solidFill>
                  <a:srgbClr val="0070C0"/>
                </a:solidFill>
              </a:rPr>
              <a:t>_t1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chemeClr val="accent2">
                    <a:lumMod val="50000"/>
                  </a:schemeClr>
                </a:solidFill>
              </a:rPr>
              <a:t>z=x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L2:</a:t>
            </a:r>
            <a:r>
              <a:rPr lang="en-GB" i="1" dirty="0"/>
              <a:t>). Let</a:t>
            </a:r>
            <a:r>
              <a:rPr lang="en-GB" i="1" dirty="0">
                <a:solidFill>
                  <a:srgbClr val="0070C0"/>
                </a:solidFill>
              </a:rPr>
              <a:t> _t2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i="1" dirty="0">
                <a:solidFill>
                  <a:srgbClr val="00B050"/>
                </a:solidFill>
              </a:rPr>
              <a:t>x=y</a:t>
            </a:r>
            <a:r>
              <a:rPr lang="en-GB" i="1" dirty="0"/>
              <a:t>); Emit(jump </a:t>
            </a:r>
            <a:r>
              <a:rPr lang="en-GB" i="1" dirty="0">
                <a:solidFill>
                  <a:srgbClr val="7030A0"/>
                </a:solidFill>
              </a:rPr>
              <a:t>L3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Emit(</a:t>
            </a:r>
            <a:r>
              <a:rPr lang="en-GB" i="1" dirty="0">
                <a:solidFill>
                  <a:srgbClr val="7030A0"/>
                </a:solidFill>
              </a:rPr>
              <a:t>L3:</a:t>
            </a:r>
            <a:r>
              <a:rPr lang="en-GB" i="1" dirty="0"/>
              <a:t>).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829C7-676F-5C0F-98BB-CA1586A0FE31}"/>
              </a:ext>
            </a:extLst>
          </p:cNvPr>
          <p:cNvCxnSpPr>
            <a:cxnSpLocks/>
          </p:cNvCxnSpPr>
          <p:nvPr/>
        </p:nvCxnSpPr>
        <p:spPr>
          <a:xfrm>
            <a:off x="2368062" y="5781430"/>
            <a:ext cx="1656861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4BB5CFE-3D83-DCE2-14F1-E5BA1B3912E3}"/>
              </a:ext>
            </a:extLst>
          </p:cNvPr>
          <p:cNvSpPr/>
          <p:nvPr/>
        </p:nvSpPr>
        <p:spPr>
          <a:xfrm>
            <a:off x="9659815" y="211017"/>
            <a:ext cx="2258647" cy="62818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if _t0 </a:t>
            </a:r>
            <a:r>
              <a:rPr lang="en-SG" dirty="0" err="1"/>
              <a:t>goto</a:t>
            </a:r>
            <a:r>
              <a:rPr lang="en-SG" dirty="0"/>
              <a:t> L1</a:t>
            </a:r>
          </a:p>
          <a:p>
            <a:pPr algn="ctr"/>
            <a:r>
              <a:rPr lang="en-SG" dirty="0"/>
              <a:t>jump L2</a:t>
            </a:r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/>
              <a:t>z := x</a:t>
            </a:r>
          </a:p>
          <a:p>
            <a:pPr algn="ctr"/>
            <a:r>
              <a:rPr lang="en-SG" dirty="0"/>
              <a:t>_t1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L2:</a:t>
            </a:r>
          </a:p>
          <a:p>
            <a:pPr algn="ctr"/>
            <a:r>
              <a:rPr lang="en-SG" dirty="0"/>
              <a:t>x := y</a:t>
            </a:r>
          </a:p>
          <a:p>
            <a:pPr algn="ctr"/>
            <a:r>
              <a:rPr lang="en-SG" dirty="0"/>
              <a:t>_t2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L3:</a:t>
            </a:r>
          </a:p>
          <a:p>
            <a:pPr algn="ctr"/>
            <a:r>
              <a:rPr lang="en-SG" i="1" dirty="0"/>
              <a:t>(continue with more stuff)</a:t>
            </a:r>
          </a:p>
        </p:txBody>
      </p:sp>
    </p:spTree>
    <p:extLst>
      <p:ext uri="{BB962C8B-B14F-4D97-AF65-F5344CB8AC3E}">
        <p14:creationId xmlns:p14="http://schemas.microsoft.com/office/powerpoint/2010/main" val="6306316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11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z = z * z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</a:t>
            </a:r>
            <a:r>
              <a:rPr lang="en-GB" b="1" i="1" dirty="0"/>
              <a:t>_t8</a:t>
            </a:r>
            <a:r>
              <a:rPr lang="en-GB" i="1" dirty="0"/>
              <a:t>,  </a:t>
            </a:r>
            <a:r>
              <a:rPr lang="en-GB" b="1" i="1" dirty="0"/>
              <a:t>_t9</a:t>
            </a:r>
            <a:r>
              <a:rPr lang="en-GB" i="1" dirty="0"/>
              <a:t>,  </a:t>
            </a:r>
            <a:r>
              <a:rPr lang="en-GB" b="1" i="1" dirty="0"/>
              <a:t>_t10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_t8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z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_t9 </a:t>
            </a:r>
            <a:r>
              <a:rPr lang="en-GB" i="1" dirty="0"/>
              <a:t>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z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</a:t>
            </a:r>
            <a:r>
              <a:rPr lang="en-GB" b="1" i="1" dirty="0"/>
              <a:t>_t10 </a:t>
            </a:r>
            <a:r>
              <a:rPr lang="en-GB" i="1" dirty="0"/>
              <a:t>= </a:t>
            </a:r>
            <a:r>
              <a:rPr lang="en-GB" b="1" i="1" dirty="0"/>
              <a:t>_t8 * _t9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</a:t>
            </a:r>
            <a:r>
              <a:rPr lang="en-GB" b="1" i="1" dirty="0"/>
              <a:t>z = _t10</a:t>
            </a:r>
            <a:r>
              <a:rPr lang="en-GB" i="1" dirty="0"/>
              <a:t>)</a:t>
            </a:r>
          </a:p>
          <a:p>
            <a:pPr marL="0" indent="0">
              <a:buNone/>
            </a:pPr>
            <a:r>
              <a:rPr lang="en-GB" i="1" dirty="0"/>
              <a:t>Return null;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CAF0A-CD45-34D2-4624-77801DBD0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We have to run two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operation in sequence to get the full TAC code.</a:t>
            </a:r>
          </a:p>
          <a:p>
            <a:r>
              <a:rPr lang="en-GB" i="1" dirty="0" err="1"/>
              <a:t>cgen</a:t>
            </a:r>
            <a:r>
              <a:rPr lang="en-GB" i="1" dirty="0"/>
              <a:t>(if x&lt;y z=x else x=y)</a:t>
            </a:r>
          </a:p>
          <a:p>
            <a:r>
              <a:rPr lang="en-GB" b="1" i="1" dirty="0" err="1"/>
              <a:t>cgen</a:t>
            </a:r>
            <a:r>
              <a:rPr lang="en-GB" b="1" i="1" dirty="0"/>
              <a:t>(z = z*z)</a:t>
            </a:r>
          </a:p>
          <a:p>
            <a:endParaRPr lang="en-GB" i="1" dirty="0"/>
          </a:p>
          <a:p>
            <a:pPr marL="0" indent="0">
              <a:buNone/>
            </a:pPr>
            <a:r>
              <a:rPr lang="en-GB" b="1" dirty="0"/>
              <a:t>Note: </a:t>
            </a:r>
            <a:r>
              <a:rPr lang="en-GB" dirty="0"/>
              <a:t>this second operation needs not to be decomposed but could simply combine several concepts from previous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functions together.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411807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TAC system counters: </a:t>
            </a:r>
            <a:r>
              <a:rPr lang="en-GB" b="1" dirty="0">
                <a:solidFill>
                  <a:srgbClr val="0070C0"/>
                </a:solidFill>
              </a:rPr>
              <a:t>n = 11</a:t>
            </a:r>
            <a:r>
              <a:rPr lang="en-GB" b="1" dirty="0"/>
              <a:t>, </a:t>
            </a:r>
            <a:r>
              <a:rPr lang="en-GB" b="1" dirty="0">
                <a:solidFill>
                  <a:srgbClr val="7030A0"/>
                </a:solidFill>
              </a:rPr>
              <a:t>k = 4</a:t>
            </a:r>
            <a:r>
              <a:rPr lang="en-GB" b="1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z = z * z</a:t>
            </a:r>
            <a:r>
              <a:rPr lang="en-GB" i="1" dirty="0"/>
              <a:t>) = {</a:t>
            </a:r>
          </a:p>
          <a:p>
            <a:pPr marL="0" indent="0">
              <a:buNone/>
            </a:pPr>
            <a:r>
              <a:rPr lang="en-GB" i="1" dirty="0"/>
              <a:t>Choose three new temporary t using our counter n</a:t>
            </a:r>
            <a:br>
              <a:rPr lang="en-GB" i="1" dirty="0"/>
            </a:br>
            <a:r>
              <a:rPr lang="en-GB" i="1" dirty="0"/>
              <a:t>(we shall name them as  </a:t>
            </a:r>
            <a:r>
              <a:rPr lang="en-GB" b="1" i="1" dirty="0"/>
              <a:t>_t8</a:t>
            </a:r>
            <a:r>
              <a:rPr lang="en-GB" i="1" dirty="0"/>
              <a:t>,  </a:t>
            </a:r>
            <a:r>
              <a:rPr lang="en-GB" b="1" i="1" dirty="0"/>
              <a:t>_t9</a:t>
            </a:r>
            <a:r>
              <a:rPr lang="en-GB" i="1" dirty="0"/>
              <a:t>,  </a:t>
            </a:r>
            <a:r>
              <a:rPr lang="en-GB" b="1" i="1" dirty="0"/>
              <a:t>_t10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Increment n by 3;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_t8</a:t>
            </a:r>
            <a:r>
              <a:rPr lang="en-GB" i="1" dirty="0"/>
              <a:t> 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z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Let </a:t>
            </a:r>
            <a:r>
              <a:rPr lang="en-GB" b="1" i="1" dirty="0"/>
              <a:t>_t9 </a:t>
            </a:r>
            <a:r>
              <a:rPr lang="en-GB" i="1" dirty="0"/>
              <a:t>= </a:t>
            </a:r>
            <a:r>
              <a:rPr lang="en-GB" i="1" dirty="0" err="1"/>
              <a:t>cgen</a:t>
            </a:r>
            <a:r>
              <a:rPr lang="en-GB" i="1" dirty="0"/>
              <a:t>(</a:t>
            </a:r>
            <a:r>
              <a:rPr lang="en-GB" b="1" i="1" dirty="0"/>
              <a:t>z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</a:t>
            </a:r>
            <a:r>
              <a:rPr lang="en-GB" b="1" i="1" dirty="0"/>
              <a:t>_t10 </a:t>
            </a:r>
            <a:r>
              <a:rPr lang="en-GB" i="1" dirty="0"/>
              <a:t>= </a:t>
            </a:r>
            <a:r>
              <a:rPr lang="en-GB" b="1" i="1" dirty="0"/>
              <a:t>_t8 * _t9</a:t>
            </a:r>
            <a:r>
              <a:rPr lang="en-GB" i="1" dirty="0"/>
              <a:t>);</a:t>
            </a:r>
          </a:p>
          <a:p>
            <a:pPr marL="0" indent="0">
              <a:buNone/>
            </a:pPr>
            <a:r>
              <a:rPr lang="en-GB" i="1" dirty="0"/>
              <a:t>Emit (</a:t>
            </a:r>
            <a:r>
              <a:rPr lang="en-GB" b="1" i="1" dirty="0"/>
              <a:t>z = _t10</a:t>
            </a:r>
            <a:r>
              <a:rPr lang="en-GB" i="1" dirty="0"/>
              <a:t>)</a:t>
            </a:r>
          </a:p>
          <a:p>
            <a:pPr marL="0" indent="0">
              <a:buNone/>
            </a:pPr>
            <a:r>
              <a:rPr lang="en-GB" i="1" dirty="0"/>
              <a:t>Return null;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8DEC0B-4AAD-832F-9ADC-E37CBC4D45F0}"/>
              </a:ext>
            </a:extLst>
          </p:cNvPr>
          <p:cNvSpPr/>
          <p:nvPr/>
        </p:nvSpPr>
        <p:spPr>
          <a:xfrm>
            <a:off x="9659815" y="125046"/>
            <a:ext cx="2258647" cy="659618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if _t0 </a:t>
            </a:r>
            <a:r>
              <a:rPr lang="en-SG" dirty="0" err="1"/>
              <a:t>goto</a:t>
            </a:r>
            <a:r>
              <a:rPr lang="en-SG" dirty="0"/>
              <a:t> L1</a:t>
            </a:r>
          </a:p>
          <a:p>
            <a:pPr algn="ctr"/>
            <a:r>
              <a:rPr lang="en-SG" dirty="0"/>
              <a:t>jump L2</a:t>
            </a:r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/>
              <a:t>z := x</a:t>
            </a:r>
          </a:p>
          <a:p>
            <a:pPr algn="ctr"/>
            <a:r>
              <a:rPr lang="en-SG" dirty="0"/>
              <a:t>_t1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L2:</a:t>
            </a:r>
          </a:p>
          <a:p>
            <a:pPr algn="ctr"/>
            <a:r>
              <a:rPr lang="en-SG" dirty="0"/>
              <a:t>x := y</a:t>
            </a:r>
          </a:p>
          <a:p>
            <a:pPr algn="ctr"/>
            <a:r>
              <a:rPr lang="en-SG" dirty="0"/>
              <a:t>_t2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L3:</a:t>
            </a:r>
          </a:p>
          <a:p>
            <a:pPr algn="ctr"/>
            <a:r>
              <a:rPr lang="en-SG" dirty="0"/>
              <a:t>_t8 := z</a:t>
            </a:r>
          </a:p>
          <a:p>
            <a:pPr algn="ctr"/>
            <a:r>
              <a:rPr lang="en-SG" dirty="0"/>
              <a:t>_t9 := z</a:t>
            </a:r>
          </a:p>
          <a:p>
            <a:pPr algn="ctr"/>
            <a:r>
              <a:rPr lang="en-SG" dirty="0"/>
              <a:t>_t10 = z*z</a:t>
            </a:r>
          </a:p>
          <a:p>
            <a:pPr algn="ctr"/>
            <a:r>
              <a:rPr lang="en-SG" dirty="0"/>
              <a:t>z := _t10</a:t>
            </a:r>
          </a:p>
        </p:txBody>
      </p:sp>
    </p:spTree>
    <p:extLst>
      <p:ext uri="{BB962C8B-B14F-4D97-AF65-F5344CB8AC3E}">
        <p14:creationId xmlns:p14="http://schemas.microsoft.com/office/powerpoint/2010/main" val="36530587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  <a:r>
              <a:rPr lang="en-SG" dirty="0"/>
              <a:t> What will be the TAC for this code?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GB" i="1" dirty="0"/>
              <a:t>if(x &lt; y)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GB" i="1" dirty="0"/>
              <a:t>else</a:t>
            </a:r>
          </a:p>
          <a:p>
            <a:pPr marL="0" indent="0">
              <a:buNone/>
            </a:pPr>
            <a:r>
              <a:rPr lang="en-SG" i="1" dirty="0"/>
              <a:t>      z = y;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8DEC0B-4AAD-832F-9ADC-E37CBC4D45F0}"/>
              </a:ext>
            </a:extLst>
          </p:cNvPr>
          <p:cNvSpPr/>
          <p:nvPr/>
        </p:nvSpPr>
        <p:spPr>
          <a:xfrm>
            <a:off x="9659815" y="125046"/>
            <a:ext cx="2258647" cy="659618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if _t0 </a:t>
            </a:r>
            <a:r>
              <a:rPr lang="en-SG" dirty="0" err="1"/>
              <a:t>goto</a:t>
            </a:r>
            <a:r>
              <a:rPr lang="en-SG" dirty="0"/>
              <a:t> L1</a:t>
            </a:r>
          </a:p>
          <a:p>
            <a:pPr algn="ctr"/>
            <a:r>
              <a:rPr lang="en-SG" dirty="0"/>
              <a:t>jump L2</a:t>
            </a:r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/>
              <a:t>z := x</a:t>
            </a:r>
          </a:p>
          <a:p>
            <a:pPr algn="ctr"/>
            <a:r>
              <a:rPr lang="en-SG" dirty="0"/>
              <a:t>_t1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L2:</a:t>
            </a:r>
          </a:p>
          <a:p>
            <a:pPr algn="ctr"/>
            <a:r>
              <a:rPr lang="en-SG" dirty="0"/>
              <a:t>x := y</a:t>
            </a:r>
          </a:p>
          <a:p>
            <a:pPr algn="ctr"/>
            <a:r>
              <a:rPr lang="en-SG" dirty="0"/>
              <a:t>_t2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L3:</a:t>
            </a:r>
          </a:p>
          <a:p>
            <a:pPr algn="ctr"/>
            <a:r>
              <a:rPr lang="en-SG" dirty="0"/>
              <a:t>_t8 := z</a:t>
            </a:r>
          </a:p>
          <a:p>
            <a:pPr algn="ctr"/>
            <a:r>
              <a:rPr lang="en-SG" dirty="0"/>
              <a:t>_t9 := z</a:t>
            </a:r>
          </a:p>
          <a:p>
            <a:pPr algn="ctr"/>
            <a:r>
              <a:rPr lang="en-SG" dirty="0"/>
              <a:t>_t10 = z*z</a:t>
            </a:r>
          </a:p>
          <a:p>
            <a:pPr algn="ctr"/>
            <a:r>
              <a:rPr lang="en-SG" dirty="0"/>
              <a:t>z := _t10</a:t>
            </a:r>
          </a:p>
        </p:txBody>
      </p:sp>
    </p:spTree>
    <p:extLst>
      <p:ext uri="{BB962C8B-B14F-4D97-AF65-F5344CB8AC3E}">
        <p14:creationId xmlns:p14="http://schemas.microsoft.com/office/powerpoint/2010/main" val="19529547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7C3A-5380-8DF3-456C-EBF153A9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if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8CF2-8C90-E6BD-6137-736FD2D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Not exactly optimal, but again, we do not care because it will produce the correct outcome!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 different part of the compiler will be in charge of optimizing this TAC code later on!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8DEC0B-4AAD-832F-9ADC-E37CBC4D45F0}"/>
              </a:ext>
            </a:extLst>
          </p:cNvPr>
          <p:cNvSpPr/>
          <p:nvPr/>
        </p:nvSpPr>
        <p:spPr>
          <a:xfrm>
            <a:off x="9659815" y="125046"/>
            <a:ext cx="2258647" cy="659618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if _t0 </a:t>
            </a:r>
            <a:r>
              <a:rPr lang="en-SG" dirty="0" err="1"/>
              <a:t>goto</a:t>
            </a:r>
            <a:r>
              <a:rPr lang="en-SG" dirty="0"/>
              <a:t> L1</a:t>
            </a:r>
          </a:p>
          <a:p>
            <a:pPr algn="ctr"/>
            <a:r>
              <a:rPr lang="en-SG" dirty="0"/>
              <a:t>jump L2</a:t>
            </a:r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/>
              <a:t>z := x</a:t>
            </a:r>
          </a:p>
          <a:p>
            <a:pPr algn="ctr"/>
            <a:r>
              <a:rPr lang="en-SG" dirty="0"/>
              <a:t>_t1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L2:</a:t>
            </a:r>
          </a:p>
          <a:p>
            <a:pPr algn="ctr"/>
            <a:r>
              <a:rPr lang="en-SG" dirty="0"/>
              <a:t>x := y</a:t>
            </a:r>
          </a:p>
          <a:p>
            <a:pPr algn="ctr"/>
            <a:r>
              <a:rPr lang="en-SG" dirty="0"/>
              <a:t>_t2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L3:</a:t>
            </a:r>
          </a:p>
          <a:p>
            <a:pPr algn="ctr"/>
            <a:r>
              <a:rPr lang="en-SG" dirty="0"/>
              <a:t>_t8 := z</a:t>
            </a:r>
          </a:p>
          <a:p>
            <a:pPr algn="ctr"/>
            <a:r>
              <a:rPr lang="en-SG" dirty="0"/>
              <a:t>_t9 := z</a:t>
            </a:r>
          </a:p>
          <a:p>
            <a:pPr algn="ctr"/>
            <a:r>
              <a:rPr lang="en-SG" dirty="0"/>
              <a:t>_t10 = z*z</a:t>
            </a:r>
          </a:p>
          <a:p>
            <a:pPr algn="ctr"/>
            <a:r>
              <a:rPr lang="en-SG" dirty="0"/>
              <a:t>z := _t10</a:t>
            </a:r>
          </a:p>
        </p:txBody>
      </p:sp>
    </p:spTree>
    <p:extLst>
      <p:ext uri="{BB962C8B-B14F-4D97-AF65-F5344CB8AC3E}">
        <p14:creationId xmlns:p14="http://schemas.microsoft.com/office/powerpoint/2010/main" val="2378580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D4A1-CDB0-6CEF-875A-26BA60ED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function calls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9BC23-1C06-F430-2144-79D6853BA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Writing TAC becomes a bit tricky when accounting for function calls.</a:t>
            </a:r>
          </a:p>
          <a:p>
            <a:r>
              <a:rPr lang="en-GB" dirty="0"/>
              <a:t>For instance, consider the code below.</a:t>
            </a:r>
          </a:p>
          <a:p>
            <a:pPr marL="0" indent="0">
              <a:buNone/>
            </a:pPr>
            <a:r>
              <a:rPr lang="en-GB" i="1" dirty="0"/>
              <a:t>void f(int z) {</a:t>
            </a:r>
          </a:p>
          <a:p>
            <a:pPr marL="0" indent="0">
              <a:buNone/>
            </a:pPr>
            <a:r>
              <a:rPr lang="en-GB" i="1" dirty="0"/>
              <a:t>     int x;</a:t>
            </a:r>
          </a:p>
          <a:p>
            <a:pPr marL="0" indent="0">
              <a:buNone/>
            </a:pPr>
            <a:r>
              <a:rPr lang="en-GB" i="1" dirty="0"/>
              <a:t>     x = z*z</a:t>
            </a:r>
          </a:p>
          <a:p>
            <a:pPr marL="0" indent="0">
              <a:buNone/>
            </a:pPr>
            <a:r>
              <a:rPr lang="en-GB" i="1" dirty="0"/>
              <a:t>     return x;</a:t>
            </a:r>
          </a:p>
          <a:p>
            <a:pPr marL="0" indent="0">
              <a:buNone/>
            </a:pPr>
            <a:r>
              <a:rPr lang="en-GB" i="1" dirty="0"/>
              <a:t>}</a:t>
            </a:r>
          </a:p>
          <a:p>
            <a:pPr marL="0" indent="0">
              <a:buNone/>
            </a:pPr>
            <a:r>
              <a:rPr lang="en-GB" i="1" dirty="0"/>
              <a:t>void main(){</a:t>
            </a:r>
          </a:p>
          <a:p>
            <a:pPr marL="0" indent="0">
              <a:buNone/>
            </a:pPr>
            <a:r>
              <a:rPr lang="en-GB" i="1" dirty="0"/>
              <a:t>     f(11);</a:t>
            </a:r>
          </a:p>
          <a:p>
            <a:pPr marL="0" indent="0">
              <a:buNone/>
            </a:pPr>
            <a:r>
              <a:rPr lang="en-GB" i="1" dirty="0"/>
              <a:t>     int y = f(8);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6734989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D4A1-CDB0-6CEF-875A-26BA60ED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function calls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9BC23-1C06-F430-2144-79D6853BA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7915031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The code could be transformed into a TAC using our </a:t>
            </a:r>
            <a:r>
              <a:rPr lang="en-GB" i="1" dirty="0" err="1"/>
              <a:t>cgen</a:t>
            </a:r>
            <a:r>
              <a:rPr lang="en-GB" i="1" dirty="0"/>
              <a:t>()</a:t>
            </a:r>
            <a:r>
              <a:rPr lang="en-GB" dirty="0"/>
              <a:t>, as shown on the right.</a:t>
            </a:r>
          </a:p>
          <a:p>
            <a:pPr marL="0" indent="0">
              <a:buNone/>
            </a:pPr>
            <a:r>
              <a:rPr lang="en-GB" i="1" dirty="0"/>
              <a:t>void f(int z) {</a:t>
            </a:r>
          </a:p>
          <a:p>
            <a:pPr marL="0" indent="0">
              <a:buNone/>
            </a:pPr>
            <a:r>
              <a:rPr lang="en-GB" i="1" dirty="0"/>
              <a:t>     int x;</a:t>
            </a:r>
          </a:p>
          <a:p>
            <a:pPr marL="0" indent="0">
              <a:buNone/>
            </a:pPr>
            <a:r>
              <a:rPr lang="en-GB" i="1" dirty="0"/>
              <a:t>     x = z*z</a:t>
            </a:r>
          </a:p>
          <a:p>
            <a:pPr marL="0" indent="0">
              <a:buNone/>
            </a:pPr>
            <a:r>
              <a:rPr lang="en-GB" i="1" dirty="0"/>
              <a:t>     return x;</a:t>
            </a:r>
          </a:p>
          <a:p>
            <a:pPr marL="0" indent="0">
              <a:buNone/>
            </a:pPr>
            <a:r>
              <a:rPr lang="en-GB" i="1" dirty="0"/>
              <a:t>}</a:t>
            </a:r>
          </a:p>
          <a:p>
            <a:pPr marL="0" indent="0">
              <a:buNone/>
            </a:pPr>
            <a:r>
              <a:rPr lang="en-GB" i="1" dirty="0"/>
              <a:t>void main(){</a:t>
            </a:r>
          </a:p>
          <a:p>
            <a:pPr marL="0" indent="0">
              <a:buNone/>
            </a:pPr>
            <a:r>
              <a:rPr lang="en-GB" i="1" dirty="0"/>
              <a:t>     f(11);</a:t>
            </a:r>
          </a:p>
          <a:p>
            <a:pPr marL="0" indent="0">
              <a:buNone/>
            </a:pPr>
            <a:r>
              <a:rPr lang="en-GB" i="1" dirty="0"/>
              <a:t>     int y = f(8);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B3721-0441-7159-18C4-3AF68753BFE2}"/>
              </a:ext>
            </a:extLst>
          </p:cNvPr>
          <p:cNvSpPr/>
          <p:nvPr/>
        </p:nvSpPr>
        <p:spPr>
          <a:xfrm>
            <a:off x="8542215" y="211017"/>
            <a:ext cx="3548185" cy="62818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_t0 := z</a:t>
            </a:r>
          </a:p>
          <a:p>
            <a:pPr algn="ctr"/>
            <a:r>
              <a:rPr lang="en-SG" dirty="0"/>
              <a:t>_t1 := _t0*_t0</a:t>
            </a:r>
          </a:p>
          <a:p>
            <a:pPr algn="ctr"/>
            <a:r>
              <a:rPr lang="en-SG" dirty="0"/>
              <a:t>Return _t1? (not allowed in TAC)</a:t>
            </a:r>
          </a:p>
          <a:p>
            <a:pPr algn="ctr"/>
            <a:endParaRPr lang="en-SG" dirty="0"/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/>
              <a:t>_t2 := 11</a:t>
            </a:r>
          </a:p>
          <a:p>
            <a:pPr algn="ctr"/>
            <a:r>
              <a:rPr lang="en-SG" dirty="0" err="1"/>
              <a:t>Goto</a:t>
            </a:r>
            <a:r>
              <a:rPr lang="en-SG" dirty="0"/>
              <a:t> L0 with _t2 as z?</a:t>
            </a:r>
          </a:p>
          <a:p>
            <a:pPr algn="ctr"/>
            <a:r>
              <a:rPr lang="en-SG" dirty="0"/>
              <a:t>Nothing to catch the return of that function?</a:t>
            </a:r>
          </a:p>
          <a:p>
            <a:pPr algn="ctr"/>
            <a:r>
              <a:rPr lang="en-SG" dirty="0"/>
              <a:t>_t3 := 8</a:t>
            </a:r>
          </a:p>
          <a:p>
            <a:pPr algn="ctr"/>
            <a:r>
              <a:rPr lang="en-SG" dirty="0" err="1"/>
              <a:t>Goto</a:t>
            </a:r>
            <a:r>
              <a:rPr lang="en-SG" dirty="0"/>
              <a:t> L0 with _t3 as z?</a:t>
            </a:r>
          </a:p>
          <a:p>
            <a:pPr algn="ctr"/>
            <a:r>
              <a:rPr lang="en-SG" dirty="0"/>
              <a:t>Something to catch the return of that function?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400130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2F9E-907E-5481-5BE9-E8D9E2D4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function calls with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2FE8E-13B8-31C6-344C-21F7843BB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What is missing here?</a:t>
            </a:r>
          </a:p>
          <a:p>
            <a:r>
              <a:rPr lang="en-GB" dirty="0"/>
              <a:t>Need to find a way to transfer parameters (x1, …, </a:t>
            </a:r>
            <a:r>
              <a:rPr lang="en-GB" dirty="0" err="1"/>
              <a:t>xn</a:t>
            </a:r>
            <a:r>
              <a:rPr lang="en-GB" dirty="0"/>
              <a:t>) from current scope (e.g. the main() one) to a function scope (e.g. function f called in main()).</a:t>
            </a:r>
          </a:p>
          <a:p>
            <a:r>
              <a:rPr lang="en-GB" dirty="0"/>
              <a:t>We need to know where the TAC code for f() is.</a:t>
            </a:r>
          </a:p>
          <a:p>
            <a:r>
              <a:rPr lang="en-GB" dirty="0"/>
              <a:t>In case of a return in f(), need a way to retrieve parameters from the function scope and bring them back into the enclosing scope.</a:t>
            </a:r>
          </a:p>
          <a:p>
            <a:r>
              <a:rPr lang="en-GB" dirty="0"/>
              <a:t>Should be done in a way to prevent clashes</a:t>
            </a:r>
          </a:p>
          <a:p>
            <a:r>
              <a:rPr lang="en-GB" dirty="0"/>
              <a:t>Should cover for null returns</a:t>
            </a:r>
          </a:p>
          <a:p>
            <a:r>
              <a:rPr lang="en-GB" dirty="0"/>
              <a:t>Should cover for returns not being caught, etc.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41084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2F9E-907E-5481-5BE9-E8D9E2D4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function calls with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2FE8E-13B8-31C6-344C-21F7843BB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Idea: </a:t>
            </a:r>
            <a:r>
              <a:rPr lang="en-GB" dirty="0"/>
              <a:t>Use a stack to represent the scope of a given function.</a:t>
            </a:r>
          </a:p>
          <a:p>
            <a:pPr marL="0" indent="0">
              <a:buNone/>
            </a:pPr>
            <a:r>
              <a:rPr lang="en-GB" dirty="0"/>
              <a:t>Scope will decompose in two parts</a:t>
            </a:r>
          </a:p>
          <a:p>
            <a:r>
              <a:rPr lang="en-GB" dirty="0"/>
              <a:t>The parameters passed to this function (could be none).</a:t>
            </a:r>
          </a:p>
          <a:p>
            <a:r>
              <a:rPr lang="en-GB" dirty="0"/>
              <a:t>The temporary parameters (_</a:t>
            </a:r>
            <a:r>
              <a:rPr lang="en-GB" dirty="0" err="1"/>
              <a:t>tn</a:t>
            </a:r>
            <a:r>
              <a:rPr lang="en-GB" dirty="0"/>
              <a:t>) used by this function during the computation.</a:t>
            </a:r>
          </a:p>
          <a:p>
            <a:r>
              <a:rPr lang="en-GB" dirty="0"/>
              <a:t>In this second case, we need to know the number of _</a:t>
            </a:r>
            <a:r>
              <a:rPr lang="en-GB" dirty="0" err="1"/>
              <a:t>tn</a:t>
            </a:r>
            <a:r>
              <a:rPr lang="en-GB" dirty="0"/>
              <a:t> used by the function f!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5680A9-63F1-F595-3D71-8AA5B08899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429"/>
          <a:stretch/>
        </p:blipFill>
        <p:spPr>
          <a:xfrm>
            <a:off x="7072605" y="1690688"/>
            <a:ext cx="4391608" cy="25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837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2F9E-907E-5481-5BE9-E8D9E2D4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function calls with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2FE8E-13B8-31C6-344C-21F7843BB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Idea: </a:t>
            </a:r>
            <a:r>
              <a:rPr lang="en-GB" dirty="0"/>
              <a:t>Use a stack to represent the scope of a given function.</a:t>
            </a:r>
          </a:p>
          <a:p>
            <a:pPr marL="0" indent="0">
              <a:buNone/>
            </a:pPr>
            <a:r>
              <a:rPr lang="en-GB" dirty="0"/>
              <a:t>Whenever a function g() is called withing the scope of function f(), we will:</a:t>
            </a:r>
          </a:p>
          <a:p>
            <a:r>
              <a:rPr lang="en-GB" dirty="0"/>
              <a:t>Push some parameters from the scope of f() into the parameters stack of g().</a:t>
            </a:r>
          </a:p>
          <a:p>
            <a:r>
              <a:rPr lang="en-GB" dirty="0"/>
              <a:t>Allocate space for the temporary variables used by g().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19384-F236-5367-C511-BC8BA995C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605" y="1690688"/>
            <a:ext cx="4391608" cy="473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667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2F9E-907E-5481-5BE9-E8D9E2D4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function calls with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2FE8E-13B8-31C6-344C-21F7843BB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Idea: </a:t>
            </a:r>
            <a:r>
              <a:rPr lang="en-GB" dirty="0"/>
              <a:t>Use a stack to represent the scope of a given function.</a:t>
            </a:r>
          </a:p>
          <a:p>
            <a:pPr marL="0" indent="0">
              <a:buNone/>
            </a:pPr>
            <a:r>
              <a:rPr lang="en-GB" dirty="0"/>
              <a:t>Upon completing g(), we will</a:t>
            </a:r>
          </a:p>
          <a:p>
            <a:r>
              <a:rPr lang="en-GB" dirty="0"/>
              <a:t>Pop some values from the temporary variables and add them to the temporaries of f().</a:t>
            </a:r>
          </a:p>
          <a:p>
            <a:r>
              <a:rPr lang="en-GB" dirty="0"/>
              <a:t>Or not (if no return specified).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C5446-3B32-6940-DED4-75321F7265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429"/>
          <a:stretch/>
        </p:blipFill>
        <p:spPr>
          <a:xfrm>
            <a:off x="7072605" y="1690688"/>
            <a:ext cx="4391608" cy="25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936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25F1-D3B2-83ED-9E89-2694CDF3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function calls with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767F-C26A-EA28-CD98-41D570187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TAC can be used to handle function calls in a similar way to how it handles other code constructs.</a:t>
            </a:r>
          </a:p>
          <a:p>
            <a:r>
              <a:rPr lang="en-GB" dirty="0"/>
              <a:t>When a function call is encountered in the code, the TAC generator will typically create a new label for the function and generate code to push any arguments onto the stack.</a:t>
            </a:r>
          </a:p>
          <a:p>
            <a:r>
              <a:rPr lang="en-GB" dirty="0"/>
              <a:t>We denote this operation “</a:t>
            </a:r>
            <a:r>
              <a:rPr lang="en-GB" i="1" dirty="0"/>
              <a:t>push _</a:t>
            </a:r>
            <a:r>
              <a:rPr lang="en-GB" i="1" dirty="0" err="1"/>
              <a:t>tn</a:t>
            </a:r>
            <a:r>
              <a:rPr lang="en-GB" dirty="0"/>
              <a:t>” in TAC.</a:t>
            </a:r>
          </a:p>
        </p:txBody>
      </p:sp>
    </p:spTree>
    <p:extLst>
      <p:ext uri="{BB962C8B-B14F-4D97-AF65-F5344CB8AC3E}">
        <p14:creationId xmlns:p14="http://schemas.microsoft.com/office/powerpoint/2010/main" val="42473376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25F1-D3B2-83ED-9E89-2694CDF3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function calls with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767F-C26A-EA28-CD98-41D570187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TAC can be used to handle function calls in a similar way to how it handles other code constructs.</a:t>
            </a:r>
          </a:p>
          <a:p>
            <a:r>
              <a:rPr lang="en-GB" dirty="0"/>
              <a:t>When a function call is encountered in the code, the TAC generator will typically create a new label for the function and generate code to push any arguments onto the stack.</a:t>
            </a:r>
          </a:p>
          <a:p>
            <a:r>
              <a:rPr lang="en-GB" dirty="0"/>
              <a:t>In addition, the TAC needs to allocate space into the stack for all the temporary variables that function f() will require.</a:t>
            </a:r>
          </a:p>
          <a:p>
            <a:r>
              <a:rPr lang="en-GB" dirty="0"/>
              <a:t>It does so, with a command called “</a:t>
            </a:r>
            <a:r>
              <a:rPr lang="en-GB" dirty="0" err="1"/>
              <a:t>BeginFunc</a:t>
            </a:r>
            <a:r>
              <a:rPr lang="en-GB" dirty="0"/>
              <a:t> N”, which allocates N bytes in the stack to store data.</a:t>
            </a:r>
          </a:p>
          <a:p>
            <a:r>
              <a:rPr lang="en-GB" dirty="0"/>
              <a:t>In general memory entries are 32 bytes, so N is expected to be a multiple of 4 (e.g. N = 16 </a:t>
            </a:r>
            <a:r>
              <a:rPr lang="en-GB" dirty="0">
                <a:sym typeface="Wingdings" panose="05000000000000000000" pitchFamily="2" charset="2"/>
              </a:rPr>
              <a:t> 4 temporary variables)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41066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25F1-D3B2-83ED-9E89-2694CDF3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function calls with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767F-C26A-EA28-CD98-41D570187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TAC can be used to handle function calls in a similar way to how it handles other code constructs.</a:t>
            </a:r>
          </a:p>
          <a:p>
            <a:r>
              <a:rPr lang="en-GB" dirty="0"/>
              <a:t>When the function returns, the TAC generator will generate code to pop any return values off the stack and store them in the appropriate variables.</a:t>
            </a:r>
          </a:p>
          <a:p>
            <a:pPr marL="0" indent="0">
              <a:buNone/>
            </a:pPr>
            <a:r>
              <a:rPr lang="en-GB" b="1" dirty="0"/>
              <a:t>It is done in two steps.</a:t>
            </a:r>
          </a:p>
          <a:p>
            <a:r>
              <a:rPr lang="en-GB" dirty="0"/>
              <a:t>The first step, reclaims the parameters space we opened with “push” operations, and this is done with a TAC command called “</a:t>
            </a:r>
            <a:r>
              <a:rPr lang="en-GB" dirty="0" err="1"/>
              <a:t>EndFunc</a:t>
            </a:r>
            <a:r>
              <a:rPr lang="en-GB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6094174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25F1-D3B2-83ED-9E89-2694CDF3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function calls with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767F-C26A-EA28-CD98-41D570187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TAC can be used to handle function calls in a similar way to how it handles other code constructs.</a:t>
            </a:r>
          </a:p>
          <a:p>
            <a:r>
              <a:rPr lang="en-GB" dirty="0"/>
              <a:t>When the function returns, the TAC generator will generate code to pop any return values off the stack and store them in the appropriate variables.</a:t>
            </a:r>
          </a:p>
          <a:p>
            <a:pPr marL="0" indent="0">
              <a:buNone/>
            </a:pPr>
            <a:r>
              <a:rPr lang="en-GB" b="1" dirty="0"/>
              <a:t>It is done in two steps.</a:t>
            </a:r>
          </a:p>
          <a:p>
            <a:r>
              <a:rPr lang="en-GB" dirty="0"/>
              <a:t>The second step, retrieves values that must be returned (and clears the rest of the temporary parameters in the process).</a:t>
            </a:r>
          </a:p>
          <a:p>
            <a:r>
              <a:rPr lang="en-GB" dirty="0"/>
              <a:t>This is done with a “pop N” operations, which allows the callee f() to retrieve parameters N bytes of data from the temporary variables in the scope of g().</a:t>
            </a:r>
          </a:p>
          <a:p>
            <a:r>
              <a:rPr lang="en-GB" dirty="0"/>
              <a:t>Basically implementing a return.</a:t>
            </a:r>
          </a:p>
        </p:txBody>
      </p:sp>
    </p:spTree>
    <p:extLst>
      <p:ext uri="{BB962C8B-B14F-4D97-AF65-F5344CB8AC3E}">
        <p14:creationId xmlns:p14="http://schemas.microsoft.com/office/powerpoint/2010/main" val="188360936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25F1-D3B2-83ED-9E89-2694CDF3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blast from the past!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767F-C26A-EA28-CD98-41D5701876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a sense, what we are doing here is very similar to the way we handled </a:t>
            </a:r>
            <a:r>
              <a:rPr lang="en-GB" b="1" dirty="0"/>
              <a:t>Stacks and Procedures </a:t>
            </a:r>
            <a:r>
              <a:rPr lang="en-GB" dirty="0"/>
              <a:t>in</a:t>
            </a:r>
            <a:r>
              <a:rPr lang="en-GB" b="1" dirty="0"/>
              <a:t> 50.002 Computation Structures</a:t>
            </a:r>
            <a:r>
              <a:rPr lang="en-GB" dirty="0"/>
              <a:t>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Need a refresher?</a:t>
            </a:r>
            <a:br>
              <a:rPr lang="en-GB" dirty="0"/>
            </a:br>
            <a:r>
              <a:rPr lang="en-GB" dirty="0">
                <a:hlinkClick r:id="rId2"/>
              </a:rPr>
              <a:t>https://natalieagus.github.io/50002/notes/stackandprocedures</a:t>
            </a: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D5EE84-2B6F-7BA8-9298-0BC4EF631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25625"/>
            <a:ext cx="5950435" cy="37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4779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D4A1-CDB0-6CEF-875A-26BA60ED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 for function calls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9BC23-1C06-F430-2144-79D6853BA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7078786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Using previous concepts, we have the TAC code for the function below.</a:t>
            </a:r>
          </a:p>
          <a:p>
            <a:pPr marL="0" indent="0">
              <a:buNone/>
            </a:pPr>
            <a:r>
              <a:rPr lang="en-GB" i="1" dirty="0"/>
              <a:t>void f(int z) {</a:t>
            </a:r>
          </a:p>
          <a:p>
            <a:pPr marL="0" indent="0">
              <a:buNone/>
            </a:pPr>
            <a:r>
              <a:rPr lang="en-GB" i="1" dirty="0"/>
              <a:t>     int x;</a:t>
            </a:r>
          </a:p>
          <a:p>
            <a:pPr marL="0" indent="0">
              <a:buNone/>
            </a:pPr>
            <a:r>
              <a:rPr lang="en-GB" i="1" dirty="0"/>
              <a:t>     x = z*z</a:t>
            </a:r>
          </a:p>
          <a:p>
            <a:pPr marL="0" indent="0">
              <a:buNone/>
            </a:pPr>
            <a:r>
              <a:rPr lang="en-GB" i="1" dirty="0"/>
              <a:t>     return x;</a:t>
            </a:r>
          </a:p>
          <a:p>
            <a:pPr marL="0" indent="0">
              <a:buNone/>
            </a:pPr>
            <a:r>
              <a:rPr lang="en-GB" i="1" dirty="0"/>
              <a:t>}</a:t>
            </a:r>
          </a:p>
          <a:p>
            <a:pPr marL="0" indent="0">
              <a:buNone/>
            </a:pPr>
            <a:r>
              <a:rPr lang="en-GB" i="1" dirty="0"/>
              <a:t>void main(){</a:t>
            </a:r>
          </a:p>
          <a:p>
            <a:pPr marL="0" indent="0">
              <a:buNone/>
            </a:pPr>
            <a:r>
              <a:rPr lang="en-GB" i="1" dirty="0"/>
              <a:t>     f(11);</a:t>
            </a:r>
          </a:p>
          <a:p>
            <a:pPr marL="0" indent="0">
              <a:buNone/>
            </a:pPr>
            <a:r>
              <a:rPr lang="en-GB" i="1" dirty="0"/>
              <a:t>     int y = f(8);</a:t>
            </a:r>
          </a:p>
          <a:p>
            <a:pPr marL="0" indent="0">
              <a:buNone/>
            </a:pPr>
            <a:r>
              <a:rPr lang="en-GB" i="1" dirty="0"/>
              <a:t>}</a:t>
            </a:r>
            <a:endParaRPr lang="en-SG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B3721-0441-7159-18C4-3AF68753BFE2}"/>
              </a:ext>
            </a:extLst>
          </p:cNvPr>
          <p:cNvSpPr/>
          <p:nvPr/>
        </p:nvSpPr>
        <p:spPr>
          <a:xfrm>
            <a:off x="8542215" y="211017"/>
            <a:ext cx="3548185" cy="62818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 err="1"/>
              <a:t>BeginFunc</a:t>
            </a:r>
            <a:r>
              <a:rPr lang="en-SG" dirty="0"/>
              <a:t> 8</a:t>
            </a:r>
          </a:p>
          <a:p>
            <a:pPr algn="ctr"/>
            <a:r>
              <a:rPr lang="en-SG" dirty="0"/>
              <a:t>_t0 := z</a:t>
            </a:r>
          </a:p>
          <a:p>
            <a:pPr algn="ctr"/>
            <a:r>
              <a:rPr lang="en-SG" dirty="0"/>
              <a:t>_t1 := _t0*_t0</a:t>
            </a:r>
          </a:p>
          <a:p>
            <a:pPr algn="ctr"/>
            <a:r>
              <a:rPr lang="en-SG" dirty="0" err="1"/>
              <a:t>EndFunc</a:t>
            </a:r>
            <a:endParaRPr lang="en-SG" dirty="0"/>
          </a:p>
          <a:p>
            <a:pPr algn="ctr"/>
            <a:endParaRPr lang="en-SG" dirty="0"/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 err="1"/>
              <a:t>BeginFunc</a:t>
            </a:r>
            <a:r>
              <a:rPr lang="en-SG" dirty="0"/>
              <a:t> 12</a:t>
            </a:r>
          </a:p>
          <a:p>
            <a:pPr algn="ctr"/>
            <a:r>
              <a:rPr lang="en-SG" dirty="0"/>
              <a:t>_t2 := 11</a:t>
            </a:r>
          </a:p>
          <a:p>
            <a:pPr algn="ctr"/>
            <a:r>
              <a:rPr lang="en-SG" dirty="0"/>
              <a:t>Push _t2</a:t>
            </a:r>
          </a:p>
          <a:p>
            <a:pPr algn="ctr"/>
            <a:r>
              <a:rPr lang="en-SG" dirty="0" err="1"/>
              <a:t>LCall</a:t>
            </a:r>
            <a:r>
              <a:rPr lang="en-SG" dirty="0"/>
              <a:t> L0</a:t>
            </a:r>
          </a:p>
          <a:p>
            <a:pPr algn="ctr"/>
            <a:r>
              <a:rPr lang="en-SG" dirty="0"/>
              <a:t>Pop 4</a:t>
            </a:r>
          </a:p>
          <a:p>
            <a:pPr algn="ctr"/>
            <a:r>
              <a:rPr lang="en-SG" dirty="0"/>
              <a:t>_t3 := 8</a:t>
            </a:r>
          </a:p>
          <a:p>
            <a:pPr algn="ctr"/>
            <a:r>
              <a:rPr lang="en-SG" dirty="0"/>
              <a:t>Push _t3</a:t>
            </a:r>
          </a:p>
          <a:p>
            <a:pPr algn="ctr"/>
            <a:r>
              <a:rPr lang="en-SG" dirty="0" err="1"/>
              <a:t>LCall</a:t>
            </a:r>
            <a:r>
              <a:rPr lang="en-SG" dirty="0"/>
              <a:t> L0</a:t>
            </a:r>
          </a:p>
          <a:p>
            <a:pPr algn="ctr"/>
            <a:r>
              <a:rPr lang="en-SG" dirty="0"/>
              <a:t>y := Pop 4</a:t>
            </a:r>
          </a:p>
          <a:p>
            <a:pPr algn="ctr"/>
            <a:r>
              <a:rPr lang="en-SG" dirty="0" err="1"/>
              <a:t>EndFunc</a:t>
            </a:r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986451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182C-598B-F8A4-AA55-AE783A53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 counter, Frame pointers, Global variables, etc.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870D-D81B-8EFE-9496-40FDD6C3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general, TAC does not specify where variables and temporaries are stored in the stack. It might require to bring in concepts from Stacks and Procedures, such as:</a:t>
            </a:r>
          </a:p>
          <a:p>
            <a:r>
              <a:rPr lang="en-GB" b="1" dirty="0"/>
              <a:t>Frame Pointer/Base pointer: </a:t>
            </a:r>
            <a:r>
              <a:rPr lang="en-GB" dirty="0"/>
              <a:t>A pointer points to the base of the current function activation record on the stack.</a:t>
            </a:r>
          </a:p>
          <a:p>
            <a:pPr marL="0" indent="0">
              <a:buNone/>
            </a:pPr>
            <a:r>
              <a:rPr lang="en-GB" dirty="0"/>
              <a:t>The activation record typically includes the function's local variables, any temporary values or registers, and other metadata that is needed to execute the function.</a:t>
            </a:r>
          </a:p>
        </p:txBody>
      </p:sp>
    </p:spTree>
    <p:extLst>
      <p:ext uri="{BB962C8B-B14F-4D97-AF65-F5344CB8AC3E}">
        <p14:creationId xmlns:p14="http://schemas.microsoft.com/office/powerpoint/2010/main" val="27536102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F6F8266-F947-E18D-ACF3-8A05441ED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51" y="0"/>
            <a:ext cx="9152298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B86A3CF-D1EE-01D0-8132-44FA8EDC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GB" dirty="0"/>
              <a:t>Using a frame pointer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432007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CF1DFA98-A739-D313-4B7B-610C32D79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51" y="0"/>
            <a:ext cx="9152298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C7FE22B-3516-26E9-2145-4169051E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GB" dirty="0"/>
              <a:t>Using a frame pointer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031377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D161237-6B1C-4F91-7D1E-652C1A582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51" y="0"/>
            <a:ext cx="9152298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B8AB869-1D99-755A-5A60-E5C404356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GB" dirty="0"/>
              <a:t>Using a frame pointer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944640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182C-598B-F8A4-AA55-AE783A53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 counter, Frame pointers, Global variables, etc.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870D-D81B-8EFE-9496-40FDD6C3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3016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general, TAC does not specify where variables and temporaries are stored in the stack. It might require to bring in concepts from Stacks and Procedures, such as:</a:t>
            </a:r>
          </a:p>
          <a:p>
            <a:r>
              <a:rPr lang="en-GB" b="1" dirty="0"/>
              <a:t>Program Counter/Pointer: </a:t>
            </a:r>
            <a:r>
              <a:rPr lang="en-GB" dirty="0"/>
              <a:t>Internally, the processor has a special register called the program counter/pointer (PC) that stores the address of the next instruction to execute.</a:t>
            </a:r>
          </a:p>
          <a:p>
            <a:r>
              <a:rPr lang="en-GB" dirty="0"/>
              <a:t>Whenever a function returns it shall restore the PC to the correct value, so that the calling function resumes its execution where it left off.</a:t>
            </a:r>
          </a:p>
          <a:p>
            <a:r>
              <a:rPr lang="en-GB" dirty="0"/>
              <a:t>We often store this address in our stack, along with function parameters and temporaries, in a location called the </a:t>
            </a:r>
            <a:r>
              <a:rPr lang="en-GB" b="1" dirty="0"/>
              <a:t>Return Address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6848530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&#10;&#10;Description automatically generated with low confidence">
            <a:extLst>
              <a:ext uri="{FF2B5EF4-FFF2-40B4-BE49-F238E27FC236}">
                <a16:creationId xmlns:a16="http://schemas.microsoft.com/office/drawing/2014/main" id="{310FAD7D-8A04-CAE8-A002-CEBCA08CE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51" y="0"/>
            <a:ext cx="9152298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7F1868C-F1C4-1B8D-2C70-0913FE60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GB" dirty="0"/>
              <a:t>Using a caller addresses and return addresses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676520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BA20A6C-CAEA-6B9A-5437-9804EF184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51" y="0"/>
            <a:ext cx="9152298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977D47D-97D7-5088-F5B0-0C87238E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GB" dirty="0"/>
              <a:t>Using a caller addresses and return addresses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558780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8E625C75-8FC7-01D1-8EF3-1746568EC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51" y="0"/>
            <a:ext cx="9152298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9E54FB6-D3B1-F2FE-EF4C-30640BAF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GB" dirty="0"/>
              <a:t>Using a caller addresses and return addresses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160259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9DAD24BD-19EA-090A-68C7-A3D1F7561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51" y="0"/>
            <a:ext cx="9152298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E7A75FA-BE00-CF1D-FA6D-063A0048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GB" dirty="0"/>
              <a:t>Using a caller addresses and return addresses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60946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182C-598B-F8A4-AA55-AE783A53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 counter, Frame pointers, Global variables, etc.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870D-D81B-8EFE-9496-40FDD6C3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general, TAC does not specify where variables and temporaries are stored in the stack. It might require to bring in concepts from Stacks and Procedures, such as:</a:t>
            </a:r>
          </a:p>
          <a:p>
            <a:r>
              <a:rPr lang="en-GB" b="1" dirty="0"/>
              <a:t>Global Pointer: </a:t>
            </a:r>
            <a:r>
              <a:rPr lang="en-GB" dirty="0"/>
              <a:t>Some compilers will typically allow for LEGB scope searching, which means there should be a register for global variables that the TAC can use for computation.</a:t>
            </a:r>
          </a:p>
          <a:p>
            <a:r>
              <a:rPr lang="en-GB" b="1" dirty="0"/>
              <a:t>A bit more advanced (and definitely out of scope), but often stored on top of the previous stack.</a:t>
            </a:r>
          </a:p>
          <a:p>
            <a:r>
              <a:rPr lang="en-GB" b="1" dirty="0"/>
              <a:t>Adding entries to global scope makes the stack go up.</a:t>
            </a:r>
          </a:p>
          <a:p>
            <a:r>
              <a:rPr lang="en-GB" b="1" dirty="0"/>
              <a:t>Opening function scopes makes the stack go down.</a:t>
            </a:r>
          </a:p>
        </p:txBody>
      </p:sp>
    </p:spTree>
    <p:extLst>
      <p:ext uri="{BB962C8B-B14F-4D97-AF65-F5344CB8AC3E}">
        <p14:creationId xmlns:p14="http://schemas.microsoft.com/office/powerpoint/2010/main" val="360047466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9A3E9D-85D6-C417-B53F-56029003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846" y="164997"/>
            <a:ext cx="7776307" cy="652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6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182C-598B-F8A4-AA55-AE783A53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 counter, Frame pointers, Global variables, etc.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870D-D81B-8EFE-9496-40FDD6C3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general, TAC does not specify where variables and temporaries are stored in the stack. It might require to bring in concepts from Stacks and Procedures, such as:</a:t>
            </a:r>
          </a:p>
          <a:p>
            <a:r>
              <a:rPr lang="en-GB" dirty="0"/>
              <a:t>Frame Pointer/Base Pointer,</a:t>
            </a:r>
          </a:p>
          <a:p>
            <a:r>
              <a:rPr lang="en-GB" dirty="0"/>
              <a:t>Program Counter/Pointer, and Return Addresses</a:t>
            </a:r>
            <a:endParaRPr lang="en-SG" dirty="0"/>
          </a:p>
          <a:p>
            <a:r>
              <a:rPr lang="en-GB" dirty="0"/>
              <a:t>Global Pointer,</a:t>
            </a:r>
          </a:p>
          <a:p>
            <a:r>
              <a:rPr lang="en-GB" dirty="0"/>
              <a:t>Etc.</a:t>
            </a:r>
          </a:p>
          <a:p>
            <a:pPr marL="0" indent="0">
              <a:buNone/>
            </a:pPr>
            <a:r>
              <a:rPr lang="en-GB" dirty="0"/>
              <a:t>Again, something already discussed in </a:t>
            </a:r>
            <a:r>
              <a:rPr lang="en-GB" b="1" dirty="0"/>
              <a:t>Stacks and Procedures</a:t>
            </a:r>
            <a:r>
              <a:rPr lang="en-GB" dirty="0"/>
              <a:t>,</a:t>
            </a:r>
            <a:r>
              <a:rPr lang="en-GB" b="1" dirty="0"/>
              <a:t> 50.002 Computation Structures</a:t>
            </a:r>
            <a:r>
              <a:rPr lang="en-GB" dirty="0"/>
              <a:t>!</a:t>
            </a:r>
            <a:br>
              <a:rPr lang="en-GB" dirty="0"/>
            </a:br>
            <a:r>
              <a:rPr lang="en-GB" dirty="0">
                <a:hlinkClick r:id="rId2"/>
              </a:rPr>
              <a:t>https://natalieagus.github.io/50002/notes/stackandprocedures</a:t>
            </a:r>
            <a:endParaRPr lang="en-GB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B2A59-B8DF-0C04-EBAA-3E4780AE856C}"/>
              </a:ext>
            </a:extLst>
          </p:cNvPr>
          <p:cNvSpPr txBox="1"/>
          <p:nvPr/>
        </p:nvSpPr>
        <p:spPr>
          <a:xfrm rot="21049070">
            <a:off x="7432431" y="3791882"/>
            <a:ext cx="46247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Out of scope for 50.051,</a:t>
            </a:r>
            <a:br>
              <a:rPr lang="en-GB" sz="2800" b="1" dirty="0">
                <a:solidFill>
                  <a:srgbClr val="7030A0"/>
                </a:solidFill>
              </a:rPr>
            </a:br>
            <a:r>
              <a:rPr lang="en-GB" sz="2800" b="1" dirty="0">
                <a:solidFill>
                  <a:srgbClr val="7030A0"/>
                </a:solidFill>
              </a:rPr>
              <a:t>but not 50.002!</a:t>
            </a:r>
            <a:endParaRPr lang="en-SG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2913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9749-B38C-447A-C673-D9F980E3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on TAC for objects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FE11-33D2-C4FD-90DB-CB20FB900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9585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Encoding custom objects in TAC can prove to be very challenging.</a:t>
            </a:r>
          </a:p>
          <a:p>
            <a:r>
              <a:rPr lang="en-GB" dirty="0"/>
              <a:t>Need to allocate the right amount of space for attributes,</a:t>
            </a:r>
          </a:p>
          <a:p>
            <a:r>
              <a:rPr lang="en-GB" dirty="0"/>
              <a:t>Correctly link all methods and encode them correctly,</a:t>
            </a:r>
          </a:p>
          <a:p>
            <a:r>
              <a:rPr lang="en-GB" dirty="0"/>
              <a:t>Account for possible inheritance and overloading,</a:t>
            </a:r>
          </a:p>
          <a:p>
            <a:r>
              <a:rPr lang="en-GB" dirty="0"/>
              <a:t>Etc.</a:t>
            </a:r>
          </a:p>
          <a:p>
            <a:r>
              <a:rPr lang="en-GB" dirty="0"/>
              <a:t>Intuitively, we understand that it can be done with a </a:t>
            </a:r>
            <a:r>
              <a:rPr lang="en-GB" dirty="0" err="1"/>
              <a:t>vtable</a:t>
            </a:r>
            <a:r>
              <a:rPr lang="en-GB" dirty="0"/>
              <a:t> of some sort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Definitely out-of-scope!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0849002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0B32-E343-BD11-179D-31371296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on TAC for objects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0DDBF-A623-19FE-C5DA-3CA4BEEB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286" y="1690688"/>
            <a:ext cx="7843427" cy="515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0890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C097-41E6-D814-75A9-F195CF04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9EB73-EBC0-FF27-37AB-93B982E32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We understand how TAC is done and what intricacies might be required…</a:t>
            </a:r>
          </a:p>
          <a:p>
            <a:r>
              <a:rPr lang="en-GB" dirty="0"/>
              <a:t>Introduction to TAC.</a:t>
            </a:r>
          </a:p>
          <a:p>
            <a:r>
              <a:rPr lang="en-GB" dirty="0"/>
              <a:t>TAC for simple expressions.</a:t>
            </a:r>
          </a:p>
          <a:p>
            <a:r>
              <a:rPr lang="en-GB" dirty="0"/>
              <a:t>TAC for functions and function calls.</a:t>
            </a:r>
          </a:p>
          <a:p>
            <a:r>
              <a:rPr lang="en-GB" dirty="0"/>
              <a:t>TAC for objects.</a:t>
            </a:r>
          </a:p>
          <a:p>
            <a:r>
              <a:rPr lang="en-GB" dirty="0"/>
              <a:t>TAC for arrays.</a:t>
            </a:r>
          </a:p>
          <a:p>
            <a:r>
              <a:rPr lang="en-GB" dirty="0"/>
              <a:t>Generating TAC.</a:t>
            </a:r>
          </a:p>
          <a:p>
            <a:r>
              <a:rPr lang="en-GB" dirty="0"/>
              <a:t>A few low-level details.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0370813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middle-end of a compiler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849336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next step after Intermediate code generation is then Code optimization!</a:t>
            </a:r>
          </a:p>
          <a:p>
            <a:pPr marL="0" indent="0">
              <a:buNone/>
            </a:pPr>
            <a:r>
              <a:rPr lang="en-GB" dirty="0"/>
              <a:t>(Because, yes, our TAC codes at the moment are functional but not exactly looking great…)</a:t>
            </a:r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11"/>
          <a:stretch/>
        </p:blipFill>
        <p:spPr>
          <a:xfrm>
            <a:off x="2507830" y="4001476"/>
            <a:ext cx="5154106" cy="28565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DA74E1-E868-A6C9-857A-4677AF09428E}"/>
              </a:ext>
            </a:extLst>
          </p:cNvPr>
          <p:cNvSpPr/>
          <p:nvPr/>
        </p:nvSpPr>
        <p:spPr>
          <a:xfrm>
            <a:off x="9659815" y="125046"/>
            <a:ext cx="2258647" cy="659618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TAC code</a:t>
            </a:r>
          </a:p>
          <a:p>
            <a:pPr algn="ctr"/>
            <a:r>
              <a:rPr lang="en-SG" dirty="0"/>
              <a:t>L0:</a:t>
            </a:r>
          </a:p>
          <a:p>
            <a:pPr algn="ctr"/>
            <a:r>
              <a:rPr lang="en-SG" dirty="0"/>
              <a:t>_t7 := x</a:t>
            </a:r>
          </a:p>
          <a:p>
            <a:pPr algn="ctr"/>
            <a:r>
              <a:rPr lang="en-SG" dirty="0"/>
              <a:t>_t4 := _t7</a:t>
            </a:r>
          </a:p>
          <a:p>
            <a:pPr algn="ctr"/>
            <a:r>
              <a:rPr lang="en-SG" dirty="0"/>
              <a:t>_t8 := y</a:t>
            </a:r>
          </a:p>
          <a:p>
            <a:pPr algn="ctr"/>
            <a:r>
              <a:rPr lang="en-SG" dirty="0"/>
              <a:t>_t5 := _t8</a:t>
            </a:r>
          </a:p>
          <a:p>
            <a:pPr algn="ctr"/>
            <a:r>
              <a:rPr lang="en-SG" dirty="0"/>
              <a:t>_t6 := _t4 &lt; _t5</a:t>
            </a:r>
          </a:p>
          <a:p>
            <a:pPr algn="ctr"/>
            <a:r>
              <a:rPr lang="en-SG" dirty="0"/>
              <a:t>_t0 := _t6</a:t>
            </a:r>
          </a:p>
          <a:p>
            <a:pPr algn="ctr"/>
            <a:r>
              <a:rPr lang="en-SG" dirty="0"/>
              <a:t>if _t0 </a:t>
            </a:r>
            <a:r>
              <a:rPr lang="en-SG" dirty="0" err="1"/>
              <a:t>goto</a:t>
            </a:r>
            <a:r>
              <a:rPr lang="en-SG" dirty="0"/>
              <a:t> L1</a:t>
            </a:r>
          </a:p>
          <a:p>
            <a:pPr algn="ctr"/>
            <a:r>
              <a:rPr lang="en-SG" dirty="0"/>
              <a:t>jump L2</a:t>
            </a:r>
          </a:p>
          <a:p>
            <a:pPr algn="ctr"/>
            <a:r>
              <a:rPr lang="en-SG" dirty="0"/>
              <a:t>L1:</a:t>
            </a:r>
          </a:p>
          <a:p>
            <a:pPr algn="ctr"/>
            <a:r>
              <a:rPr lang="en-SG" dirty="0"/>
              <a:t>z := x</a:t>
            </a:r>
          </a:p>
          <a:p>
            <a:pPr algn="ctr"/>
            <a:r>
              <a:rPr lang="en-SG" dirty="0"/>
              <a:t>_t1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L2:</a:t>
            </a:r>
          </a:p>
          <a:p>
            <a:pPr algn="ctr"/>
            <a:r>
              <a:rPr lang="en-SG" dirty="0"/>
              <a:t>x := y</a:t>
            </a:r>
          </a:p>
          <a:p>
            <a:pPr algn="ctr"/>
            <a:r>
              <a:rPr lang="en-SG" dirty="0"/>
              <a:t>_t2 := null</a:t>
            </a:r>
          </a:p>
          <a:p>
            <a:pPr algn="ctr"/>
            <a:r>
              <a:rPr lang="en-SG" dirty="0"/>
              <a:t>jump L3</a:t>
            </a:r>
          </a:p>
          <a:p>
            <a:pPr algn="ctr"/>
            <a:r>
              <a:rPr lang="en-SG" dirty="0"/>
              <a:t>L3:</a:t>
            </a:r>
          </a:p>
          <a:p>
            <a:pPr algn="ctr"/>
            <a:r>
              <a:rPr lang="en-SG" dirty="0"/>
              <a:t>_t8 := z</a:t>
            </a:r>
          </a:p>
          <a:p>
            <a:pPr algn="ctr"/>
            <a:r>
              <a:rPr lang="en-SG" dirty="0"/>
              <a:t>_t9 := z</a:t>
            </a:r>
          </a:p>
          <a:p>
            <a:pPr algn="ctr"/>
            <a:r>
              <a:rPr lang="en-SG" dirty="0"/>
              <a:t>_t10 = z*z</a:t>
            </a:r>
          </a:p>
          <a:p>
            <a:pPr algn="ctr"/>
            <a:r>
              <a:rPr lang="en-SG" dirty="0"/>
              <a:t>z := _t10</a:t>
            </a:r>
          </a:p>
        </p:txBody>
      </p:sp>
    </p:spTree>
    <p:extLst>
      <p:ext uri="{BB962C8B-B14F-4D97-AF65-F5344CB8AC3E}">
        <p14:creationId xmlns:p14="http://schemas.microsoft.com/office/powerpoint/2010/main" val="60402970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A30-6684-2E97-47E0-AF69AF54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875254-CC77-41F2-0959-DED77000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the structure of a three-address code?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Three operands and one operator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Two operands and two operators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One operand and three operators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Three operands and no operator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9391280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A30-6684-2E97-47E0-AF69AF54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875254-CC77-41F2-0959-DED77000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the structure of a three-address code?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Three operands and one operator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Two operands and two operators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One operand and three operators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Three operands and no operator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2732692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1069-A8BE-FE55-5F34-EF006B72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478B-41F6-6DF6-B7C6-378C2C2B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context of three-address code, what is the purpose of the "basic block" concept?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define a sequence of code with a single entry and exit point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divide code into smaller, manageable units for optimization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handle loops and conditional statements correctly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All of the above</a:t>
            </a:r>
          </a:p>
          <a:p>
            <a:pPr marL="514350" indent="-514350">
              <a:buFont typeface="+mj-lt"/>
              <a:buAutoNum type="alphaUcPeriod"/>
            </a:pPr>
            <a:r>
              <a:rPr lang="en-SG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2925839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1069-A8BE-FE55-5F34-EF006B72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478B-41F6-6DF6-B7C6-378C2C2B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the context of three-address code, what is the purpose of the "basic block" concept?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define a sequence of code with a single entry and exit point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divide code into smaller, manageable units for optimization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handle loops and conditional statements correctly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All of the above (more on B in the next lecture!)</a:t>
            </a:r>
          </a:p>
          <a:p>
            <a:pPr marL="514350" indent="-514350">
              <a:buFont typeface="+mj-lt"/>
              <a:buAutoNum type="alphaUcPeriod"/>
            </a:pPr>
            <a:r>
              <a:rPr lang="en-SG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228402102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A30-6684-2E97-47E0-AF69AF54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875254-CC77-41F2-0959-DED77000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is NOT a common operation in three-address code?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Arithmetic operations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Conditional jumps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Function calls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Dynamic memory allocation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054730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A30-6684-2E97-47E0-AF69AF54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875254-CC77-41F2-0959-DED77000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is NOT a common operation in three-address code?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Arithmetic operations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Conditional jumps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Function calls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Dynamic memory allocation (that is something the backend will have to resolve later on during register allocation!)</a:t>
            </a:r>
            <a:endParaRPr lang="en-SG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0950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F391-A6F7-0335-E411-622BF08D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2: a while statement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EC139-0483-5F35-50BA-7187F68B0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x = 1</a:t>
            </a:r>
          </a:p>
          <a:p>
            <a:pPr marL="0" indent="0">
              <a:buNone/>
            </a:pPr>
            <a:r>
              <a:rPr lang="en-GB" i="1" dirty="0"/>
              <a:t>y = 3</a:t>
            </a:r>
          </a:p>
          <a:p>
            <a:pPr marL="0" indent="0">
              <a:buNone/>
            </a:pPr>
            <a:r>
              <a:rPr lang="en-GB" i="1" dirty="0"/>
              <a:t>while(x &lt; y):</a:t>
            </a:r>
          </a:p>
          <a:p>
            <a:pPr marL="0" indent="0">
              <a:buNone/>
            </a:pPr>
            <a:r>
              <a:rPr lang="en-GB" i="1" dirty="0"/>
              <a:t>      x = x + 2;</a:t>
            </a:r>
          </a:p>
          <a:p>
            <a:pPr marL="0" indent="0">
              <a:buNone/>
            </a:pPr>
            <a:r>
              <a:rPr lang="en-GB" i="1" dirty="0"/>
              <a:t>      z = x;</a:t>
            </a:r>
          </a:p>
          <a:p>
            <a:pPr marL="0" indent="0">
              <a:buNone/>
            </a:pPr>
            <a:r>
              <a:rPr lang="en-SG" i="1" dirty="0"/>
              <a:t>z = z*z;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72589-B291-374A-1697-D60001B23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#1: </a:t>
            </a:r>
            <a:r>
              <a:rPr lang="en-GB" dirty="0"/>
              <a:t>How would you write the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for the while statement?</a:t>
            </a:r>
          </a:p>
          <a:p>
            <a:pPr marL="0" indent="0">
              <a:buNone/>
            </a:pPr>
            <a:r>
              <a:rPr lang="en-GB" dirty="0"/>
              <a:t>You may look for inspiration by looking at the if() statement one.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#2: </a:t>
            </a:r>
            <a:r>
              <a:rPr lang="en-GB" dirty="0"/>
              <a:t>What would the TAC code be then?</a:t>
            </a:r>
          </a:p>
        </p:txBody>
      </p:sp>
    </p:spTree>
    <p:extLst>
      <p:ext uri="{BB962C8B-B14F-4D97-AF65-F5344CB8AC3E}">
        <p14:creationId xmlns:p14="http://schemas.microsoft.com/office/powerpoint/2010/main" val="77504686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F391-A6F7-0335-E411-622BF08D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3: a while statement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EC139-0483-5F35-50BA-7187F68B0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#1: </a:t>
            </a:r>
            <a:r>
              <a:rPr lang="en-GB" dirty="0"/>
              <a:t>How would you write the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 for the for loop statement in C?</a:t>
            </a:r>
          </a:p>
          <a:p>
            <a:pPr marL="0" indent="0">
              <a:buNone/>
            </a:pPr>
            <a:r>
              <a:rPr lang="en-GB" dirty="0"/>
              <a:t>You may look for inspiration by looking at the if() statement one and the while() statement in the previous activity.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Question #2 (somewhat difficult): </a:t>
            </a:r>
            <a:r>
              <a:rPr lang="en-GB" dirty="0"/>
              <a:t>How would you then </a:t>
            </a:r>
            <a:r>
              <a:rPr lang="en-GB" dirty="0" err="1"/>
              <a:t>agrement</a:t>
            </a:r>
            <a:r>
              <a:rPr lang="en-GB" dirty="0"/>
              <a:t> it to account for a possible break keyword?</a:t>
            </a:r>
          </a:p>
        </p:txBody>
      </p:sp>
    </p:spTree>
    <p:extLst>
      <p:ext uri="{BB962C8B-B14F-4D97-AF65-F5344CB8AC3E}">
        <p14:creationId xmlns:p14="http://schemas.microsoft.com/office/powerpoint/2010/main" val="288516072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F391-A6F7-0335-E411-622BF08D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4: a switch statement TAC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EC139-0483-5F35-50BA-7187F68B0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 (somewhat tedious): </a:t>
            </a:r>
            <a:r>
              <a:rPr lang="en-GB" dirty="0"/>
              <a:t>How would you write the </a:t>
            </a:r>
            <a:r>
              <a:rPr lang="en-GB" i="1" dirty="0" err="1"/>
              <a:t>cgen</a:t>
            </a:r>
            <a:r>
              <a:rPr lang="en-GB" i="1" dirty="0"/>
              <a:t>() </a:t>
            </a:r>
            <a:r>
              <a:rPr lang="en-GB" dirty="0"/>
              <a:t>function for the switch statement in C?</a:t>
            </a:r>
          </a:p>
        </p:txBody>
      </p:sp>
    </p:spTree>
    <p:extLst>
      <p:ext uri="{BB962C8B-B14F-4D97-AF65-F5344CB8AC3E}">
        <p14:creationId xmlns:p14="http://schemas.microsoft.com/office/powerpoint/2010/main" val="77695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2322</TotalTime>
  <Words>11188</Words>
  <Application>Microsoft Office PowerPoint</Application>
  <PresentationFormat>Widescreen</PresentationFormat>
  <Paragraphs>1398</Paragraphs>
  <Slides>121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7" baseType="lpstr">
      <vt:lpstr>Arial</vt:lpstr>
      <vt:lpstr>Calibri</vt:lpstr>
      <vt:lpstr>Calibri Light</vt:lpstr>
      <vt:lpstr>Cambria Math</vt:lpstr>
      <vt:lpstr>Wingdings</vt:lpstr>
      <vt:lpstr>Office Theme</vt:lpstr>
      <vt:lpstr>50.051 Programming Language Concepts  W11-S2 (Bonus) Intermediate Code Generation</vt:lpstr>
      <vt:lpstr>Code is legal!</vt:lpstr>
      <vt:lpstr>The middle-end of a compiler</vt:lpstr>
      <vt:lpstr>Intermediate code generation</vt:lpstr>
      <vt:lpstr>Intermediate code generation</vt:lpstr>
      <vt:lpstr>Three-address code representation</vt:lpstr>
      <vt:lpstr>Three-address code representation</vt:lpstr>
      <vt:lpstr>Overview</vt:lpstr>
      <vt:lpstr>A quick note before we start</vt:lpstr>
      <vt:lpstr>CFG for TAC</vt:lpstr>
      <vt:lpstr>Basic block in TAC</vt:lpstr>
      <vt:lpstr>Basic block in TAC</vt:lpstr>
      <vt:lpstr>Basic block in TAC</vt:lpstr>
      <vt:lpstr>Basic block in TAC</vt:lpstr>
      <vt:lpstr>Control flow graph</vt:lpstr>
      <vt:lpstr>TAC for simple expressions</vt:lpstr>
      <vt:lpstr>TAC for simple expressions</vt:lpstr>
      <vt:lpstr>TAC for simple expressions</vt:lpstr>
      <vt:lpstr>TAC for simple expressions</vt:lpstr>
      <vt:lpstr>TAC for simple expressions</vt:lpstr>
      <vt:lpstr>TAC for simple expressions</vt:lpstr>
      <vt:lpstr>TAC for simple expressions</vt:lpstr>
      <vt:lpstr>TAC for simple expressions</vt:lpstr>
      <vt:lpstr>TAC for simple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TAC generation for SDT expressions</vt:lpstr>
      <vt:lpstr>Remember what we said earlier</vt:lpstr>
      <vt:lpstr>Practice: TAC for booleans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control structures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Revised TAC for control structures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if statement</vt:lpstr>
      <vt:lpstr>TAC for function calls</vt:lpstr>
      <vt:lpstr>TAC for function calls</vt:lpstr>
      <vt:lpstr>Handling function calls with a stack</vt:lpstr>
      <vt:lpstr>Handling function calls with a stack</vt:lpstr>
      <vt:lpstr>Handling function calls with a stack</vt:lpstr>
      <vt:lpstr>Handling function calls with a stack</vt:lpstr>
      <vt:lpstr>Handling function calls with a stack</vt:lpstr>
      <vt:lpstr>Handling function calls with a stack</vt:lpstr>
      <vt:lpstr>Handling function calls with a stack</vt:lpstr>
      <vt:lpstr>Handling function calls with a stack</vt:lpstr>
      <vt:lpstr>A blast from the past!</vt:lpstr>
      <vt:lpstr>TAC for function calls</vt:lpstr>
      <vt:lpstr>Program counter, Frame pointers, Global variables, etc.</vt:lpstr>
      <vt:lpstr>Using a frame pointer</vt:lpstr>
      <vt:lpstr>Using a frame pointer</vt:lpstr>
      <vt:lpstr>Using a frame pointer</vt:lpstr>
      <vt:lpstr>Program counter, Frame pointers, Global variables, etc.</vt:lpstr>
      <vt:lpstr>Using a caller addresses and return addresses</vt:lpstr>
      <vt:lpstr>Using a caller addresses and return addresses</vt:lpstr>
      <vt:lpstr>Using a caller addresses and return addresses</vt:lpstr>
      <vt:lpstr>Using a caller addresses and return addresses</vt:lpstr>
      <vt:lpstr>Program counter, Frame pointers, Global variables, etc.</vt:lpstr>
      <vt:lpstr>PowerPoint Presentation</vt:lpstr>
      <vt:lpstr>Program counter, Frame pointers, Global variables, etc.</vt:lpstr>
      <vt:lpstr>A quick word on TAC for objects</vt:lpstr>
      <vt:lpstr>A quick word on TAC for objects</vt:lpstr>
      <vt:lpstr>Conclusion</vt:lpstr>
      <vt:lpstr>The middle-end of a compiler</vt:lpstr>
      <vt:lpstr>Quiz time!</vt:lpstr>
      <vt:lpstr>Quiz time!</vt:lpstr>
      <vt:lpstr>Quiz time!</vt:lpstr>
      <vt:lpstr>Quiz time!</vt:lpstr>
      <vt:lpstr>Quiz time!</vt:lpstr>
      <vt:lpstr>Quiz time!</vt:lpstr>
      <vt:lpstr>Practice 2: a while statement TAC</vt:lpstr>
      <vt:lpstr>Practice 3: a while statement TAC</vt:lpstr>
      <vt:lpstr>Practice 4: a switch statement TAC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50.051 Programming Language Concepts  W1-S1 Introduction to Compilers and Course Outline</dc:title>
  <dc:creator>Matthieu DE MARI</dc:creator>
  <cp:lastModifiedBy>Matthieu De Mari</cp:lastModifiedBy>
  <cp:revision>1</cp:revision>
  <dcterms:created xsi:type="dcterms:W3CDTF">2023-03-02T06:54:24Z</dcterms:created>
  <dcterms:modified xsi:type="dcterms:W3CDTF">2026-01-14T10:09:27Z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2023-03-02T06:54:28Z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d53d049c-34cc-4ec9-a6d9-543a36f42364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