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377" r:id="rId2"/>
    <p:sldId id="304" r:id="rId3"/>
    <p:sldId id="379" r:id="rId4"/>
    <p:sldId id="380" r:id="rId5"/>
    <p:sldId id="492" r:id="rId6"/>
    <p:sldId id="494" r:id="rId7"/>
    <p:sldId id="381" r:id="rId8"/>
    <p:sldId id="382" r:id="rId9"/>
    <p:sldId id="383" r:id="rId10"/>
    <p:sldId id="384" r:id="rId11"/>
    <p:sldId id="484" r:id="rId12"/>
    <p:sldId id="486" r:id="rId13"/>
    <p:sldId id="488" r:id="rId14"/>
    <p:sldId id="489" r:id="rId15"/>
    <p:sldId id="490" r:id="rId16"/>
    <p:sldId id="491" r:id="rId17"/>
    <p:sldId id="493" r:id="rId18"/>
    <p:sldId id="495" r:id="rId19"/>
    <p:sldId id="496" r:id="rId20"/>
    <p:sldId id="497" r:id="rId21"/>
    <p:sldId id="538" r:id="rId22"/>
    <p:sldId id="499" r:id="rId23"/>
    <p:sldId id="501" r:id="rId24"/>
    <p:sldId id="504" r:id="rId25"/>
    <p:sldId id="502" r:id="rId26"/>
    <p:sldId id="506" r:id="rId27"/>
    <p:sldId id="505" r:id="rId28"/>
    <p:sldId id="507" r:id="rId29"/>
    <p:sldId id="508" r:id="rId30"/>
    <p:sldId id="510" r:id="rId31"/>
    <p:sldId id="511" r:id="rId32"/>
    <p:sldId id="512" r:id="rId33"/>
    <p:sldId id="513" r:id="rId34"/>
    <p:sldId id="514" r:id="rId35"/>
    <p:sldId id="515" r:id="rId36"/>
    <p:sldId id="516" r:id="rId37"/>
    <p:sldId id="517" r:id="rId38"/>
    <p:sldId id="518" r:id="rId39"/>
    <p:sldId id="519" r:id="rId40"/>
    <p:sldId id="520" r:id="rId41"/>
    <p:sldId id="521" r:id="rId42"/>
    <p:sldId id="522" r:id="rId43"/>
    <p:sldId id="523" r:id="rId44"/>
    <p:sldId id="524" r:id="rId45"/>
    <p:sldId id="526" r:id="rId46"/>
    <p:sldId id="527" r:id="rId47"/>
    <p:sldId id="528" r:id="rId48"/>
    <p:sldId id="529" r:id="rId49"/>
    <p:sldId id="530" r:id="rId50"/>
    <p:sldId id="531" r:id="rId51"/>
    <p:sldId id="532" r:id="rId52"/>
    <p:sldId id="533" r:id="rId53"/>
    <p:sldId id="534" r:id="rId54"/>
    <p:sldId id="550" r:id="rId55"/>
    <p:sldId id="552" r:id="rId56"/>
    <p:sldId id="553" r:id="rId57"/>
    <p:sldId id="551" r:id="rId58"/>
    <p:sldId id="554" r:id="rId59"/>
    <p:sldId id="555" r:id="rId60"/>
    <p:sldId id="556" r:id="rId61"/>
    <p:sldId id="557" r:id="rId62"/>
    <p:sldId id="535" r:id="rId63"/>
    <p:sldId id="536" r:id="rId64"/>
    <p:sldId id="537" r:id="rId65"/>
    <p:sldId id="539" r:id="rId66"/>
    <p:sldId id="541" r:id="rId67"/>
    <p:sldId id="542" r:id="rId68"/>
    <p:sldId id="543" r:id="rId69"/>
    <p:sldId id="545" r:id="rId70"/>
    <p:sldId id="544" r:id="rId71"/>
    <p:sldId id="548" r:id="rId72"/>
    <p:sldId id="549" r:id="rId73"/>
    <p:sldId id="546" r:id="rId74"/>
    <p:sldId id="547" r:id="rId75"/>
    <p:sldId id="540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78B9027-D5BB-40A0-9AF0-3B950F71C46E}">
          <p14:sldIdLst>
            <p14:sldId id="377"/>
          </p14:sldIdLst>
        </p14:section>
        <p14:section name="Where we are currently at" id="{E4027C28-2329-446B-90B6-6C9C15FFB9DE}">
          <p14:sldIdLst>
            <p14:sldId id="304"/>
            <p14:sldId id="379"/>
            <p14:sldId id="380"/>
          </p14:sldIdLst>
        </p14:section>
        <p14:section name="Typical semantics errors" id="{866E356C-BEEF-4A3A-B0EB-D8D5BD4996BC}">
          <p14:sldIdLst>
            <p14:sldId id="492"/>
            <p14:sldId id="494"/>
            <p14:sldId id="381"/>
            <p14:sldId id="382"/>
            <p14:sldId id="383"/>
          </p14:sldIdLst>
        </p14:section>
        <p14:section name="From source code to AST and beyond" id="{00824923-0C16-48E6-86FD-A26D023DEA13}">
          <p14:sldIdLst>
            <p14:sldId id="384"/>
            <p14:sldId id="484"/>
            <p14:sldId id="486"/>
            <p14:sldId id="488"/>
          </p14:sldIdLst>
        </p14:section>
        <p14:section name="Defining a scope" id="{57D4222B-0A37-42BD-90E1-0739F722C88B}">
          <p14:sldIdLst>
            <p14:sldId id="489"/>
            <p14:sldId id="490"/>
            <p14:sldId id="491"/>
          </p14:sldIdLst>
        </p14:section>
        <p14:section name="Static scoping" id="{2B10CA3C-9C84-4B98-92C8-812135BA5403}">
          <p14:sldIdLst>
            <p14:sldId id="493"/>
            <p14:sldId id="495"/>
            <p14:sldId id="496"/>
            <p14:sldId id="497"/>
            <p14:sldId id="538"/>
            <p14:sldId id="499"/>
          </p14:sldIdLst>
        </p14:section>
        <p14:section name="Demo for multiple scopes" id="{7BB0B52F-FED6-4385-BF67-289086069D57}">
          <p14:sldIdLst>
            <p14:sldId id="501"/>
            <p14:sldId id="504"/>
            <p14:sldId id="502"/>
            <p14:sldId id="506"/>
            <p14:sldId id="505"/>
            <p14:sldId id="507"/>
            <p14:sldId id="508"/>
            <p14:sldId id="510"/>
            <p14:sldId id="511"/>
            <p14:sldId id="512"/>
            <p14:sldId id="513"/>
            <p14:sldId id="514"/>
            <p14:sldId id="515"/>
            <p14:sldId id="516"/>
          </p14:sldIdLst>
        </p14:section>
        <p14:section name="Simple stack representation" id="{5407D0E9-446E-4729-93F0-F67BA133CB93}">
          <p14:sldIdLst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</p14:sldIdLst>
        </p14:section>
        <p14:section name="Spaghetti stack representation" id="{01F476F9-8E09-4B10-A600-F13AFD33E2B6}">
          <p14:sldIdLst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</p14:sldIdLst>
        </p14:section>
        <p14:section name="Catching scope errors" id="{01B7F809-EBDB-4D03-A8C9-34CF81BE95CC}">
          <p14:sldIdLst>
            <p14:sldId id="534"/>
          </p14:sldIdLst>
        </p14:section>
        <p14:section name="Levels of scoping" id="{DCE903B9-2947-4888-9EE2-3D8DFCAF642F}">
          <p14:sldIdLst>
            <p14:sldId id="550"/>
            <p14:sldId id="552"/>
            <p14:sldId id="553"/>
            <p14:sldId id="551"/>
            <p14:sldId id="554"/>
            <p14:sldId id="555"/>
            <p14:sldId id="556"/>
            <p14:sldId id="557"/>
          </p14:sldIdLst>
        </p14:section>
        <p14:section name="Single pass and multiple pass compilers" id="{65301FFA-A805-48EA-AA99-08B0875EB82B}">
          <p14:sldIdLst>
            <p14:sldId id="535"/>
            <p14:sldId id="536"/>
            <p14:sldId id="537"/>
          </p14:sldIdLst>
        </p14:section>
        <p14:section name="Quiz time!" id="{A5FEEDE3-8DDF-40D6-A8EB-48201A198BE2}">
          <p14:sldIdLst>
            <p14:sldId id="539"/>
            <p14:sldId id="541"/>
            <p14:sldId id="542"/>
            <p14:sldId id="543"/>
            <p14:sldId id="545"/>
            <p14:sldId id="544"/>
            <p14:sldId id="548"/>
            <p14:sldId id="549"/>
            <p14:sldId id="546"/>
            <p14:sldId id="547"/>
            <p14:sldId id="5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B37E7B-2C63-881E-D1CD-0B80C5165243}" name="Matthieu DE MARI" initials="MDM" userId="15f9bd7465eafad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16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custSel modSld">
      <pc:chgData name="Matthieu De Mari" userId="dfb708c9-d8dc-439f-9a3b-c772bf4a311c" providerId="ADAL" clId="{81E9B007-0C2C-493E-9B93-55A62C9C1F12}" dt="2026-01-14T09:15:37.808" v="188" actId="20577"/>
      <pc:docMkLst>
        <pc:docMk/>
      </pc:docMkLst>
      <pc:sldChg chg="modSp mod">
        <pc:chgData name="Matthieu De Mari" userId="dfb708c9-d8dc-439f-9a3b-c772bf4a311c" providerId="ADAL" clId="{81E9B007-0C2C-493E-9B93-55A62C9C1F12}" dt="2026-01-14T09:12:21.159" v="0" actId="33524"/>
        <pc:sldMkLst>
          <pc:docMk/>
          <pc:sldMk cId="3949398241" sldId="491"/>
        </pc:sldMkLst>
        <pc:spChg chg="mod">
          <ac:chgData name="Matthieu De Mari" userId="dfb708c9-d8dc-439f-9a3b-c772bf4a311c" providerId="ADAL" clId="{81E9B007-0C2C-493E-9B93-55A62C9C1F12}" dt="2026-01-14T09:12:21.159" v="0" actId="33524"/>
          <ac:spMkLst>
            <pc:docMk/>
            <pc:sldMk cId="3949398241" sldId="491"/>
            <ac:spMk id="3" creationId="{5EE2607B-04C7-FCC5-A42B-DF3ABB4A8C17}"/>
          </ac:spMkLst>
        </pc:spChg>
      </pc:sldChg>
      <pc:sldChg chg="modSp mod">
        <pc:chgData name="Matthieu De Mari" userId="dfb708c9-d8dc-439f-9a3b-c772bf4a311c" providerId="ADAL" clId="{81E9B007-0C2C-493E-9B93-55A62C9C1F12}" dt="2026-01-14T09:14:27.687" v="71" actId="27636"/>
        <pc:sldMkLst>
          <pc:docMk/>
          <pc:sldMk cId="2713274906" sldId="554"/>
        </pc:sldMkLst>
        <pc:spChg chg="mod">
          <ac:chgData name="Matthieu De Mari" userId="dfb708c9-d8dc-439f-9a3b-c772bf4a311c" providerId="ADAL" clId="{81E9B007-0C2C-493E-9B93-55A62C9C1F12}" dt="2026-01-14T09:14:27.687" v="71" actId="27636"/>
          <ac:spMkLst>
            <pc:docMk/>
            <pc:sldMk cId="2713274906" sldId="554"/>
            <ac:spMk id="3" creationId="{15854D76-270A-F140-7AC1-971B10AEA5FF}"/>
          </ac:spMkLst>
        </pc:spChg>
      </pc:sldChg>
      <pc:sldChg chg="modSp mod">
        <pc:chgData name="Matthieu De Mari" userId="dfb708c9-d8dc-439f-9a3b-c772bf4a311c" providerId="ADAL" clId="{81E9B007-0C2C-493E-9B93-55A62C9C1F12}" dt="2026-01-14T09:15:37.808" v="188" actId="20577"/>
        <pc:sldMkLst>
          <pc:docMk/>
          <pc:sldMk cId="4014589629" sldId="555"/>
        </pc:sldMkLst>
        <pc:spChg chg="mod">
          <ac:chgData name="Matthieu De Mari" userId="dfb708c9-d8dc-439f-9a3b-c772bf4a311c" providerId="ADAL" clId="{81E9B007-0C2C-493E-9B93-55A62C9C1F12}" dt="2026-01-14T09:15:37.808" v="188" actId="20577"/>
          <ac:spMkLst>
            <pc:docMk/>
            <pc:sldMk cId="4014589629" sldId="555"/>
            <ac:spMk id="5" creationId="{ABC2412B-9BD4-1314-5079-1CD98CB2F0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FC6A4-B085-437B-8084-693BEB2A32DE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275F3-0744-4B3F-986A-B720E2CE05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98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04E3-9B9E-0B91-AA29-B356F19B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6A716-5C7D-F23B-5221-64E9C8264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54BE-C464-1858-7CE8-EE087B71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678C-234A-A12A-C292-CF7A8FE3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58BCA-A573-1FAE-54DF-9261AECB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904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CDC6-8674-88A5-68BA-4DF3EF7F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D233-6835-D2C8-D4B6-2377CA69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CB200-8CA3-3D50-247E-E1694850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3C4F2-0C9D-182B-FAF9-7AF1B77A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C91B-956F-EA73-BCF4-F0796288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0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F325-7251-4FD9-5A0A-482D9675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414C-39F5-968A-8953-D6E4A4BB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87D6-E021-15BD-3F47-6B3A2CEA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3CE0-0459-2E8E-3279-EF5B62DD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9588-601F-7C26-2A07-334BD5E2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704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D91B-BBA0-866E-9BF6-0971AE77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88D2-0925-B3F9-22BD-A25915E04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4DBE8-2CD0-1238-EE02-0801D12E7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C1A08-9D08-4757-4860-2175B17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B010B-6483-0B1F-5B0B-B6832388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C635F-808F-F58D-6EB6-0AE5EFDB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424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DC9-E3FF-E219-0E49-D7D20A95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6D7B-100B-C183-40D4-96803F1BB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2DE0A-2907-D16A-F14E-54AFDA36A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0E894-7CE5-F017-AA15-A24E5281D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20203-5A0A-1AF2-47B3-27418EB2D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A0826-6B70-B30F-F054-248E26E2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3948B-56AE-8DB5-883D-7E0ADA59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00A08-E897-BB96-0E14-88D07380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050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D70C-4ED2-C81B-9AC6-3791B46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A99B7-97F4-423D-BDAF-4827705C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ED9FE-3730-E498-E87E-C5D4F1C9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A7511-9EBE-2037-4332-F5B0B6AA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330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8D6E9-5B1E-E414-B4BB-A00EAB4A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7774D-CDCD-146B-FC2D-28E83A7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59B5-E4B6-9852-BE06-6B29AE88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1E7E-7FFC-7D20-B361-9F3B52AD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E599-603D-2F32-D4D8-DBAFE7625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CE027-AF2D-0C5B-C650-3D1DF50C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35D9-EACF-710A-C495-B386C262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95A1-CCC7-8794-CBB7-67865E6A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8442F-C062-76CF-A283-7F9D4006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20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101F-436C-78D4-3353-52675D70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DD766-D53E-402F-6ABB-7220593A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1012-864C-DA8A-6BE2-C7E016EFB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AF22-E284-A04F-35FA-BAC8CC46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DB1FE-2F11-940A-0D5F-F3D399A4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109B1-55CB-156E-CD60-2B1EB9DE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132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99D2-6E79-0D65-DB6E-B0BBE96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9EEA9-80A3-BE9A-FF93-6F71EBDA4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C008-F0D0-891C-DAED-28B00F77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38D0-440C-2B3C-B840-065F1217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32F4-0DEA-EC93-20BA-8671A4F5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887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7E0DD-AE40-51F8-67ED-2757B9CE8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5760-CB0B-CCF8-974D-AF210249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DC16-6EB9-6693-25EE-22631FBD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F9D08-60B1-AC3E-15DA-EDB52EDE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9838-C42F-58BE-18FC-85DBA5C2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70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22612-53E9-1472-DE56-3B9BA8CB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B86C-45DF-4306-D1E8-17192610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4949-C105-D7A3-A521-C8123DF3D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5F6B0-D468-4997-9CE3-CF2A1AE5E3F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C09B9-0678-1AEF-93C0-B1A3A7CDB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3F84A-B605-98F7-7694-62AFD7A6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321BB-4993-C3D7-45BA-3941EB0C1E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F943D-E5F8-C50D-F37B-649E0AB3F3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16289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istd.sutd.edu.sg/undergraduate/courses/50004-algorithm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50.051 Programming Language Concepts</a:t>
            </a:r>
            <a:br>
              <a:rPr lang="en-US" b="1" dirty="0"/>
            </a:br>
            <a:br>
              <a:rPr lang="en-US"/>
            </a:br>
            <a:r>
              <a:rPr lang="en-US"/>
              <a:t>W11-S2 </a:t>
            </a:r>
            <a:r>
              <a:rPr lang="en-US" dirty="0"/>
              <a:t>Semantic Analysis and </a:t>
            </a:r>
            <a:r>
              <a:rPr lang="en-US"/>
              <a:t>Intermediate Representations (Part 1)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De Mari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front-end of a compiler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(The front-end part of a compiler):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/>
              <a:t>front-end of a compiler </a:t>
            </a:r>
            <a:r>
              <a:rPr lang="en-GB" dirty="0"/>
              <a:t>is responsible for analysing the source code, and converting it into a form that can be used by the rest of the compiler.</a:t>
            </a:r>
          </a:p>
          <a:p>
            <a:pPr marL="0" indent="0">
              <a:buNone/>
            </a:pPr>
            <a:r>
              <a:rPr lang="en-GB"/>
              <a:t>It involves tasks, such as:</a:t>
            </a:r>
          </a:p>
          <a:p>
            <a:r>
              <a:rPr lang="en-GB" b="1"/>
              <a:t>Lexical </a:t>
            </a:r>
            <a:r>
              <a:rPr lang="en-GB" b="1" dirty="0"/>
              <a:t>analysis</a:t>
            </a:r>
            <a:r>
              <a:rPr lang="en-GB" dirty="0"/>
              <a:t>,</a:t>
            </a:r>
          </a:p>
          <a:p>
            <a:r>
              <a:rPr lang="en-GB" b="1" dirty="0"/>
              <a:t>Syntax analysis</a:t>
            </a:r>
            <a:r>
              <a:rPr lang="en-GB" dirty="0"/>
              <a:t>,</a:t>
            </a:r>
          </a:p>
          <a:p>
            <a:r>
              <a:rPr lang="en-GB" dirty="0"/>
              <a:t>and </a:t>
            </a:r>
            <a:r>
              <a:rPr lang="en-GB" b="1" dirty="0"/>
              <a:t>Semantic analysis</a:t>
            </a:r>
            <a:r>
              <a:rPr lang="en-GB" dirty="0"/>
              <a:t>. </a:t>
            </a:r>
            <a:endParaRPr lang="en-SG" dirty="0"/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D7AE188-3FCF-9638-BCBC-D80FAEB83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219" y="1547446"/>
            <a:ext cx="5154106" cy="531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front-end of a compiler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Lexical Analysis</a:t>
            </a:r>
          </a:p>
          <a:p>
            <a:r>
              <a:rPr lang="en-GB" dirty="0"/>
              <a:t>Detects illegal tokens in source code (e.g. incorrect use of identifiers, literals, etc.) </a:t>
            </a:r>
          </a:p>
          <a:p>
            <a:pPr marL="0" indent="0">
              <a:buNone/>
            </a:pPr>
            <a:r>
              <a:rPr lang="en-GB" b="1" dirty="0"/>
              <a:t>Syntax Analysis</a:t>
            </a:r>
          </a:p>
          <a:p>
            <a:r>
              <a:rPr lang="en-GB" dirty="0"/>
              <a:t>Detects inputs that violate the syntax rules of the language</a:t>
            </a:r>
          </a:p>
          <a:p>
            <a:r>
              <a:rPr lang="en-GB" dirty="0"/>
              <a:t>Will typically result in impossible-to-form or ill-formed parsing trees.</a:t>
            </a:r>
            <a:endParaRPr lang="en-SG" dirty="0"/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D7AE188-3FCF-9638-BCBC-D80FAEB83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219" y="1547446"/>
            <a:ext cx="5154106" cy="531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7C29-1A3B-9090-2528-30E69AB9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front-end of a compiler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13EA12-F42E-A14F-570D-C7B3FB0BA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Semantic Analysis</a:t>
            </a:r>
          </a:p>
          <a:p>
            <a:r>
              <a:rPr lang="en-GB" dirty="0"/>
              <a:t>Final step in the “front-end” phase, whose job is to check that the </a:t>
            </a:r>
            <a:r>
              <a:rPr lang="en-GB" b="1" dirty="0"/>
              <a:t>source code is legal</a:t>
            </a:r>
            <a:r>
              <a:rPr lang="en-GB" dirty="0"/>
              <a:t>.</a:t>
            </a:r>
          </a:p>
          <a:p>
            <a:r>
              <a:rPr lang="en-GB" dirty="0"/>
              <a:t>Ensures that the program has a </a:t>
            </a:r>
            <a:r>
              <a:rPr lang="en-GB" b="1" dirty="0"/>
              <a:t>well-defined meaning</a:t>
            </a:r>
            <a:r>
              <a:rPr lang="en-GB" dirty="0"/>
              <a:t>.</a:t>
            </a:r>
          </a:p>
          <a:p>
            <a:r>
              <a:rPr lang="en-GB" dirty="0"/>
              <a:t>Should catch </a:t>
            </a:r>
            <a:r>
              <a:rPr lang="en-GB" b="1" dirty="0"/>
              <a:t>all remaining errors </a:t>
            </a:r>
            <a:r>
              <a:rPr lang="en-GB" dirty="0"/>
              <a:t>that lexical analysis and syntax analysis could not catch.</a:t>
            </a:r>
          </a:p>
          <a:p>
            <a:r>
              <a:rPr lang="en-GB" dirty="0"/>
              <a:t>Errors that require </a:t>
            </a:r>
            <a:r>
              <a:rPr lang="en-GB" b="1" dirty="0"/>
              <a:t>contextual information</a:t>
            </a:r>
            <a:r>
              <a:rPr lang="en-GB" dirty="0"/>
              <a:t> about the code.</a:t>
            </a:r>
            <a:endParaRPr lang="en-SG" dirty="0"/>
          </a:p>
        </p:txBody>
      </p:sp>
      <p:pic>
        <p:nvPicPr>
          <p:cNvPr id="7" name="Picture 6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D7AE188-3FCF-9638-BCBC-D80FAEB83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219" y="1547446"/>
            <a:ext cx="5154106" cy="531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3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D384-1C51-3B56-9AC5-09C8BB92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remaining errors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19AB2-EF8A-CE15-36BC-B7A5961D7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Scope problems</a:t>
            </a:r>
          </a:p>
          <a:p>
            <a:r>
              <a:rPr lang="en-GB" dirty="0"/>
              <a:t>A variable is defined after it is called for the first time.</a:t>
            </a:r>
          </a:p>
          <a:p>
            <a:r>
              <a:rPr lang="en-GB" dirty="0"/>
              <a:t>A function is defined after it is called for the first time and no function prototypes were mentioned.</a:t>
            </a:r>
          </a:p>
          <a:p>
            <a:r>
              <a:rPr lang="en-GB" dirty="0"/>
              <a:t>A variable defined in a function is called outside of the function.</a:t>
            </a:r>
          </a:p>
          <a:p>
            <a:r>
              <a:rPr lang="en-GB" dirty="0"/>
              <a:t>A variable name is defined twice.</a:t>
            </a:r>
          </a:p>
          <a:p>
            <a:r>
              <a:rPr lang="en-GB" dirty="0"/>
              <a:t>Etc.</a:t>
            </a:r>
          </a:p>
          <a:p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4625E6-89C9-57FC-5C27-770C66FFA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135" y="1422849"/>
            <a:ext cx="2621315" cy="20423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EFC944-BD54-275C-3007-E9416EB6A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416" y="3624385"/>
            <a:ext cx="5959584" cy="2979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9F6FE2-A219-6FA9-4086-984B74357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758" y="1421438"/>
            <a:ext cx="3034242" cy="196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025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A2AA-72B8-EC7F-AE94-68D304468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remaining errors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C8FFD-F18D-E289-19DC-32A94E948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39421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Why cannot we just catch these errors during parsing?</a:t>
            </a:r>
          </a:p>
          <a:p>
            <a:r>
              <a:rPr lang="en-GB" dirty="0"/>
              <a:t>Try writing a CFG that will be able to prevent duplicate variable definitions?</a:t>
            </a:r>
          </a:p>
          <a:p>
            <a:r>
              <a:rPr lang="en-GB" dirty="0"/>
              <a:t>For most programming languages, using a CFG to do that is </a:t>
            </a:r>
            <a:r>
              <a:rPr lang="en-GB" b="1" dirty="0"/>
              <a:t>provably impossible.</a:t>
            </a:r>
          </a:p>
          <a:p>
            <a:pPr marL="0" indent="0">
              <a:buNone/>
            </a:pPr>
            <a:r>
              <a:rPr lang="en-GB" i="1" dirty="0"/>
              <a:t>(Out-of-scope, but proof is using the pumping lemma for context-free languages, or Ogden's lemma.)</a:t>
            </a:r>
            <a:endParaRPr lang="en-SG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6D5E7-1DB8-954E-8B18-DC04B665A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135" y="1422849"/>
            <a:ext cx="2621315" cy="2042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1D1BE5-47E9-28C8-9DF3-14B2E3CF7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416" y="3624385"/>
            <a:ext cx="5959584" cy="2979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74363B-7A11-7A1B-F727-A26D870B3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758" y="1421438"/>
            <a:ext cx="3034242" cy="196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355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D384-1C51-3B56-9AC5-09C8BB92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remaining errors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19AB2-EF8A-CE15-36BC-B7A5961D7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Type problems</a:t>
            </a:r>
          </a:p>
          <a:p>
            <a:r>
              <a:rPr lang="en-GB" dirty="0"/>
              <a:t>An operation attempts to combine two invalid types together (e.g. summing a string and a float together).</a:t>
            </a:r>
          </a:p>
          <a:p>
            <a:r>
              <a:rPr lang="en-GB" dirty="0"/>
              <a:t>An operation attempts to convert a variable of a certain type in another type that is not feasible.</a:t>
            </a:r>
          </a:p>
          <a:p>
            <a:r>
              <a:rPr lang="en-GB" dirty="0"/>
              <a:t>Etc.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B2D82-6C5E-D515-10D6-FBFCFE46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414" y="365125"/>
            <a:ext cx="3422771" cy="2247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EFD786-4F4D-A50B-D64B-82728B60E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568" y="2950005"/>
            <a:ext cx="5361177" cy="390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D384-1C51-3B56-9AC5-09C8BB92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remaining errors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19AB2-EF8A-CE15-36BC-B7A5961D7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And more problems that have to do with classes!</a:t>
            </a:r>
          </a:p>
          <a:p>
            <a:r>
              <a:rPr lang="en-GB" dirty="0"/>
              <a:t>A class inherits from another class that is not defined yet.</a:t>
            </a:r>
          </a:p>
          <a:p>
            <a:r>
              <a:rPr lang="en-GB" dirty="0"/>
              <a:t>A child class attempts to use a method that was neither defined in the child class itself, nor the parent class it inherited from.</a:t>
            </a:r>
          </a:p>
          <a:p>
            <a:r>
              <a:rPr lang="en-GB" dirty="0"/>
              <a:t>Operators on custom classes being used incorrectly.</a:t>
            </a:r>
          </a:p>
          <a:p>
            <a:r>
              <a:rPr lang="en-GB" dirty="0"/>
              <a:t>Etc.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B2D82-6C5E-D515-10D6-FBFCFE46B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3414" y="365125"/>
            <a:ext cx="3422771" cy="2247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EFD786-4F4D-A50B-D64B-82728B60E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568" y="2950005"/>
            <a:ext cx="5361177" cy="390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3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D384-1C51-3B56-9AC5-09C8BB92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remaining errors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19AB2-EF8A-CE15-36BC-B7A5961D7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Important fact: These errors cannot be checked during the lexical analysis or the syntax analysis, as they require some </a:t>
            </a:r>
            <a:r>
              <a:rPr lang="en-GB" b="1" dirty="0">
                <a:solidFill>
                  <a:srgbClr val="7030A0"/>
                </a:solidFill>
              </a:rPr>
              <a:t>context</a:t>
            </a:r>
            <a:r>
              <a:rPr lang="en-GB" b="1" dirty="0"/>
              <a:t>.</a:t>
            </a:r>
          </a:p>
          <a:p>
            <a:r>
              <a:rPr lang="en-GB" dirty="0"/>
              <a:t>Cannot be checked by a </a:t>
            </a:r>
            <a:r>
              <a:rPr lang="en-GB" u="sng" dirty="0"/>
              <a:t>context-free</a:t>
            </a:r>
            <a:r>
              <a:rPr lang="en-GB" dirty="0"/>
              <a:t> (duh!) grammar.</a:t>
            </a:r>
          </a:p>
          <a:p>
            <a:r>
              <a:rPr lang="en-GB" dirty="0"/>
              <a:t>Often depends on values and context, not syntax.</a:t>
            </a:r>
          </a:p>
          <a:p>
            <a:r>
              <a:rPr lang="en-GB" dirty="0"/>
              <a:t>May sometimes require and involve computation.</a:t>
            </a:r>
          </a:p>
          <a:p>
            <a:pPr marL="0" indent="0">
              <a:buNone/>
            </a:pPr>
            <a:r>
              <a:rPr lang="en-GB" b="1" dirty="0"/>
              <a:t>What to do then?</a:t>
            </a:r>
          </a:p>
          <a:p>
            <a:r>
              <a:rPr lang="en-GB" dirty="0"/>
              <a:t>Instead, will need to </a:t>
            </a:r>
            <a:r>
              <a:rPr lang="en-GB" b="1" dirty="0"/>
              <a:t>define a set of semantic rules for scoping</a:t>
            </a:r>
            <a:r>
              <a:rPr lang="en-GB" dirty="0"/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/>
              <a:t>types</a:t>
            </a:r>
            <a:r>
              <a:rPr lang="en-GB" dirty="0"/>
              <a:t> explicitly.</a:t>
            </a:r>
          </a:p>
          <a:p>
            <a:r>
              <a:rPr lang="en-GB" dirty="0"/>
              <a:t>And then, </a:t>
            </a:r>
            <a:r>
              <a:rPr lang="en-GB" b="1" dirty="0"/>
              <a:t>perform additional checks after parsing</a:t>
            </a:r>
            <a:r>
              <a:rPr lang="en-GB" dirty="0"/>
              <a:t>.</a:t>
            </a:r>
          </a:p>
          <a:p>
            <a:r>
              <a:rPr lang="en-GB" dirty="0"/>
              <a:t> These checks can often be implemented as “if-else” checks.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425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A74A1-4F6B-4263-3146-7F98FA69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are we at now?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E050E-A426-D08A-3B53-D4D51FC8E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At the end of the lexical analysis and parsing phase.</a:t>
            </a:r>
          </a:p>
          <a:p>
            <a:r>
              <a:rPr lang="en-GB" dirty="0"/>
              <a:t>We have successfully </a:t>
            </a:r>
            <a:r>
              <a:rPr lang="en-GB" b="1" dirty="0"/>
              <a:t>tokenized our source code and produced a stream of Tokens objects </a:t>
            </a:r>
            <a:r>
              <a:rPr lang="en-GB" dirty="0"/>
              <a:t>(containing information about token type, lexeme, value, line number/position, etc.).</a:t>
            </a:r>
          </a:p>
          <a:p>
            <a:r>
              <a:rPr lang="en-GB" dirty="0"/>
              <a:t>We have established </a:t>
            </a:r>
            <a:r>
              <a:rPr lang="en-GB" b="1" dirty="0"/>
              <a:t>a derivation for the language CFG and the given stream of tokens</a:t>
            </a:r>
            <a:r>
              <a:rPr lang="en-GB" dirty="0"/>
              <a:t>.</a:t>
            </a:r>
          </a:p>
          <a:p>
            <a:r>
              <a:rPr lang="en-GB" dirty="0"/>
              <a:t>We have produced a </a:t>
            </a:r>
            <a:r>
              <a:rPr lang="en-GB" b="1" dirty="0"/>
              <a:t>parse tree </a:t>
            </a:r>
            <a:r>
              <a:rPr lang="en-GB" dirty="0"/>
              <a:t>following from that derivation.</a:t>
            </a:r>
          </a:p>
          <a:p>
            <a:r>
              <a:rPr lang="en-GB" dirty="0"/>
              <a:t>Using </a:t>
            </a:r>
            <a:r>
              <a:rPr lang="en-GB" b="1" dirty="0"/>
              <a:t>Syntax Directed Translation</a:t>
            </a:r>
            <a:r>
              <a:rPr lang="en-GB" dirty="0"/>
              <a:t>, we could define a </a:t>
            </a:r>
            <a:r>
              <a:rPr lang="en-GB" b="1" dirty="0"/>
              <a:t>list of elementary operations </a:t>
            </a:r>
            <a:r>
              <a:rPr lang="en-GB" dirty="0"/>
              <a:t>to be executed, matching each production rule we used and eventually obtain an </a:t>
            </a:r>
            <a:r>
              <a:rPr lang="en-GB" b="1" dirty="0"/>
              <a:t>Abstract Syntax Tree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02411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180E-5E93-2B25-99ED-856EC5108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an SDT for Arithmetic CFG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00ACE-6CFF-5E84-B5EF-5B5188F74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CFG below, modified with the following SDT rules.</a:t>
            </a:r>
          </a:p>
          <a:p>
            <a:pPr marL="0" indent="0" algn="ctr">
              <a:buNone/>
            </a:pPr>
            <a:r>
              <a:rPr lang="en-SG" i="1" dirty="0"/>
              <a:t>E </a:t>
            </a:r>
            <a:r>
              <a:rPr lang="en-SG" i="1" dirty="0">
                <a:sym typeface="Wingdings" panose="05000000000000000000" pitchFamily="2" charset="2"/>
              </a:rPr>
              <a:t></a:t>
            </a:r>
            <a:r>
              <a:rPr lang="en-SG" i="1" dirty="0"/>
              <a:t> E + T {</a:t>
            </a:r>
            <a:r>
              <a:rPr lang="en-SG" i="1" dirty="0" err="1"/>
              <a:t>E.val</a:t>
            </a:r>
            <a:r>
              <a:rPr lang="en-SG" i="1" dirty="0"/>
              <a:t> = E1.val + </a:t>
            </a:r>
            <a:r>
              <a:rPr lang="en-SG" i="1" dirty="0" err="1"/>
              <a:t>T.val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r>
              <a:rPr lang="en-SG" i="1" dirty="0"/>
              <a:t>E</a:t>
            </a:r>
            <a:r>
              <a:rPr lang="en-SG" i="1" dirty="0">
                <a:sym typeface="Wingdings" panose="05000000000000000000" pitchFamily="2" charset="2"/>
              </a:rPr>
              <a:t>  </a:t>
            </a:r>
            <a:r>
              <a:rPr lang="en-SG" i="1" dirty="0"/>
              <a:t>T {</a:t>
            </a:r>
            <a:r>
              <a:rPr lang="en-SG" i="1" dirty="0" err="1"/>
              <a:t>E.val</a:t>
            </a:r>
            <a:r>
              <a:rPr lang="en-SG" i="1" dirty="0"/>
              <a:t> = </a:t>
            </a:r>
            <a:r>
              <a:rPr lang="en-SG" i="1" dirty="0" err="1"/>
              <a:t>T.val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r>
              <a:rPr lang="en-SG" i="1" dirty="0"/>
              <a:t>T </a:t>
            </a:r>
            <a:r>
              <a:rPr lang="en-SG" i="1" dirty="0">
                <a:sym typeface="Wingdings" panose="05000000000000000000" pitchFamily="2" charset="2"/>
              </a:rPr>
              <a:t></a:t>
            </a:r>
            <a:r>
              <a:rPr lang="en-SG" i="1" dirty="0"/>
              <a:t> T * F {</a:t>
            </a:r>
            <a:r>
              <a:rPr lang="en-SG" i="1" dirty="0" err="1"/>
              <a:t>T.val</a:t>
            </a:r>
            <a:r>
              <a:rPr lang="en-SG" i="1" dirty="0"/>
              <a:t> = T1.val * </a:t>
            </a:r>
            <a:r>
              <a:rPr lang="en-SG" i="1" dirty="0" err="1"/>
              <a:t>F.val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r>
              <a:rPr lang="en-SG" i="1" dirty="0"/>
              <a:t>T</a:t>
            </a:r>
            <a:r>
              <a:rPr lang="en-SG" i="1" dirty="0">
                <a:sym typeface="Wingdings" panose="05000000000000000000" pitchFamily="2" charset="2"/>
              </a:rPr>
              <a:t>  </a:t>
            </a:r>
            <a:r>
              <a:rPr lang="en-SG" i="1" dirty="0"/>
              <a:t>F {</a:t>
            </a:r>
            <a:r>
              <a:rPr lang="en-SG" i="1" dirty="0" err="1"/>
              <a:t>T.val</a:t>
            </a:r>
            <a:r>
              <a:rPr lang="en-SG" i="1" dirty="0"/>
              <a:t> = </a:t>
            </a:r>
            <a:r>
              <a:rPr lang="en-SG" i="1" dirty="0" err="1"/>
              <a:t>F.val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r>
              <a:rPr lang="en-SG" i="1" dirty="0"/>
              <a:t>F </a:t>
            </a:r>
            <a:r>
              <a:rPr lang="en-SG" i="1" dirty="0">
                <a:sym typeface="Wingdings" panose="05000000000000000000" pitchFamily="2" charset="2"/>
              </a:rPr>
              <a:t></a:t>
            </a:r>
            <a:r>
              <a:rPr lang="en-SG" i="1" dirty="0"/>
              <a:t> (E) {</a:t>
            </a:r>
            <a:r>
              <a:rPr lang="en-SG" i="1" dirty="0" err="1"/>
              <a:t>F.val</a:t>
            </a:r>
            <a:r>
              <a:rPr lang="en-SG" i="1" dirty="0"/>
              <a:t> = </a:t>
            </a:r>
            <a:r>
              <a:rPr lang="en-SG" i="1" dirty="0" err="1"/>
              <a:t>E.val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r>
              <a:rPr lang="en-SG" i="1" dirty="0"/>
              <a:t>F</a:t>
            </a:r>
            <a:r>
              <a:rPr lang="en-SG" i="1" dirty="0">
                <a:sym typeface="Wingdings" panose="05000000000000000000" pitchFamily="2" charset="2"/>
              </a:rPr>
              <a:t>  </a:t>
            </a:r>
            <a:r>
              <a:rPr lang="en-SG" i="1" dirty="0" err="1"/>
              <a:t>num</a:t>
            </a:r>
            <a:r>
              <a:rPr lang="en-SG" i="1" dirty="0"/>
              <a:t> {</a:t>
            </a:r>
            <a:r>
              <a:rPr lang="en-SG" i="1" dirty="0" err="1"/>
              <a:t>F.val</a:t>
            </a:r>
            <a:r>
              <a:rPr lang="en-SG" i="1" dirty="0"/>
              <a:t> = </a:t>
            </a:r>
            <a:r>
              <a:rPr lang="en-SG" i="1" dirty="0" err="1"/>
              <a:t>num.val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endParaRPr lang="en-GB" i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C42DC-1F02-395D-ABC6-74EFE11B9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Using this CFG/SDT on 26*5 + 7 gives the following derivation and parse tree.</a:t>
            </a:r>
          </a:p>
          <a:p>
            <a:pPr marL="0" indent="0">
              <a:buNone/>
            </a:pPr>
            <a:r>
              <a:rPr lang="en-GB" dirty="0"/>
              <a:t>Sequence of operations in parse tree = bottom-up reading = DFS!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1D5383D-7314-68EF-F374-27A19281D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849" y="4216068"/>
            <a:ext cx="3429337" cy="240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0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180E-5E93-2B25-99ED-856EC5108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an SDT for Arithmetic CFG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00ACE-6CFF-5E84-B5EF-5B5188F74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Using these steps, on the string “26*5 + 7”, then gives the following Abstract Syntax Tree and list of SDT rules…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451FBF-ED90-F36E-E825-3B144BFD8D70}"/>
              </a:ext>
            </a:extLst>
          </p:cNvPr>
          <p:cNvSpPr txBox="1"/>
          <p:nvPr/>
        </p:nvSpPr>
        <p:spPr>
          <a:xfrm>
            <a:off x="6260123" y="2985477"/>
            <a:ext cx="546295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And the list of operations below:</a:t>
            </a:r>
          </a:p>
          <a:p>
            <a:r>
              <a:rPr lang="en-GB" sz="2400" i="1" dirty="0"/>
              <a:t>I1.val = 26</a:t>
            </a:r>
          </a:p>
          <a:p>
            <a:r>
              <a:rPr lang="en-SG" sz="2400" i="1" dirty="0"/>
              <a:t>I2.val = 5</a:t>
            </a:r>
          </a:p>
          <a:p>
            <a:r>
              <a:rPr lang="en-SG" sz="2400" i="1" dirty="0"/>
              <a:t>T1.val = I2.val</a:t>
            </a:r>
          </a:p>
          <a:p>
            <a:r>
              <a:rPr lang="en-SG" sz="2400" i="1" dirty="0"/>
              <a:t>T2.val = T1.val*I1.val</a:t>
            </a:r>
          </a:p>
          <a:p>
            <a:r>
              <a:rPr lang="en-SG" sz="2400" i="1" dirty="0"/>
              <a:t>I3.val = 7</a:t>
            </a:r>
          </a:p>
          <a:p>
            <a:r>
              <a:rPr lang="en-SG" sz="2400" i="1" dirty="0"/>
              <a:t>T3.val = I3.val</a:t>
            </a:r>
          </a:p>
          <a:p>
            <a:r>
              <a:rPr lang="en-SG" sz="2400" i="1" dirty="0"/>
              <a:t>E1.val = T3.val</a:t>
            </a:r>
          </a:p>
          <a:p>
            <a:r>
              <a:rPr lang="en-SG" sz="2400" i="1" dirty="0" err="1"/>
              <a:t>E.val</a:t>
            </a:r>
            <a:r>
              <a:rPr lang="en-SG" sz="2400" i="1" dirty="0"/>
              <a:t> = T2.val + E1.val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066900-151C-AD50-7E5C-77785C440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3" y="3137989"/>
            <a:ext cx="4953727" cy="347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2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5452C-00F4-4B33-7A84-9EA0C569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Semantic analysis and ASTs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31A95-E99D-C219-635C-9F299E41A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Objective: </a:t>
            </a:r>
            <a:r>
              <a:rPr lang="en-GB" dirty="0"/>
              <a:t>The answer to the semantic problems</a:t>
            </a:r>
          </a:p>
          <a:p>
            <a:r>
              <a:rPr lang="en-GB" dirty="0"/>
              <a:t>Scope problems,</a:t>
            </a:r>
          </a:p>
          <a:p>
            <a:r>
              <a:rPr lang="en-GB" dirty="0"/>
              <a:t>Type problems,</a:t>
            </a:r>
          </a:p>
          <a:p>
            <a:r>
              <a:rPr lang="en-GB" dirty="0"/>
              <a:t>And more,…</a:t>
            </a:r>
          </a:p>
          <a:p>
            <a:pPr marL="0" indent="0">
              <a:buNone/>
            </a:pPr>
            <a:r>
              <a:rPr lang="en-GB" dirty="0"/>
              <a:t>And the checks to be conducted, both rely on the </a:t>
            </a:r>
            <a:r>
              <a:rPr lang="en-GB" b="1" dirty="0"/>
              <a:t>Abstract Syntax Tree </a:t>
            </a:r>
            <a:r>
              <a:rPr lang="en-GB" dirty="0"/>
              <a:t>produced by the syntax analysis step.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2571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D384-1C51-3B56-9AC5-09C8BB92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#1: Scope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19AB2-EF8A-CE15-36BC-B7A5961D7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Scope problems</a:t>
            </a:r>
          </a:p>
          <a:p>
            <a:r>
              <a:rPr lang="en-GB" dirty="0"/>
              <a:t>A variable is defined after it is called for the first time.</a:t>
            </a:r>
          </a:p>
          <a:p>
            <a:r>
              <a:rPr lang="en-GB" dirty="0"/>
              <a:t>A function is defined after it is called for the first time and no function prototypes were mentioned.</a:t>
            </a:r>
          </a:p>
          <a:p>
            <a:r>
              <a:rPr lang="en-GB" dirty="0"/>
              <a:t>A variable defined in a function is called outside of the function.</a:t>
            </a:r>
          </a:p>
          <a:p>
            <a:r>
              <a:rPr lang="en-GB" dirty="0"/>
              <a:t>A variable name is defined twice.</a:t>
            </a:r>
          </a:p>
          <a:p>
            <a:r>
              <a:rPr lang="en-GB" dirty="0"/>
              <a:t>Etc.</a:t>
            </a:r>
          </a:p>
          <a:p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4625E6-89C9-57FC-5C27-770C66FFA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121" y="804469"/>
            <a:ext cx="2621315" cy="20423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EFC944-BD54-275C-3007-E9416EB6A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416" y="3429000"/>
            <a:ext cx="5959584" cy="2979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9F6FE2-A219-6FA9-4086-984B74357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758" y="804469"/>
            <a:ext cx="3034242" cy="196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7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647E-4E32-3E31-D564-CCE8BBE7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things first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2607B-04C7-FCC5-A42B-DF3ABB4A8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Scope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>
                <a:solidFill>
                  <a:srgbClr val="00B050"/>
                </a:solidFill>
              </a:rPr>
              <a:t>scope</a:t>
            </a:r>
            <a:r>
              <a:rPr lang="en-GB" dirty="0"/>
              <a:t> of an identifier (variable/function name, etc.) is the </a:t>
            </a:r>
            <a:r>
              <a:rPr lang="en-GB" b="1" dirty="0"/>
              <a:t>portion of the program in which this identifier is accessible</a:t>
            </a:r>
            <a:r>
              <a:rPr lang="en-GB" dirty="0"/>
              <a:t>.</a:t>
            </a:r>
          </a:p>
          <a:p>
            <a:r>
              <a:rPr lang="en-GB" dirty="0"/>
              <a:t>Decides if a variable can be called outside of a function,</a:t>
            </a:r>
          </a:p>
          <a:p>
            <a:r>
              <a:rPr lang="en-GB" dirty="0"/>
              <a:t>Resolves ambiguity about identifiers with similar names used in different functions,</a:t>
            </a:r>
          </a:p>
          <a:p>
            <a:r>
              <a:rPr lang="en-GB" dirty="0"/>
              <a:t>Etc.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EC2CE-0827-BC1F-3814-6C21553C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415" y="2989601"/>
            <a:ext cx="3851031" cy="39337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09BAE1-0229-CC24-5D84-2B24A73FA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930" y="344484"/>
            <a:ext cx="3322559" cy="296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450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647E-4E32-3E31-D564-CCE8BBE7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things first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2607B-04C7-FCC5-A42B-DF3ABB4A8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29127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Static and Dynamic Scope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Most languages have a </a:t>
            </a:r>
            <a:r>
              <a:rPr lang="en-GB" b="1" dirty="0">
                <a:solidFill>
                  <a:srgbClr val="00B050"/>
                </a:solidFill>
              </a:rPr>
              <a:t>static scope</a:t>
            </a:r>
            <a:r>
              <a:rPr lang="en-GB" dirty="0"/>
              <a:t>.</a:t>
            </a:r>
          </a:p>
          <a:p>
            <a:r>
              <a:rPr lang="en-GB" dirty="0"/>
              <a:t>A </a:t>
            </a:r>
            <a:r>
              <a:rPr lang="en-GB" b="1" dirty="0"/>
              <a:t>static scope depends only on the program code, not its runtime behaviour</a:t>
            </a:r>
            <a:r>
              <a:rPr lang="en-GB" dirty="0"/>
              <a:t>.</a:t>
            </a:r>
          </a:p>
          <a:p>
            <a:r>
              <a:rPr lang="en-GB" dirty="0"/>
              <a:t>Typically, C and Java.</a:t>
            </a:r>
          </a:p>
          <a:p>
            <a:pPr marL="0" indent="0">
              <a:buNone/>
            </a:pPr>
            <a:r>
              <a:rPr lang="en-GB" dirty="0"/>
              <a:t>Some languages are </a:t>
            </a:r>
            <a:r>
              <a:rPr lang="en-GB" b="1" dirty="0">
                <a:solidFill>
                  <a:srgbClr val="00B050"/>
                </a:solidFill>
              </a:rPr>
              <a:t>dynamically scoped</a:t>
            </a:r>
            <a:r>
              <a:rPr lang="en-GB" dirty="0"/>
              <a:t>.</a:t>
            </a:r>
          </a:p>
          <a:p>
            <a:r>
              <a:rPr lang="en-GB" dirty="0"/>
              <a:t>A </a:t>
            </a:r>
            <a:r>
              <a:rPr lang="en-GB" b="1" dirty="0"/>
              <a:t>dynamic scope may depend on the execution of the program and is decided during runtime</a:t>
            </a:r>
            <a:r>
              <a:rPr lang="en-GB" dirty="0"/>
              <a:t>.</a:t>
            </a:r>
          </a:p>
          <a:p>
            <a:r>
              <a:rPr lang="en-GB" dirty="0"/>
              <a:t>For instance, JavaScript (?) and LaTeX.</a:t>
            </a:r>
          </a:p>
          <a:p>
            <a:pPr marL="0" indent="0">
              <a:buNone/>
            </a:pPr>
            <a:r>
              <a:rPr lang="en-GB" b="1" dirty="0"/>
              <a:t>Is static better than dynamic? </a:t>
            </a:r>
            <a:r>
              <a:rPr lang="en-GB" dirty="0"/>
              <a:t>Not a kind of debate I want to participate in!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49398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BEC6-476F-A615-AC5A-01C08A45C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 scoping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35D68-92BD-9992-57F5-B944BDB91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Let us start with </a:t>
            </a:r>
            <a:r>
              <a:rPr lang="en-GB" b="1" dirty="0">
                <a:solidFill>
                  <a:srgbClr val="00B050"/>
                </a:solidFill>
              </a:rPr>
              <a:t>static scoping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Some questions that need to be answered for static scoping are:</a:t>
            </a:r>
          </a:p>
          <a:p>
            <a:r>
              <a:rPr lang="en-GB" dirty="0"/>
              <a:t>How can we tell what object a particular identifier refers to?</a:t>
            </a:r>
          </a:p>
          <a:p>
            <a:r>
              <a:rPr lang="en-GB" dirty="0"/>
              <a:t>How do we store this information?</a:t>
            </a:r>
          </a:p>
          <a:p>
            <a:pPr marL="0" indent="0">
              <a:buNone/>
            </a:pPr>
            <a:r>
              <a:rPr lang="en-GB" dirty="0"/>
              <a:t>Need a </a:t>
            </a:r>
            <a:r>
              <a:rPr lang="en-GB" b="1" dirty="0"/>
              <a:t>symbol table </a:t>
            </a:r>
            <a:r>
              <a:rPr lang="en-GB" dirty="0"/>
              <a:t>to keep track of symbols/identifiers!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/>
              <a:t>(</a:t>
            </a:r>
            <a:r>
              <a:rPr lang="en-GB" b="1" i="1" dirty="0"/>
              <a:t>Note: </a:t>
            </a:r>
            <a:r>
              <a:rPr lang="en-GB" i="1" dirty="0"/>
              <a:t>Dynamic scoping follows roughly the same ideas, just not happening during compile time, but during runtime instead!)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29442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D788D-ED29-4E13-E540-DC10FE44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Symbol table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304BC-E716-81F3-1076-A29787628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symbol table </a:t>
            </a:r>
            <a:r>
              <a:rPr lang="en-GB" b="1" dirty="0"/>
              <a:t>in a compiler):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symbol table </a:t>
            </a:r>
            <a:r>
              <a:rPr lang="en-GB" dirty="0"/>
              <a:t>contains information about identifiers, that might prove useful to the compiler. It simply represents a mapping from a name to the thing that name refers to. This information typically consists of</a:t>
            </a:r>
          </a:p>
          <a:p>
            <a:r>
              <a:rPr lang="en-SG" dirty="0"/>
              <a:t>Textual name,</a:t>
            </a:r>
          </a:p>
          <a:p>
            <a:r>
              <a:rPr lang="en-SG" dirty="0"/>
              <a:t>Data type,</a:t>
            </a:r>
          </a:p>
          <a:p>
            <a:r>
              <a:rPr lang="en-SG" dirty="0"/>
              <a:t>Declaration procedure,</a:t>
            </a:r>
          </a:p>
          <a:p>
            <a:r>
              <a:rPr lang="en-SG" dirty="0"/>
              <a:t>If array, number and size of dimensions,</a:t>
            </a:r>
          </a:p>
          <a:p>
            <a:r>
              <a:rPr lang="en-SG" dirty="0"/>
              <a:t>If procedure, number and type of parameters, location for function definition and procedure to be run by function when called,</a:t>
            </a:r>
          </a:p>
          <a:p>
            <a:r>
              <a:rPr lang="en-SG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478270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C01FC1-36B1-25FE-665B-E1C8B0F5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DF9C06-8604-B38F-A004-75ECB9219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Simple solution: </a:t>
            </a:r>
            <a:r>
              <a:rPr lang="en-GB" dirty="0"/>
              <a:t>Define our symbol table as a </a:t>
            </a:r>
            <a:r>
              <a:rPr lang="en-GB" b="1" dirty="0"/>
              <a:t>hash table </a:t>
            </a:r>
            <a:r>
              <a:rPr lang="en-GB" dirty="0"/>
              <a:t>of some sort.</a:t>
            </a:r>
          </a:p>
          <a:p>
            <a:pPr marL="0" indent="0">
              <a:buNone/>
            </a:pPr>
            <a:r>
              <a:rPr lang="en-GB" dirty="0"/>
              <a:t>As we run our semantic analysis, continuously update the symbol table with information about what is in scope. </a:t>
            </a:r>
          </a:p>
          <a:p>
            <a:r>
              <a:rPr lang="en-GB" dirty="0"/>
              <a:t>What does this look like in practice?</a:t>
            </a:r>
          </a:p>
          <a:p>
            <a:r>
              <a:rPr lang="en-GB" dirty="0"/>
              <a:t>What operations need to be defined on it?</a:t>
            </a:r>
          </a:p>
          <a:p>
            <a:r>
              <a:rPr lang="en-GB" dirty="0"/>
              <a:t>How do we implement it?</a:t>
            </a:r>
            <a:endParaRPr lang="en-SG" dirty="0"/>
          </a:p>
        </p:txBody>
      </p:sp>
      <p:pic>
        <p:nvPicPr>
          <p:cNvPr id="8" name="Picture 7" descr="A picture containing text, receipt&#10;&#10;Description automatically generated">
            <a:extLst>
              <a:ext uri="{FF2B5EF4-FFF2-40B4-BE49-F238E27FC236}">
                <a16:creationId xmlns:a16="http://schemas.microsoft.com/office/drawing/2014/main" id="{80A73F2A-5FCF-5447-54AB-A6557E2E4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945" y="1690688"/>
            <a:ext cx="5191125" cy="3076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07B319-1E4D-1146-D4F7-9E4183950D70}"/>
              </a:ext>
            </a:extLst>
          </p:cNvPr>
          <p:cNvSpPr txBox="1"/>
          <p:nvPr/>
        </p:nvSpPr>
        <p:spPr>
          <a:xfrm>
            <a:off x="7002585" y="5275385"/>
            <a:ext cx="46970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Forgot about hash tables?</a:t>
            </a:r>
          </a:p>
          <a:p>
            <a:r>
              <a:rPr lang="en-GB" sz="2800" dirty="0"/>
              <a:t>Time to go back to the contents of </a:t>
            </a:r>
            <a:r>
              <a:rPr lang="en-GB" sz="2800" dirty="0">
                <a:hlinkClick r:id="rId3"/>
              </a:rPr>
              <a:t>50.004 Algorithms</a:t>
            </a:r>
            <a:r>
              <a:rPr lang="en-GB" sz="2800" dirty="0"/>
              <a:t>!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640311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9D28-838D-AD39-0E9A-FBFD2A60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98B8E2-DB40-CFE6-2343-97FDC582B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For simplicity: </a:t>
            </a:r>
            <a:r>
              <a:rPr lang="en-GB" dirty="0"/>
              <a:t>can be implemented as a </a:t>
            </a:r>
            <a:r>
              <a:rPr lang="en-GB" b="1" dirty="0"/>
              <a:t>stack of maps</a:t>
            </a:r>
            <a:r>
              <a:rPr lang="en-GB" dirty="0"/>
              <a:t>.</a:t>
            </a:r>
          </a:p>
          <a:p>
            <a:r>
              <a:rPr lang="en-GB" dirty="0"/>
              <a:t>Each map corresponds to a particular scope.</a:t>
            </a:r>
          </a:p>
          <a:p>
            <a:r>
              <a:rPr lang="en-GB" dirty="0"/>
              <a:t>Stack allows for easy “enter” and “exit” operations.</a:t>
            </a:r>
          </a:p>
          <a:p>
            <a:pPr marL="0" indent="0">
              <a:buNone/>
            </a:pPr>
            <a:r>
              <a:rPr lang="en-GB" dirty="0"/>
              <a:t>Symbol table operations are</a:t>
            </a:r>
          </a:p>
          <a:p>
            <a:r>
              <a:rPr lang="en-GB" b="1" dirty="0"/>
              <a:t>Push scope: </a:t>
            </a:r>
            <a:r>
              <a:rPr lang="en-GB" dirty="0"/>
              <a:t>Enter a new scope.</a:t>
            </a:r>
          </a:p>
          <a:p>
            <a:r>
              <a:rPr lang="en-GB" b="1" dirty="0"/>
              <a:t>Pop scope: </a:t>
            </a:r>
            <a:r>
              <a:rPr lang="en-GB" dirty="0"/>
              <a:t>Leave a scope, discarding all declarations in it.</a:t>
            </a:r>
          </a:p>
          <a:p>
            <a:r>
              <a:rPr lang="en-GB" b="1" dirty="0"/>
              <a:t>Insert symbol: </a:t>
            </a:r>
            <a:r>
              <a:rPr lang="en-GB" dirty="0"/>
              <a:t>Add a new entry to the current scope.</a:t>
            </a:r>
          </a:p>
          <a:p>
            <a:r>
              <a:rPr lang="en-GB" b="1" dirty="0"/>
              <a:t>Lookup symbol: </a:t>
            </a:r>
            <a:r>
              <a:rPr lang="en-GB" dirty="0"/>
              <a:t>Find what an identifier name corresponds to.</a:t>
            </a:r>
          </a:p>
          <a:p>
            <a:r>
              <a:rPr lang="en-GB" b="1" dirty="0"/>
              <a:t>Remove symbol: </a:t>
            </a:r>
            <a:r>
              <a:rPr lang="en-GB" dirty="0"/>
              <a:t>Remove entry from the current scope.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53205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C180E-5E93-2B25-99ED-856EC5108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an SDT for Arithmetic CFG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00ACE-6CFF-5E84-B5EF-5B5188F74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CFG below, modified with the following SDT rules.</a:t>
            </a:r>
          </a:p>
          <a:p>
            <a:pPr marL="0" indent="0" algn="ctr">
              <a:buNone/>
            </a:pPr>
            <a:r>
              <a:rPr lang="en-SG" i="1" dirty="0"/>
              <a:t>E </a:t>
            </a:r>
            <a:r>
              <a:rPr lang="en-SG" i="1" dirty="0">
                <a:sym typeface="Wingdings" panose="05000000000000000000" pitchFamily="2" charset="2"/>
              </a:rPr>
              <a:t></a:t>
            </a:r>
            <a:r>
              <a:rPr lang="en-SG" i="1" dirty="0"/>
              <a:t> E + T {</a:t>
            </a:r>
            <a:r>
              <a:rPr lang="en-SG" i="1" dirty="0" err="1"/>
              <a:t>E.val</a:t>
            </a:r>
            <a:r>
              <a:rPr lang="en-SG" i="1" dirty="0"/>
              <a:t> = E1.val + </a:t>
            </a:r>
            <a:r>
              <a:rPr lang="en-SG" i="1" dirty="0" err="1"/>
              <a:t>T.val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r>
              <a:rPr lang="en-SG" i="1" dirty="0"/>
              <a:t>E</a:t>
            </a:r>
            <a:r>
              <a:rPr lang="en-SG" i="1" dirty="0">
                <a:sym typeface="Wingdings" panose="05000000000000000000" pitchFamily="2" charset="2"/>
              </a:rPr>
              <a:t>  </a:t>
            </a:r>
            <a:r>
              <a:rPr lang="en-SG" i="1" dirty="0"/>
              <a:t>T {</a:t>
            </a:r>
            <a:r>
              <a:rPr lang="en-SG" i="1" dirty="0" err="1"/>
              <a:t>E.val</a:t>
            </a:r>
            <a:r>
              <a:rPr lang="en-SG" i="1" dirty="0"/>
              <a:t> = </a:t>
            </a:r>
            <a:r>
              <a:rPr lang="en-SG" i="1" dirty="0" err="1"/>
              <a:t>T.val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r>
              <a:rPr lang="en-SG" i="1" dirty="0"/>
              <a:t>T </a:t>
            </a:r>
            <a:r>
              <a:rPr lang="en-SG" i="1" dirty="0">
                <a:sym typeface="Wingdings" panose="05000000000000000000" pitchFamily="2" charset="2"/>
              </a:rPr>
              <a:t></a:t>
            </a:r>
            <a:r>
              <a:rPr lang="en-SG" i="1" dirty="0"/>
              <a:t> T * F {</a:t>
            </a:r>
            <a:r>
              <a:rPr lang="en-SG" i="1" dirty="0" err="1"/>
              <a:t>T.val</a:t>
            </a:r>
            <a:r>
              <a:rPr lang="en-SG" i="1" dirty="0"/>
              <a:t> = T1.val * </a:t>
            </a:r>
            <a:r>
              <a:rPr lang="en-SG" i="1" dirty="0" err="1"/>
              <a:t>F.val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r>
              <a:rPr lang="en-SG" i="1" dirty="0"/>
              <a:t>T</a:t>
            </a:r>
            <a:r>
              <a:rPr lang="en-SG" i="1" dirty="0">
                <a:sym typeface="Wingdings" panose="05000000000000000000" pitchFamily="2" charset="2"/>
              </a:rPr>
              <a:t>  </a:t>
            </a:r>
            <a:r>
              <a:rPr lang="en-SG" i="1" dirty="0"/>
              <a:t>F {</a:t>
            </a:r>
            <a:r>
              <a:rPr lang="en-SG" i="1" dirty="0" err="1"/>
              <a:t>T.val</a:t>
            </a:r>
            <a:r>
              <a:rPr lang="en-SG" i="1" dirty="0"/>
              <a:t> = </a:t>
            </a:r>
            <a:r>
              <a:rPr lang="en-SG" i="1" dirty="0" err="1"/>
              <a:t>F.val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r>
              <a:rPr lang="en-SG" i="1" dirty="0"/>
              <a:t>F </a:t>
            </a:r>
            <a:r>
              <a:rPr lang="en-SG" i="1" dirty="0">
                <a:sym typeface="Wingdings" panose="05000000000000000000" pitchFamily="2" charset="2"/>
              </a:rPr>
              <a:t></a:t>
            </a:r>
            <a:r>
              <a:rPr lang="en-SG" i="1" dirty="0"/>
              <a:t> (E) {</a:t>
            </a:r>
            <a:r>
              <a:rPr lang="en-SG" i="1" dirty="0" err="1"/>
              <a:t>F.val</a:t>
            </a:r>
            <a:r>
              <a:rPr lang="en-SG" i="1" dirty="0"/>
              <a:t> = </a:t>
            </a:r>
            <a:r>
              <a:rPr lang="en-SG" i="1" dirty="0" err="1"/>
              <a:t>E.val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r>
              <a:rPr lang="en-SG" i="1" dirty="0"/>
              <a:t>F</a:t>
            </a:r>
            <a:r>
              <a:rPr lang="en-SG" i="1" dirty="0">
                <a:sym typeface="Wingdings" panose="05000000000000000000" pitchFamily="2" charset="2"/>
              </a:rPr>
              <a:t>  </a:t>
            </a:r>
            <a:r>
              <a:rPr lang="en-SG" i="1" dirty="0" err="1"/>
              <a:t>num</a:t>
            </a:r>
            <a:r>
              <a:rPr lang="en-SG" i="1" dirty="0"/>
              <a:t> {</a:t>
            </a:r>
            <a:r>
              <a:rPr lang="en-SG" i="1" dirty="0" err="1"/>
              <a:t>F.val</a:t>
            </a:r>
            <a:r>
              <a:rPr lang="en-SG" i="1" dirty="0"/>
              <a:t> = </a:t>
            </a:r>
            <a:r>
              <a:rPr lang="en-SG" i="1" dirty="0" err="1"/>
              <a:t>num.val</a:t>
            </a:r>
            <a:r>
              <a:rPr lang="en-SG" i="1" dirty="0"/>
              <a:t>}</a:t>
            </a:r>
          </a:p>
          <a:p>
            <a:pPr marL="0" indent="0" algn="ctr">
              <a:buNone/>
            </a:pPr>
            <a:endParaRPr lang="en-GB" i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C42DC-1F02-395D-ABC6-74EFE11B9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38019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In practice, the symbol table actions could be added to our Syntax-Driven Translation rules!</a:t>
            </a:r>
          </a:p>
          <a:p>
            <a:pPr marL="0" indent="0">
              <a:buNone/>
            </a:pPr>
            <a:r>
              <a:rPr lang="en-GB" dirty="0"/>
              <a:t>We would then have </a:t>
            </a:r>
            <a:r>
              <a:rPr lang="en-GB" b="1" dirty="0"/>
              <a:t>two (or more) SDT instructions per CFG rule</a:t>
            </a:r>
            <a:r>
              <a:rPr lang="en-GB" dirty="0"/>
              <a:t>:</a:t>
            </a:r>
          </a:p>
          <a:p>
            <a:r>
              <a:rPr lang="en-GB" dirty="0"/>
              <a:t>One that defines the elementary operation to be used (in a language close to the 3-address format),</a:t>
            </a:r>
          </a:p>
          <a:p>
            <a:r>
              <a:rPr lang="en-GB" dirty="0"/>
              <a:t>And one describing the symbol table updates.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79817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9D28-838D-AD39-0E9A-FBFD2A60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98B8E2-DB40-CFE6-2343-97FDC582B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The idea is to process each portion of the program that creates a scope independently (e.g. block statements, function calls, classes, etc.):</a:t>
            </a:r>
          </a:p>
          <a:p>
            <a:r>
              <a:rPr lang="en-GB" b="1" dirty="0"/>
              <a:t>Start by entering a new scope</a:t>
            </a:r>
            <a:r>
              <a:rPr lang="en-GB" dirty="0"/>
              <a:t>.</a:t>
            </a:r>
          </a:p>
          <a:p>
            <a:r>
              <a:rPr lang="en-GB" b="1" dirty="0"/>
              <a:t>Add all variable declarations to the symbol table</a:t>
            </a:r>
            <a:r>
              <a:rPr lang="en-GB" dirty="0"/>
              <a:t>.</a:t>
            </a:r>
          </a:p>
          <a:p>
            <a:r>
              <a:rPr lang="en-GB" b="1" dirty="0"/>
              <a:t>Process the body of the block/function/class</a:t>
            </a:r>
            <a:r>
              <a:rPr lang="en-GB" dirty="0"/>
              <a:t>.</a:t>
            </a:r>
          </a:p>
          <a:p>
            <a:r>
              <a:rPr lang="en-GB" b="1" dirty="0"/>
              <a:t>Exit the scope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Most of the semantic analysis is defined in terms of recursive AST traversals like this.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45815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40677" y="3429000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8685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  <a:br>
              <a:rPr lang="en-SG" dirty="0"/>
            </a:br>
            <a:r>
              <a:rPr lang="en-SG" dirty="0"/>
              <a:t>(could also add information about parameters types and return types)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40677" y="3890107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25517-E60B-C3D7-B47C-A2CABFF4E9D1}"/>
              </a:ext>
            </a:extLst>
          </p:cNvPr>
          <p:cNvSpPr txBox="1"/>
          <p:nvPr/>
        </p:nvSpPr>
        <p:spPr>
          <a:xfrm>
            <a:off x="3522785" y="4590737"/>
            <a:ext cx="1943100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Add identifier for function to scope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935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  <a:p>
            <a:pPr marL="0" indent="0">
              <a:buNone/>
            </a:pPr>
            <a:r>
              <a:rPr lang="en-SG" dirty="0"/>
              <a:t>  └─ main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40677" y="4968630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A9B46-2020-4D78-731E-EE26D8065873}"/>
              </a:ext>
            </a:extLst>
          </p:cNvPr>
          <p:cNvSpPr txBox="1"/>
          <p:nvPr/>
        </p:nvSpPr>
        <p:spPr>
          <a:xfrm>
            <a:off x="0" y="4035550"/>
            <a:ext cx="1328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Skipped</a:t>
            </a:r>
            <a:br>
              <a:rPr lang="en-GB" dirty="0">
                <a:solidFill>
                  <a:schemeClr val="accent1"/>
                </a:solidFill>
              </a:rPr>
            </a:br>
            <a:r>
              <a:rPr lang="en-GB" dirty="0">
                <a:solidFill>
                  <a:schemeClr val="accent1"/>
                </a:solidFill>
              </a:rPr>
              <a:t>for now</a:t>
            </a:r>
            <a:endParaRPr lang="en-SG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9C3EBD-E04B-50F2-9686-F89C4BE4CBEA}"/>
              </a:ext>
            </a:extLst>
          </p:cNvPr>
          <p:cNvSpPr txBox="1"/>
          <p:nvPr/>
        </p:nvSpPr>
        <p:spPr>
          <a:xfrm>
            <a:off x="3176914" y="4848645"/>
            <a:ext cx="1943100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Open new scope with name main()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679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  <a:p>
            <a:pPr marL="0" indent="0">
              <a:buNone/>
            </a:pPr>
            <a:r>
              <a:rPr lang="en-SG" dirty="0"/>
              <a:t>  └─ main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├ a (int, 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40677" y="5179651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19D21-3445-6028-BAB1-DA759DECDD1E}"/>
              </a:ext>
            </a:extLst>
          </p:cNvPr>
          <p:cNvSpPr txBox="1"/>
          <p:nvPr/>
        </p:nvSpPr>
        <p:spPr>
          <a:xfrm>
            <a:off x="3176914" y="4848645"/>
            <a:ext cx="1943100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Add identifier for variable to scope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6525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  <a:p>
            <a:pPr marL="0" indent="0">
              <a:buNone/>
            </a:pPr>
            <a:r>
              <a:rPr lang="en-SG" dirty="0"/>
              <a:t>  └─ main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├ a (int, 3)</a:t>
            </a:r>
          </a:p>
          <a:p>
            <a:pPr marL="0" indent="0">
              <a:buNone/>
            </a:pPr>
            <a:r>
              <a:rPr lang="en-SG" dirty="0"/>
              <a:t>      ├ b (int, 4)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40677" y="5437558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D20DF-7FBE-733F-FD00-A6B39AA1EC96}"/>
              </a:ext>
            </a:extLst>
          </p:cNvPr>
          <p:cNvSpPr txBox="1"/>
          <p:nvPr/>
        </p:nvSpPr>
        <p:spPr>
          <a:xfrm>
            <a:off x="3176914" y="4848645"/>
            <a:ext cx="1943100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Add identifier for variable to scope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3959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  <a:p>
            <a:pPr marL="0" indent="0">
              <a:buNone/>
            </a:pPr>
            <a:r>
              <a:rPr lang="en-SG" dirty="0"/>
              <a:t>  └─ main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├ a (int, 3)</a:t>
            </a:r>
          </a:p>
          <a:p>
            <a:pPr marL="0" indent="0">
              <a:buNone/>
            </a:pPr>
            <a:r>
              <a:rPr lang="en-SG" dirty="0"/>
              <a:t>      ├ b (int, 4)</a:t>
            </a:r>
          </a:p>
          <a:p>
            <a:pPr marL="0" indent="0">
              <a:buNone/>
            </a:pPr>
            <a:r>
              <a:rPr lang="en-SG" dirty="0"/>
              <a:t>      └─ sum (int, ?)</a:t>
            </a:r>
          </a:p>
          <a:p>
            <a:pPr marL="0" indent="0">
              <a:buNone/>
            </a:pPr>
            <a:r>
              <a:rPr lang="en-SG" dirty="0"/>
              <a:t>             ├ </a:t>
            </a:r>
            <a:r>
              <a:rPr lang="en-SG" dirty="0" err="1"/>
              <a:t>multiply_and_add</a:t>
            </a:r>
            <a:r>
              <a:rPr lang="en-SG" dirty="0"/>
              <a:t>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         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40677" y="5640753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2E694-2828-9D8E-5254-2332BC97EF21}"/>
              </a:ext>
            </a:extLst>
          </p:cNvPr>
          <p:cNvSpPr txBox="1"/>
          <p:nvPr/>
        </p:nvSpPr>
        <p:spPr>
          <a:xfrm>
            <a:off x="3176913" y="4848645"/>
            <a:ext cx="2528317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Also, open a new scope for function call</a:t>
            </a:r>
            <a:endParaRPr lang="en-SG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CCBAA3-FE21-CFB6-1388-88ABFFC0BAC3}"/>
              </a:ext>
            </a:extLst>
          </p:cNvPr>
          <p:cNvSpPr txBox="1"/>
          <p:nvPr/>
        </p:nvSpPr>
        <p:spPr>
          <a:xfrm>
            <a:off x="4274507" y="4202313"/>
            <a:ext cx="1943100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Add identifier for variable to scope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38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  <a:p>
            <a:pPr marL="0" indent="0">
              <a:buNone/>
            </a:pPr>
            <a:r>
              <a:rPr lang="en-SG" dirty="0"/>
              <a:t>  └─ main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├ a (int, 3)</a:t>
            </a:r>
          </a:p>
          <a:p>
            <a:pPr marL="0" indent="0">
              <a:buNone/>
            </a:pPr>
            <a:r>
              <a:rPr lang="en-SG" dirty="0"/>
              <a:t>      ├ b (int, 4)</a:t>
            </a:r>
          </a:p>
          <a:p>
            <a:pPr marL="0" indent="0">
              <a:buNone/>
            </a:pPr>
            <a:r>
              <a:rPr lang="en-SG" dirty="0"/>
              <a:t>      └─ sum (int, ?)</a:t>
            </a:r>
          </a:p>
          <a:p>
            <a:pPr marL="0" indent="0">
              <a:buNone/>
            </a:pPr>
            <a:r>
              <a:rPr lang="en-SG" dirty="0"/>
              <a:t>             ├ </a:t>
            </a:r>
            <a:r>
              <a:rPr lang="en-SG" dirty="0" err="1"/>
              <a:t>multiply_and_add</a:t>
            </a:r>
            <a:r>
              <a:rPr lang="en-SG" dirty="0"/>
              <a:t>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               ├ x (int, parameter, 3)</a:t>
            </a:r>
          </a:p>
          <a:p>
            <a:pPr marL="0" indent="0">
              <a:buNone/>
            </a:pPr>
            <a:r>
              <a:rPr lang="en-SG" dirty="0"/>
              <a:t>                     ├ y (int, parameter, 4)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40677" y="3874481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C7E46-5AD2-5B20-F273-8115DAC7B264}"/>
              </a:ext>
            </a:extLst>
          </p:cNvPr>
          <p:cNvSpPr txBox="1"/>
          <p:nvPr/>
        </p:nvSpPr>
        <p:spPr>
          <a:xfrm>
            <a:off x="3352292" y="4715783"/>
            <a:ext cx="1943100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Add identifiers for variable to scope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881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  <a:p>
            <a:pPr marL="0" indent="0">
              <a:buNone/>
            </a:pPr>
            <a:r>
              <a:rPr lang="en-SG" dirty="0"/>
              <a:t>  └─ main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├ a (int, 3)</a:t>
            </a:r>
          </a:p>
          <a:p>
            <a:pPr marL="0" indent="0">
              <a:buNone/>
            </a:pPr>
            <a:r>
              <a:rPr lang="en-SG" dirty="0"/>
              <a:t>      ├ b (int, 4)</a:t>
            </a:r>
          </a:p>
          <a:p>
            <a:pPr marL="0" indent="0">
              <a:buNone/>
            </a:pPr>
            <a:r>
              <a:rPr lang="en-SG" dirty="0"/>
              <a:t>      └─ sum (int, ?)</a:t>
            </a:r>
          </a:p>
          <a:p>
            <a:pPr marL="0" indent="0">
              <a:buNone/>
            </a:pPr>
            <a:r>
              <a:rPr lang="en-SG" dirty="0"/>
              <a:t>             ├ </a:t>
            </a:r>
            <a:r>
              <a:rPr lang="en-SG" dirty="0" err="1"/>
              <a:t>multiply_and_add</a:t>
            </a:r>
            <a:r>
              <a:rPr lang="en-SG" dirty="0"/>
              <a:t>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               ├ x (int, parameter, 3)</a:t>
            </a:r>
          </a:p>
          <a:p>
            <a:pPr marL="0" indent="0">
              <a:buNone/>
            </a:pPr>
            <a:r>
              <a:rPr lang="en-SG" dirty="0"/>
              <a:t>                     ├ y (int, parameter, 4)</a:t>
            </a:r>
          </a:p>
          <a:p>
            <a:pPr marL="0" indent="0">
              <a:buNone/>
            </a:pPr>
            <a:r>
              <a:rPr lang="en-SG" dirty="0"/>
              <a:t>      	          └─ result (int, 15)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40677" y="4085493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C7E46-5AD2-5B20-F273-8115DAC7B264}"/>
              </a:ext>
            </a:extLst>
          </p:cNvPr>
          <p:cNvSpPr txBox="1"/>
          <p:nvPr/>
        </p:nvSpPr>
        <p:spPr>
          <a:xfrm>
            <a:off x="3352292" y="4715783"/>
            <a:ext cx="1943100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Add identifier for variable to scope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39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  <a:p>
            <a:pPr marL="0" indent="0">
              <a:buNone/>
            </a:pPr>
            <a:r>
              <a:rPr lang="en-SG" dirty="0"/>
              <a:t>  └─ main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├ a (int, 3)</a:t>
            </a:r>
          </a:p>
          <a:p>
            <a:pPr marL="0" indent="0">
              <a:buNone/>
            </a:pPr>
            <a:r>
              <a:rPr lang="en-SG" dirty="0"/>
              <a:t>      ├ b (int, 4)</a:t>
            </a:r>
          </a:p>
          <a:p>
            <a:pPr marL="0" indent="0">
              <a:buNone/>
            </a:pPr>
            <a:r>
              <a:rPr lang="en-SG" dirty="0"/>
              <a:t>      └─ sum (int, 15)</a:t>
            </a:r>
          </a:p>
          <a:p>
            <a:pPr marL="0" indent="0">
              <a:buNone/>
            </a:pPr>
            <a:r>
              <a:rPr lang="en-SG" dirty="0"/>
              <a:t>             ├ </a:t>
            </a:r>
            <a:r>
              <a:rPr lang="en-SG" dirty="0" err="1"/>
              <a:t>multiply_and_add</a:t>
            </a:r>
            <a:r>
              <a:rPr lang="en-SG" dirty="0"/>
              <a:t>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               ├ x (int, parameter, 3)</a:t>
            </a:r>
          </a:p>
          <a:p>
            <a:pPr marL="0" indent="0">
              <a:buNone/>
            </a:pPr>
            <a:r>
              <a:rPr lang="en-SG" dirty="0"/>
              <a:t>                     ├ y (int, parameter, 4)</a:t>
            </a:r>
          </a:p>
          <a:p>
            <a:pPr marL="0" indent="0">
              <a:buNone/>
            </a:pPr>
            <a:r>
              <a:rPr lang="en-SG" dirty="0"/>
              <a:t>      	          └─ result (int, 15)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40677" y="4327767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C7E46-5AD2-5B20-F273-8115DAC7B264}"/>
              </a:ext>
            </a:extLst>
          </p:cNvPr>
          <p:cNvSpPr txBox="1"/>
          <p:nvPr/>
        </p:nvSpPr>
        <p:spPr>
          <a:xfrm>
            <a:off x="3352292" y="4715783"/>
            <a:ext cx="3324082" cy="92333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Return = transfer value of identifier result to identifier sum and close function scope</a:t>
            </a:r>
            <a:endParaRPr lang="en-SG" dirty="0">
              <a:solidFill>
                <a:schemeClr val="accent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50E4EDD-495F-288F-9423-13BD8822E181}"/>
              </a:ext>
            </a:extLst>
          </p:cNvPr>
          <p:cNvSpPr/>
          <p:nvPr/>
        </p:nvSpPr>
        <p:spPr>
          <a:xfrm>
            <a:off x="691662" y="5639113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81583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  <a:p>
            <a:pPr marL="0" indent="0">
              <a:buNone/>
            </a:pPr>
            <a:r>
              <a:rPr lang="en-SG" dirty="0"/>
              <a:t>  └─ main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├ a (int, 3)</a:t>
            </a:r>
          </a:p>
          <a:p>
            <a:pPr marL="0" indent="0">
              <a:buNone/>
            </a:pPr>
            <a:r>
              <a:rPr lang="en-SG" dirty="0"/>
              <a:t>      ├ b (int, 4)</a:t>
            </a:r>
          </a:p>
          <a:p>
            <a:pPr marL="0" indent="0">
              <a:buNone/>
            </a:pPr>
            <a:r>
              <a:rPr lang="en-SG" dirty="0"/>
              <a:t>      └─ sum (int, 15)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40677" y="4327767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C7E46-5AD2-5B20-F273-8115DAC7B264}"/>
              </a:ext>
            </a:extLst>
          </p:cNvPr>
          <p:cNvSpPr txBox="1"/>
          <p:nvPr/>
        </p:nvSpPr>
        <p:spPr>
          <a:xfrm>
            <a:off x="3352292" y="4715783"/>
            <a:ext cx="3324082" cy="92333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Return = transfer value of identifier result to identifier sum and close function scope</a:t>
            </a:r>
            <a:endParaRPr lang="en-SG" dirty="0">
              <a:solidFill>
                <a:schemeClr val="accent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19B5425-6AE9-1FAD-60A8-89A159CE9CA4}"/>
              </a:ext>
            </a:extLst>
          </p:cNvPr>
          <p:cNvSpPr/>
          <p:nvPr/>
        </p:nvSpPr>
        <p:spPr>
          <a:xfrm>
            <a:off x="691662" y="5639113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3366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  <a:p>
            <a:pPr marL="0" indent="0">
              <a:buNone/>
            </a:pPr>
            <a:r>
              <a:rPr lang="en-SG" dirty="0"/>
              <a:t>  └─ main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├ a (int, 3)</a:t>
            </a:r>
          </a:p>
          <a:p>
            <a:pPr marL="0" indent="0">
              <a:buNone/>
            </a:pPr>
            <a:r>
              <a:rPr lang="en-SG" dirty="0"/>
              <a:t>      ├ b (int, 4)</a:t>
            </a:r>
          </a:p>
          <a:p>
            <a:pPr marL="0" indent="0">
              <a:buNone/>
            </a:pPr>
            <a:r>
              <a:rPr lang="en-SG" dirty="0"/>
              <a:t>      └─ sum (int, 15)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81626" y="5901710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C7E46-5AD2-5B20-F273-8115DAC7B264}"/>
              </a:ext>
            </a:extLst>
          </p:cNvPr>
          <p:cNvSpPr txBox="1"/>
          <p:nvPr/>
        </p:nvSpPr>
        <p:spPr>
          <a:xfrm>
            <a:off x="2994736" y="4911167"/>
            <a:ext cx="3324082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Print fetches identifier sum from symbol table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682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  <a:p>
            <a:pPr marL="0" indent="0">
              <a:buNone/>
            </a:pPr>
            <a:r>
              <a:rPr lang="en-SG" dirty="0"/>
              <a:t>  └─ main (</a:t>
            </a:r>
            <a:r>
              <a:rPr lang="en-SG" dirty="0" err="1"/>
              <a:t>func</a:t>
            </a:r>
            <a:r>
              <a:rPr lang="en-SG" dirty="0"/>
              <a:t>. scope)</a:t>
            </a:r>
          </a:p>
          <a:p>
            <a:pPr marL="0" indent="0">
              <a:buNone/>
            </a:pPr>
            <a:r>
              <a:rPr lang="en-SG" dirty="0"/>
              <a:t>      ├ a (int, 3)</a:t>
            </a:r>
          </a:p>
          <a:p>
            <a:pPr marL="0" indent="0">
              <a:buNone/>
            </a:pPr>
            <a:r>
              <a:rPr lang="en-SG" dirty="0"/>
              <a:t>      ├ b (int, 4)</a:t>
            </a:r>
          </a:p>
          <a:p>
            <a:pPr marL="0" indent="0">
              <a:buNone/>
            </a:pPr>
            <a:r>
              <a:rPr lang="en-SG" dirty="0"/>
              <a:t>      └─ sum (int, 15)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81626" y="6089278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C7E46-5AD2-5B20-F273-8115DAC7B264}"/>
              </a:ext>
            </a:extLst>
          </p:cNvPr>
          <p:cNvSpPr txBox="1"/>
          <p:nvPr/>
        </p:nvSpPr>
        <p:spPr>
          <a:xfrm>
            <a:off x="2994736" y="4911167"/>
            <a:ext cx="3324082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Return 0 and close function scope main()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409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  <a:p>
            <a:pPr marL="0" indent="0">
              <a:buNone/>
            </a:pPr>
            <a:r>
              <a:rPr lang="en-SG" dirty="0"/>
              <a:t>  ├ </a:t>
            </a:r>
            <a:r>
              <a:rPr lang="en-SG" dirty="0" err="1"/>
              <a:t>multiply_and_add</a:t>
            </a:r>
            <a:r>
              <a:rPr lang="en-SG" dirty="0"/>
              <a:t> (function)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81626" y="6089278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C7E46-5AD2-5B20-F273-8115DAC7B264}"/>
              </a:ext>
            </a:extLst>
          </p:cNvPr>
          <p:cNvSpPr txBox="1"/>
          <p:nvPr/>
        </p:nvSpPr>
        <p:spPr>
          <a:xfrm>
            <a:off x="2994736" y="4911167"/>
            <a:ext cx="3324082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Return 0 and close function scope main()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073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95389-2C0E-1DFF-E4CF-7124413F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a symbol table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CF7C3-6DDD-A291-7A3C-FEEBFA4BDF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code below.</a:t>
            </a:r>
          </a:p>
          <a:p>
            <a:pPr marL="0" indent="0">
              <a:buNone/>
            </a:pPr>
            <a:r>
              <a:rPr lang="en-GB" dirty="0"/>
              <a:t>During execution, the symbol table will be created as follows.</a:t>
            </a:r>
            <a:endParaRPr lang="en-SG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0DF647A-CA89-CFBF-D7B2-71B571D01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4646" y="1825624"/>
            <a:ext cx="6377354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dirty="0"/>
              <a:t>Global scope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C042E-8ADA-673E-EB11-A2454BE9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677428" cy="321989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6C41EA8B-2357-6CEA-370B-1BC5870415F0}"/>
              </a:ext>
            </a:extLst>
          </p:cNvPr>
          <p:cNvSpPr/>
          <p:nvPr/>
        </p:nvSpPr>
        <p:spPr>
          <a:xfrm>
            <a:off x="181626" y="6511272"/>
            <a:ext cx="839037" cy="2752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C7E46-5AD2-5B20-F273-8115DAC7B264}"/>
              </a:ext>
            </a:extLst>
          </p:cNvPr>
          <p:cNvSpPr txBox="1"/>
          <p:nvPr/>
        </p:nvSpPr>
        <p:spPr>
          <a:xfrm>
            <a:off x="2994735" y="4911167"/>
            <a:ext cx="3499849" cy="36933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In fact, close global scope and end</a:t>
            </a:r>
            <a:endParaRPr lang="en-S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5882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Technically, two ways to represent the symbol table below.</a:t>
            </a:r>
          </a:p>
          <a:p>
            <a:r>
              <a:rPr lang="en-GB" b="1" dirty="0"/>
              <a:t>Simple stack</a:t>
            </a:r>
          </a:p>
          <a:p>
            <a:r>
              <a:rPr lang="en-GB" b="1" dirty="0"/>
              <a:t>Spaghetti stack</a:t>
            </a:r>
            <a:endParaRPr lang="en-SG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AD276-08A8-67F2-AD36-1EB4AC65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23" y="3833602"/>
            <a:ext cx="3610655" cy="302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5730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Technically, two ways to represent the symbol table below.</a:t>
            </a:r>
          </a:p>
          <a:p>
            <a:r>
              <a:rPr lang="en-GB" b="1" dirty="0"/>
              <a:t>Simple stack</a:t>
            </a:r>
          </a:p>
          <a:p>
            <a:r>
              <a:rPr lang="en-GB" b="1" dirty="0"/>
              <a:t>Spaghetti stack</a:t>
            </a:r>
            <a:endParaRPr lang="en-SG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6A0A4B-C246-4F7D-D532-EDFE95B8D6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Simple stack</a:t>
            </a:r>
          </a:p>
          <a:p>
            <a:r>
              <a:rPr lang="en-GB" dirty="0"/>
              <a:t>Opening a new scope simply adds on top of the existing stack.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AD276-08A8-67F2-AD36-1EB4AC65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23" y="3833602"/>
            <a:ext cx="3610655" cy="30243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A3AE0E-C414-79E9-9CD4-D4A88F3E36BF}"/>
              </a:ext>
            </a:extLst>
          </p:cNvPr>
          <p:cNvSpPr/>
          <p:nvPr/>
        </p:nvSpPr>
        <p:spPr>
          <a:xfrm>
            <a:off x="6858000" y="3429000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57986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Technically, two ways to represent the symbol table below.</a:t>
            </a:r>
          </a:p>
          <a:p>
            <a:r>
              <a:rPr lang="en-GB" b="1" dirty="0"/>
              <a:t>Simple stack</a:t>
            </a:r>
          </a:p>
          <a:p>
            <a:r>
              <a:rPr lang="en-GB" b="1" dirty="0"/>
              <a:t>Spaghetti stack</a:t>
            </a:r>
            <a:endParaRPr lang="en-SG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6A0A4B-C246-4F7D-D532-EDFE95B8D6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Simple stack</a:t>
            </a:r>
          </a:p>
          <a:p>
            <a:r>
              <a:rPr lang="en-GB" dirty="0"/>
              <a:t>Opening a new scope simply adds on top of the existing stack.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AD276-08A8-67F2-AD36-1EB4AC65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23" y="3833602"/>
            <a:ext cx="3610655" cy="30243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A3AE0E-C414-79E9-9CD4-D4A88F3E36BF}"/>
              </a:ext>
            </a:extLst>
          </p:cNvPr>
          <p:cNvSpPr/>
          <p:nvPr/>
        </p:nvSpPr>
        <p:spPr>
          <a:xfrm>
            <a:off x="6858000" y="3429000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7D675-1257-D43D-1BD5-B6A9F2F8FE81}"/>
              </a:ext>
            </a:extLst>
          </p:cNvPr>
          <p:cNvSpPr/>
          <p:nvPr/>
        </p:nvSpPr>
        <p:spPr>
          <a:xfrm>
            <a:off x="6858000" y="3681755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31442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Technically, two ways to represent the symbol table below.</a:t>
            </a:r>
          </a:p>
          <a:p>
            <a:r>
              <a:rPr lang="en-GB" b="1" dirty="0"/>
              <a:t>Simple stack</a:t>
            </a:r>
          </a:p>
          <a:p>
            <a:r>
              <a:rPr lang="en-GB" b="1" dirty="0"/>
              <a:t>Spaghetti stack</a:t>
            </a:r>
            <a:endParaRPr lang="en-SG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6A0A4B-C246-4F7D-D532-EDFE95B8D6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Simple stack</a:t>
            </a:r>
          </a:p>
          <a:p>
            <a:r>
              <a:rPr lang="en-GB" dirty="0"/>
              <a:t>Opening a new scope simply adds on top of the existing stack.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AD276-08A8-67F2-AD36-1EB4AC65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23" y="3833602"/>
            <a:ext cx="3610655" cy="30243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A3AE0E-C414-79E9-9CD4-D4A88F3E36BF}"/>
              </a:ext>
            </a:extLst>
          </p:cNvPr>
          <p:cNvSpPr/>
          <p:nvPr/>
        </p:nvSpPr>
        <p:spPr>
          <a:xfrm>
            <a:off x="6858000" y="3429000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7D675-1257-D43D-1BD5-B6A9F2F8FE81}"/>
              </a:ext>
            </a:extLst>
          </p:cNvPr>
          <p:cNvSpPr/>
          <p:nvPr/>
        </p:nvSpPr>
        <p:spPr>
          <a:xfrm>
            <a:off x="6858000" y="3681755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59276-6739-1C8D-D4C0-EBF0313F43B3}"/>
              </a:ext>
            </a:extLst>
          </p:cNvPr>
          <p:cNvSpPr/>
          <p:nvPr/>
        </p:nvSpPr>
        <p:spPr>
          <a:xfrm>
            <a:off x="6858000" y="3917391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 scope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43454-DB7C-5902-2663-9F7B0ED8E1F0}"/>
              </a:ext>
            </a:extLst>
          </p:cNvPr>
          <p:cNvSpPr/>
          <p:nvPr/>
        </p:nvSpPr>
        <p:spPr>
          <a:xfrm>
            <a:off x="6858000" y="4153027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a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DBD216-1432-06AE-6C1A-55CB4BC5DFB1}"/>
              </a:ext>
            </a:extLst>
          </p:cNvPr>
          <p:cNvSpPr/>
          <p:nvPr/>
        </p:nvSpPr>
        <p:spPr>
          <a:xfrm>
            <a:off x="6858000" y="4388663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b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1945F-2959-314B-F523-AFB7F5290668}"/>
              </a:ext>
            </a:extLst>
          </p:cNvPr>
          <p:cNvSpPr/>
          <p:nvPr/>
        </p:nvSpPr>
        <p:spPr>
          <a:xfrm>
            <a:off x="6858000" y="462429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sum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859706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Technically, two ways to represent the symbol table below.</a:t>
            </a:r>
          </a:p>
          <a:p>
            <a:r>
              <a:rPr lang="en-GB" b="1" dirty="0"/>
              <a:t>Simple stack</a:t>
            </a:r>
          </a:p>
          <a:p>
            <a:r>
              <a:rPr lang="en-GB" b="1" dirty="0"/>
              <a:t>Spaghetti stack</a:t>
            </a:r>
            <a:endParaRPr lang="en-SG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6A0A4B-C246-4F7D-D532-EDFE95B8D6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Simple stack</a:t>
            </a:r>
          </a:p>
          <a:p>
            <a:r>
              <a:rPr lang="en-GB" dirty="0"/>
              <a:t>Opening a new scope simply adds on top of the existing stack.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AD276-08A8-67F2-AD36-1EB4AC65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23" y="3833602"/>
            <a:ext cx="3610655" cy="30243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A3AE0E-C414-79E9-9CD4-D4A88F3E36BF}"/>
              </a:ext>
            </a:extLst>
          </p:cNvPr>
          <p:cNvSpPr/>
          <p:nvPr/>
        </p:nvSpPr>
        <p:spPr>
          <a:xfrm>
            <a:off x="6858000" y="3429000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7D675-1257-D43D-1BD5-B6A9F2F8FE81}"/>
              </a:ext>
            </a:extLst>
          </p:cNvPr>
          <p:cNvSpPr/>
          <p:nvPr/>
        </p:nvSpPr>
        <p:spPr>
          <a:xfrm>
            <a:off x="6858000" y="3681755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59276-6739-1C8D-D4C0-EBF0313F43B3}"/>
              </a:ext>
            </a:extLst>
          </p:cNvPr>
          <p:cNvSpPr/>
          <p:nvPr/>
        </p:nvSpPr>
        <p:spPr>
          <a:xfrm>
            <a:off x="6858000" y="3917391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 scope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43454-DB7C-5902-2663-9F7B0ED8E1F0}"/>
              </a:ext>
            </a:extLst>
          </p:cNvPr>
          <p:cNvSpPr/>
          <p:nvPr/>
        </p:nvSpPr>
        <p:spPr>
          <a:xfrm>
            <a:off x="6858000" y="4153027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a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DBD216-1432-06AE-6C1A-55CB4BC5DFB1}"/>
              </a:ext>
            </a:extLst>
          </p:cNvPr>
          <p:cNvSpPr/>
          <p:nvPr/>
        </p:nvSpPr>
        <p:spPr>
          <a:xfrm>
            <a:off x="6858000" y="4388663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b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1945F-2959-314B-F523-AFB7F5290668}"/>
              </a:ext>
            </a:extLst>
          </p:cNvPr>
          <p:cNvSpPr/>
          <p:nvPr/>
        </p:nvSpPr>
        <p:spPr>
          <a:xfrm>
            <a:off x="6858000" y="462429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sum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74CAB3-D7D6-121E-C4FF-3F3DEE1562C1}"/>
              </a:ext>
            </a:extLst>
          </p:cNvPr>
          <p:cNvSpPr/>
          <p:nvPr/>
        </p:nvSpPr>
        <p:spPr>
          <a:xfrm>
            <a:off x="6858000" y="4859935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Multiply_and_add</a:t>
            </a:r>
            <a:r>
              <a:rPr lang="en-GB" dirty="0"/>
              <a:t> </a:t>
            </a:r>
            <a:r>
              <a:rPr lang="en-GB" dirty="0" err="1"/>
              <a:t>func</a:t>
            </a:r>
            <a:r>
              <a:rPr lang="en-GB" dirty="0"/>
              <a:t>. scope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81578A-6D0F-D9DA-2510-7798546D973A}"/>
              </a:ext>
            </a:extLst>
          </p:cNvPr>
          <p:cNvSpPr/>
          <p:nvPr/>
        </p:nvSpPr>
        <p:spPr>
          <a:xfrm>
            <a:off x="6858000" y="5095571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x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1FFF90-63DB-5DA4-0E56-402AB035EE7E}"/>
              </a:ext>
            </a:extLst>
          </p:cNvPr>
          <p:cNvSpPr/>
          <p:nvPr/>
        </p:nvSpPr>
        <p:spPr>
          <a:xfrm>
            <a:off x="6858000" y="5331207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y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C15FA8-1D1F-01C0-1BBD-7B1055FED2A5}"/>
              </a:ext>
            </a:extLst>
          </p:cNvPr>
          <p:cNvSpPr/>
          <p:nvPr/>
        </p:nvSpPr>
        <p:spPr>
          <a:xfrm>
            <a:off x="6858000" y="5566843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result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137464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Technically, two ways to represent the symbol table below.</a:t>
            </a:r>
          </a:p>
          <a:p>
            <a:r>
              <a:rPr lang="en-GB" b="1" dirty="0"/>
              <a:t>Simple stack</a:t>
            </a:r>
          </a:p>
          <a:p>
            <a:r>
              <a:rPr lang="en-GB" b="1" dirty="0"/>
              <a:t>Spaghetti stack</a:t>
            </a:r>
            <a:endParaRPr lang="en-SG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6A0A4B-C246-4F7D-D532-EDFE95B8D6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Simple stack</a:t>
            </a:r>
          </a:p>
          <a:p>
            <a:r>
              <a:rPr lang="en-GB" dirty="0"/>
              <a:t>Opening a new scope simply adds on top of the existing stack.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AD276-08A8-67F2-AD36-1EB4AC65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23" y="3833602"/>
            <a:ext cx="3610655" cy="30243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A3AE0E-C414-79E9-9CD4-D4A88F3E36BF}"/>
              </a:ext>
            </a:extLst>
          </p:cNvPr>
          <p:cNvSpPr/>
          <p:nvPr/>
        </p:nvSpPr>
        <p:spPr>
          <a:xfrm>
            <a:off x="6858000" y="3429000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7D675-1257-D43D-1BD5-B6A9F2F8FE81}"/>
              </a:ext>
            </a:extLst>
          </p:cNvPr>
          <p:cNvSpPr/>
          <p:nvPr/>
        </p:nvSpPr>
        <p:spPr>
          <a:xfrm>
            <a:off x="6858000" y="3681755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59276-6739-1C8D-D4C0-EBF0313F43B3}"/>
              </a:ext>
            </a:extLst>
          </p:cNvPr>
          <p:cNvSpPr/>
          <p:nvPr/>
        </p:nvSpPr>
        <p:spPr>
          <a:xfrm>
            <a:off x="6858000" y="3917391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 scope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43454-DB7C-5902-2663-9F7B0ED8E1F0}"/>
              </a:ext>
            </a:extLst>
          </p:cNvPr>
          <p:cNvSpPr/>
          <p:nvPr/>
        </p:nvSpPr>
        <p:spPr>
          <a:xfrm>
            <a:off x="6858000" y="4153027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a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DBD216-1432-06AE-6C1A-55CB4BC5DFB1}"/>
              </a:ext>
            </a:extLst>
          </p:cNvPr>
          <p:cNvSpPr/>
          <p:nvPr/>
        </p:nvSpPr>
        <p:spPr>
          <a:xfrm>
            <a:off x="6858000" y="4388663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b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1945F-2959-314B-F523-AFB7F5290668}"/>
              </a:ext>
            </a:extLst>
          </p:cNvPr>
          <p:cNvSpPr/>
          <p:nvPr/>
        </p:nvSpPr>
        <p:spPr>
          <a:xfrm>
            <a:off x="6858000" y="462429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sum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75459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Technically, two ways to represent the symbol table below.</a:t>
            </a:r>
          </a:p>
          <a:p>
            <a:r>
              <a:rPr lang="en-GB" b="1" dirty="0"/>
              <a:t>Simple stack</a:t>
            </a:r>
          </a:p>
          <a:p>
            <a:r>
              <a:rPr lang="en-GB" b="1" dirty="0"/>
              <a:t>Spaghetti stack</a:t>
            </a:r>
            <a:endParaRPr lang="en-SG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6A0A4B-C246-4F7D-D532-EDFE95B8D6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Simple stack</a:t>
            </a:r>
          </a:p>
          <a:p>
            <a:r>
              <a:rPr lang="en-GB" dirty="0"/>
              <a:t>Opening a new scope simply adds on top of the existing stack.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AD276-08A8-67F2-AD36-1EB4AC65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23" y="3833602"/>
            <a:ext cx="3610655" cy="30243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A3AE0E-C414-79E9-9CD4-D4A88F3E36BF}"/>
              </a:ext>
            </a:extLst>
          </p:cNvPr>
          <p:cNvSpPr/>
          <p:nvPr/>
        </p:nvSpPr>
        <p:spPr>
          <a:xfrm>
            <a:off x="6858000" y="3429000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17D675-1257-D43D-1BD5-B6A9F2F8FE81}"/>
              </a:ext>
            </a:extLst>
          </p:cNvPr>
          <p:cNvSpPr/>
          <p:nvPr/>
        </p:nvSpPr>
        <p:spPr>
          <a:xfrm>
            <a:off x="6858000" y="3681755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970738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Technically, two ways to represent the symbol table below.</a:t>
            </a:r>
          </a:p>
          <a:p>
            <a:r>
              <a:rPr lang="en-GB" b="1" dirty="0"/>
              <a:t>Simple stack</a:t>
            </a:r>
          </a:p>
          <a:p>
            <a:r>
              <a:rPr lang="en-GB" b="1" dirty="0"/>
              <a:t>Spaghetti stack</a:t>
            </a:r>
            <a:endParaRPr lang="en-SG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6A0A4B-C246-4F7D-D532-EDFE95B8D6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Simple stack</a:t>
            </a:r>
          </a:p>
          <a:p>
            <a:r>
              <a:rPr lang="en-GB" dirty="0"/>
              <a:t>Opening a new scope simply adds on top of the existing stack.</a:t>
            </a:r>
            <a:endParaRPr lang="en-S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3AD276-08A8-67F2-AD36-1EB4AC65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23" y="3833602"/>
            <a:ext cx="3610655" cy="30243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A3AE0E-C414-79E9-9CD4-D4A88F3E36BF}"/>
              </a:ext>
            </a:extLst>
          </p:cNvPr>
          <p:cNvSpPr/>
          <p:nvPr/>
        </p:nvSpPr>
        <p:spPr>
          <a:xfrm>
            <a:off x="6858000" y="3429000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659792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Spaghetti stack</a:t>
            </a:r>
            <a:endParaRPr lang="en-SG" b="1" dirty="0"/>
          </a:p>
          <a:p>
            <a:r>
              <a:rPr lang="en-GB" dirty="0"/>
              <a:t>Treat the symbol table as a linked structure of scopes.</a:t>
            </a:r>
          </a:p>
          <a:p>
            <a:r>
              <a:rPr lang="en-GB" dirty="0"/>
              <a:t>Each scope stores a pointer to its parents, but not vice-versa.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9667A-B8C1-E221-B1AD-2D5E9C9B583B}"/>
              </a:ext>
            </a:extLst>
          </p:cNvPr>
          <p:cNvSpPr/>
          <p:nvPr/>
        </p:nvSpPr>
        <p:spPr>
          <a:xfrm>
            <a:off x="6693877" y="1926324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179059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Spaghetti stack</a:t>
            </a:r>
            <a:endParaRPr lang="en-SG" b="1" dirty="0"/>
          </a:p>
          <a:p>
            <a:r>
              <a:rPr lang="en-GB" dirty="0"/>
              <a:t>Treat the symbol table as a linked structure of scopes.</a:t>
            </a:r>
          </a:p>
          <a:p>
            <a:r>
              <a:rPr lang="en-GB" dirty="0"/>
              <a:t>Each scope stores a pointer to its parents, but not vice-versa.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9667A-B8C1-E221-B1AD-2D5E9C9B583B}"/>
              </a:ext>
            </a:extLst>
          </p:cNvPr>
          <p:cNvSpPr/>
          <p:nvPr/>
        </p:nvSpPr>
        <p:spPr>
          <a:xfrm>
            <a:off x="6693877" y="1926324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52359A-DCBC-A0C6-3A6A-7B857CEBBDB4}"/>
              </a:ext>
            </a:extLst>
          </p:cNvPr>
          <p:cNvSpPr/>
          <p:nvPr/>
        </p:nvSpPr>
        <p:spPr>
          <a:xfrm>
            <a:off x="6693877" y="217907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34875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Spaghetti stack</a:t>
            </a:r>
            <a:endParaRPr lang="en-SG" b="1" dirty="0"/>
          </a:p>
          <a:p>
            <a:r>
              <a:rPr lang="en-GB" dirty="0"/>
              <a:t>Treat the symbol table as a linked structure of scopes.</a:t>
            </a:r>
          </a:p>
          <a:p>
            <a:r>
              <a:rPr lang="en-GB" dirty="0"/>
              <a:t>Each scope stores a pointer to its parents, but not vice-versa.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9667A-B8C1-E221-B1AD-2D5E9C9B583B}"/>
              </a:ext>
            </a:extLst>
          </p:cNvPr>
          <p:cNvSpPr/>
          <p:nvPr/>
        </p:nvSpPr>
        <p:spPr>
          <a:xfrm>
            <a:off x="6693877" y="1926324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52359A-DCBC-A0C6-3A6A-7B857CEBBDB4}"/>
              </a:ext>
            </a:extLst>
          </p:cNvPr>
          <p:cNvSpPr/>
          <p:nvPr/>
        </p:nvSpPr>
        <p:spPr>
          <a:xfrm>
            <a:off x="6693877" y="217907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33391D-0D5D-A7DC-654A-B482C0C440EE}"/>
              </a:ext>
            </a:extLst>
          </p:cNvPr>
          <p:cNvSpPr/>
          <p:nvPr/>
        </p:nvSpPr>
        <p:spPr>
          <a:xfrm>
            <a:off x="6693877" y="3393763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 scope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C910F9-F0B9-FF0E-07BB-2E3E95D8C363}"/>
              </a:ext>
            </a:extLst>
          </p:cNvPr>
          <p:cNvSpPr/>
          <p:nvPr/>
        </p:nvSpPr>
        <p:spPr>
          <a:xfrm>
            <a:off x="6693877" y="362939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a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A3344-FAAD-4941-CAFD-6CEC9E01661D}"/>
              </a:ext>
            </a:extLst>
          </p:cNvPr>
          <p:cNvSpPr/>
          <p:nvPr/>
        </p:nvSpPr>
        <p:spPr>
          <a:xfrm>
            <a:off x="6693877" y="3865035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b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762BD0-FEF3-AD53-F585-119B444A3BDB}"/>
              </a:ext>
            </a:extLst>
          </p:cNvPr>
          <p:cNvSpPr/>
          <p:nvPr/>
        </p:nvSpPr>
        <p:spPr>
          <a:xfrm>
            <a:off x="6693877" y="4100671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sum</a:t>
            </a:r>
            <a:endParaRPr lang="en-SG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BC60E7-E839-A1C7-67F9-C1417F6461A6}"/>
              </a:ext>
            </a:extLst>
          </p:cNvPr>
          <p:cNvSpPr/>
          <p:nvPr/>
        </p:nvSpPr>
        <p:spPr>
          <a:xfrm>
            <a:off x="6181922" y="2078892"/>
            <a:ext cx="492416" cy="1422400"/>
          </a:xfrm>
          <a:custGeom>
            <a:avLst/>
            <a:gdLst>
              <a:gd name="connsiteX0" fmla="*/ 468970 w 492416"/>
              <a:gd name="connsiteY0" fmla="*/ 1422400 h 1422400"/>
              <a:gd name="connsiteX1" fmla="*/ 47 w 492416"/>
              <a:gd name="connsiteY1" fmla="*/ 930031 h 1422400"/>
              <a:gd name="connsiteX2" fmla="*/ 492416 w 492416"/>
              <a:gd name="connsiteY2" fmla="*/ 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2416" h="1422400">
                <a:moveTo>
                  <a:pt x="468970" y="1422400"/>
                </a:moveTo>
                <a:cubicBezTo>
                  <a:pt x="232554" y="1294749"/>
                  <a:pt x="-3861" y="1167098"/>
                  <a:pt x="47" y="930031"/>
                </a:cubicBezTo>
                <a:cubicBezTo>
                  <a:pt x="3955" y="692964"/>
                  <a:pt x="248185" y="346482"/>
                  <a:pt x="492416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7207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Spaghetti stack</a:t>
            </a:r>
            <a:endParaRPr lang="en-SG" b="1" dirty="0"/>
          </a:p>
          <a:p>
            <a:r>
              <a:rPr lang="en-GB" dirty="0"/>
              <a:t>Treat the symbol table as a linked structure of scopes.</a:t>
            </a:r>
          </a:p>
          <a:p>
            <a:r>
              <a:rPr lang="en-GB" dirty="0"/>
              <a:t>Each scope stores a pointer to its parents, but not vice-versa.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9667A-B8C1-E221-B1AD-2D5E9C9B583B}"/>
              </a:ext>
            </a:extLst>
          </p:cNvPr>
          <p:cNvSpPr/>
          <p:nvPr/>
        </p:nvSpPr>
        <p:spPr>
          <a:xfrm>
            <a:off x="6693877" y="1926324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52359A-DCBC-A0C6-3A6A-7B857CEBBDB4}"/>
              </a:ext>
            </a:extLst>
          </p:cNvPr>
          <p:cNvSpPr/>
          <p:nvPr/>
        </p:nvSpPr>
        <p:spPr>
          <a:xfrm>
            <a:off x="6693877" y="217907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33391D-0D5D-A7DC-654A-B482C0C440EE}"/>
              </a:ext>
            </a:extLst>
          </p:cNvPr>
          <p:cNvSpPr/>
          <p:nvPr/>
        </p:nvSpPr>
        <p:spPr>
          <a:xfrm>
            <a:off x="6693877" y="3393763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 scope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C910F9-F0B9-FF0E-07BB-2E3E95D8C363}"/>
              </a:ext>
            </a:extLst>
          </p:cNvPr>
          <p:cNvSpPr/>
          <p:nvPr/>
        </p:nvSpPr>
        <p:spPr>
          <a:xfrm>
            <a:off x="6693877" y="362939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a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A3344-FAAD-4941-CAFD-6CEC9E01661D}"/>
              </a:ext>
            </a:extLst>
          </p:cNvPr>
          <p:cNvSpPr/>
          <p:nvPr/>
        </p:nvSpPr>
        <p:spPr>
          <a:xfrm>
            <a:off x="6693877" y="3865035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b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762BD0-FEF3-AD53-F585-119B444A3BDB}"/>
              </a:ext>
            </a:extLst>
          </p:cNvPr>
          <p:cNvSpPr/>
          <p:nvPr/>
        </p:nvSpPr>
        <p:spPr>
          <a:xfrm>
            <a:off x="6693877" y="4100671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sum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220D72-AF13-7542-4D9E-1E58EEE4BFA2}"/>
              </a:ext>
            </a:extLst>
          </p:cNvPr>
          <p:cNvSpPr/>
          <p:nvPr/>
        </p:nvSpPr>
        <p:spPr>
          <a:xfrm>
            <a:off x="6693877" y="5281967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Multiply_and_add</a:t>
            </a:r>
            <a:r>
              <a:rPr lang="en-GB" dirty="0"/>
              <a:t> </a:t>
            </a:r>
            <a:r>
              <a:rPr lang="en-GB" dirty="0" err="1"/>
              <a:t>func</a:t>
            </a:r>
            <a:r>
              <a:rPr lang="en-GB" dirty="0"/>
              <a:t>. scope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36F232-7327-376E-67B9-2DA938C784D6}"/>
              </a:ext>
            </a:extLst>
          </p:cNvPr>
          <p:cNvSpPr/>
          <p:nvPr/>
        </p:nvSpPr>
        <p:spPr>
          <a:xfrm>
            <a:off x="6693877" y="5517603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x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3DA26C-6035-57CA-D7BC-9E3599DF05DB}"/>
              </a:ext>
            </a:extLst>
          </p:cNvPr>
          <p:cNvSpPr/>
          <p:nvPr/>
        </p:nvSpPr>
        <p:spPr>
          <a:xfrm>
            <a:off x="6693877" y="5770358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y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DE5874-F181-68EE-B724-7AE6694DFA57}"/>
              </a:ext>
            </a:extLst>
          </p:cNvPr>
          <p:cNvSpPr/>
          <p:nvPr/>
        </p:nvSpPr>
        <p:spPr>
          <a:xfrm>
            <a:off x="6693877" y="6017787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result</a:t>
            </a:r>
            <a:endParaRPr lang="en-SG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BC60E7-E839-A1C7-67F9-C1417F6461A6}"/>
              </a:ext>
            </a:extLst>
          </p:cNvPr>
          <p:cNvSpPr/>
          <p:nvPr/>
        </p:nvSpPr>
        <p:spPr>
          <a:xfrm>
            <a:off x="6181922" y="2078892"/>
            <a:ext cx="492416" cy="1422400"/>
          </a:xfrm>
          <a:custGeom>
            <a:avLst/>
            <a:gdLst>
              <a:gd name="connsiteX0" fmla="*/ 468970 w 492416"/>
              <a:gd name="connsiteY0" fmla="*/ 1422400 h 1422400"/>
              <a:gd name="connsiteX1" fmla="*/ 47 w 492416"/>
              <a:gd name="connsiteY1" fmla="*/ 930031 h 1422400"/>
              <a:gd name="connsiteX2" fmla="*/ 492416 w 492416"/>
              <a:gd name="connsiteY2" fmla="*/ 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2416" h="1422400">
                <a:moveTo>
                  <a:pt x="468970" y="1422400"/>
                </a:moveTo>
                <a:cubicBezTo>
                  <a:pt x="232554" y="1294749"/>
                  <a:pt x="-3861" y="1167098"/>
                  <a:pt x="47" y="930031"/>
                </a:cubicBezTo>
                <a:cubicBezTo>
                  <a:pt x="3955" y="692964"/>
                  <a:pt x="248185" y="346482"/>
                  <a:pt x="492416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923BB8A-DA39-016B-BF15-CE8C590D10B5}"/>
              </a:ext>
            </a:extLst>
          </p:cNvPr>
          <p:cNvSpPr/>
          <p:nvPr/>
        </p:nvSpPr>
        <p:spPr>
          <a:xfrm>
            <a:off x="6172202" y="3511581"/>
            <a:ext cx="492416" cy="1910609"/>
          </a:xfrm>
          <a:custGeom>
            <a:avLst/>
            <a:gdLst>
              <a:gd name="connsiteX0" fmla="*/ 468970 w 492416"/>
              <a:gd name="connsiteY0" fmla="*/ 1422400 h 1422400"/>
              <a:gd name="connsiteX1" fmla="*/ 47 w 492416"/>
              <a:gd name="connsiteY1" fmla="*/ 930031 h 1422400"/>
              <a:gd name="connsiteX2" fmla="*/ 492416 w 492416"/>
              <a:gd name="connsiteY2" fmla="*/ 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2416" h="1422400">
                <a:moveTo>
                  <a:pt x="468970" y="1422400"/>
                </a:moveTo>
                <a:cubicBezTo>
                  <a:pt x="232554" y="1294749"/>
                  <a:pt x="-3861" y="1167098"/>
                  <a:pt x="47" y="930031"/>
                </a:cubicBezTo>
                <a:cubicBezTo>
                  <a:pt x="3955" y="692964"/>
                  <a:pt x="248185" y="346482"/>
                  <a:pt x="492416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78119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Spaghetti stack</a:t>
            </a:r>
            <a:endParaRPr lang="en-SG" b="1" dirty="0"/>
          </a:p>
          <a:p>
            <a:r>
              <a:rPr lang="en-GB" dirty="0"/>
              <a:t>Treat the symbol table as a linked structure of scopes.</a:t>
            </a:r>
          </a:p>
          <a:p>
            <a:r>
              <a:rPr lang="en-GB" dirty="0"/>
              <a:t>Each scope stores a pointer to its parents, but not vice-versa.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9667A-B8C1-E221-B1AD-2D5E9C9B583B}"/>
              </a:ext>
            </a:extLst>
          </p:cNvPr>
          <p:cNvSpPr/>
          <p:nvPr/>
        </p:nvSpPr>
        <p:spPr>
          <a:xfrm>
            <a:off x="6693877" y="1926324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52359A-DCBC-A0C6-3A6A-7B857CEBBDB4}"/>
              </a:ext>
            </a:extLst>
          </p:cNvPr>
          <p:cNvSpPr/>
          <p:nvPr/>
        </p:nvSpPr>
        <p:spPr>
          <a:xfrm>
            <a:off x="6693877" y="217907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33391D-0D5D-A7DC-654A-B482C0C440EE}"/>
              </a:ext>
            </a:extLst>
          </p:cNvPr>
          <p:cNvSpPr/>
          <p:nvPr/>
        </p:nvSpPr>
        <p:spPr>
          <a:xfrm>
            <a:off x="6693877" y="3393763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 scope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C910F9-F0B9-FF0E-07BB-2E3E95D8C363}"/>
              </a:ext>
            </a:extLst>
          </p:cNvPr>
          <p:cNvSpPr/>
          <p:nvPr/>
        </p:nvSpPr>
        <p:spPr>
          <a:xfrm>
            <a:off x="6693877" y="362939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a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A3344-FAAD-4941-CAFD-6CEC9E01661D}"/>
              </a:ext>
            </a:extLst>
          </p:cNvPr>
          <p:cNvSpPr/>
          <p:nvPr/>
        </p:nvSpPr>
        <p:spPr>
          <a:xfrm>
            <a:off x="6693877" y="3865035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b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762BD0-FEF3-AD53-F585-119B444A3BDB}"/>
              </a:ext>
            </a:extLst>
          </p:cNvPr>
          <p:cNvSpPr/>
          <p:nvPr/>
        </p:nvSpPr>
        <p:spPr>
          <a:xfrm>
            <a:off x="6693877" y="4100671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sum</a:t>
            </a:r>
            <a:endParaRPr lang="en-SG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BC60E7-E839-A1C7-67F9-C1417F6461A6}"/>
              </a:ext>
            </a:extLst>
          </p:cNvPr>
          <p:cNvSpPr/>
          <p:nvPr/>
        </p:nvSpPr>
        <p:spPr>
          <a:xfrm>
            <a:off x="6181922" y="2078892"/>
            <a:ext cx="492416" cy="1422400"/>
          </a:xfrm>
          <a:custGeom>
            <a:avLst/>
            <a:gdLst>
              <a:gd name="connsiteX0" fmla="*/ 468970 w 492416"/>
              <a:gd name="connsiteY0" fmla="*/ 1422400 h 1422400"/>
              <a:gd name="connsiteX1" fmla="*/ 47 w 492416"/>
              <a:gd name="connsiteY1" fmla="*/ 930031 h 1422400"/>
              <a:gd name="connsiteX2" fmla="*/ 492416 w 492416"/>
              <a:gd name="connsiteY2" fmla="*/ 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2416" h="1422400">
                <a:moveTo>
                  <a:pt x="468970" y="1422400"/>
                </a:moveTo>
                <a:cubicBezTo>
                  <a:pt x="232554" y="1294749"/>
                  <a:pt x="-3861" y="1167098"/>
                  <a:pt x="47" y="930031"/>
                </a:cubicBezTo>
                <a:cubicBezTo>
                  <a:pt x="3955" y="692964"/>
                  <a:pt x="248185" y="346482"/>
                  <a:pt x="492416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78014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Spaghetti stack</a:t>
            </a:r>
            <a:endParaRPr lang="en-SG" b="1" dirty="0"/>
          </a:p>
          <a:p>
            <a:r>
              <a:rPr lang="en-GB" dirty="0"/>
              <a:t>Treat the symbol table as a linked structure of scopes.</a:t>
            </a:r>
          </a:p>
          <a:p>
            <a:r>
              <a:rPr lang="en-GB" dirty="0"/>
              <a:t>Each scope stores a pointer to its parents, but not vice-versa.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9667A-B8C1-E221-B1AD-2D5E9C9B583B}"/>
              </a:ext>
            </a:extLst>
          </p:cNvPr>
          <p:cNvSpPr/>
          <p:nvPr/>
        </p:nvSpPr>
        <p:spPr>
          <a:xfrm>
            <a:off x="6693877" y="1926324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52359A-DCBC-A0C6-3A6A-7B857CEBBDB4}"/>
              </a:ext>
            </a:extLst>
          </p:cNvPr>
          <p:cNvSpPr/>
          <p:nvPr/>
        </p:nvSpPr>
        <p:spPr>
          <a:xfrm>
            <a:off x="6693877" y="217907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013407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Spaghetti stack</a:t>
            </a:r>
            <a:endParaRPr lang="en-SG" b="1" dirty="0"/>
          </a:p>
          <a:p>
            <a:r>
              <a:rPr lang="en-GB" dirty="0"/>
              <a:t>Treat the symbol table as a linked structure of scopes.</a:t>
            </a:r>
          </a:p>
          <a:p>
            <a:r>
              <a:rPr lang="en-GB" dirty="0"/>
              <a:t>Each scope stores a pointer to its parents, but not vice-versa.</a:t>
            </a:r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9667A-B8C1-E221-B1AD-2D5E9C9B583B}"/>
              </a:ext>
            </a:extLst>
          </p:cNvPr>
          <p:cNvSpPr/>
          <p:nvPr/>
        </p:nvSpPr>
        <p:spPr>
          <a:xfrm>
            <a:off x="6693877" y="1926324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435807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2910-2C05-DEBC-21FD-E2FEBCFD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symbol table as a stack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07C0-78A9-9EDA-37DE-966801B23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Spaghetti stack</a:t>
            </a:r>
            <a:endParaRPr lang="en-SG" b="1" dirty="0"/>
          </a:p>
          <a:p>
            <a:r>
              <a:rPr lang="en-GB" dirty="0"/>
              <a:t>Treat the symbol table as a linked structure of scopes.</a:t>
            </a:r>
          </a:p>
          <a:p>
            <a:r>
              <a:rPr lang="en-GB" dirty="0"/>
              <a:t>Each scope stores a pointer to its parents, but not vice-versa.</a:t>
            </a:r>
          </a:p>
          <a:p>
            <a:r>
              <a:rPr lang="en-GB" b="1" dirty="0"/>
              <a:t>Observation: </a:t>
            </a:r>
            <a:r>
              <a:rPr lang="en-GB" dirty="0"/>
              <a:t>From any point in the program, symbol table appears to be a simple stack containing elements of this scope, and this scope only.</a:t>
            </a:r>
          </a:p>
          <a:p>
            <a:r>
              <a:rPr lang="en-GB" b="1" dirty="0"/>
              <a:t>Better?</a:t>
            </a:r>
            <a:endParaRPr lang="en-SG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9667A-B8C1-E221-B1AD-2D5E9C9B583B}"/>
              </a:ext>
            </a:extLst>
          </p:cNvPr>
          <p:cNvSpPr/>
          <p:nvPr/>
        </p:nvSpPr>
        <p:spPr>
          <a:xfrm>
            <a:off x="6693877" y="1926324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52359A-DCBC-A0C6-3A6A-7B857CEBBDB4}"/>
              </a:ext>
            </a:extLst>
          </p:cNvPr>
          <p:cNvSpPr/>
          <p:nvPr/>
        </p:nvSpPr>
        <p:spPr>
          <a:xfrm>
            <a:off x="6693877" y="217907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</a:t>
            </a:r>
            <a:r>
              <a:rPr lang="en-GB" dirty="0" err="1"/>
              <a:t>multiply_and_add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33391D-0D5D-A7DC-654A-B482C0C440EE}"/>
              </a:ext>
            </a:extLst>
          </p:cNvPr>
          <p:cNvSpPr/>
          <p:nvPr/>
        </p:nvSpPr>
        <p:spPr>
          <a:xfrm>
            <a:off x="6693877" y="3393763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Main scope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C910F9-F0B9-FF0E-07BB-2E3E95D8C363}"/>
              </a:ext>
            </a:extLst>
          </p:cNvPr>
          <p:cNvSpPr/>
          <p:nvPr/>
        </p:nvSpPr>
        <p:spPr>
          <a:xfrm>
            <a:off x="6693877" y="362939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a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A3344-FAAD-4941-CAFD-6CEC9E01661D}"/>
              </a:ext>
            </a:extLst>
          </p:cNvPr>
          <p:cNvSpPr/>
          <p:nvPr/>
        </p:nvSpPr>
        <p:spPr>
          <a:xfrm>
            <a:off x="6693877" y="3865035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b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762BD0-FEF3-AD53-F585-119B444A3BDB}"/>
              </a:ext>
            </a:extLst>
          </p:cNvPr>
          <p:cNvSpPr/>
          <p:nvPr/>
        </p:nvSpPr>
        <p:spPr>
          <a:xfrm>
            <a:off x="6693877" y="4100671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sum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220D72-AF13-7542-4D9E-1E58EEE4BFA2}"/>
              </a:ext>
            </a:extLst>
          </p:cNvPr>
          <p:cNvSpPr/>
          <p:nvPr/>
        </p:nvSpPr>
        <p:spPr>
          <a:xfrm>
            <a:off x="6693877" y="5281967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Multiply_and_add</a:t>
            </a:r>
            <a:r>
              <a:rPr lang="en-GB" dirty="0"/>
              <a:t> </a:t>
            </a:r>
            <a:r>
              <a:rPr lang="en-GB" dirty="0" err="1"/>
              <a:t>func</a:t>
            </a:r>
            <a:r>
              <a:rPr lang="en-GB" dirty="0"/>
              <a:t>. scope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36F232-7327-376E-67B9-2DA938C784D6}"/>
              </a:ext>
            </a:extLst>
          </p:cNvPr>
          <p:cNvSpPr/>
          <p:nvPr/>
        </p:nvSpPr>
        <p:spPr>
          <a:xfrm>
            <a:off x="6693877" y="5517603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x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3DA26C-6035-57CA-D7BC-9E3599DF05DB}"/>
              </a:ext>
            </a:extLst>
          </p:cNvPr>
          <p:cNvSpPr/>
          <p:nvPr/>
        </p:nvSpPr>
        <p:spPr>
          <a:xfrm>
            <a:off x="6693877" y="5770358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y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DE5874-F181-68EE-B724-7AE6694DFA57}"/>
              </a:ext>
            </a:extLst>
          </p:cNvPr>
          <p:cNvSpPr/>
          <p:nvPr/>
        </p:nvSpPr>
        <p:spPr>
          <a:xfrm>
            <a:off x="6693877" y="6017787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result</a:t>
            </a:r>
            <a:endParaRPr lang="en-SG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BC60E7-E839-A1C7-67F9-C1417F6461A6}"/>
              </a:ext>
            </a:extLst>
          </p:cNvPr>
          <p:cNvSpPr/>
          <p:nvPr/>
        </p:nvSpPr>
        <p:spPr>
          <a:xfrm>
            <a:off x="6181922" y="2078892"/>
            <a:ext cx="492416" cy="1422400"/>
          </a:xfrm>
          <a:custGeom>
            <a:avLst/>
            <a:gdLst>
              <a:gd name="connsiteX0" fmla="*/ 468970 w 492416"/>
              <a:gd name="connsiteY0" fmla="*/ 1422400 h 1422400"/>
              <a:gd name="connsiteX1" fmla="*/ 47 w 492416"/>
              <a:gd name="connsiteY1" fmla="*/ 930031 h 1422400"/>
              <a:gd name="connsiteX2" fmla="*/ 492416 w 492416"/>
              <a:gd name="connsiteY2" fmla="*/ 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2416" h="1422400">
                <a:moveTo>
                  <a:pt x="468970" y="1422400"/>
                </a:moveTo>
                <a:cubicBezTo>
                  <a:pt x="232554" y="1294749"/>
                  <a:pt x="-3861" y="1167098"/>
                  <a:pt x="47" y="930031"/>
                </a:cubicBezTo>
                <a:cubicBezTo>
                  <a:pt x="3955" y="692964"/>
                  <a:pt x="248185" y="346482"/>
                  <a:pt x="492416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923BB8A-DA39-016B-BF15-CE8C590D10B5}"/>
              </a:ext>
            </a:extLst>
          </p:cNvPr>
          <p:cNvSpPr/>
          <p:nvPr/>
        </p:nvSpPr>
        <p:spPr>
          <a:xfrm>
            <a:off x="6172202" y="3511581"/>
            <a:ext cx="492416" cy="1910609"/>
          </a:xfrm>
          <a:custGeom>
            <a:avLst/>
            <a:gdLst>
              <a:gd name="connsiteX0" fmla="*/ 468970 w 492416"/>
              <a:gd name="connsiteY0" fmla="*/ 1422400 h 1422400"/>
              <a:gd name="connsiteX1" fmla="*/ 47 w 492416"/>
              <a:gd name="connsiteY1" fmla="*/ 930031 h 1422400"/>
              <a:gd name="connsiteX2" fmla="*/ 492416 w 492416"/>
              <a:gd name="connsiteY2" fmla="*/ 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2416" h="1422400">
                <a:moveTo>
                  <a:pt x="468970" y="1422400"/>
                </a:moveTo>
                <a:cubicBezTo>
                  <a:pt x="232554" y="1294749"/>
                  <a:pt x="-3861" y="1167098"/>
                  <a:pt x="47" y="930031"/>
                </a:cubicBezTo>
                <a:cubicBezTo>
                  <a:pt x="3955" y="692964"/>
                  <a:pt x="248185" y="346482"/>
                  <a:pt x="492416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31823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CC85-C410-572D-99C3-51B5FA53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Catching scope errors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00E96-23D3-BCD1-A17D-3C4776F80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Scope problems</a:t>
            </a:r>
          </a:p>
          <a:p>
            <a:r>
              <a:rPr lang="en-GB" dirty="0"/>
              <a:t>A variable is defined after it is called for the first time.</a:t>
            </a:r>
          </a:p>
          <a:p>
            <a:r>
              <a:rPr lang="en-GB" dirty="0"/>
              <a:t>A function is defined after it is called for the first time and no function prototypes were mentioned.</a:t>
            </a:r>
          </a:p>
          <a:p>
            <a:r>
              <a:rPr lang="en-GB" dirty="0"/>
              <a:t>A variable defined in a function is called outside of the function.</a:t>
            </a:r>
          </a:p>
          <a:p>
            <a:r>
              <a:rPr lang="en-GB" dirty="0"/>
              <a:t>A variable name is defined twice.</a:t>
            </a:r>
          </a:p>
          <a:p>
            <a:r>
              <a:rPr lang="en-GB" dirty="0"/>
              <a:t>Etc.</a:t>
            </a:r>
          </a:p>
          <a:p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37EF1-3802-C13B-E4B5-62F95C837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Most scope problems will be caught, for instance, when</a:t>
            </a:r>
          </a:p>
          <a:p>
            <a:r>
              <a:rPr lang="en-GB" dirty="0"/>
              <a:t>An operation retrieving something from the symbol table fails (variable/function undefined in scope, etc.).</a:t>
            </a:r>
          </a:p>
          <a:p>
            <a:r>
              <a:rPr lang="en-GB" dirty="0"/>
              <a:t>An operation tries adding a variable/function with an identifier name that already exists in table (identifier defined twice in same scope).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17808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7B2F-0F07-95BA-9335-392F498C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Saving the day?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4D76-270A-F140-7AC1-971B10AEA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Consider the example on the right.</a:t>
            </a:r>
          </a:p>
          <a:p>
            <a:r>
              <a:rPr lang="en-GB" dirty="0"/>
              <a:t>Function f() requires two parameters x and t to compute the returned value.</a:t>
            </a:r>
          </a:p>
          <a:p>
            <a:r>
              <a:rPr lang="en-GB" dirty="0"/>
              <a:t>But the variable t is not in the scope of the function, it is in the global scope instead.</a:t>
            </a:r>
          </a:p>
          <a:p>
            <a:r>
              <a:rPr lang="en-GB" dirty="0"/>
              <a:t>And yet, it executes normally.</a:t>
            </a:r>
          </a:p>
          <a:p>
            <a:r>
              <a:rPr lang="en-GB" b="1" dirty="0"/>
              <a:t>Question: </a:t>
            </a:r>
            <a:r>
              <a:rPr lang="en-GB" dirty="0"/>
              <a:t>How does Python save the day, in your opinion?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9F23F2-4A29-7869-20AE-28325143C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722" y="37080"/>
            <a:ext cx="3963078" cy="330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738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7B2F-0F07-95BA-9335-392F498C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Saving the day?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4D76-270A-F140-7AC1-971B10AEA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5032375"/>
          </a:xfrm>
        </p:spPr>
        <p:txBody>
          <a:bodyPr/>
          <a:lstStyle/>
          <a:p>
            <a:r>
              <a:rPr lang="en-GB" sz="2800" b="1" dirty="0"/>
              <a:t>Reason: </a:t>
            </a:r>
            <a:r>
              <a:rPr lang="en-GB" sz="2800" dirty="0"/>
              <a:t>In Python, when you reference a variable inside a function, it first looks for that variable within the local scope of the function.</a:t>
            </a:r>
          </a:p>
          <a:p>
            <a:r>
              <a:rPr lang="en-GB" sz="2800" dirty="0"/>
              <a:t>If it does not find it there, it tries searching for it in the next enclosing scope, which in this case is the global scope.</a:t>
            </a:r>
            <a:endParaRPr lang="en-SG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9F23F2-4A29-7869-20AE-28325143C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0722" y="37080"/>
            <a:ext cx="3963078" cy="33072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C8067B-7C30-6183-97D0-E89EA43DE984}"/>
              </a:ext>
            </a:extLst>
          </p:cNvPr>
          <p:cNvSpPr/>
          <p:nvPr/>
        </p:nvSpPr>
        <p:spPr>
          <a:xfrm>
            <a:off x="6998677" y="4137958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scope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D1D6B7-818F-E855-A7E6-9D5969F42A80}"/>
              </a:ext>
            </a:extLst>
          </p:cNvPr>
          <p:cNvSpPr/>
          <p:nvPr/>
        </p:nvSpPr>
        <p:spPr>
          <a:xfrm>
            <a:off x="6998677" y="4390713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Function id f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34C7C3-86AB-C3AC-1AEB-665176E44086}"/>
              </a:ext>
            </a:extLst>
          </p:cNvPr>
          <p:cNvSpPr/>
          <p:nvPr/>
        </p:nvSpPr>
        <p:spPr>
          <a:xfrm>
            <a:off x="6998677" y="4626349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x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05938A-3916-BA76-A21C-65425E36EB5D}"/>
              </a:ext>
            </a:extLst>
          </p:cNvPr>
          <p:cNvSpPr/>
          <p:nvPr/>
        </p:nvSpPr>
        <p:spPr>
          <a:xfrm>
            <a:off x="6998677" y="4861985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t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39BF1B-7BE6-88CD-DF2C-422F450AB8C0}"/>
              </a:ext>
            </a:extLst>
          </p:cNvPr>
          <p:cNvSpPr/>
          <p:nvPr/>
        </p:nvSpPr>
        <p:spPr>
          <a:xfrm>
            <a:off x="6998677" y="5097621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y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A1739F-83DF-F7D5-1D5D-17FA84D95D6C}"/>
              </a:ext>
            </a:extLst>
          </p:cNvPr>
          <p:cNvSpPr/>
          <p:nvPr/>
        </p:nvSpPr>
        <p:spPr>
          <a:xfrm>
            <a:off x="6998677" y="6282335"/>
            <a:ext cx="4495800" cy="2356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f() </a:t>
            </a:r>
            <a:r>
              <a:rPr lang="en-GB" dirty="0" err="1"/>
              <a:t>func</a:t>
            </a:r>
            <a:r>
              <a:rPr lang="en-GB" dirty="0"/>
              <a:t>. scope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924156-83EC-1A40-37A7-62137060A4F0}"/>
              </a:ext>
            </a:extLst>
          </p:cNvPr>
          <p:cNvSpPr/>
          <p:nvPr/>
        </p:nvSpPr>
        <p:spPr>
          <a:xfrm>
            <a:off x="6998677" y="6517971"/>
            <a:ext cx="4495800" cy="2356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Integer id x</a:t>
            </a:r>
            <a:endParaRPr lang="en-SG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6C19333-DB51-EFBF-9C04-DA9B1E03A1D7}"/>
              </a:ext>
            </a:extLst>
          </p:cNvPr>
          <p:cNvSpPr/>
          <p:nvPr/>
        </p:nvSpPr>
        <p:spPr>
          <a:xfrm>
            <a:off x="6361723" y="4282832"/>
            <a:ext cx="613656" cy="2117322"/>
          </a:xfrm>
          <a:custGeom>
            <a:avLst/>
            <a:gdLst>
              <a:gd name="connsiteX0" fmla="*/ 468970 w 492416"/>
              <a:gd name="connsiteY0" fmla="*/ 1422400 h 1422400"/>
              <a:gd name="connsiteX1" fmla="*/ 47 w 492416"/>
              <a:gd name="connsiteY1" fmla="*/ 930031 h 1422400"/>
              <a:gd name="connsiteX2" fmla="*/ 492416 w 492416"/>
              <a:gd name="connsiteY2" fmla="*/ 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2416" h="1422400">
                <a:moveTo>
                  <a:pt x="468970" y="1422400"/>
                </a:moveTo>
                <a:cubicBezTo>
                  <a:pt x="232554" y="1294749"/>
                  <a:pt x="-3861" y="1167098"/>
                  <a:pt x="47" y="930031"/>
                </a:cubicBezTo>
                <a:cubicBezTo>
                  <a:pt x="3955" y="692964"/>
                  <a:pt x="248185" y="346482"/>
                  <a:pt x="492416" y="0"/>
                </a:cubicBez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98112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7B2F-0F07-95BA-9335-392F498C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LEGB rule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4D76-270A-F140-7AC1-971B10AEA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dirty="0"/>
              <a:t>In fact: The scoping rule used in Python is called the </a:t>
            </a:r>
            <a:r>
              <a:rPr lang="en-GB" b="1" dirty="0"/>
              <a:t>“</a:t>
            </a:r>
            <a:r>
              <a:rPr lang="en-GB" sz="2800" b="1" dirty="0"/>
              <a:t>LEGB” rule, which stands for Local, Enclosing, Global, and Built-in.</a:t>
            </a:r>
          </a:p>
          <a:p>
            <a:pPr marL="0" indent="0">
              <a:buNone/>
            </a:pPr>
            <a:r>
              <a:rPr lang="en-GB" sz="2800" b="1" dirty="0"/>
              <a:t>It is a spaghetti stack with different levels of scope.</a:t>
            </a:r>
          </a:p>
          <a:p>
            <a:pPr marL="0" indent="0">
              <a:buNone/>
            </a:pPr>
            <a:r>
              <a:rPr lang="en-GB" sz="2800" dirty="0"/>
              <a:t>When a variable is referenced, Python searches in the following order.</a:t>
            </a:r>
            <a:endParaRPr lang="en-GB" sz="2800" b="1" dirty="0"/>
          </a:p>
          <a:p>
            <a:r>
              <a:rPr lang="en-GB" sz="2800" b="1" dirty="0"/>
              <a:t>Local scope: </a:t>
            </a:r>
            <a:r>
              <a:rPr lang="en-GB" sz="2800" dirty="0"/>
              <a:t>variables defined within the function.</a:t>
            </a:r>
          </a:p>
          <a:p>
            <a:r>
              <a:rPr lang="en-GB" sz="2800" b="1" dirty="0"/>
              <a:t>Enclosing scope: </a:t>
            </a:r>
            <a:r>
              <a:rPr lang="en-GB" sz="2800" dirty="0"/>
              <a:t>variables defined in any enclosing functions, from innermost to outermost.</a:t>
            </a:r>
          </a:p>
          <a:p>
            <a:r>
              <a:rPr lang="en-GB" sz="2800" b="1" dirty="0"/>
              <a:t>Global scope: </a:t>
            </a:r>
            <a:r>
              <a:rPr lang="en-GB" sz="2800" dirty="0"/>
              <a:t>variables defined at the top level.</a:t>
            </a:r>
          </a:p>
          <a:p>
            <a:r>
              <a:rPr lang="en-GB" sz="2800" b="1" dirty="0"/>
              <a:t>Built-in scope: </a:t>
            </a:r>
            <a:r>
              <a:rPr lang="en-GB" sz="2800" dirty="0"/>
              <a:t>predefined built-in names in Python, like print(), sum(), etc.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580026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7B2F-0F07-95BA-9335-392F498C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about C then?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4D76-270A-F140-7AC1-971B10AEA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example on the right.</a:t>
            </a:r>
          </a:p>
          <a:p>
            <a:r>
              <a:rPr lang="en-GB" dirty="0"/>
              <a:t>Function f() requires two parameters x and t to compute the returned value.</a:t>
            </a:r>
          </a:p>
          <a:p>
            <a:r>
              <a:rPr lang="en-GB" dirty="0"/>
              <a:t>But the variable t is not in the scope of the function, it is in the global scope instead.</a:t>
            </a:r>
          </a:p>
          <a:p>
            <a:r>
              <a:rPr lang="en-GB" b="1" dirty="0"/>
              <a:t>Question #2: </a:t>
            </a:r>
            <a:r>
              <a:rPr lang="en-GB" dirty="0"/>
              <a:t>Also works in the equivalent implementation in C?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508AD-692F-63C1-D4B9-24C65589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638" y="631770"/>
            <a:ext cx="4434974" cy="573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4169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7B2F-0F07-95BA-9335-392F498C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about C then?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4D76-270A-F140-7AC1-971B10AEA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63951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Answer: </a:t>
            </a:r>
            <a:r>
              <a:rPr lang="en-GB" dirty="0"/>
              <a:t>In C, variables have a </a:t>
            </a:r>
            <a:r>
              <a:rPr lang="en-GB" b="1" dirty="0"/>
              <a:t>block scope</a:t>
            </a:r>
            <a:r>
              <a:rPr lang="en-GB" dirty="0"/>
              <a:t>, which means that a variable is only accessible within the block of code it is defined in.</a:t>
            </a:r>
          </a:p>
          <a:p>
            <a:pPr marL="0" indent="0">
              <a:buNone/>
            </a:pPr>
            <a:r>
              <a:rPr lang="en-GB" b="1" dirty="0"/>
              <a:t>Better or worse than LEGB? </a:t>
            </a:r>
          </a:p>
          <a:p>
            <a:pPr marL="0" indent="0">
              <a:buNone/>
            </a:pPr>
            <a:r>
              <a:rPr lang="en-GB" dirty="0"/>
              <a:t>Usually more stable and simpler to encode in a compiler than “LEGB”, very stable/strict and less friendly on scope “mistakes”.</a:t>
            </a:r>
          </a:p>
          <a:p>
            <a:pPr marL="0" indent="0">
              <a:buNone/>
            </a:pPr>
            <a:r>
              <a:rPr lang="en-GB" dirty="0"/>
              <a:t>A design choice you have to make for your own programming language!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508AD-692F-63C1-D4B9-24C655896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638" y="631770"/>
            <a:ext cx="4434974" cy="573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749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BC94-412A-6929-7A62-5DF736D8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short, the block scope (C) 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C2412B-9BD4-1314-5079-1CD98CB2F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Advantages:</a:t>
            </a:r>
          </a:p>
          <a:p>
            <a:r>
              <a:rPr lang="en-GB" dirty="0"/>
              <a:t>Encourages local reasoning: You can understand the </a:t>
            </a:r>
            <a:r>
              <a:rPr lang="en-GB" dirty="0" err="1"/>
              <a:t>behavior</a:t>
            </a:r>
            <a:r>
              <a:rPr lang="en-GB" dirty="0"/>
              <a:t> of a variable just by looking at the block of code it is defined in.</a:t>
            </a:r>
          </a:p>
          <a:p>
            <a:r>
              <a:rPr lang="en-GB" dirty="0"/>
              <a:t>Reduces the chance of accidentally using the wrong variable, as variables with the same name in different scopes do not conflict.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Disadvantages:</a:t>
            </a:r>
          </a:p>
          <a:p>
            <a:r>
              <a:rPr lang="en-GB" dirty="0"/>
              <a:t>Requires explicit declaration of global variables or explicit parameter passing to share data between functions.</a:t>
            </a:r>
          </a:p>
          <a:p>
            <a:r>
              <a:rPr lang="en-GB" dirty="0"/>
              <a:t>Stricter and does not </a:t>
            </a:r>
            <a:r>
              <a:rPr lang="en-GB"/>
              <a:t>tolerate mistakes.</a:t>
            </a:r>
            <a:endParaRPr lang="en-GB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145896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BC94-412A-6929-7A62-5DF736D8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short, the LEGB scope (Python) 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C2412B-9BD4-1314-5079-1CD98CB2F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Advantages:</a:t>
            </a:r>
          </a:p>
          <a:p>
            <a:r>
              <a:rPr lang="en-GB" dirty="0"/>
              <a:t>Provides more flexibility in accessing variables from different scopes, which can make code shorter and more convenient to write.</a:t>
            </a:r>
          </a:p>
          <a:p>
            <a:r>
              <a:rPr lang="en-GB" dirty="0"/>
              <a:t>Allows for closures, which are functions that remember the environment they were created in, enabling more functional programming techniques.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Disadvantages:</a:t>
            </a:r>
          </a:p>
          <a:p>
            <a:r>
              <a:rPr lang="en-GB" dirty="0"/>
              <a:t>Can lead to unintended side effects if a variable from an outer scope is accidentally used or modified.</a:t>
            </a:r>
          </a:p>
          <a:p>
            <a:r>
              <a:rPr lang="en-GB" dirty="0"/>
              <a:t>Can make it harder to reason about the code since a variable might be accessed or modified in multiple scopes.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1790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EBC94-412A-6929-7A62-5DF736D8A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short, the LEGB scope (Python) 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C2412B-9BD4-1314-5079-1CD98CB2F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Advantages:</a:t>
            </a:r>
          </a:p>
          <a:p>
            <a:r>
              <a:rPr lang="en-GB" dirty="0"/>
              <a:t>Provides more flexibility in accessing variables from different scopes, which can make code shorter and more convenient to write.</a:t>
            </a:r>
          </a:p>
          <a:p>
            <a:r>
              <a:rPr lang="en-GB" dirty="0"/>
              <a:t>Allows for closures, which are functions that remember the environment they were created in, enabling more functional programming techniques.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C00000"/>
                </a:solidFill>
              </a:rPr>
              <a:t>Disadvantages:</a:t>
            </a:r>
          </a:p>
          <a:p>
            <a:r>
              <a:rPr lang="en-GB" dirty="0">
                <a:solidFill>
                  <a:srgbClr val="7030A0"/>
                </a:solidFill>
              </a:rPr>
              <a:t>Can lead to unintended side effects if a variable from an outer scope is accidentally used or modified.</a:t>
            </a:r>
          </a:p>
          <a:p>
            <a:r>
              <a:rPr lang="en-GB" dirty="0"/>
              <a:t>Can make it harder to reason about the code since a variable might be accessed or modified in multiple scopes.</a:t>
            </a:r>
          </a:p>
          <a:p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D20EA-08C5-0831-2D4A-09A5D35A7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09266">
            <a:off x="6480865" y="299348"/>
            <a:ext cx="3624428" cy="43813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96016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EEF092-6ADD-497D-2284-EBD44F4D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Single-pass vs. multi-pass compilers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EE95E-6560-0DAE-B0B3-E18113ABD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single-pass</a:t>
            </a:r>
            <a:r>
              <a:rPr lang="en-GB" b="1" dirty="0"/>
              <a:t> vs. </a:t>
            </a:r>
            <a:r>
              <a:rPr lang="en-GB" b="1" dirty="0">
                <a:solidFill>
                  <a:srgbClr val="00B050"/>
                </a:solidFill>
              </a:rPr>
              <a:t>multi-pass compilers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Some compilers can combine scanning, parsing, semantic analysis, and code generation into the same pass. These are called </a:t>
            </a:r>
            <a:r>
              <a:rPr lang="en-GB" b="1" dirty="0">
                <a:solidFill>
                  <a:srgbClr val="00B050"/>
                </a:solidFill>
              </a:rPr>
              <a:t>single-pass compilers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Other compilers rescan the input multiple times. These are called </a:t>
            </a:r>
            <a:r>
              <a:rPr lang="en-GB" b="1" dirty="0">
                <a:solidFill>
                  <a:srgbClr val="00B050"/>
                </a:solidFill>
              </a:rPr>
              <a:t>multi-pass compilers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5051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62DB-FFDD-5F11-5AC6-5F3F0EDC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happens in multi-pass compilers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9C862-3F89-20C5-EF59-398B502C4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For instance, on each pass, the compiler could check one specific aspect of the source code. For instance,</a:t>
            </a:r>
          </a:p>
          <a:p>
            <a:r>
              <a:rPr lang="en-GB" dirty="0"/>
              <a:t>Do lexical analysis, produce tokens stream and completely parse the input file into an abstract syntax tree (first pass).</a:t>
            </a:r>
          </a:p>
          <a:p>
            <a:r>
              <a:rPr lang="en-GB" dirty="0"/>
              <a:t>Walk the AST, gathering information about classes definitions (second pass) and updates </a:t>
            </a:r>
            <a:r>
              <a:rPr lang="en-GB"/>
              <a:t>this information in </a:t>
            </a:r>
            <a:r>
              <a:rPr lang="en-GB" dirty="0"/>
              <a:t>your compiler.</a:t>
            </a:r>
          </a:p>
          <a:p>
            <a:r>
              <a:rPr lang="en-GB" dirty="0"/>
              <a:t>Walk the AST gathering information about functions definitions (third pass) and update this information in your compiler.</a:t>
            </a:r>
          </a:p>
          <a:p>
            <a:r>
              <a:rPr lang="en-GB" dirty="0"/>
              <a:t>Etc.</a:t>
            </a:r>
          </a:p>
          <a:p>
            <a:pPr marL="0" indent="0">
              <a:buNone/>
            </a:pPr>
            <a:r>
              <a:rPr lang="en-GB" b="1" dirty="0"/>
              <a:t>Could combine some of these, though they are logically distinct.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27516493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EEF092-6ADD-497D-2284-EBD44F4D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Single-pass vs. multi-pass compilers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EE95E-6560-0DAE-B0B3-E18113ABD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Which is better: single-pass or multi-pass compilers?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In general, </a:t>
            </a:r>
            <a:r>
              <a:rPr lang="en-GB" b="1" dirty="0"/>
              <a:t>single-pass compilers </a:t>
            </a:r>
            <a:r>
              <a:rPr lang="en-GB" dirty="0"/>
              <a:t>are usually faster than </a:t>
            </a:r>
            <a:r>
              <a:rPr lang="en-GB" b="1" dirty="0"/>
              <a:t>multi-pass compilers</a:t>
            </a:r>
            <a:r>
              <a:rPr lang="en-GB" dirty="0"/>
              <a:t>, but their coding is more complex, allows for less flexibility, and the logic complexity they can check is usually reduced.</a:t>
            </a:r>
          </a:p>
          <a:p>
            <a:pPr marL="0" indent="0">
              <a:buNone/>
            </a:pPr>
            <a:r>
              <a:rPr lang="en-GB" b="1" dirty="0"/>
              <a:t>Another debate I do not want to be part of!</a:t>
            </a:r>
            <a:endParaRPr lang="en-SG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614A7F-073B-0A20-3618-704A66E2F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482" y="4035375"/>
            <a:ext cx="3554964" cy="26625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E00EB0-6321-74E8-17FF-66AECC457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482" y="1383964"/>
            <a:ext cx="3554964" cy="265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730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FE66-C5A5-DEE3-A08F-ADDC01E9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7CE1F9-7F50-BC69-47F7-8C24288AD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the primary purpose of semantic analysis in a compiler?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generate intermediate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check the syntax of the input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optimize the generated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ensure the input code is semantically correct and meaningful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105505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FE66-C5A5-DEE3-A08F-ADDC01E9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7CE1F9-7F50-BC69-47F7-8C24288AD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the primary purpose of semantic analysis in a compiler?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generate intermediate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check the syntax of the input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optimize the generated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To ensure the input code is semantically correct and meaningful</a:t>
            </a:r>
            <a:endParaRPr lang="en-SG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9774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FE66-C5A5-DEE3-A08F-ADDC01E9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7CE1F9-7F50-BC69-47F7-8C24288AD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symbol table used for in a compiler?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store the intermediate code representation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store information about variables, functions, and other identifiers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store the parse tree of the input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store the machine code generated by the compiler</a:t>
            </a:r>
          </a:p>
        </p:txBody>
      </p:sp>
    </p:spTree>
    <p:extLst>
      <p:ext uri="{BB962C8B-B14F-4D97-AF65-F5344CB8AC3E}">
        <p14:creationId xmlns:p14="http://schemas.microsoft.com/office/powerpoint/2010/main" val="323440143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FE66-C5A5-DEE3-A08F-ADDC01E9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7CE1F9-7F50-BC69-47F7-8C24288AD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symbol table used for in a compiler?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store the intermediate code representation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To store information about variables, functions, and other identifiers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store the parse tree of the input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store the machine code generated by the compiler</a:t>
            </a:r>
          </a:p>
        </p:txBody>
      </p:sp>
    </p:spTree>
    <p:extLst>
      <p:ext uri="{BB962C8B-B14F-4D97-AF65-F5344CB8AC3E}">
        <p14:creationId xmlns:p14="http://schemas.microsoft.com/office/powerpoint/2010/main" val="22581094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FE66-C5A5-DEE3-A08F-ADDC01E9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7CE1F9-7F50-BC69-47F7-8C24288AD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best describes a static scoping rule?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visibility of a variable only depends on its position in the source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visibility of a variable depends on the call history of functions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visibility of a variable depends on the order of function calls at runtime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visibility of a variable depends on the values assigned to it</a:t>
            </a:r>
          </a:p>
        </p:txBody>
      </p:sp>
    </p:spTree>
    <p:extLst>
      <p:ext uri="{BB962C8B-B14F-4D97-AF65-F5344CB8AC3E}">
        <p14:creationId xmlns:p14="http://schemas.microsoft.com/office/powerpoint/2010/main" val="8651633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FE66-C5A5-DEE3-A08F-ADDC01E9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7CE1F9-7F50-BC69-47F7-8C24288AD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best describes a static scoping rule?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The visibility of a variable only depends on its position in the source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visibility of a variable depends on the call history of functions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visibility of a variable depends on the order of function calls at runtime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visibility of a variable depends on the values assigned to it</a:t>
            </a:r>
          </a:p>
        </p:txBody>
      </p:sp>
    </p:spTree>
    <p:extLst>
      <p:ext uri="{BB962C8B-B14F-4D97-AF65-F5344CB8AC3E}">
        <p14:creationId xmlns:p14="http://schemas.microsoft.com/office/powerpoint/2010/main" val="14409617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D919-B3EE-2B5E-1C55-55CBFA65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2BC05-5474-3908-CD6A-BA44633AA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a compiler that uses syntax-directed translation, what is the purpose of the SDT instructions?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perform lexical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create a parse tree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replace each production rule used in a derivation with intermediate code instructions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let us know how to update the symbol table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convert intermediate code to machine code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167965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D919-B3EE-2B5E-1C55-55CBFA65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2BC05-5474-3908-CD6A-BA44633AA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a compiler that uses syntax-directed translation, what is the purpose of the SDT instructions?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perform lexical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create a parse tree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To replace each production rule used in a derivation with intermediate code instructions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To let us know how to update the symbol table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convert intermediate code to machine code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635389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FE66-C5A5-DEE3-A08F-ADDC01E9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7CE1F9-7F50-BC69-47F7-8C24288AD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a compiler, what is the purpose of a "spaghetti stack"?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optimize memory usage during parsing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store the parse tree during syntax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maintain the symbol table as a linked structure of scopes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generate machine code for the target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044508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FE66-C5A5-DEE3-A08F-ADDC01E9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7CE1F9-7F50-BC69-47F7-8C24288AD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 a compiler, what is the purpose of a "spaghetti stack"?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optimize memory usage during parsing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store the parse tree during syntax analysis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To maintain the symbol table as a linked structure of scopes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To generate machine code for the target architecture</a:t>
            </a:r>
          </a:p>
        </p:txBody>
      </p:sp>
    </p:spTree>
    <p:extLst>
      <p:ext uri="{BB962C8B-B14F-4D97-AF65-F5344CB8AC3E}">
        <p14:creationId xmlns:p14="http://schemas.microsoft.com/office/powerpoint/2010/main" val="25629657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57AE-B263-E49B-DB5B-2CC9C131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B58FB4-947F-4021-96D8-E22A340CF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GB" b="1" dirty="0"/>
              <a:t>Semantic analysis </a:t>
            </a:r>
            <a:r>
              <a:rPr lang="en-GB" dirty="0"/>
              <a:t>verifies that a syntactically valid program is correctly-formed in terms of the </a:t>
            </a:r>
            <a:r>
              <a:rPr lang="en-GB" b="1" dirty="0"/>
              <a:t>meaning of the program</a:t>
            </a:r>
            <a:r>
              <a:rPr lang="en-GB" dirty="0"/>
              <a:t>.</a:t>
            </a:r>
          </a:p>
          <a:p>
            <a:r>
              <a:rPr lang="en-GB" b="1" dirty="0"/>
              <a:t>Scope checking </a:t>
            </a:r>
            <a:r>
              <a:rPr lang="en-GB" dirty="0"/>
              <a:t>is one of the semantics analysis operations and determines how variables, functions or classes are referred to.</a:t>
            </a:r>
          </a:p>
          <a:p>
            <a:r>
              <a:rPr lang="en-GB" dirty="0"/>
              <a:t>Scope checking is usually done with a </a:t>
            </a:r>
            <a:r>
              <a:rPr lang="en-GB" b="1" dirty="0"/>
              <a:t>symbol table </a:t>
            </a:r>
            <a:r>
              <a:rPr lang="en-GB" dirty="0"/>
              <a:t>implemented either as a </a:t>
            </a:r>
            <a:r>
              <a:rPr lang="en-GB" b="1" dirty="0"/>
              <a:t>stack</a:t>
            </a:r>
            <a:r>
              <a:rPr lang="en-GB" dirty="0"/>
              <a:t> or </a:t>
            </a:r>
            <a:r>
              <a:rPr lang="en-GB" b="1" dirty="0"/>
              <a:t>spaghetti stack</a:t>
            </a:r>
            <a:r>
              <a:rPr lang="en-GB" dirty="0"/>
              <a:t>.</a:t>
            </a:r>
          </a:p>
          <a:p>
            <a:pPr lvl="1"/>
            <a:r>
              <a:rPr lang="en-GB" sz="2800" dirty="0"/>
              <a:t>Both in a static or dynamic way.</a:t>
            </a:r>
          </a:p>
          <a:p>
            <a:pPr lvl="1"/>
            <a:r>
              <a:rPr lang="en-GB" sz="2800" dirty="0"/>
              <a:t>Both in a strict/local </a:t>
            </a:r>
            <a:r>
              <a:rPr lang="en-GB" sz="2800"/>
              <a:t>or LEGB </a:t>
            </a:r>
            <a:r>
              <a:rPr lang="en-GB" sz="2800" dirty="0"/>
              <a:t>way.</a:t>
            </a:r>
          </a:p>
          <a:p>
            <a:r>
              <a:rPr lang="en-GB" dirty="0"/>
              <a:t>Simple semantic analysers will operate in a </a:t>
            </a:r>
            <a:r>
              <a:rPr lang="en-GB" b="1" dirty="0"/>
              <a:t>single pass</a:t>
            </a:r>
            <a:r>
              <a:rPr lang="en-GB" dirty="0"/>
              <a:t>, while some semantic analysers operate in </a:t>
            </a:r>
            <a:r>
              <a:rPr lang="en-GB" b="1" dirty="0"/>
              <a:t>multiple passes</a:t>
            </a:r>
            <a:r>
              <a:rPr lang="en-GB" dirty="0"/>
              <a:t>,</a:t>
            </a:r>
            <a:r>
              <a:rPr lang="en-GB" b="1" dirty="0"/>
              <a:t> </a:t>
            </a:r>
            <a:r>
              <a:rPr lang="en-GB" dirty="0"/>
              <a:t>in order to gain more information about the program.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9098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2101</TotalTime>
  <Words>5104</Words>
  <Application>Microsoft Office PowerPoint</Application>
  <PresentationFormat>Widescreen</PresentationFormat>
  <Paragraphs>589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Calibri</vt:lpstr>
      <vt:lpstr>Calibri Light</vt:lpstr>
      <vt:lpstr>Wingdings</vt:lpstr>
      <vt:lpstr>Office Theme</vt:lpstr>
      <vt:lpstr>50.051 Programming Language Concepts  W11-S2 Semantic Analysis and Intermediate Representations (Part 1)</vt:lpstr>
      <vt:lpstr>The front-end of a compiler</vt:lpstr>
      <vt:lpstr>The front-end of a compiler</vt:lpstr>
      <vt:lpstr>The front-end of a compiler</vt:lpstr>
      <vt:lpstr>Examples of remaining errors</vt:lpstr>
      <vt:lpstr>Examples of remaining errors</vt:lpstr>
      <vt:lpstr>Examples of remaining errors</vt:lpstr>
      <vt:lpstr>Examples of remaining errors</vt:lpstr>
      <vt:lpstr>Examples of remaining errors</vt:lpstr>
      <vt:lpstr>Where are we at now?</vt:lpstr>
      <vt:lpstr>Implementing an SDT for Arithmetic CFG</vt:lpstr>
      <vt:lpstr>Implementing an SDT for Arithmetic CFG</vt:lpstr>
      <vt:lpstr>Semantic analysis and ASTs</vt:lpstr>
      <vt:lpstr>Problem #1: Scope</vt:lpstr>
      <vt:lpstr>First things first</vt:lpstr>
      <vt:lpstr>First things first</vt:lpstr>
      <vt:lpstr>Static scoping</vt:lpstr>
      <vt:lpstr>Symbol table</vt:lpstr>
      <vt:lpstr>Implementing a symbol table</vt:lpstr>
      <vt:lpstr>Implementing a symbol table</vt:lpstr>
      <vt:lpstr>Implementing an SDT for Arithmetic CFG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Implementing a symbol table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Representing the symbol table as a stack</vt:lpstr>
      <vt:lpstr>Catching scope errors</vt:lpstr>
      <vt:lpstr>Saving the day?</vt:lpstr>
      <vt:lpstr>Saving the day?</vt:lpstr>
      <vt:lpstr>The LEGB rule</vt:lpstr>
      <vt:lpstr>How about C then?</vt:lpstr>
      <vt:lpstr>How about C then?</vt:lpstr>
      <vt:lpstr>In short, the block scope (C) </vt:lpstr>
      <vt:lpstr>In short, the LEGB scope (Python) </vt:lpstr>
      <vt:lpstr>In short, the LEGB scope (Python) </vt:lpstr>
      <vt:lpstr>Single-pass vs. multi-pass compilers</vt:lpstr>
      <vt:lpstr>What happens in multi-pass compilers</vt:lpstr>
      <vt:lpstr>Single-pass vs. multi-pass compilers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50.051 Programming Language Concepts  W1-S1 Introduction to Compilers and Course Outline</dc:title>
  <dc:creator>Matthieu DE MARI</dc:creator>
  <cp:lastModifiedBy>Matthieu De Mari</cp:lastModifiedBy>
  <cp:revision>1</cp:revision>
  <dcterms:created xsi:type="dcterms:W3CDTF">2023-03-02T06:54:24Z</dcterms:created>
  <dcterms:modified xsi:type="dcterms:W3CDTF">2026-01-14T09:15:38Z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2023-03-02T06:54:28Z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d53d049c-34cc-4ec9-a6d9-543a36f42364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