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87"/>
  </p:notesMasterIdLst>
  <p:sldIdLst>
    <p:sldId id="377" r:id="rId2"/>
    <p:sldId id="380" r:id="rId3"/>
    <p:sldId id="381" r:id="rId4"/>
    <p:sldId id="383" r:id="rId5"/>
    <p:sldId id="488" r:id="rId6"/>
    <p:sldId id="489" r:id="rId7"/>
    <p:sldId id="499" r:id="rId8"/>
    <p:sldId id="490" r:id="rId9"/>
    <p:sldId id="491" r:id="rId10"/>
    <p:sldId id="493" r:id="rId11"/>
    <p:sldId id="494" r:id="rId12"/>
    <p:sldId id="492" r:id="rId13"/>
    <p:sldId id="495" r:id="rId14"/>
    <p:sldId id="497" r:id="rId15"/>
    <p:sldId id="496" r:id="rId16"/>
    <p:sldId id="498" r:id="rId17"/>
    <p:sldId id="501" r:id="rId18"/>
    <p:sldId id="502" r:id="rId19"/>
    <p:sldId id="503" r:id="rId20"/>
    <p:sldId id="504" r:id="rId21"/>
    <p:sldId id="505" r:id="rId22"/>
    <p:sldId id="506" r:id="rId23"/>
    <p:sldId id="528" r:id="rId24"/>
    <p:sldId id="529" r:id="rId25"/>
    <p:sldId id="508" r:id="rId26"/>
    <p:sldId id="514" r:id="rId27"/>
    <p:sldId id="515" r:id="rId28"/>
    <p:sldId id="516" r:id="rId29"/>
    <p:sldId id="517" r:id="rId30"/>
    <p:sldId id="518" r:id="rId31"/>
    <p:sldId id="519" r:id="rId32"/>
    <p:sldId id="526" r:id="rId33"/>
    <p:sldId id="527" r:id="rId34"/>
    <p:sldId id="520" r:id="rId35"/>
    <p:sldId id="521" r:id="rId36"/>
    <p:sldId id="522" r:id="rId37"/>
    <p:sldId id="523" r:id="rId38"/>
    <p:sldId id="525" r:id="rId39"/>
    <p:sldId id="513" r:id="rId40"/>
    <p:sldId id="530" r:id="rId41"/>
    <p:sldId id="532" r:id="rId42"/>
    <p:sldId id="534" r:id="rId43"/>
    <p:sldId id="533" r:id="rId44"/>
    <p:sldId id="536" r:id="rId45"/>
    <p:sldId id="535" r:id="rId46"/>
    <p:sldId id="537" r:id="rId47"/>
    <p:sldId id="538" r:id="rId48"/>
    <p:sldId id="539" r:id="rId49"/>
    <p:sldId id="541" r:id="rId50"/>
    <p:sldId id="560" r:id="rId51"/>
    <p:sldId id="540" r:id="rId52"/>
    <p:sldId id="542" r:id="rId53"/>
    <p:sldId id="543" r:id="rId54"/>
    <p:sldId id="544" r:id="rId55"/>
    <p:sldId id="547" r:id="rId56"/>
    <p:sldId id="548" r:id="rId57"/>
    <p:sldId id="549" r:id="rId58"/>
    <p:sldId id="550" r:id="rId59"/>
    <p:sldId id="551" r:id="rId60"/>
    <p:sldId id="553" r:id="rId61"/>
    <p:sldId id="564" r:id="rId62"/>
    <p:sldId id="546" r:id="rId63"/>
    <p:sldId id="554" r:id="rId64"/>
    <p:sldId id="557" r:id="rId65"/>
    <p:sldId id="558" r:id="rId66"/>
    <p:sldId id="567" r:id="rId67"/>
    <p:sldId id="385" r:id="rId68"/>
    <p:sldId id="393" r:id="rId69"/>
    <p:sldId id="394" r:id="rId70"/>
    <p:sldId id="574" r:id="rId71"/>
    <p:sldId id="682" r:id="rId72"/>
    <p:sldId id="556" r:id="rId73"/>
    <p:sldId id="568" r:id="rId74"/>
    <p:sldId id="555" r:id="rId75"/>
    <p:sldId id="569" r:id="rId76"/>
    <p:sldId id="570" r:id="rId77"/>
    <p:sldId id="571" r:id="rId78"/>
    <p:sldId id="572" r:id="rId79"/>
    <p:sldId id="683" r:id="rId80"/>
    <p:sldId id="676" r:id="rId81"/>
    <p:sldId id="677" r:id="rId82"/>
    <p:sldId id="680" r:id="rId83"/>
    <p:sldId id="681" r:id="rId84"/>
    <p:sldId id="678" r:id="rId85"/>
    <p:sldId id="679" r:id="rId8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Title" id="{B78B9027-D5BB-40A0-9AF0-3B950F71C46E}">
          <p14:sldIdLst>
            <p14:sldId id="377"/>
          </p14:sldIdLst>
        </p14:section>
        <p14:section name="Intro" id="{C410CCE5-1A80-4479-9F95-76F33C432A32}">
          <p14:sldIdLst>
            <p14:sldId id="380"/>
            <p14:sldId id="381"/>
            <p14:sldId id="383"/>
            <p14:sldId id="488"/>
          </p14:sldIdLst>
        </p14:section>
        <p14:section name="What is a type, to begin with?" id="{CFFD66B3-246D-4621-B9B5-7BF4DD634926}">
          <p14:sldIdLst>
            <p14:sldId id="489"/>
            <p14:sldId id="499"/>
            <p14:sldId id="490"/>
            <p14:sldId id="491"/>
          </p14:sldIdLst>
        </p14:section>
        <p14:section name="Implicit vs Explicit type conversion" id="{71424676-68EC-48CE-B204-A6B795DCF33F}">
          <p14:sldIdLst>
            <p14:sldId id="493"/>
            <p14:sldId id="494"/>
            <p14:sldId id="492"/>
            <p14:sldId id="495"/>
            <p14:sldId id="497"/>
          </p14:sldIdLst>
        </p14:section>
        <p14:section name="Static vs. Dynamic types checking" id="{E3722758-24D7-44D6-A015-112D53536E80}">
          <p14:sldIdLst>
            <p14:sldId id="496"/>
            <p14:sldId id="498"/>
          </p14:sldIdLst>
        </p14:section>
        <p14:section name="Types inference" id="{64EDE2A7-DBB4-4EEE-B7F2-6D24D69E7E07}">
          <p14:sldIdLst>
            <p14:sldId id="501"/>
            <p14:sldId id="502"/>
            <p14:sldId id="503"/>
            <p14:sldId id="504"/>
            <p14:sldId id="505"/>
            <p14:sldId id="506"/>
            <p14:sldId id="528"/>
            <p14:sldId id="529"/>
          </p14:sldIdLst>
        </p14:section>
        <p14:section name="A framework for types inference" id="{0E2AEA82-98D0-4751-9760-427C5F6A5DD0}">
          <p14:sldIdLst>
            <p14:sldId id="508"/>
            <p14:sldId id="514"/>
            <p14:sldId id="515"/>
            <p14:sldId id="516"/>
            <p14:sldId id="517"/>
          </p14:sldIdLst>
        </p14:section>
        <p14:section name="Using inference rules for operations" id="{30FC2E68-4AE4-417D-98D6-26A67F37FBBF}">
          <p14:sldIdLst>
            <p14:sldId id="518"/>
            <p14:sldId id="519"/>
            <p14:sldId id="526"/>
            <p14:sldId id="527"/>
          </p14:sldIdLst>
        </p14:section>
        <p14:section name="Using inference rules for identifiers" id="{C406111A-A0F7-4C58-A7A7-1783FC5F9CD2}">
          <p14:sldIdLst>
            <p14:sldId id="520"/>
            <p14:sldId id="521"/>
          </p14:sldIdLst>
        </p14:section>
        <p14:section name="Using inference rules on compound types" id="{A785C4AB-2763-4144-A7D7-7D6D540661A5}">
          <p14:sldIdLst>
            <p14:sldId id="522"/>
          </p14:sldIdLst>
        </p14:section>
        <p14:section name="Using inference types for assignments" id="{02F335F7-58E6-4445-B94A-862085F2254B}">
          <p14:sldIdLst>
            <p14:sldId id="523"/>
            <p14:sldId id="525"/>
          </p14:sldIdLst>
        </p14:section>
        <p14:section name="Defining classes (simple)" id="{1A0AFE7F-9D2C-4EA2-85CF-B7FEAD6ECC71}">
          <p14:sldIdLst>
            <p14:sldId id="513"/>
            <p14:sldId id="530"/>
            <p14:sldId id="532"/>
          </p14:sldIdLst>
        </p14:section>
        <p14:section name="Factoring in inheritance" id="{D3EFD08B-0914-40B2-B654-2CAF8800731B}">
          <p14:sldIdLst>
            <p14:sldId id="534"/>
            <p14:sldId id="533"/>
            <p14:sldId id="536"/>
            <p14:sldId id="535"/>
            <p14:sldId id="537"/>
            <p14:sldId id="538"/>
            <p14:sldId id="539"/>
            <p14:sldId id="541"/>
            <p14:sldId id="560"/>
            <p14:sldId id="540"/>
          </p14:sldIdLst>
        </p14:section>
        <p14:section name="Error reporting and recovery" id="{1A526053-8C53-469F-902C-44B14E402F27}">
          <p14:sldIdLst>
            <p14:sldId id="542"/>
            <p14:sldId id="543"/>
          </p14:sldIdLst>
        </p14:section>
        <p14:section name="Quiz time!" id="{FB704DAB-2611-49FA-9226-BB3045230D91}">
          <p14:sldIdLst>
            <p14:sldId id="544"/>
            <p14:sldId id="547"/>
            <p14:sldId id="548"/>
            <p14:sldId id="549"/>
            <p14:sldId id="550"/>
            <p14:sldId id="551"/>
          </p14:sldIdLst>
        </p14:section>
        <p14:section name="Other tasks in Semantic Analysis" id="{D293F0B5-53EB-49DA-83A6-2675705DE266}">
          <p14:sldIdLst>
            <p14:sldId id="553"/>
            <p14:sldId id="564"/>
          </p14:sldIdLst>
        </p14:section>
        <p14:section name="What is next?" id="{EACBAA68-0916-4A70-B290-EA9E6CA6E315}">
          <p14:sldIdLst>
            <p14:sldId id="546"/>
            <p14:sldId id="554"/>
            <p14:sldId id="557"/>
            <p14:sldId id="558"/>
          </p14:sldIdLst>
        </p14:section>
        <p14:section name="Code Generation" id="{BA1B88F7-D2E8-490A-A8F3-2958A264A33D}">
          <p14:sldIdLst>
            <p14:sldId id="567"/>
            <p14:sldId id="385"/>
            <p14:sldId id="393"/>
            <p14:sldId id="394"/>
            <p14:sldId id="574"/>
            <p14:sldId id="682"/>
            <p14:sldId id="556"/>
          </p14:sldIdLst>
        </p14:section>
        <p14:section name="TAC and CFGs" id="{AF7FE3F5-CFE1-457B-BA4B-9D8DC43C8A2C}">
          <p14:sldIdLst>
            <p14:sldId id="568"/>
            <p14:sldId id="555"/>
            <p14:sldId id="569"/>
            <p14:sldId id="570"/>
            <p14:sldId id="571"/>
            <p14:sldId id="572"/>
            <p14:sldId id="683"/>
          </p14:sldIdLst>
        </p14:section>
        <p14:section name="Quiz time!" id="{C38A097A-B994-4104-A405-60854AFD0529}">
          <p14:sldIdLst>
            <p14:sldId id="676"/>
            <p14:sldId id="677"/>
            <p14:sldId id="680"/>
            <p14:sldId id="681"/>
            <p14:sldId id="678"/>
            <p14:sldId id="67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1BB37E7B-2C63-881E-D1CD-0B80C5165243}" name="Matthieu DE MARI" initials="MDM" userId="15f9bd7465eafadb" providerId="Windows Live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5202B0CA-FC54-4496-8BCA-5EF66A818D29}" styleName="Dark Style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2" d="100"/>
          <a:sy n="112" d="100"/>
        </p:scale>
        <p:origin x="516" y="3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slide" Target="slides/slide83.xml"/><Relationship Id="rId89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90" Type="http://schemas.openxmlformats.org/officeDocument/2006/relationships/theme" Target="theme/theme1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93" Type="http://schemas.microsoft.com/office/2018/10/relationships/authors" Target="author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slide" Target="slides/slide82.xml"/><Relationship Id="rId88" Type="http://schemas.openxmlformats.org/officeDocument/2006/relationships/presProps" Target="presProps.xml"/><Relationship Id="rId9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microsoft.com/office/2016/11/relationships/changesInfo" Target="changesInfos/changesInfo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notesMaster" Target="notesMasters/notesMaster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tthieu De Mari" userId="dfb708c9-d8dc-439f-9a3b-c772bf4a311c" providerId="ADAL" clId="{81E9B007-0C2C-493E-9B93-55A62C9C1F12}"/>
    <pc:docChg chg="modSld">
      <pc:chgData name="Matthieu De Mari" userId="dfb708c9-d8dc-439f-9a3b-c772bf4a311c" providerId="ADAL" clId="{81E9B007-0C2C-493E-9B93-55A62C9C1F12}" dt="2026-01-14T09:52:25.409" v="114" actId="20577"/>
      <pc:docMkLst>
        <pc:docMk/>
      </pc:docMkLst>
      <pc:sldChg chg="modSp mod">
        <pc:chgData name="Matthieu De Mari" userId="dfb708c9-d8dc-439f-9a3b-c772bf4a311c" providerId="ADAL" clId="{81E9B007-0C2C-493E-9B93-55A62C9C1F12}" dt="2026-01-14T09:43:54.159" v="0" actId="20577"/>
        <pc:sldMkLst>
          <pc:docMk/>
          <pc:sldMk cId="288259548" sldId="491"/>
        </pc:sldMkLst>
        <pc:spChg chg="mod">
          <ac:chgData name="Matthieu De Mari" userId="dfb708c9-d8dc-439f-9a3b-c772bf4a311c" providerId="ADAL" clId="{81E9B007-0C2C-493E-9B93-55A62C9C1F12}" dt="2026-01-14T09:43:54.159" v="0" actId="20577"/>
          <ac:spMkLst>
            <pc:docMk/>
            <pc:sldMk cId="288259548" sldId="491"/>
            <ac:spMk id="3" creationId="{81011565-F93F-7BBF-ADA0-D6FF4F87EE6B}"/>
          </ac:spMkLst>
        </pc:spChg>
      </pc:sldChg>
      <pc:sldChg chg="modSp mod">
        <pc:chgData name="Matthieu De Mari" userId="dfb708c9-d8dc-439f-9a3b-c772bf4a311c" providerId="ADAL" clId="{81E9B007-0C2C-493E-9B93-55A62C9C1F12}" dt="2026-01-14T09:44:41.612" v="1" actId="400"/>
        <pc:sldMkLst>
          <pc:docMk/>
          <pc:sldMk cId="1603561158" sldId="496"/>
        </pc:sldMkLst>
        <pc:spChg chg="mod">
          <ac:chgData name="Matthieu De Mari" userId="dfb708c9-d8dc-439f-9a3b-c772bf4a311c" providerId="ADAL" clId="{81E9B007-0C2C-493E-9B93-55A62C9C1F12}" dt="2026-01-14T09:44:41.612" v="1" actId="400"/>
          <ac:spMkLst>
            <pc:docMk/>
            <pc:sldMk cId="1603561158" sldId="496"/>
            <ac:spMk id="3" creationId="{4753E802-681A-7083-E53A-F9E21CE03803}"/>
          </ac:spMkLst>
        </pc:spChg>
      </pc:sldChg>
      <pc:sldChg chg="modSp mod">
        <pc:chgData name="Matthieu De Mari" userId="dfb708c9-d8dc-439f-9a3b-c772bf4a311c" providerId="ADAL" clId="{81E9B007-0C2C-493E-9B93-55A62C9C1F12}" dt="2026-01-14T09:44:53.258" v="2" actId="400"/>
        <pc:sldMkLst>
          <pc:docMk/>
          <pc:sldMk cId="1719793704" sldId="498"/>
        </pc:sldMkLst>
        <pc:spChg chg="mod">
          <ac:chgData name="Matthieu De Mari" userId="dfb708c9-d8dc-439f-9a3b-c772bf4a311c" providerId="ADAL" clId="{81E9B007-0C2C-493E-9B93-55A62C9C1F12}" dt="2026-01-14T09:44:53.258" v="2" actId="400"/>
          <ac:spMkLst>
            <pc:docMk/>
            <pc:sldMk cId="1719793704" sldId="498"/>
            <ac:spMk id="3" creationId="{5B2ECD51-B09C-2790-8E7E-60463BAB5A86}"/>
          </ac:spMkLst>
        </pc:spChg>
      </pc:sldChg>
      <pc:sldChg chg="modSp mod">
        <pc:chgData name="Matthieu De Mari" userId="dfb708c9-d8dc-439f-9a3b-c772bf4a311c" providerId="ADAL" clId="{81E9B007-0C2C-493E-9B93-55A62C9C1F12}" dt="2026-01-14T09:46:17.444" v="4" actId="20577"/>
        <pc:sldMkLst>
          <pc:docMk/>
          <pc:sldMk cId="2994907257" sldId="517"/>
        </pc:sldMkLst>
        <pc:graphicFrameChg chg="modGraphic">
          <ac:chgData name="Matthieu De Mari" userId="dfb708c9-d8dc-439f-9a3b-c772bf4a311c" providerId="ADAL" clId="{81E9B007-0C2C-493E-9B93-55A62C9C1F12}" dt="2026-01-14T09:46:17.444" v="4" actId="20577"/>
          <ac:graphicFrameMkLst>
            <pc:docMk/>
            <pc:sldMk cId="2994907257" sldId="517"/>
            <ac:graphicFrameMk id="4" creationId="{9E23B331-DF4A-4ACF-EBC9-D7DD902C9B90}"/>
          </ac:graphicFrameMkLst>
        </pc:graphicFrameChg>
      </pc:sldChg>
      <pc:sldChg chg="modSp mod">
        <pc:chgData name="Matthieu De Mari" userId="dfb708c9-d8dc-439f-9a3b-c772bf4a311c" providerId="ADAL" clId="{81E9B007-0C2C-493E-9B93-55A62C9C1F12}" dt="2026-01-14T09:47:16.683" v="63" actId="1076"/>
        <pc:sldMkLst>
          <pc:docMk/>
          <pc:sldMk cId="2217585367" sldId="519"/>
        </pc:sldMkLst>
        <pc:spChg chg="mod">
          <ac:chgData name="Matthieu De Mari" userId="dfb708c9-d8dc-439f-9a3b-c772bf4a311c" providerId="ADAL" clId="{81E9B007-0C2C-493E-9B93-55A62C9C1F12}" dt="2026-01-14T09:47:12.046" v="62" actId="20577"/>
          <ac:spMkLst>
            <pc:docMk/>
            <pc:sldMk cId="2217585367" sldId="519"/>
            <ac:spMk id="3" creationId="{2226C63E-7436-9AB6-DA1E-68FF930728AC}"/>
          </ac:spMkLst>
        </pc:spChg>
        <pc:graphicFrameChg chg="mod">
          <ac:chgData name="Matthieu De Mari" userId="dfb708c9-d8dc-439f-9a3b-c772bf4a311c" providerId="ADAL" clId="{81E9B007-0C2C-493E-9B93-55A62C9C1F12}" dt="2026-01-14T09:47:16.683" v="63" actId="1076"/>
          <ac:graphicFrameMkLst>
            <pc:docMk/>
            <pc:sldMk cId="2217585367" sldId="519"/>
            <ac:graphicFrameMk id="4" creationId="{9E23B331-DF4A-4ACF-EBC9-D7DD902C9B90}"/>
          </ac:graphicFrameMkLst>
        </pc:graphicFrameChg>
      </pc:sldChg>
      <pc:sldChg chg="modSp mod">
        <pc:chgData name="Matthieu De Mari" userId="dfb708c9-d8dc-439f-9a3b-c772bf4a311c" providerId="ADAL" clId="{81E9B007-0C2C-493E-9B93-55A62C9C1F12}" dt="2026-01-14T09:48:25.735" v="103" actId="20577"/>
        <pc:sldMkLst>
          <pc:docMk/>
          <pc:sldMk cId="1976845715" sldId="520"/>
        </pc:sldMkLst>
        <pc:graphicFrameChg chg="modGraphic">
          <ac:chgData name="Matthieu De Mari" userId="dfb708c9-d8dc-439f-9a3b-c772bf4a311c" providerId="ADAL" clId="{81E9B007-0C2C-493E-9B93-55A62C9C1F12}" dt="2026-01-14T09:48:25.735" v="103" actId="20577"/>
          <ac:graphicFrameMkLst>
            <pc:docMk/>
            <pc:sldMk cId="1976845715" sldId="520"/>
            <ac:graphicFrameMk id="4" creationId="{9E23B331-DF4A-4ACF-EBC9-D7DD902C9B90}"/>
          </ac:graphicFrameMkLst>
        </pc:graphicFrameChg>
      </pc:sldChg>
      <pc:sldChg chg="modSp mod">
        <pc:chgData name="Matthieu De Mari" userId="dfb708c9-d8dc-439f-9a3b-c772bf4a311c" providerId="ADAL" clId="{81E9B007-0C2C-493E-9B93-55A62C9C1F12}" dt="2026-01-14T09:48:44.475" v="107" actId="20577"/>
        <pc:sldMkLst>
          <pc:docMk/>
          <pc:sldMk cId="1601231417" sldId="522"/>
        </pc:sldMkLst>
        <pc:spChg chg="mod">
          <ac:chgData name="Matthieu De Mari" userId="dfb708c9-d8dc-439f-9a3b-c772bf4a311c" providerId="ADAL" clId="{81E9B007-0C2C-493E-9B93-55A62C9C1F12}" dt="2026-01-14T09:48:44.475" v="107" actId="20577"/>
          <ac:spMkLst>
            <pc:docMk/>
            <pc:sldMk cId="1601231417" sldId="522"/>
            <ac:spMk id="3" creationId="{2226C63E-7436-9AB6-DA1E-68FF930728AC}"/>
          </ac:spMkLst>
        </pc:spChg>
      </pc:sldChg>
      <pc:sldChg chg="modSp mod">
        <pc:chgData name="Matthieu De Mari" userId="dfb708c9-d8dc-439f-9a3b-c772bf4a311c" providerId="ADAL" clId="{81E9B007-0C2C-493E-9B93-55A62C9C1F12}" dt="2026-01-14T09:49:02.012" v="108" actId="14100"/>
        <pc:sldMkLst>
          <pc:docMk/>
          <pc:sldMk cId="2249005406" sldId="525"/>
        </pc:sldMkLst>
        <pc:cxnChg chg="mod">
          <ac:chgData name="Matthieu De Mari" userId="dfb708c9-d8dc-439f-9a3b-c772bf4a311c" providerId="ADAL" clId="{81E9B007-0C2C-493E-9B93-55A62C9C1F12}" dt="2026-01-14T09:49:02.012" v="108" actId="14100"/>
          <ac:cxnSpMkLst>
            <pc:docMk/>
            <pc:sldMk cId="2249005406" sldId="525"/>
            <ac:cxnSpMk id="6" creationId="{54C933E6-33D7-10EF-4BA1-89B8F5000F5F}"/>
          </ac:cxnSpMkLst>
        </pc:cxnChg>
      </pc:sldChg>
      <pc:sldChg chg="modSp mod">
        <pc:chgData name="Matthieu De Mari" userId="dfb708c9-d8dc-439f-9a3b-c772bf4a311c" providerId="ADAL" clId="{81E9B007-0C2C-493E-9B93-55A62C9C1F12}" dt="2026-01-14T09:52:25.409" v="114" actId="20577"/>
        <pc:sldMkLst>
          <pc:docMk/>
          <pc:sldMk cId="3351308315" sldId="556"/>
        </pc:sldMkLst>
        <pc:spChg chg="mod">
          <ac:chgData name="Matthieu De Mari" userId="dfb708c9-d8dc-439f-9a3b-c772bf4a311c" providerId="ADAL" clId="{81E9B007-0C2C-493E-9B93-55A62C9C1F12}" dt="2026-01-14T09:52:25.409" v="114" actId="20577"/>
          <ac:spMkLst>
            <pc:docMk/>
            <pc:sldMk cId="3351308315" sldId="556"/>
            <ac:spMk id="3" creationId="{BEEFA322-4520-F107-C397-7998B5465BDF}"/>
          </ac:spMkLst>
        </pc:spChg>
      </pc:sldChg>
      <pc:sldChg chg="modSp mod">
        <pc:chgData name="Matthieu De Mari" userId="dfb708c9-d8dc-439f-9a3b-c772bf4a311c" providerId="ADAL" clId="{81E9B007-0C2C-493E-9B93-55A62C9C1F12}" dt="2026-01-14T09:50:41.128" v="110" actId="20577"/>
        <pc:sldMkLst>
          <pc:docMk/>
          <pc:sldMk cId="485059711" sldId="560"/>
        </pc:sldMkLst>
        <pc:spChg chg="mod">
          <ac:chgData name="Matthieu De Mari" userId="dfb708c9-d8dc-439f-9a3b-c772bf4a311c" providerId="ADAL" clId="{81E9B007-0C2C-493E-9B93-55A62C9C1F12}" dt="2026-01-14T09:50:41.128" v="110" actId="20577"/>
          <ac:spMkLst>
            <pc:docMk/>
            <pc:sldMk cId="485059711" sldId="560"/>
            <ac:spMk id="3" creationId="{2226C63E-7436-9AB6-DA1E-68FF930728AC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034D096-3C70-454B-A9F6-148A8274E006}" type="doc">
      <dgm:prSet loTypeId="urn:microsoft.com/office/officeart/2005/8/layout/hierarchy2" loCatId="hierarchy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en-SG"/>
        </a:p>
      </dgm:t>
    </dgm:pt>
    <dgm:pt modelId="{10E9EB3A-E6BA-433B-8D1A-80BF8C4C9DFE}">
      <dgm:prSet phldrT="[Text]"/>
      <dgm:spPr/>
      <dgm:t>
        <a:bodyPr/>
        <a:lstStyle/>
        <a:p>
          <a:r>
            <a:rPr lang="en-GB" dirty="0"/>
            <a:t>Instructor</a:t>
          </a:r>
          <a:endParaRPr lang="en-SG" dirty="0"/>
        </a:p>
      </dgm:t>
    </dgm:pt>
    <dgm:pt modelId="{E3E3DB92-2786-4BB6-A713-539EC74F0DEF}" type="parTrans" cxnId="{95B17D93-27EE-47C1-9B67-BCAA879E1C77}">
      <dgm:prSet/>
      <dgm:spPr/>
      <dgm:t>
        <a:bodyPr/>
        <a:lstStyle/>
        <a:p>
          <a:endParaRPr lang="en-SG"/>
        </a:p>
      </dgm:t>
    </dgm:pt>
    <dgm:pt modelId="{6B083134-0DF1-4858-B733-49A4AD0EF039}" type="sibTrans" cxnId="{95B17D93-27EE-47C1-9B67-BCAA879E1C77}">
      <dgm:prSet/>
      <dgm:spPr/>
      <dgm:t>
        <a:bodyPr/>
        <a:lstStyle/>
        <a:p>
          <a:endParaRPr lang="en-SG"/>
        </a:p>
      </dgm:t>
    </dgm:pt>
    <dgm:pt modelId="{D5B6E851-31E0-46F7-83F3-DF5448C4A401}">
      <dgm:prSet phldrT="[Text]"/>
      <dgm:spPr/>
      <dgm:t>
        <a:bodyPr/>
        <a:lstStyle/>
        <a:p>
          <a:r>
            <a:rPr lang="en-GB" dirty="0"/>
            <a:t>Assist. Prof.</a:t>
          </a:r>
          <a:endParaRPr lang="en-SG" dirty="0"/>
        </a:p>
      </dgm:t>
    </dgm:pt>
    <dgm:pt modelId="{F7028555-CD2A-48A8-8243-A00E20DE1323}" type="parTrans" cxnId="{B8B91E38-3688-4716-994C-503B94B13CBB}">
      <dgm:prSet/>
      <dgm:spPr/>
      <dgm:t>
        <a:bodyPr/>
        <a:lstStyle/>
        <a:p>
          <a:endParaRPr lang="en-SG"/>
        </a:p>
      </dgm:t>
    </dgm:pt>
    <dgm:pt modelId="{8D7B2581-C85B-4A54-BCFF-AEBB0A2A54BB}" type="sibTrans" cxnId="{B8B91E38-3688-4716-994C-503B94B13CBB}">
      <dgm:prSet/>
      <dgm:spPr/>
      <dgm:t>
        <a:bodyPr/>
        <a:lstStyle/>
        <a:p>
          <a:endParaRPr lang="en-SG"/>
        </a:p>
      </dgm:t>
    </dgm:pt>
    <dgm:pt modelId="{AF669954-C9E2-4D17-B253-AF32B8C73A08}">
      <dgm:prSet phldrT="[Text]"/>
      <dgm:spPr/>
      <dgm:t>
        <a:bodyPr/>
        <a:lstStyle/>
        <a:p>
          <a:r>
            <a:rPr lang="en-GB" dirty="0"/>
            <a:t>TA</a:t>
          </a:r>
          <a:endParaRPr lang="en-SG" dirty="0"/>
        </a:p>
      </dgm:t>
    </dgm:pt>
    <dgm:pt modelId="{FDED9A88-219B-497A-848C-654CDFC35CE8}" type="parTrans" cxnId="{C6401652-8439-41DB-B5E9-7D3088D906C7}">
      <dgm:prSet/>
      <dgm:spPr/>
      <dgm:t>
        <a:bodyPr/>
        <a:lstStyle/>
        <a:p>
          <a:endParaRPr lang="en-SG"/>
        </a:p>
      </dgm:t>
    </dgm:pt>
    <dgm:pt modelId="{ED41DDA0-E501-4209-BCAE-D187D21079CB}" type="sibTrans" cxnId="{C6401652-8439-41DB-B5E9-7D3088D906C7}">
      <dgm:prSet/>
      <dgm:spPr/>
      <dgm:t>
        <a:bodyPr/>
        <a:lstStyle/>
        <a:p>
          <a:endParaRPr lang="en-SG"/>
        </a:p>
      </dgm:t>
    </dgm:pt>
    <dgm:pt modelId="{CC7C5DE6-97A5-4B1C-B85D-998CD43D48A3}">
      <dgm:prSet phldrT="[Text]"/>
      <dgm:spPr/>
      <dgm:t>
        <a:bodyPr/>
        <a:lstStyle/>
        <a:p>
          <a:r>
            <a:rPr lang="en-GB" dirty="0"/>
            <a:t>Lecturer</a:t>
          </a:r>
          <a:endParaRPr lang="en-SG" dirty="0"/>
        </a:p>
      </dgm:t>
    </dgm:pt>
    <dgm:pt modelId="{2D5C236F-939D-4736-8535-94492F8F47FE}" type="parTrans" cxnId="{0AEB08B7-53AB-45C1-9E92-EB5F9D9BF012}">
      <dgm:prSet/>
      <dgm:spPr/>
      <dgm:t>
        <a:bodyPr/>
        <a:lstStyle/>
        <a:p>
          <a:endParaRPr lang="en-SG"/>
        </a:p>
      </dgm:t>
    </dgm:pt>
    <dgm:pt modelId="{CBE0467B-8D46-46A8-A7E1-F121FC1A8FE1}" type="sibTrans" cxnId="{0AEB08B7-53AB-45C1-9E92-EB5F9D9BF012}">
      <dgm:prSet/>
      <dgm:spPr/>
      <dgm:t>
        <a:bodyPr/>
        <a:lstStyle/>
        <a:p>
          <a:endParaRPr lang="en-SG"/>
        </a:p>
      </dgm:t>
    </dgm:pt>
    <dgm:pt modelId="{2F51A242-7C02-46EB-A350-2B079DF75249}">
      <dgm:prSet phldrT="[Text]"/>
      <dgm:spPr/>
      <dgm:t>
        <a:bodyPr/>
        <a:lstStyle/>
        <a:p>
          <a:r>
            <a:rPr lang="en-GB" dirty="0"/>
            <a:t>Simon</a:t>
          </a:r>
          <a:endParaRPr lang="en-SG" dirty="0"/>
        </a:p>
      </dgm:t>
    </dgm:pt>
    <dgm:pt modelId="{27825579-DC27-4CE8-9A0C-B0198370AFB7}" type="parTrans" cxnId="{F2A516F8-8546-4616-B38D-F5BCF06DD6AE}">
      <dgm:prSet/>
      <dgm:spPr/>
      <dgm:t>
        <a:bodyPr/>
        <a:lstStyle/>
        <a:p>
          <a:endParaRPr lang="en-SG"/>
        </a:p>
      </dgm:t>
    </dgm:pt>
    <dgm:pt modelId="{A41A72C7-6FA9-4F5D-93E1-98773D16C3D6}" type="sibTrans" cxnId="{F2A516F8-8546-4616-B38D-F5BCF06DD6AE}">
      <dgm:prSet/>
      <dgm:spPr/>
      <dgm:t>
        <a:bodyPr/>
        <a:lstStyle/>
        <a:p>
          <a:endParaRPr lang="en-SG"/>
        </a:p>
      </dgm:t>
    </dgm:pt>
    <dgm:pt modelId="{1E6B0E73-D3D1-4734-8ECD-B892B64A1626}">
      <dgm:prSet phldrT="[Text]"/>
      <dgm:spPr/>
      <dgm:t>
        <a:bodyPr/>
        <a:lstStyle/>
        <a:p>
          <a:r>
            <a:rPr lang="en-GB" dirty="0"/>
            <a:t>Matt</a:t>
          </a:r>
          <a:endParaRPr lang="en-SG" dirty="0"/>
        </a:p>
      </dgm:t>
    </dgm:pt>
    <dgm:pt modelId="{6B6F5749-BA0C-405F-80A4-18A76F3C74E0}" type="parTrans" cxnId="{5C100C4F-6B80-49B7-967E-E8D1C322DFAD}">
      <dgm:prSet/>
      <dgm:spPr/>
      <dgm:t>
        <a:bodyPr/>
        <a:lstStyle/>
        <a:p>
          <a:endParaRPr lang="en-SG"/>
        </a:p>
      </dgm:t>
    </dgm:pt>
    <dgm:pt modelId="{392865BC-DE5D-43D2-9779-5D26DA491740}" type="sibTrans" cxnId="{5C100C4F-6B80-49B7-967E-E8D1C322DFAD}">
      <dgm:prSet/>
      <dgm:spPr/>
      <dgm:t>
        <a:bodyPr/>
        <a:lstStyle/>
        <a:p>
          <a:endParaRPr lang="en-SG"/>
        </a:p>
      </dgm:t>
    </dgm:pt>
    <dgm:pt modelId="{4A3A2725-98E6-42B5-B800-3F9F510A653B}" type="pres">
      <dgm:prSet presAssocID="{8034D096-3C70-454B-A9F6-148A8274E006}" presName="diagram" presStyleCnt="0">
        <dgm:presLayoutVars>
          <dgm:chPref val="1"/>
          <dgm:dir/>
          <dgm:animOne val="branch"/>
          <dgm:animLvl val="lvl"/>
          <dgm:resizeHandles val="exact"/>
        </dgm:presLayoutVars>
      </dgm:prSet>
      <dgm:spPr/>
    </dgm:pt>
    <dgm:pt modelId="{ECF6BCA4-5EFC-4596-A9BD-9E73075B4120}" type="pres">
      <dgm:prSet presAssocID="{10E9EB3A-E6BA-433B-8D1A-80BF8C4C9DFE}" presName="root1" presStyleCnt="0"/>
      <dgm:spPr/>
    </dgm:pt>
    <dgm:pt modelId="{018C2EA3-637F-4FCC-B08C-9B842E1D1625}" type="pres">
      <dgm:prSet presAssocID="{10E9EB3A-E6BA-433B-8D1A-80BF8C4C9DFE}" presName="LevelOneTextNode" presStyleLbl="node0" presStyleIdx="0" presStyleCnt="1">
        <dgm:presLayoutVars>
          <dgm:chPref val="3"/>
        </dgm:presLayoutVars>
      </dgm:prSet>
      <dgm:spPr/>
    </dgm:pt>
    <dgm:pt modelId="{2D2BC8D9-15FD-48FC-87B5-709A9EBB3EE3}" type="pres">
      <dgm:prSet presAssocID="{10E9EB3A-E6BA-433B-8D1A-80BF8C4C9DFE}" presName="level2hierChild" presStyleCnt="0"/>
      <dgm:spPr/>
    </dgm:pt>
    <dgm:pt modelId="{395AB85C-0752-4956-8A48-874223C302EC}" type="pres">
      <dgm:prSet presAssocID="{F7028555-CD2A-48A8-8243-A00E20DE1323}" presName="conn2-1" presStyleLbl="parChTrans1D2" presStyleIdx="0" presStyleCnt="3"/>
      <dgm:spPr/>
    </dgm:pt>
    <dgm:pt modelId="{ED2095C4-02CF-4F9A-9707-39FB7EA96A17}" type="pres">
      <dgm:prSet presAssocID="{F7028555-CD2A-48A8-8243-A00E20DE1323}" presName="connTx" presStyleLbl="parChTrans1D2" presStyleIdx="0" presStyleCnt="3"/>
      <dgm:spPr/>
    </dgm:pt>
    <dgm:pt modelId="{6CA0D99B-21EE-46F1-AF0A-BE316CEE9CA8}" type="pres">
      <dgm:prSet presAssocID="{D5B6E851-31E0-46F7-83F3-DF5448C4A401}" presName="root2" presStyleCnt="0"/>
      <dgm:spPr/>
    </dgm:pt>
    <dgm:pt modelId="{D1DAAF0D-FBF3-4959-BBF2-93BA6245641B}" type="pres">
      <dgm:prSet presAssocID="{D5B6E851-31E0-46F7-83F3-DF5448C4A401}" presName="LevelTwoTextNode" presStyleLbl="node2" presStyleIdx="0" presStyleCnt="3">
        <dgm:presLayoutVars>
          <dgm:chPref val="3"/>
        </dgm:presLayoutVars>
      </dgm:prSet>
      <dgm:spPr/>
    </dgm:pt>
    <dgm:pt modelId="{00D43107-5E88-4504-985D-D46FA3ED36D9}" type="pres">
      <dgm:prSet presAssocID="{D5B6E851-31E0-46F7-83F3-DF5448C4A401}" presName="level3hierChild" presStyleCnt="0"/>
      <dgm:spPr/>
    </dgm:pt>
    <dgm:pt modelId="{2F280CF2-04FF-47F5-800C-412AB933A4DF}" type="pres">
      <dgm:prSet presAssocID="{27825579-DC27-4CE8-9A0C-B0198370AFB7}" presName="conn2-1" presStyleLbl="parChTrans1D3" presStyleIdx="0" presStyleCnt="2"/>
      <dgm:spPr/>
    </dgm:pt>
    <dgm:pt modelId="{717A09BF-E2DE-46DB-B846-8D5A8605A526}" type="pres">
      <dgm:prSet presAssocID="{27825579-DC27-4CE8-9A0C-B0198370AFB7}" presName="connTx" presStyleLbl="parChTrans1D3" presStyleIdx="0" presStyleCnt="2"/>
      <dgm:spPr/>
    </dgm:pt>
    <dgm:pt modelId="{9DA5D089-5FBE-4C9E-9886-CD221E8E0713}" type="pres">
      <dgm:prSet presAssocID="{2F51A242-7C02-46EB-A350-2B079DF75249}" presName="root2" presStyleCnt="0"/>
      <dgm:spPr/>
    </dgm:pt>
    <dgm:pt modelId="{D0EFB254-BF67-4C79-ADBF-019643150FA2}" type="pres">
      <dgm:prSet presAssocID="{2F51A242-7C02-46EB-A350-2B079DF75249}" presName="LevelTwoTextNode" presStyleLbl="node3" presStyleIdx="0" presStyleCnt="2">
        <dgm:presLayoutVars>
          <dgm:chPref val="3"/>
        </dgm:presLayoutVars>
      </dgm:prSet>
      <dgm:spPr/>
    </dgm:pt>
    <dgm:pt modelId="{C60780A8-134E-4FBB-999E-566ACE6B1D46}" type="pres">
      <dgm:prSet presAssocID="{2F51A242-7C02-46EB-A350-2B079DF75249}" presName="level3hierChild" presStyleCnt="0"/>
      <dgm:spPr/>
    </dgm:pt>
    <dgm:pt modelId="{15AC2897-FD9A-4271-9F2C-D3DD9EBAF0AE}" type="pres">
      <dgm:prSet presAssocID="{2D5C236F-939D-4736-8535-94492F8F47FE}" presName="conn2-1" presStyleLbl="parChTrans1D2" presStyleIdx="1" presStyleCnt="3"/>
      <dgm:spPr/>
    </dgm:pt>
    <dgm:pt modelId="{39BF46C9-DEE2-4A52-988F-98E1FE350C88}" type="pres">
      <dgm:prSet presAssocID="{2D5C236F-939D-4736-8535-94492F8F47FE}" presName="connTx" presStyleLbl="parChTrans1D2" presStyleIdx="1" presStyleCnt="3"/>
      <dgm:spPr/>
    </dgm:pt>
    <dgm:pt modelId="{7CFBDA78-F5B0-4182-A695-AB34BE262275}" type="pres">
      <dgm:prSet presAssocID="{CC7C5DE6-97A5-4B1C-B85D-998CD43D48A3}" presName="root2" presStyleCnt="0"/>
      <dgm:spPr/>
    </dgm:pt>
    <dgm:pt modelId="{1F4BAE18-381E-425B-897E-E432BB7E7683}" type="pres">
      <dgm:prSet presAssocID="{CC7C5DE6-97A5-4B1C-B85D-998CD43D48A3}" presName="LevelTwoTextNode" presStyleLbl="node2" presStyleIdx="1" presStyleCnt="3">
        <dgm:presLayoutVars>
          <dgm:chPref val="3"/>
        </dgm:presLayoutVars>
      </dgm:prSet>
      <dgm:spPr/>
    </dgm:pt>
    <dgm:pt modelId="{809366D2-7333-4A40-9027-A74F05970A9E}" type="pres">
      <dgm:prSet presAssocID="{CC7C5DE6-97A5-4B1C-B85D-998CD43D48A3}" presName="level3hierChild" presStyleCnt="0"/>
      <dgm:spPr/>
    </dgm:pt>
    <dgm:pt modelId="{31420AC5-50CC-4A2B-90BD-66D57CB448B8}" type="pres">
      <dgm:prSet presAssocID="{6B6F5749-BA0C-405F-80A4-18A76F3C74E0}" presName="conn2-1" presStyleLbl="parChTrans1D3" presStyleIdx="1" presStyleCnt="2"/>
      <dgm:spPr/>
    </dgm:pt>
    <dgm:pt modelId="{777AB556-7FFC-4A01-8271-6B7F38516A0F}" type="pres">
      <dgm:prSet presAssocID="{6B6F5749-BA0C-405F-80A4-18A76F3C74E0}" presName="connTx" presStyleLbl="parChTrans1D3" presStyleIdx="1" presStyleCnt="2"/>
      <dgm:spPr/>
    </dgm:pt>
    <dgm:pt modelId="{6D1188F5-E76A-42CA-AC8F-D67655BC9188}" type="pres">
      <dgm:prSet presAssocID="{1E6B0E73-D3D1-4734-8ECD-B892B64A1626}" presName="root2" presStyleCnt="0"/>
      <dgm:spPr/>
    </dgm:pt>
    <dgm:pt modelId="{00318D22-465F-429F-A4BD-D30A5863FC8D}" type="pres">
      <dgm:prSet presAssocID="{1E6B0E73-D3D1-4734-8ECD-B892B64A1626}" presName="LevelTwoTextNode" presStyleLbl="node3" presStyleIdx="1" presStyleCnt="2">
        <dgm:presLayoutVars>
          <dgm:chPref val="3"/>
        </dgm:presLayoutVars>
      </dgm:prSet>
      <dgm:spPr/>
    </dgm:pt>
    <dgm:pt modelId="{E36F58A6-16D1-4017-80D0-D4E3C0B1A40D}" type="pres">
      <dgm:prSet presAssocID="{1E6B0E73-D3D1-4734-8ECD-B892B64A1626}" presName="level3hierChild" presStyleCnt="0"/>
      <dgm:spPr/>
    </dgm:pt>
    <dgm:pt modelId="{3D3851AA-A134-4FC1-87D8-5E672A7F459D}" type="pres">
      <dgm:prSet presAssocID="{FDED9A88-219B-497A-848C-654CDFC35CE8}" presName="conn2-1" presStyleLbl="parChTrans1D2" presStyleIdx="2" presStyleCnt="3"/>
      <dgm:spPr/>
    </dgm:pt>
    <dgm:pt modelId="{371B866D-57D1-4F1A-8488-E987BF104FD4}" type="pres">
      <dgm:prSet presAssocID="{FDED9A88-219B-497A-848C-654CDFC35CE8}" presName="connTx" presStyleLbl="parChTrans1D2" presStyleIdx="2" presStyleCnt="3"/>
      <dgm:spPr/>
    </dgm:pt>
    <dgm:pt modelId="{18E9AEA0-40DB-4824-9FDC-621528965CB2}" type="pres">
      <dgm:prSet presAssocID="{AF669954-C9E2-4D17-B253-AF32B8C73A08}" presName="root2" presStyleCnt="0"/>
      <dgm:spPr/>
    </dgm:pt>
    <dgm:pt modelId="{20E1816D-5652-4C5D-91EC-DF21C700693F}" type="pres">
      <dgm:prSet presAssocID="{AF669954-C9E2-4D17-B253-AF32B8C73A08}" presName="LevelTwoTextNode" presStyleLbl="node2" presStyleIdx="2" presStyleCnt="3">
        <dgm:presLayoutVars>
          <dgm:chPref val="3"/>
        </dgm:presLayoutVars>
      </dgm:prSet>
      <dgm:spPr/>
    </dgm:pt>
    <dgm:pt modelId="{499ED2DA-FE8A-4A35-B9B8-9229117CA3DC}" type="pres">
      <dgm:prSet presAssocID="{AF669954-C9E2-4D17-B253-AF32B8C73A08}" presName="level3hierChild" presStyleCnt="0"/>
      <dgm:spPr/>
    </dgm:pt>
  </dgm:ptLst>
  <dgm:cxnLst>
    <dgm:cxn modelId="{79ED4710-78B1-4C9D-BAE4-69A3371F8485}" type="presOf" srcId="{27825579-DC27-4CE8-9A0C-B0198370AFB7}" destId="{717A09BF-E2DE-46DB-B846-8D5A8605A526}" srcOrd="1" destOrd="0" presId="urn:microsoft.com/office/officeart/2005/8/layout/hierarchy2"/>
    <dgm:cxn modelId="{80A1FC10-AF43-4F7A-BFAE-F4E95D0DEA59}" type="presOf" srcId="{6B6F5749-BA0C-405F-80A4-18A76F3C74E0}" destId="{777AB556-7FFC-4A01-8271-6B7F38516A0F}" srcOrd="1" destOrd="0" presId="urn:microsoft.com/office/officeart/2005/8/layout/hierarchy2"/>
    <dgm:cxn modelId="{7A1AA618-A047-4157-A1E4-90DDF8F5DABD}" type="presOf" srcId="{10E9EB3A-E6BA-433B-8D1A-80BF8C4C9DFE}" destId="{018C2EA3-637F-4FCC-B08C-9B842E1D1625}" srcOrd="0" destOrd="0" presId="urn:microsoft.com/office/officeart/2005/8/layout/hierarchy2"/>
    <dgm:cxn modelId="{B8B91E38-3688-4716-994C-503B94B13CBB}" srcId="{10E9EB3A-E6BA-433B-8D1A-80BF8C4C9DFE}" destId="{D5B6E851-31E0-46F7-83F3-DF5448C4A401}" srcOrd="0" destOrd="0" parTransId="{F7028555-CD2A-48A8-8243-A00E20DE1323}" sibTransId="{8D7B2581-C85B-4A54-BCFF-AEBB0A2A54BB}"/>
    <dgm:cxn modelId="{031BA260-C215-4887-9A36-E1E7F74A6913}" type="presOf" srcId="{6B6F5749-BA0C-405F-80A4-18A76F3C74E0}" destId="{31420AC5-50CC-4A2B-90BD-66D57CB448B8}" srcOrd="0" destOrd="0" presId="urn:microsoft.com/office/officeart/2005/8/layout/hierarchy2"/>
    <dgm:cxn modelId="{9402496D-8052-491F-8D88-5A291135F8A6}" type="presOf" srcId="{F7028555-CD2A-48A8-8243-A00E20DE1323}" destId="{ED2095C4-02CF-4F9A-9707-39FB7EA96A17}" srcOrd="1" destOrd="0" presId="urn:microsoft.com/office/officeart/2005/8/layout/hierarchy2"/>
    <dgm:cxn modelId="{5C100C4F-6B80-49B7-967E-E8D1C322DFAD}" srcId="{CC7C5DE6-97A5-4B1C-B85D-998CD43D48A3}" destId="{1E6B0E73-D3D1-4734-8ECD-B892B64A1626}" srcOrd="0" destOrd="0" parTransId="{6B6F5749-BA0C-405F-80A4-18A76F3C74E0}" sibTransId="{392865BC-DE5D-43D2-9779-5D26DA491740}"/>
    <dgm:cxn modelId="{636EF370-6317-45EC-A752-DE6660E8A20D}" type="presOf" srcId="{27825579-DC27-4CE8-9A0C-B0198370AFB7}" destId="{2F280CF2-04FF-47F5-800C-412AB933A4DF}" srcOrd="0" destOrd="0" presId="urn:microsoft.com/office/officeart/2005/8/layout/hierarchy2"/>
    <dgm:cxn modelId="{C6401652-8439-41DB-B5E9-7D3088D906C7}" srcId="{10E9EB3A-E6BA-433B-8D1A-80BF8C4C9DFE}" destId="{AF669954-C9E2-4D17-B253-AF32B8C73A08}" srcOrd="2" destOrd="0" parTransId="{FDED9A88-219B-497A-848C-654CDFC35CE8}" sibTransId="{ED41DDA0-E501-4209-BCAE-D187D21079CB}"/>
    <dgm:cxn modelId="{D82EC554-EC0B-41AA-97F7-E9AC398066D0}" type="presOf" srcId="{CC7C5DE6-97A5-4B1C-B85D-998CD43D48A3}" destId="{1F4BAE18-381E-425B-897E-E432BB7E7683}" srcOrd="0" destOrd="0" presId="urn:microsoft.com/office/officeart/2005/8/layout/hierarchy2"/>
    <dgm:cxn modelId="{239EF957-2CE0-433C-B920-553E866AF014}" type="presOf" srcId="{FDED9A88-219B-497A-848C-654CDFC35CE8}" destId="{3D3851AA-A134-4FC1-87D8-5E672A7F459D}" srcOrd="0" destOrd="0" presId="urn:microsoft.com/office/officeart/2005/8/layout/hierarchy2"/>
    <dgm:cxn modelId="{D7CCCD7F-793A-4840-8C1A-655C9F93D746}" type="presOf" srcId="{2D5C236F-939D-4736-8535-94492F8F47FE}" destId="{15AC2897-FD9A-4271-9F2C-D3DD9EBAF0AE}" srcOrd="0" destOrd="0" presId="urn:microsoft.com/office/officeart/2005/8/layout/hierarchy2"/>
    <dgm:cxn modelId="{C1A4B588-B631-4E2D-BB9C-5729BE451FAC}" type="presOf" srcId="{2F51A242-7C02-46EB-A350-2B079DF75249}" destId="{D0EFB254-BF67-4C79-ADBF-019643150FA2}" srcOrd="0" destOrd="0" presId="urn:microsoft.com/office/officeart/2005/8/layout/hierarchy2"/>
    <dgm:cxn modelId="{EDA1D98B-FE09-436E-92B8-C5A32CB8CABD}" type="presOf" srcId="{D5B6E851-31E0-46F7-83F3-DF5448C4A401}" destId="{D1DAAF0D-FBF3-4959-BBF2-93BA6245641B}" srcOrd="0" destOrd="0" presId="urn:microsoft.com/office/officeart/2005/8/layout/hierarchy2"/>
    <dgm:cxn modelId="{95B17D93-27EE-47C1-9B67-BCAA879E1C77}" srcId="{8034D096-3C70-454B-A9F6-148A8274E006}" destId="{10E9EB3A-E6BA-433B-8D1A-80BF8C4C9DFE}" srcOrd="0" destOrd="0" parTransId="{E3E3DB92-2786-4BB6-A713-539EC74F0DEF}" sibTransId="{6B083134-0DF1-4858-B733-49A4AD0EF039}"/>
    <dgm:cxn modelId="{97937CA3-6A70-4528-A3A4-5EE477CF08AD}" type="presOf" srcId="{1E6B0E73-D3D1-4734-8ECD-B892B64A1626}" destId="{00318D22-465F-429F-A4BD-D30A5863FC8D}" srcOrd="0" destOrd="0" presId="urn:microsoft.com/office/officeart/2005/8/layout/hierarchy2"/>
    <dgm:cxn modelId="{D00794A5-1F0A-4E24-BD0C-F8E5EF051F0F}" type="presOf" srcId="{AF669954-C9E2-4D17-B253-AF32B8C73A08}" destId="{20E1816D-5652-4C5D-91EC-DF21C700693F}" srcOrd="0" destOrd="0" presId="urn:microsoft.com/office/officeart/2005/8/layout/hierarchy2"/>
    <dgm:cxn modelId="{012215B4-FF75-47FC-8CC8-989599F1F045}" type="presOf" srcId="{2D5C236F-939D-4736-8535-94492F8F47FE}" destId="{39BF46C9-DEE2-4A52-988F-98E1FE350C88}" srcOrd="1" destOrd="0" presId="urn:microsoft.com/office/officeart/2005/8/layout/hierarchy2"/>
    <dgm:cxn modelId="{0AEB08B7-53AB-45C1-9E92-EB5F9D9BF012}" srcId="{10E9EB3A-E6BA-433B-8D1A-80BF8C4C9DFE}" destId="{CC7C5DE6-97A5-4B1C-B85D-998CD43D48A3}" srcOrd="1" destOrd="0" parTransId="{2D5C236F-939D-4736-8535-94492F8F47FE}" sibTransId="{CBE0467B-8D46-46A8-A7E1-F121FC1A8FE1}"/>
    <dgm:cxn modelId="{7EA3C6C0-BF51-4EF5-8BE4-9639755A8346}" type="presOf" srcId="{FDED9A88-219B-497A-848C-654CDFC35CE8}" destId="{371B866D-57D1-4F1A-8488-E987BF104FD4}" srcOrd="1" destOrd="0" presId="urn:microsoft.com/office/officeart/2005/8/layout/hierarchy2"/>
    <dgm:cxn modelId="{9BA99BC8-F515-468B-B1F8-3327F4D53EDF}" type="presOf" srcId="{8034D096-3C70-454B-A9F6-148A8274E006}" destId="{4A3A2725-98E6-42B5-B800-3F9F510A653B}" srcOrd="0" destOrd="0" presId="urn:microsoft.com/office/officeart/2005/8/layout/hierarchy2"/>
    <dgm:cxn modelId="{BB120CE5-8D25-43B9-8B4D-C55562626349}" type="presOf" srcId="{F7028555-CD2A-48A8-8243-A00E20DE1323}" destId="{395AB85C-0752-4956-8A48-874223C302EC}" srcOrd="0" destOrd="0" presId="urn:microsoft.com/office/officeart/2005/8/layout/hierarchy2"/>
    <dgm:cxn modelId="{F2A516F8-8546-4616-B38D-F5BCF06DD6AE}" srcId="{D5B6E851-31E0-46F7-83F3-DF5448C4A401}" destId="{2F51A242-7C02-46EB-A350-2B079DF75249}" srcOrd="0" destOrd="0" parTransId="{27825579-DC27-4CE8-9A0C-B0198370AFB7}" sibTransId="{A41A72C7-6FA9-4F5D-93E1-98773D16C3D6}"/>
    <dgm:cxn modelId="{747391DA-6CAF-419A-9EFB-418B8DED16B2}" type="presParOf" srcId="{4A3A2725-98E6-42B5-B800-3F9F510A653B}" destId="{ECF6BCA4-5EFC-4596-A9BD-9E73075B4120}" srcOrd="0" destOrd="0" presId="urn:microsoft.com/office/officeart/2005/8/layout/hierarchy2"/>
    <dgm:cxn modelId="{D7CF8298-CD9B-4A43-BC2A-4713E31CE826}" type="presParOf" srcId="{ECF6BCA4-5EFC-4596-A9BD-9E73075B4120}" destId="{018C2EA3-637F-4FCC-B08C-9B842E1D1625}" srcOrd="0" destOrd="0" presId="urn:microsoft.com/office/officeart/2005/8/layout/hierarchy2"/>
    <dgm:cxn modelId="{AE1DC504-AAD6-4639-BFE5-1306CE1920D5}" type="presParOf" srcId="{ECF6BCA4-5EFC-4596-A9BD-9E73075B4120}" destId="{2D2BC8D9-15FD-48FC-87B5-709A9EBB3EE3}" srcOrd="1" destOrd="0" presId="urn:microsoft.com/office/officeart/2005/8/layout/hierarchy2"/>
    <dgm:cxn modelId="{C547D4CB-CC6E-4FF5-A8E5-9B330005F66D}" type="presParOf" srcId="{2D2BC8D9-15FD-48FC-87B5-709A9EBB3EE3}" destId="{395AB85C-0752-4956-8A48-874223C302EC}" srcOrd="0" destOrd="0" presId="urn:microsoft.com/office/officeart/2005/8/layout/hierarchy2"/>
    <dgm:cxn modelId="{24D22844-61D9-4D04-ACEE-38848F1A6064}" type="presParOf" srcId="{395AB85C-0752-4956-8A48-874223C302EC}" destId="{ED2095C4-02CF-4F9A-9707-39FB7EA96A17}" srcOrd="0" destOrd="0" presId="urn:microsoft.com/office/officeart/2005/8/layout/hierarchy2"/>
    <dgm:cxn modelId="{6A0DAE41-A26D-4821-85B1-93627B412596}" type="presParOf" srcId="{2D2BC8D9-15FD-48FC-87B5-709A9EBB3EE3}" destId="{6CA0D99B-21EE-46F1-AF0A-BE316CEE9CA8}" srcOrd="1" destOrd="0" presId="urn:microsoft.com/office/officeart/2005/8/layout/hierarchy2"/>
    <dgm:cxn modelId="{7A126514-03C5-488B-A266-62192472C144}" type="presParOf" srcId="{6CA0D99B-21EE-46F1-AF0A-BE316CEE9CA8}" destId="{D1DAAF0D-FBF3-4959-BBF2-93BA6245641B}" srcOrd="0" destOrd="0" presId="urn:microsoft.com/office/officeart/2005/8/layout/hierarchy2"/>
    <dgm:cxn modelId="{67B6CF5F-A50D-4894-8A58-527EE3239240}" type="presParOf" srcId="{6CA0D99B-21EE-46F1-AF0A-BE316CEE9CA8}" destId="{00D43107-5E88-4504-985D-D46FA3ED36D9}" srcOrd="1" destOrd="0" presId="urn:microsoft.com/office/officeart/2005/8/layout/hierarchy2"/>
    <dgm:cxn modelId="{1CE35B77-9788-4E99-8017-A4A34578AA74}" type="presParOf" srcId="{00D43107-5E88-4504-985D-D46FA3ED36D9}" destId="{2F280CF2-04FF-47F5-800C-412AB933A4DF}" srcOrd="0" destOrd="0" presId="urn:microsoft.com/office/officeart/2005/8/layout/hierarchy2"/>
    <dgm:cxn modelId="{7A94A7EC-DC8A-4A41-B79C-0E44EB857AF2}" type="presParOf" srcId="{2F280CF2-04FF-47F5-800C-412AB933A4DF}" destId="{717A09BF-E2DE-46DB-B846-8D5A8605A526}" srcOrd="0" destOrd="0" presId="urn:microsoft.com/office/officeart/2005/8/layout/hierarchy2"/>
    <dgm:cxn modelId="{D9068E07-160C-4E76-B4DB-98C3CA4014B9}" type="presParOf" srcId="{00D43107-5E88-4504-985D-D46FA3ED36D9}" destId="{9DA5D089-5FBE-4C9E-9886-CD221E8E0713}" srcOrd="1" destOrd="0" presId="urn:microsoft.com/office/officeart/2005/8/layout/hierarchy2"/>
    <dgm:cxn modelId="{8EEB0677-F375-4167-80AC-803C231B7222}" type="presParOf" srcId="{9DA5D089-5FBE-4C9E-9886-CD221E8E0713}" destId="{D0EFB254-BF67-4C79-ADBF-019643150FA2}" srcOrd="0" destOrd="0" presId="urn:microsoft.com/office/officeart/2005/8/layout/hierarchy2"/>
    <dgm:cxn modelId="{CB2409B5-FE5D-4D88-94EF-8BA292A1F3EA}" type="presParOf" srcId="{9DA5D089-5FBE-4C9E-9886-CD221E8E0713}" destId="{C60780A8-134E-4FBB-999E-566ACE6B1D46}" srcOrd="1" destOrd="0" presId="urn:microsoft.com/office/officeart/2005/8/layout/hierarchy2"/>
    <dgm:cxn modelId="{9AD19072-7468-466F-A57E-88598F456ADD}" type="presParOf" srcId="{2D2BC8D9-15FD-48FC-87B5-709A9EBB3EE3}" destId="{15AC2897-FD9A-4271-9F2C-D3DD9EBAF0AE}" srcOrd="2" destOrd="0" presId="urn:microsoft.com/office/officeart/2005/8/layout/hierarchy2"/>
    <dgm:cxn modelId="{6FA59A3D-C58D-4D5B-A7D9-EF678EF6E20B}" type="presParOf" srcId="{15AC2897-FD9A-4271-9F2C-D3DD9EBAF0AE}" destId="{39BF46C9-DEE2-4A52-988F-98E1FE350C88}" srcOrd="0" destOrd="0" presId="urn:microsoft.com/office/officeart/2005/8/layout/hierarchy2"/>
    <dgm:cxn modelId="{B8006816-FD02-41BB-8ACB-B796F38C0F25}" type="presParOf" srcId="{2D2BC8D9-15FD-48FC-87B5-709A9EBB3EE3}" destId="{7CFBDA78-F5B0-4182-A695-AB34BE262275}" srcOrd="3" destOrd="0" presId="urn:microsoft.com/office/officeart/2005/8/layout/hierarchy2"/>
    <dgm:cxn modelId="{B548CE0A-8D3A-4C34-92D6-9461E6E3A88D}" type="presParOf" srcId="{7CFBDA78-F5B0-4182-A695-AB34BE262275}" destId="{1F4BAE18-381E-425B-897E-E432BB7E7683}" srcOrd="0" destOrd="0" presId="urn:microsoft.com/office/officeart/2005/8/layout/hierarchy2"/>
    <dgm:cxn modelId="{C8E9DFC2-67FF-47E3-A8FA-CD3CB97022D2}" type="presParOf" srcId="{7CFBDA78-F5B0-4182-A695-AB34BE262275}" destId="{809366D2-7333-4A40-9027-A74F05970A9E}" srcOrd="1" destOrd="0" presId="urn:microsoft.com/office/officeart/2005/8/layout/hierarchy2"/>
    <dgm:cxn modelId="{6156F2E6-AE4F-4461-841D-4578CC5CFBDA}" type="presParOf" srcId="{809366D2-7333-4A40-9027-A74F05970A9E}" destId="{31420AC5-50CC-4A2B-90BD-66D57CB448B8}" srcOrd="0" destOrd="0" presId="urn:microsoft.com/office/officeart/2005/8/layout/hierarchy2"/>
    <dgm:cxn modelId="{7E8C2F82-D54F-46C7-8D71-A7FF5782AD6C}" type="presParOf" srcId="{31420AC5-50CC-4A2B-90BD-66D57CB448B8}" destId="{777AB556-7FFC-4A01-8271-6B7F38516A0F}" srcOrd="0" destOrd="0" presId="urn:microsoft.com/office/officeart/2005/8/layout/hierarchy2"/>
    <dgm:cxn modelId="{44B2655E-F433-4490-9019-9270435376A6}" type="presParOf" srcId="{809366D2-7333-4A40-9027-A74F05970A9E}" destId="{6D1188F5-E76A-42CA-AC8F-D67655BC9188}" srcOrd="1" destOrd="0" presId="urn:microsoft.com/office/officeart/2005/8/layout/hierarchy2"/>
    <dgm:cxn modelId="{349997B5-4B8C-4BCB-B133-415261AC94E4}" type="presParOf" srcId="{6D1188F5-E76A-42CA-AC8F-D67655BC9188}" destId="{00318D22-465F-429F-A4BD-D30A5863FC8D}" srcOrd="0" destOrd="0" presId="urn:microsoft.com/office/officeart/2005/8/layout/hierarchy2"/>
    <dgm:cxn modelId="{CE9F2B34-E934-4F5E-A301-7918C90B2C46}" type="presParOf" srcId="{6D1188F5-E76A-42CA-AC8F-D67655BC9188}" destId="{E36F58A6-16D1-4017-80D0-D4E3C0B1A40D}" srcOrd="1" destOrd="0" presId="urn:microsoft.com/office/officeart/2005/8/layout/hierarchy2"/>
    <dgm:cxn modelId="{1615C0A3-19D6-4064-988E-9D54C49F9998}" type="presParOf" srcId="{2D2BC8D9-15FD-48FC-87B5-709A9EBB3EE3}" destId="{3D3851AA-A134-4FC1-87D8-5E672A7F459D}" srcOrd="4" destOrd="0" presId="urn:microsoft.com/office/officeart/2005/8/layout/hierarchy2"/>
    <dgm:cxn modelId="{967A5DEA-8984-4479-8E41-D8438309BCBE}" type="presParOf" srcId="{3D3851AA-A134-4FC1-87D8-5E672A7F459D}" destId="{371B866D-57D1-4F1A-8488-E987BF104FD4}" srcOrd="0" destOrd="0" presId="urn:microsoft.com/office/officeart/2005/8/layout/hierarchy2"/>
    <dgm:cxn modelId="{A230D7A0-4FD6-461C-BE62-6E6FC8EE87B7}" type="presParOf" srcId="{2D2BC8D9-15FD-48FC-87B5-709A9EBB3EE3}" destId="{18E9AEA0-40DB-4824-9FDC-621528965CB2}" srcOrd="5" destOrd="0" presId="urn:microsoft.com/office/officeart/2005/8/layout/hierarchy2"/>
    <dgm:cxn modelId="{891108A2-9C0C-447F-A48E-585D2419C722}" type="presParOf" srcId="{18E9AEA0-40DB-4824-9FDC-621528965CB2}" destId="{20E1816D-5652-4C5D-91EC-DF21C700693F}" srcOrd="0" destOrd="0" presId="urn:microsoft.com/office/officeart/2005/8/layout/hierarchy2"/>
    <dgm:cxn modelId="{CF9F7178-5D38-466F-A04A-90275F3DA406}" type="presParOf" srcId="{18E9AEA0-40DB-4824-9FDC-621528965CB2}" destId="{499ED2DA-FE8A-4A35-B9B8-9229117CA3DC}" srcOrd="1" destOrd="0" presId="urn:microsoft.com/office/officeart/2005/8/layout/hierarchy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AB5FB12-AFD2-4938-AF65-703656EDD3D9}" type="doc">
      <dgm:prSet loTypeId="urn:microsoft.com/office/officeart/2005/8/layout/process2" loCatId="process" qsTypeId="urn:microsoft.com/office/officeart/2005/8/quickstyle/simple1" qsCatId="simple" csTypeId="urn:microsoft.com/office/officeart/2005/8/colors/accent1_2" csCatId="accent1" phldr="1"/>
      <dgm:spPr/>
    </dgm:pt>
    <dgm:pt modelId="{5CB461D7-6873-421D-87CA-D8696FC3F110}">
      <dgm:prSet phldrT="[Text]"/>
      <dgm:spPr/>
      <dgm:t>
        <a:bodyPr/>
        <a:lstStyle/>
        <a:p>
          <a:pPr algn="l"/>
          <a:r>
            <a:rPr lang="en-GB" dirty="0"/>
            <a:t>      L0:</a:t>
          </a:r>
        </a:p>
        <a:p>
          <a:pPr algn="l"/>
          <a:r>
            <a:rPr lang="en-GB" dirty="0"/>
            <a:t>	x := 1</a:t>
          </a:r>
        </a:p>
        <a:p>
          <a:pPr algn="l"/>
          <a:r>
            <a:rPr lang="en-GB" dirty="0"/>
            <a:t>	</a:t>
          </a:r>
          <a:r>
            <a:rPr lang="en-GB" dirty="0" err="1"/>
            <a:t>i</a:t>
          </a:r>
          <a:r>
            <a:rPr lang="en-GB" dirty="0"/>
            <a:t> := 1</a:t>
          </a:r>
          <a:endParaRPr lang="en-SG" dirty="0"/>
        </a:p>
      </dgm:t>
    </dgm:pt>
    <dgm:pt modelId="{6B87ACD3-B77E-42A5-B216-E2CBB2F6D3E0}" type="parTrans" cxnId="{535C9C74-24BB-4DC9-925D-6AAAACCA1855}">
      <dgm:prSet/>
      <dgm:spPr/>
      <dgm:t>
        <a:bodyPr/>
        <a:lstStyle/>
        <a:p>
          <a:endParaRPr lang="en-SG"/>
        </a:p>
      </dgm:t>
    </dgm:pt>
    <dgm:pt modelId="{B8F72CD9-3294-4C53-81B9-1962EEB8535C}" type="sibTrans" cxnId="{535C9C74-24BB-4DC9-925D-6AAAACCA1855}">
      <dgm:prSet/>
      <dgm:spPr>
        <a:solidFill>
          <a:schemeClr val="bg1"/>
        </a:solidFill>
      </dgm:spPr>
      <dgm:t>
        <a:bodyPr/>
        <a:lstStyle/>
        <a:p>
          <a:endParaRPr lang="en-SG"/>
        </a:p>
      </dgm:t>
    </dgm:pt>
    <dgm:pt modelId="{15C4F38F-28B4-4F43-85A2-5548613A537E}">
      <dgm:prSet phldrT="[Text]"/>
      <dgm:spPr/>
      <dgm:t>
        <a:bodyPr/>
        <a:lstStyle/>
        <a:p>
          <a:pPr algn="l"/>
          <a:r>
            <a:rPr lang="en-GB" dirty="0"/>
            <a:t>      L1:</a:t>
          </a:r>
        </a:p>
        <a:p>
          <a:pPr algn="l"/>
          <a:r>
            <a:rPr lang="en-GB" dirty="0"/>
            <a:t>	x := x*x</a:t>
          </a:r>
        </a:p>
        <a:p>
          <a:pPr algn="l"/>
          <a:r>
            <a:rPr lang="en-GB" dirty="0"/>
            <a:t>	</a:t>
          </a:r>
          <a:r>
            <a:rPr lang="en-GB" dirty="0" err="1"/>
            <a:t>i</a:t>
          </a:r>
          <a:r>
            <a:rPr lang="en-GB" dirty="0"/>
            <a:t> := i+1</a:t>
          </a:r>
        </a:p>
        <a:p>
          <a:pPr algn="l"/>
          <a:r>
            <a:rPr lang="en-GB" dirty="0"/>
            <a:t>	if </a:t>
          </a:r>
          <a:r>
            <a:rPr lang="en-GB" dirty="0" err="1"/>
            <a:t>i</a:t>
          </a:r>
          <a:r>
            <a:rPr lang="en-GB" dirty="0"/>
            <a:t> &lt; 10 </a:t>
          </a:r>
          <a:r>
            <a:rPr lang="en-GB" dirty="0" err="1"/>
            <a:t>goto</a:t>
          </a:r>
          <a:r>
            <a:rPr lang="en-GB" dirty="0"/>
            <a:t> L1</a:t>
          </a:r>
        </a:p>
        <a:p>
          <a:pPr algn="l"/>
          <a:r>
            <a:rPr lang="en-GB" dirty="0"/>
            <a:t>	jump L2</a:t>
          </a:r>
          <a:endParaRPr lang="en-SG" dirty="0"/>
        </a:p>
      </dgm:t>
    </dgm:pt>
    <dgm:pt modelId="{DC91FEA2-DD6C-45E6-B1D2-43E4F4B3A890}" type="parTrans" cxnId="{58FF2BF7-7FF6-4559-BCDC-151B373F34AE}">
      <dgm:prSet/>
      <dgm:spPr/>
      <dgm:t>
        <a:bodyPr/>
        <a:lstStyle/>
        <a:p>
          <a:endParaRPr lang="en-SG"/>
        </a:p>
      </dgm:t>
    </dgm:pt>
    <dgm:pt modelId="{350F2161-32AB-425E-B0CE-4B9A42D368CA}" type="sibTrans" cxnId="{58FF2BF7-7FF6-4559-BCDC-151B373F34AE}">
      <dgm:prSet/>
      <dgm:spPr>
        <a:solidFill>
          <a:schemeClr val="bg1"/>
        </a:solidFill>
      </dgm:spPr>
      <dgm:t>
        <a:bodyPr/>
        <a:lstStyle/>
        <a:p>
          <a:endParaRPr lang="en-SG"/>
        </a:p>
      </dgm:t>
    </dgm:pt>
    <dgm:pt modelId="{6F787113-1D74-4B63-AAC3-E4321DFD9FD8}">
      <dgm:prSet phldrT="[Text]"/>
      <dgm:spPr/>
      <dgm:t>
        <a:bodyPr/>
        <a:lstStyle/>
        <a:p>
          <a:pPr algn="l"/>
          <a:r>
            <a:rPr lang="en-GB" dirty="0"/>
            <a:t>      L2:</a:t>
          </a:r>
        </a:p>
        <a:p>
          <a:pPr algn="l"/>
          <a:r>
            <a:rPr lang="en-GB" dirty="0"/>
            <a:t>	y := 10</a:t>
          </a:r>
          <a:endParaRPr lang="en-SG" dirty="0"/>
        </a:p>
      </dgm:t>
    </dgm:pt>
    <dgm:pt modelId="{AD2BEC14-D0F7-43FD-BC38-19563CE60BC8}" type="parTrans" cxnId="{A10B61E4-2FE7-4FB5-8314-79189D1F0D79}">
      <dgm:prSet/>
      <dgm:spPr/>
      <dgm:t>
        <a:bodyPr/>
        <a:lstStyle/>
        <a:p>
          <a:endParaRPr lang="en-SG"/>
        </a:p>
      </dgm:t>
    </dgm:pt>
    <dgm:pt modelId="{DFAE9780-06A8-4CE5-A35F-63A2935602AE}" type="sibTrans" cxnId="{A10B61E4-2FE7-4FB5-8314-79189D1F0D79}">
      <dgm:prSet/>
      <dgm:spPr/>
      <dgm:t>
        <a:bodyPr/>
        <a:lstStyle/>
        <a:p>
          <a:endParaRPr lang="en-SG"/>
        </a:p>
      </dgm:t>
    </dgm:pt>
    <dgm:pt modelId="{87375A12-360A-4E1A-A894-00676EFB6667}" type="pres">
      <dgm:prSet presAssocID="{7AB5FB12-AFD2-4938-AF65-703656EDD3D9}" presName="linearFlow" presStyleCnt="0">
        <dgm:presLayoutVars>
          <dgm:resizeHandles val="exact"/>
        </dgm:presLayoutVars>
      </dgm:prSet>
      <dgm:spPr/>
    </dgm:pt>
    <dgm:pt modelId="{3A4E3332-4C83-4201-84FE-4CA4CFD38686}" type="pres">
      <dgm:prSet presAssocID="{5CB461D7-6873-421D-87CA-D8696FC3F110}" presName="node" presStyleLbl="node1" presStyleIdx="0" presStyleCnt="3" custScaleX="198495">
        <dgm:presLayoutVars>
          <dgm:bulletEnabled val="1"/>
        </dgm:presLayoutVars>
      </dgm:prSet>
      <dgm:spPr/>
    </dgm:pt>
    <dgm:pt modelId="{2EA5733F-BCD4-4BF9-8CD1-12C3603D4844}" type="pres">
      <dgm:prSet presAssocID="{B8F72CD9-3294-4C53-81B9-1962EEB8535C}" presName="sibTrans" presStyleLbl="sibTrans2D1" presStyleIdx="0" presStyleCnt="2"/>
      <dgm:spPr/>
    </dgm:pt>
    <dgm:pt modelId="{7CAED8F2-B8AC-43B7-9152-A889DF19391C}" type="pres">
      <dgm:prSet presAssocID="{B8F72CD9-3294-4C53-81B9-1962EEB8535C}" presName="connectorText" presStyleLbl="sibTrans2D1" presStyleIdx="0" presStyleCnt="2"/>
      <dgm:spPr/>
    </dgm:pt>
    <dgm:pt modelId="{8C249723-6EB0-46BD-95FB-0212289BD10A}" type="pres">
      <dgm:prSet presAssocID="{15C4F38F-28B4-4F43-85A2-5548613A537E}" presName="node" presStyleLbl="node1" presStyleIdx="1" presStyleCnt="3" custScaleX="197789" custScaleY="233903">
        <dgm:presLayoutVars>
          <dgm:bulletEnabled val="1"/>
        </dgm:presLayoutVars>
      </dgm:prSet>
      <dgm:spPr/>
    </dgm:pt>
    <dgm:pt modelId="{8C1CAE36-3290-4D90-8EFB-C3D89724FD2A}" type="pres">
      <dgm:prSet presAssocID="{350F2161-32AB-425E-B0CE-4B9A42D368CA}" presName="sibTrans" presStyleLbl="sibTrans2D1" presStyleIdx="1" presStyleCnt="2"/>
      <dgm:spPr/>
    </dgm:pt>
    <dgm:pt modelId="{4F02977C-5FE1-4619-86B0-62C7BAF42EAF}" type="pres">
      <dgm:prSet presAssocID="{350F2161-32AB-425E-B0CE-4B9A42D368CA}" presName="connectorText" presStyleLbl="sibTrans2D1" presStyleIdx="1" presStyleCnt="2"/>
      <dgm:spPr/>
    </dgm:pt>
    <dgm:pt modelId="{DBEAE5F0-3CEE-4EDC-A1D3-38F71BB66409}" type="pres">
      <dgm:prSet presAssocID="{6F787113-1D74-4B63-AAC3-E4321DFD9FD8}" presName="node" presStyleLbl="node1" presStyleIdx="2" presStyleCnt="3" custScaleX="198495">
        <dgm:presLayoutVars>
          <dgm:bulletEnabled val="1"/>
        </dgm:presLayoutVars>
      </dgm:prSet>
      <dgm:spPr/>
    </dgm:pt>
  </dgm:ptLst>
  <dgm:cxnLst>
    <dgm:cxn modelId="{87F3731C-DED5-4F61-B1F5-B2AE2F659AFA}" type="presOf" srcId="{B8F72CD9-3294-4C53-81B9-1962EEB8535C}" destId="{2EA5733F-BCD4-4BF9-8CD1-12C3603D4844}" srcOrd="0" destOrd="0" presId="urn:microsoft.com/office/officeart/2005/8/layout/process2"/>
    <dgm:cxn modelId="{D5322724-5982-4BD2-AA62-6D99625451CC}" type="presOf" srcId="{6F787113-1D74-4B63-AAC3-E4321DFD9FD8}" destId="{DBEAE5F0-3CEE-4EDC-A1D3-38F71BB66409}" srcOrd="0" destOrd="0" presId="urn:microsoft.com/office/officeart/2005/8/layout/process2"/>
    <dgm:cxn modelId="{BEA18537-14D4-4850-A94C-11762AB7CCD6}" type="presOf" srcId="{15C4F38F-28B4-4F43-85A2-5548613A537E}" destId="{8C249723-6EB0-46BD-95FB-0212289BD10A}" srcOrd="0" destOrd="0" presId="urn:microsoft.com/office/officeart/2005/8/layout/process2"/>
    <dgm:cxn modelId="{E3F11163-6328-47A2-A41E-FA05B27AACE6}" type="presOf" srcId="{5CB461D7-6873-421D-87CA-D8696FC3F110}" destId="{3A4E3332-4C83-4201-84FE-4CA4CFD38686}" srcOrd="0" destOrd="0" presId="urn:microsoft.com/office/officeart/2005/8/layout/process2"/>
    <dgm:cxn modelId="{535C9C74-24BB-4DC9-925D-6AAAACCA1855}" srcId="{7AB5FB12-AFD2-4938-AF65-703656EDD3D9}" destId="{5CB461D7-6873-421D-87CA-D8696FC3F110}" srcOrd="0" destOrd="0" parTransId="{6B87ACD3-B77E-42A5-B216-E2CBB2F6D3E0}" sibTransId="{B8F72CD9-3294-4C53-81B9-1962EEB8535C}"/>
    <dgm:cxn modelId="{231AF682-9491-4AD4-B98A-01466C73B9E0}" type="presOf" srcId="{7AB5FB12-AFD2-4938-AF65-703656EDD3D9}" destId="{87375A12-360A-4E1A-A894-00676EFB6667}" srcOrd="0" destOrd="0" presId="urn:microsoft.com/office/officeart/2005/8/layout/process2"/>
    <dgm:cxn modelId="{459FBDBB-BFCE-4368-9E84-D0BEC6C5BA01}" type="presOf" srcId="{B8F72CD9-3294-4C53-81B9-1962EEB8535C}" destId="{7CAED8F2-B8AC-43B7-9152-A889DF19391C}" srcOrd="1" destOrd="0" presId="urn:microsoft.com/office/officeart/2005/8/layout/process2"/>
    <dgm:cxn modelId="{BA3305E0-51B3-428F-8108-86A78EAF98F7}" type="presOf" srcId="{350F2161-32AB-425E-B0CE-4B9A42D368CA}" destId="{8C1CAE36-3290-4D90-8EFB-C3D89724FD2A}" srcOrd="0" destOrd="0" presId="urn:microsoft.com/office/officeart/2005/8/layout/process2"/>
    <dgm:cxn modelId="{A10B61E4-2FE7-4FB5-8314-79189D1F0D79}" srcId="{7AB5FB12-AFD2-4938-AF65-703656EDD3D9}" destId="{6F787113-1D74-4B63-AAC3-E4321DFD9FD8}" srcOrd="2" destOrd="0" parTransId="{AD2BEC14-D0F7-43FD-BC38-19563CE60BC8}" sibTransId="{DFAE9780-06A8-4CE5-A35F-63A2935602AE}"/>
    <dgm:cxn modelId="{BCAB15F3-F37B-4B20-8E3F-0D2D4EE6E544}" type="presOf" srcId="{350F2161-32AB-425E-B0CE-4B9A42D368CA}" destId="{4F02977C-5FE1-4619-86B0-62C7BAF42EAF}" srcOrd="1" destOrd="0" presId="urn:microsoft.com/office/officeart/2005/8/layout/process2"/>
    <dgm:cxn modelId="{58FF2BF7-7FF6-4559-BCDC-151B373F34AE}" srcId="{7AB5FB12-AFD2-4938-AF65-703656EDD3D9}" destId="{15C4F38F-28B4-4F43-85A2-5548613A537E}" srcOrd="1" destOrd="0" parTransId="{DC91FEA2-DD6C-45E6-B1D2-43E4F4B3A890}" sibTransId="{350F2161-32AB-425E-B0CE-4B9A42D368CA}"/>
    <dgm:cxn modelId="{2C433F2E-1347-4BA1-BDC1-770BF1572221}" type="presParOf" srcId="{87375A12-360A-4E1A-A894-00676EFB6667}" destId="{3A4E3332-4C83-4201-84FE-4CA4CFD38686}" srcOrd="0" destOrd="0" presId="urn:microsoft.com/office/officeart/2005/8/layout/process2"/>
    <dgm:cxn modelId="{672534CF-DF54-4D57-BE65-73D11306C3B1}" type="presParOf" srcId="{87375A12-360A-4E1A-A894-00676EFB6667}" destId="{2EA5733F-BCD4-4BF9-8CD1-12C3603D4844}" srcOrd="1" destOrd="0" presId="urn:microsoft.com/office/officeart/2005/8/layout/process2"/>
    <dgm:cxn modelId="{B63920BA-7799-4BE9-9774-606AF380923E}" type="presParOf" srcId="{2EA5733F-BCD4-4BF9-8CD1-12C3603D4844}" destId="{7CAED8F2-B8AC-43B7-9152-A889DF19391C}" srcOrd="0" destOrd="0" presId="urn:microsoft.com/office/officeart/2005/8/layout/process2"/>
    <dgm:cxn modelId="{1F74D79C-50EA-49E6-9C11-90BFA4623E47}" type="presParOf" srcId="{87375A12-360A-4E1A-A894-00676EFB6667}" destId="{8C249723-6EB0-46BD-95FB-0212289BD10A}" srcOrd="2" destOrd="0" presId="urn:microsoft.com/office/officeart/2005/8/layout/process2"/>
    <dgm:cxn modelId="{CF7C55D1-4697-4B05-B469-487D75D153BE}" type="presParOf" srcId="{87375A12-360A-4E1A-A894-00676EFB6667}" destId="{8C1CAE36-3290-4D90-8EFB-C3D89724FD2A}" srcOrd="3" destOrd="0" presId="urn:microsoft.com/office/officeart/2005/8/layout/process2"/>
    <dgm:cxn modelId="{90FA38DD-C123-4D46-9E18-801CC241D6A5}" type="presParOf" srcId="{8C1CAE36-3290-4D90-8EFB-C3D89724FD2A}" destId="{4F02977C-5FE1-4619-86B0-62C7BAF42EAF}" srcOrd="0" destOrd="0" presId="urn:microsoft.com/office/officeart/2005/8/layout/process2"/>
    <dgm:cxn modelId="{AAC97404-D3F0-43AF-B9F4-E8331DE6B263}" type="presParOf" srcId="{87375A12-360A-4E1A-A894-00676EFB6667}" destId="{DBEAE5F0-3CEE-4EDC-A1D3-38F71BB66409}" srcOrd="4" destOrd="0" presId="urn:microsoft.com/office/officeart/2005/8/layout/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C2EA3-637F-4FCC-B08C-9B842E1D1625}">
      <dsp:nvSpPr>
        <dsp:cNvPr id="0" name=""/>
        <dsp:cNvSpPr/>
      </dsp:nvSpPr>
      <dsp:spPr>
        <a:xfrm>
          <a:off x="775" y="1934493"/>
          <a:ext cx="1440926" cy="7204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Instructor</a:t>
          </a:r>
          <a:endParaRPr lang="en-SG" sz="2300" kern="1200" dirty="0"/>
        </a:p>
      </dsp:txBody>
      <dsp:txXfrm>
        <a:off x="21877" y="1955595"/>
        <a:ext cx="1398722" cy="678259"/>
      </dsp:txXfrm>
    </dsp:sp>
    <dsp:sp modelId="{395AB85C-0752-4956-8A48-874223C302EC}">
      <dsp:nvSpPr>
        <dsp:cNvPr id="0" name=""/>
        <dsp:cNvSpPr/>
      </dsp:nvSpPr>
      <dsp:spPr>
        <a:xfrm rot="18289469">
          <a:off x="1225240" y="1866330"/>
          <a:ext cx="1009291" cy="28256"/>
        </a:xfrm>
        <a:custGeom>
          <a:avLst/>
          <a:gdLst/>
          <a:ahLst/>
          <a:cxnLst/>
          <a:rect l="0" t="0" r="0" b="0"/>
          <a:pathLst>
            <a:path>
              <a:moveTo>
                <a:pt x="0" y="14128"/>
              </a:moveTo>
              <a:lnTo>
                <a:pt x="1009291" y="14128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00" kern="1200"/>
        </a:p>
      </dsp:txBody>
      <dsp:txXfrm>
        <a:off x="1704654" y="1855226"/>
        <a:ext cx="50464" cy="50464"/>
      </dsp:txXfrm>
    </dsp:sp>
    <dsp:sp modelId="{D1DAAF0D-FBF3-4959-BBF2-93BA6245641B}">
      <dsp:nvSpPr>
        <dsp:cNvPr id="0" name=""/>
        <dsp:cNvSpPr/>
      </dsp:nvSpPr>
      <dsp:spPr>
        <a:xfrm>
          <a:off x="2018071" y="1105961"/>
          <a:ext cx="1440926" cy="7204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Assist. Prof.</a:t>
          </a:r>
          <a:endParaRPr lang="en-SG" sz="2300" kern="1200" dirty="0"/>
        </a:p>
      </dsp:txBody>
      <dsp:txXfrm>
        <a:off x="2039173" y="1127063"/>
        <a:ext cx="1398722" cy="678259"/>
      </dsp:txXfrm>
    </dsp:sp>
    <dsp:sp modelId="{2F280CF2-04FF-47F5-800C-412AB933A4DF}">
      <dsp:nvSpPr>
        <dsp:cNvPr id="0" name=""/>
        <dsp:cNvSpPr/>
      </dsp:nvSpPr>
      <dsp:spPr>
        <a:xfrm>
          <a:off x="3458998" y="1452064"/>
          <a:ext cx="576370" cy="28256"/>
        </a:xfrm>
        <a:custGeom>
          <a:avLst/>
          <a:gdLst/>
          <a:ahLst/>
          <a:cxnLst/>
          <a:rect l="0" t="0" r="0" b="0"/>
          <a:pathLst>
            <a:path>
              <a:moveTo>
                <a:pt x="0" y="14128"/>
              </a:moveTo>
              <a:lnTo>
                <a:pt x="576370" y="1412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00" kern="1200"/>
        </a:p>
      </dsp:txBody>
      <dsp:txXfrm>
        <a:off x="3732774" y="1451783"/>
        <a:ext cx="28818" cy="28818"/>
      </dsp:txXfrm>
    </dsp:sp>
    <dsp:sp modelId="{D0EFB254-BF67-4C79-ADBF-019643150FA2}">
      <dsp:nvSpPr>
        <dsp:cNvPr id="0" name=""/>
        <dsp:cNvSpPr/>
      </dsp:nvSpPr>
      <dsp:spPr>
        <a:xfrm>
          <a:off x="4035368" y="1105961"/>
          <a:ext cx="1440926" cy="7204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Simon</a:t>
          </a:r>
          <a:endParaRPr lang="en-SG" sz="2300" kern="1200" dirty="0"/>
        </a:p>
      </dsp:txBody>
      <dsp:txXfrm>
        <a:off x="4056470" y="1127063"/>
        <a:ext cx="1398722" cy="678259"/>
      </dsp:txXfrm>
    </dsp:sp>
    <dsp:sp modelId="{15AC2897-FD9A-4271-9F2C-D3DD9EBAF0AE}">
      <dsp:nvSpPr>
        <dsp:cNvPr id="0" name=""/>
        <dsp:cNvSpPr/>
      </dsp:nvSpPr>
      <dsp:spPr>
        <a:xfrm>
          <a:off x="1441701" y="2280597"/>
          <a:ext cx="576370" cy="28256"/>
        </a:xfrm>
        <a:custGeom>
          <a:avLst/>
          <a:gdLst/>
          <a:ahLst/>
          <a:cxnLst/>
          <a:rect l="0" t="0" r="0" b="0"/>
          <a:pathLst>
            <a:path>
              <a:moveTo>
                <a:pt x="0" y="14128"/>
              </a:moveTo>
              <a:lnTo>
                <a:pt x="576370" y="14128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00" kern="1200"/>
        </a:p>
      </dsp:txBody>
      <dsp:txXfrm>
        <a:off x="1715477" y="2280316"/>
        <a:ext cx="28818" cy="28818"/>
      </dsp:txXfrm>
    </dsp:sp>
    <dsp:sp modelId="{1F4BAE18-381E-425B-897E-E432BB7E7683}">
      <dsp:nvSpPr>
        <dsp:cNvPr id="0" name=""/>
        <dsp:cNvSpPr/>
      </dsp:nvSpPr>
      <dsp:spPr>
        <a:xfrm>
          <a:off x="2018071" y="1934493"/>
          <a:ext cx="1440926" cy="7204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Lecturer</a:t>
          </a:r>
          <a:endParaRPr lang="en-SG" sz="2300" kern="1200" dirty="0"/>
        </a:p>
      </dsp:txBody>
      <dsp:txXfrm>
        <a:off x="2039173" y="1955595"/>
        <a:ext cx="1398722" cy="678259"/>
      </dsp:txXfrm>
    </dsp:sp>
    <dsp:sp modelId="{31420AC5-50CC-4A2B-90BD-66D57CB448B8}">
      <dsp:nvSpPr>
        <dsp:cNvPr id="0" name=""/>
        <dsp:cNvSpPr/>
      </dsp:nvSpPr>
      <dsp:spPr>
        <a:xfrm>
          <a:off x="3458998" y="2280597"/>
          <a:ext cx="576370" cy="28256"/>
        </a:xfrm>
        <a:custGeom>
          <a:avLst/>
          <a:gdLst/>
          <a:ahLst/>
          <a:cxnLst/>
          <a:rect l="0" t="0" r="0" b="0"/>
          <a:pathLst>
            <a:path>
              <a:moveTo>
                <a:pt x="0" y="14128"/>
              </a:moveTo>
              <a:lnTo>
                <a:pt x="576370" y="14128"/>
              </a:lnTo>
            </a:path>
          </a:pathLst>
        </a:custGeom>
        <a:noFill/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00" kern="1200"/>
        </a:p>
      </dsp:txBody>
      <dsp:txXfrm>
        <a:off x="3732774" y="2280316"/>
        <a:ext cx="28818" cy="28818"/>
      </dsp:txXfrm>
    </dsp:sp>
    <dsp:sp modelId="{00318D22-465F-429F-A4BD-D30A5863FC8D}">
      <dsp:nvSpPr>
        <dsp:cNvPr id="0" name=""/>
        <dsp:cNvSpPr/>
      </dsp:nvSpPr>
      <dsp:spPr>
        <a:xfrm>
          <a:off x="4035368" y="1934493"/>
          <a:ext cx="1440926" cy="7204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Matt</a:t>
          </a:r>
          <a:endParaRPr lang="en-SG" sz="2300" kern="1200" dirty="0"/>
        </a:p>
      </dsp:txBody>
      <dsp:txXfrm>
        <a:off x="4056470" y="1955595"/>
        <a:ext cx="1398722" cy="678259"/>
      </dsp:txXfrm>
    </dsp:sp>
    <dsp:sp modelId="{3D3851AA-A134-4FC1-87D8-5E672A7F459D}">
      <dsp:nvSpPr>
        <dsp:cNvPr id="0" name=""/>
        <dsp:cNvSpPr/>
      </dsp:nvSpPr>
      <dsp:spPr>
        <a:xfrm rot="3310531">
          <a:off x="1225240" y="2694863"/>
          <a:ext cx="1009291" cy="28256"/>
        </a:xfrm>
        <a:custGeom>
          <a:avLst/>
          <a:gdLst/>
          <a:ahLst/>
          <a:cxnLst/>
          <a:rect l="0" t="0" r="0" b="0"/>
          <a:pathLst>
            <a:path>
              <a:moveTo>
                <a:pt x="0" y="14128"/>
              </a:moveTo>
              <a:lnTo>
                <a:pt x="1009291" y="14128"/>
              </a:lnTo>
            </a:path>
          </a:pathLst>
        </a:custGeom>
        <a:noFill/>
        <a:ln w="12700" cap="flat" cmpd="sng" algn="ctr">
          <a:solidFill>
            <a:schemeClr val="dk1">
              <a:shade val="6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500" kern="1200"/>
        </a:p>
      </dsp:txBody>
      <dsp:txXfrm>
        <a:off x="1704654" y="2683759"/>
        <a:ext cx="50464" cy="50464"/>
      </dsp:txXfrm>
    </dsp:sp>
    <dsp:sp modelId="{20E1816D-5652-4C5D-91EC-DF21C700693F}">
      <dsp:nvSpPr>
        <dsp:cNvPr id="0" name=""/>
        <dsp:cNvSpPr/>
      </dsp:nvSpPr>
      <dsp:spPr>
        <a:xfrm>
          <a:off x="2018071" y="2763026"/>
          <a:ext cx="1440926" cy="720463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605" tIns="14605" rIns="14605" bIns="14605" numCol="1" spcCol="1270" anchor="ctr" anchorCtr="0">
          <a:noAutofit/>
        </a:bodyPr>
        <a:lstStyle/>
        <a:p>
          <a:pPr marL="0" lvl="0" indent="0" algn="ctr" defTabSz="10223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300" kern="1200" dirty="0"/>
            <a:t>TA</a:t>
          </a:r>
          <a:endParaRPr lang="en-SG" sz="2300" kern="1200" dirty="0"/>
        </a:p>
      </dsp:txBody>
      <dsp:txXfrm>
        <a:off x="2039173" y="2784128"/>
        <a:ext cx="1398722" cy="6782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A4E3332-4C83-4201-84FE-4CA4CFD38686}">
      <dsp:nvSpPr>
        <dsp:cNvPr id="0" name=""/>
        <dsp:cNvSpPr/>
      </dsp:nvSpPr>
      <dsp:spPr>
        <a:xfrm>
          <a:off x="359506" y="772"/>
          <a:ext cx="4392250" cy="12293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      L0: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	x := 1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	</a:t>
          </a:r>
          <a:r>
            <a:rPr lang="en-GB" sz="1900" kern="1200" dirty="0" err="1"/>
            <a:t>i</a:t>
          </a:r>
          <a:r>
            <a:rPr lang="en-GB" sz="1900" kern="1200" dirty="0"/>
            <a:t> := 1</a:t>
          </a:r>
          <a:endParaRPr lang="en-SG" sz="1900" kern="1200" dirty="0"/>
        </a:p>
      </dsp:txBody>
      <dsp:txXfrm>
        <a:off x="395512" y="36778"/>
        <a:ext cx="4320238" cy="1157308"/>
      </dsp:txXfrm>
    </dsp:sp>
    <dsp:sp modelId="{2EA5733F-BCD4-4BF9-8CD1-12C3603D4844}">
      <dsp:nvSpPr>
        <dsp:cNvPr id="0" name=""/>
        <dsp:cNvSpPr/>
      </dsp:nvSpPr>
      <dsp:spPr>
        <a:xfrm rot="5400000">
          <a:off x="2325133" y="1260825"/>
          <a:ext cx="460995" cy="553194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500" kern="1200"/>
        </a:p>
      </dsp:txBody>
      <dsp:txXfrm rot="-5400000">
        <a:off x="2389673" y="1306924"/>
        <a:ext cx="331916" cy="322697"/>
      </dsp:txXfrm>
    </dsp:sp>
    <dsp:sp modelId="{8C249723-6EB0-46BD-95FB-0212289BD10A}">
      <dsp:nvSpPr>
        <dsp:cNvPr id="0" name=""/>
        <dsp:cNvSpPr/>
      </dsp:nvSpPr>
      <dsp:spPr>
        <a:xfrm>
          <a:off x="367317" y="1844752"/>
          <a:ext cx="4376628" cy="2875417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      L1: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	x := x*x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	</a:t>
          </a:r>
          <a:r>
            <a:rPr lang="en-GB" sz="1900" kern="1200" dirty="0" err="1"/>
            <a:t>i</a:t>
          </a:r>
          <a:r>
            <a:rPr lang="en-GB" sz="1900" kern="1200" dirty="0"/>
            <a:t> := i+1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	if </a:t>
          </a:r>
          <a:r>
            <a:rPr lang="en-GB" sz="1900" kern="1200" dirty="0" err="1"/>
            <a:t>i</a:t>
          </a:r>
          <a:r>
            <a:rPr lang="en-GB" sz="1900" kern="1200" dirty="0"/>
            <a:t> &lt; 10 </a:t>
          </a:r>
          <a:r>
            <a:rPr lang="en-GB" sz="1900" kern="1200" dirty="0" err="1"/>
            <a:t>goto</a:t>
          </a:r>
          <a:r>
            <a:rPr lang="en-GB" sz="1900" kern="1200" dirty="0"/>
            <a:t> L1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	jump L2</a:t>
          </a:r>
          <a:endParaRPr lang="en-SG" sz="1900" kern="1200" dirty="0"/>
        </a:p>
      </dsp:txBody>
      <dsp:txXfrm>
        <a:off x="451535" y="1928970"/>
        <a:ext cx="4208192" cy="2706981"/>
      </dsp:txXfrm>
    </dsp:sp>
    <dsp:sp modelId="{8C1CAE36-3290-4D90-8EFB-C3D89724FD2A}">
      <dsp:nvSpPr>
        <dsp:cNvPr id="0" name=""/>
        <dsp:cNvSpPr/>
      </dsp:nvSpPr>
      <dsp:spPr>
        <a:xfrm rot="5400000">
          <a:off x="2325133" y="4750903"/>
          <a:ext cx="460995" cy="553194"/>
        </a:xfrm>
        <a:prstGeom prst="rightArrow">
          <a:avLst>
            <a:gd name="adj1" fmla="val 60000"/>
            <a:gd name="adj2" fmla="val 50000"/>
          </a:avLst>
        </a:prstGeom>
        <a:solidFill>
          <a:schemeClr val="bg1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SG" sz="1500" kern="1200"/>
        </a:p>
      </dsp:txBody>
      <dsp:txXfrm rot="-5400000">
        <a:off x="2389673" y="4797002"/>
        <a:ext cx="331916" cy="322697"/>
      </dsp:txXfrm>
    </dsp:sp>
    <dsp:sp modelId="{DBEAE5F0-3CEE-4EDC-A1D3-38F71BB66409}">
      <dsp:nvSpPr>
        <dsp:cNvPr id="0" name=""/>
        <dsp:cNvSpPr/>
      </dsp:nvSpPr>
      <dsp:spPr>
        <a:xfrm>
          <a:off x="359506" y="5334830"/>
          <a:ext cx="4392250" cy="1229320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72390" tIns="72390" rIns="72390" bIns="72390" numCol="1" spcCol="1270" anchor="ctr" anchorCtr="0">
          <a:noAutofit/>
        </a:bodyPr>
        <a:lstStyle/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      L2:</a:t>
          </a:r>
        </a:p>
        <a:p>
          <a:pPr marL="0" lvl="0" indent="0" algn="l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900" kern="1200" dirty="0"/>
            <a:t>	y := 10</a:t>
          </a:r>
          <a:endParaRPr lang="en-SG" sz="1900" kern="1200" dirty="0"/>
        </a:p>
      </dsp:txBody>
      <dsp:txXfrm>
        <a:off x="395512" y="5370836"/>
        <a:ext cx="4320238" cy="1157308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hierarchy2">
  <dgm:title val=""/>
  <dgm:desc val=""/>
  <dgm:catLst>
    <dgm:cat type="hierarchy" pri="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3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</dgm:ptLst>
      <dgm:cxnLst>
        <dgm:cxn modelId="2" srcId="0" destId="1" srcOrd="0" destOrd="0"/>
        <dgm:cxn modelId="13" srcId="1" destId="11" srcOrd="0" destOrd="0"/>
        <dgm:cxn modelId="14" srcId="1" destId="1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21"/>
        <dgm:pt modelId="211"/>
        <dgm:pt modelId="3"/>
        <dgm:pt modelId="31"/>
        <dgm:pt modelId="311"/>
      </dgm:ptLst>
      <dgm:cxnLst>
        <dgm:cxn modelId="4" srcId="0" destId="1" srcOrd="0" destOrd="0"/>
        <dgm:cxn modelId="5" srcId="1" destId="2" srcOrd="0" destOrd="0"/>
        <dgm:cxn modelId="6" srcId="1" destId="3" srcOrd="1" destOrd="0"/>
        <dgm:cxn modelId="23" srcId="2" destId="21" srcOrd="0" destOrd="0"/>
        <dgm:cxn modelId="24" srcId="21" destId="211" srcOrd="0" destOrd="0"/>
        <dgm:cxn modelId="33" srcId="3" destId="31" srcOrd="0" destOrd="0"/>
        <dgm:cxn modelId="34" srcId="31" destId="311" srcOrd="0" destOrd="0"/>
      </dgm:cxnLst>
      <dgm:bg/>
      <dgm:whole/>
    </dgm:dataModel>
  </dgm:clrData>
  <dgm:layoutNode name="diagram">
    <dgm:varLst>
      <dgm:chPref val="1"/>
      <dgm:dir/>
      <dgm:animOne val="branch"/>
      <dgm:animLvl val="lvl"/>
      <dgm:resizeHandles val="exact"/>
    </dgm:varLst>
    <dgm:choose name="Name0">
      <dgm:if name="Name1" func="var" arg="dir" op="equ" val="norm">
        <dgm:alg type="hierChild">
          <dgm:param type="linDir" val="fromT"/>
          <dgm:param type="chAlign" val="l"/>
        </dgm:alg>
      </dgm:if>
      <dgm:else name="Name2">
        <dgm:alg type="hierChild">
          <dgm:param type="linDir" val="fromT"/>
          <dgm:param type="ch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des" ptType="node" refType="h"/>
      <dgm:constr type="w" for="des" ptType="node" refType="h" refFor="des" refPtType="node" fact="2"/>
      <dgm:constr type="sibSp" refType="h" refFor="des" refPtType="node" op="equ" fact="0.15"/>
      <dgm:constr type="sibSp" for="des" forName="level2hierChild" refType="h" refFor="des" refPtType="node" op="equ" fact="0.15"/>
      <dgm:constr type="sibSp" for="des" forName="level3hierChild" refType="h" refFor="des" refPtType="node" op="equ" fact="0.15"/>
      <dgm:constr type="sp" for="des" forName="root1" refType="w" refFor="des" refPtType="node" fact="0.4"/>
      <dgm:constr type="sp" for="des" forName="root2" refType="sp" refFor="des" refForName="root1" op="equ"/>
      <dgm:constr type="primFontSz" for="des" ptType="node" op="equ" val="65"/>
      <dgm:constr type="primFontSz" for="des" forName="connTx" op="equ" val="55"/>
      <dgm:constr type="primFontSz" for="des" forName="connTx" refType="primFontSz" refFor="des" refPtType="node" op="lte" fact="0.8"/>
    </dgm:constrLst>
    <dgm:ruleLst/>
    <dgm:forEach name="Name3" axis="ch">
      <dgm:forEach name="Name4" axis="self" ptType="node">
        <dgm:layoutNode name="root1">
          <dgm:choose name="Name5">
            <dgm:if name="Name6" func="var" arg="dir" op="equ" val="norm">
              <dgm:alg type="hierRoot">
                <dgm:param type="hierAlign" val="lCtrCh"/>
              </dgm:alg>
            </dgm:if>
            <dgm:else name="Name7">
              <dgm:alg type="hierRoot">
                <dgm:param type="hierAlign" val="rCtrCh"/>
              </dgm:alg>
            </dgm:else>
          </dgm:choose>
          <dgm:shape xmlns:r="http://schemas.openxmlformats.org/officeDocument/2006/relationships" r:blip="">
            <dgm:adjLst/>
          </dgm:shape>
          <dgm:presOf/>
          <dgm:constrLst/>
          <dgm:ruleLst/>
          <dgm:layoutNode name="LevelOneTextNode" styleLbl="node0">
            <dgm:varLst>
              <dgm:chPref val="3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self"/>
            <dgm:constrLst>
              <dgm:constr type="tMarg" refType="primFontSz" fact="0.05"/>
              <dgm:constr type="bMarg" refType="primFontSz" fact="0.05"/>
              <dgm:constr type="lMarg" refType="primFontSz" fact="0.05"/>
              <dgm:constr type="rMarg" refType="primFontSz" fact="0.05"/>
            </dgm:constrLst>
            <dgm:ruleLst>
              <dgm:rule type="primFontSz" val="5" fact="NaN" max="NaN"/>
            </dgm:ruleLst>
          </dgm:layoutNode>
          <dgm:layoutNode name="level2hierChild">
            <dgm:choose name="Name8">
              <dgm:if name="Name9" func="var" arg="dir" op="equ" val="norm">
                <dgm:alg type="hierChild">
                  <dgm:param type="linDir" val="fromT"/>
                  <dgm:param type="chAlign" val="l"/>
                </dgm:alg>
              </dgm:if>
              <dgm:else name="Name10">
                <dgm:alg type="hierChild">
                  <dgm:param type="linDir" val="fromT"/>
                  <dgm:param type="chAlign" val="r"/>
                </dgm:alg>
              </dgm:else>
            </dgm:choose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repeat" axis="ch">
              <dgm:forEach name="Name11" axis="self" ptType="parTrans" cnt="1">
                <dgm:layoutNode name="conn2-1">
                  <dgm:choose name="Name12">
                    <dgm:if name="Name13" func="var" arg="dir" op="equ" val="norm">
                      <dgm:alg type="conn">
                        <dgm:param type="dim" val="1D"/>
                        <dgm:param type="begPts" val="midR"/>
                        <dgm:param type="endPts" val="midL"/>
                        <dgm:param type="endSty" val="noArr"/>
                      </dgm:alg>
                    </dgm:if>
                    <dgm:else name="Name14">
                      <dgm:alg type="conn">
                        <dgm:param type="dim" val="1D"/>
                        <dgm:param type="begPts" val="midL"/>
                        <dgm:param type="endPts" val="midR"/>
                        <dgm:param type="endSty" val="noArr"/>
                      </dgm:alg>
                    </dgm:else>
                  </dgm:choose>
                  <dgm:shape xmlns:r="http://schemas.openxmlformats.org/officeDocument/2006/relationships" type="conn" r:blip="">
                    <dgm:adjLst/>
                  </dgm:shape>
                  <dgm:presOf axis="self"/>
                  <dgm:constrLst>
                    <dgm:constr type="w" val="1"/>
                    <dgm:constr type="h" val="5"/>
                    <dgm:constr type="connDist"/>
                    <dgm:constr type="begPad"/>
                    <dgm:constr type="endPad"/>
                    <dgm:constr type="userA" for="ch" refType="connDist"/>
                  </dgm:constrLst>
                  <dgm:ruleLst/>
                  <dgm:layoutNode name="connTx">
                    <dgm:alg type="tx">
                      <dgm:param type="autoTxRot" val="grav"/>
                    </dgm:alg>
                    <dgm:shape xmlns:r="http://schemas.openxmlformats.org/officeDocument/2006/relationships" type="rect" r:blip="" hideGeom="1">
                      <dgm:adjLst/>
                    </dgm:shape>
                    <dgm:presOf axis="self"/>
                    <dgm:constrLst>
                      <dgm:constr type="userA"/>
                      <dgm:constr type="w" refType="userA" fact="0.05"/>
                      <dgm:constr type="h" refType="userA" fact="0.05"/>
                      <dgm:constr type="lMarg" val="1"/>
                      <dgm:constr type="rMarg" val="1"/>
                      <dgm:constr type="tMarg"/>
                      <dgm:constr type="bMarg"/>
                    </dgm:constrLst>
                    <dgm:ruleLst>
                      <dgm:rule type="h" val="NaN" fact="0.25" max="NaN"/>
                      <dgm:rule type="w" val="NaN" fact="0.8" max="NaN"/>
                      <dgm:rule type="primFontSz" val="5" fact="NaN" max="NaN"/>
                    </dgm:ruleLst>
                  </dgm:layoutNode>
                </dgm:layoutNode>
              </dgm:forEach>
              <dgm:forEach name="Name15" axis="self" ptType="node">
                <dgm:layoutNode name="root2">
                  <dgm:choose name="Name16">
                    <dgm:if name="Name17" func="var" arg="dir" op="equ" val="norm">
                      <dgm:alg type="hierRoot">
                        <dgm:param type="hierAlign" val="lCtrCh"/>
                      </dgm:alg>
                    </dgm:if>
                    <dgm:else name="Name18">
                      <dgm:alg type="hierRoot">
                        <dgm:param type="hierAlign" val="rCtrCh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/>
                  <dgm:ruleLst/>
                  <dgm:layoutNode name="LevelTwoTextNode">
                    <dgm:varLst>
                      <dgm:chPref val="3"/>
                    </dgm:varLst>
                    <dgm:alg type="tx"/>
                    <dgm:shape xmlns:r="http://schemas.openxmlformats.org/officeDocument/2006/relationships" type="roundRect" r:blip="">
                      <dgm:adjLst>
                        <dgm:adj idx="1" val="0.1"/>
                      </dgm:adjLst>
                    </dgm:shape>
                    <dgm:presOf axis="self"/>
                    <dgm:constrLst>
                      <dgm:constr type="tMarg" refType="primFontSz" fact="0.05"/>
                      <dgm:constr type="bMarg" refType="primFontSz" fact="0.05"/>
                      <dgm:constr type="lMarg" refType="primFontSz" fact="0.05"/>
                      <dgm:constr type="rMarg" refType="primFontSz" fact="0.05"/>
                    </dgm:constrLst>
                    <dgm:ruleLst>
                      <dgm:rule type="primFontSz" val="5" fact="NaN" max="NaN"/>
                    </dgm:ruleLst>
                  </dgm:layoutNode>
                  <dgm:layoutNode name="level3hierChild">
                    <dgm:choose name="Name19">
                      <dgm:if name="Name20" func="var" arg="dir" op="equ" val="norm">
                        <dgm:alg type="hierChild">
                          <dgm:param type="linDir" val="fromT"/>
                          <dgm:param type="chAlign" val="l"/>
                        </dgm:alg>
                      </dgm:if>
                      <dgm:else name="Name21">
                        <dgm:alg type="hierChild">
                          <dgm:param type="linDir" val="fromT"/>
                          <dgm:param type="chAlign" val="r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  <dgm:forEach name="Name22" ref="repeat"/>
                  </dgm:layoutNode>
                </dgm:layoutNode>
              </dgm:forEach>
            </dgm:forEach>
          </dgm:layoutNode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2">
  <dgm:title val=""/>
  <dgm:desc val=""/>
  <dgm:catLst>
    <dgm:cat type="process" pri="13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linearFlow">
    <dgm:varLst>
      <dgm:resizeHandles val="exact"/>
    </dgm:varLst>
    <dgm:alg type="lin">
      <dgm:param type="linDir" val="fromT"/>
    </dgm:alg>
    <dgm:shape xmlns:r="http://schemas.openxmlformats.org/officeDocument/2006/relationships" r:blip="">
      <dgm:adjLst/>
    </dgm:shape>
    <dgm:presOf/>
    <dgm:constrLst>
      <dgm:constr type="h" for="ch" ptType="node" refType="h"/>
      <dgm:constr type="h" for="ch" ptType="sibTrans" refType="h" refFor="ch" refPtType="node" fact="0.5"/>
      <dgm:constr type="w" for="ch" ptType="node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choose name="Name0">
          <dgm:if name="Name1" axis="root des" ptType="all node" func="maxDepth" op="gt" val="1">
            <dgm:alg type="tx">
              <dgm:param type="parTxLTRAlign" val="l"/>
              <dgm:param type="parTxRTLAlign" val="r"/>
              <dgm:param type="txAnchorVertCh" val="mid"/>
            </dgm:alg>
          </dgm:if>
          <dgm:else name="Name2">
            <dgm:alg type="tx"/>
          </dgm:else>
        </dgm:choose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w" refType="h" fact="1.8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18" fact="NaN" max="NaN"/>
          <dgm:rule type="w" val="NaN" fact="4" max="NaN"/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w" refType="h" fact="0.9"/>
            <dgm:constr type="connDist"/>
            <dgm:constr type="wArH" refType="w" fact="0.5"/>
            <dgm:constr type="hArH" refType="w"/>
            <dgm:constr type="stemThick" refType="w" fact="0.6"/>
            <dgm:constr type="begPad" refType="connDist" fact="0.125"/>
            <dgm:constr type="endPad" refType="connDist" fact="0.125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8CFC6A4-B085-437B-8084-693BEB2A32DE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SG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SG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1275F3-0744-4B3F-986A-B720E2CE0519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2298684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EA04E3-9B9E-0B91-AA29-B356F19B724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AF6A716-5C7D-F23B-5221-64E9C8264B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A554BE-C464-1858-7CE8-EE087B716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BC678C-234A-A12A-C292-CF7A8FE3B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558BCA-A573-1FAE-54DF-9261AECB3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349045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9CDC6-8674-88A5-68BA-4DF3EF7F3C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BD233-6835-D2C8-D4B6-2377CA6957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CB200-8CA3-3D50-247E-E16948501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43C4F2-0C9D-182B-FAF9-7AF1B77A47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8EC91B-956F-EA73-BCF4-F079628806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703055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2F325-7251-4FD9-5A0A-482D96752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D4414C-39F5-968A-8953-D6E4A4BBB7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2787D6-E021-15BD-3F47-6B3A2CEAAB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513CE0-0459-2E8E-3279-EF5B62DD68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5049588-601F-7C26-2A07-334BD5E2D8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428704134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67D91B-BBA0-866E-9BF6-0971AE779B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F788D2-0925-B3F9-22BD-A25915E04D2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74DBE8-2CD0-1238-EE02-0801D12E70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5C1A08-9D08-4757-4860-2175B179D0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7BB010B-6483-0B1F-5B0B-B683238821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84C635F-808F-F58D-6EB6-0AE5EFDB59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4642490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E80DC9-E3FF-E219-0E49-D7D20A9518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8DE6D7B-100B-C183-40D4-96803F1BB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342DE0A-2907-D16A-F14E-54AFDA36AC0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210E894-7CE5-F017-AA15-A24E5281DF5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4920203-5A0A-1AF2-47B3-27418EB2DA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BA0826-6B70-B30F-F054-248E26E2E8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8C3948B-56AE-8DB5-883D-7E0ADA595F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C00A08-E897-BB96-0E14-88D07380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105081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3D70C-4ED2-C81B-9AC6-3791B4661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59A99B7-97F4-423D-BDAF-4827705CF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CED9FE-3730-E498-E87E-C5D4F1C98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76A7511-9EBE-2037-4332-F5B0B6AA9D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1833005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C68D6E9-5B1E-E414-B4BB-A00EAB4AFB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E7774D-CDCD-146B-FC2D-28E83A75B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859B5-E4B6-9852-BE06-6B29AE883A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93030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5E1E7E-7FFC-7D20-B361-9F3B52ADFE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99E599-603D-2F32-D4D8-DBAFE7625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52CE027-AF2D-0C5B-C650-3D1DF50CE9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BA35D9-EACF-710A-C495-B386C26255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38C95A1-CCC7-8794-CBB7-67865E6AB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08442F-C062-76CF-A283-7F9D40066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17082076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4F101F-436C-78D4-3353-52675D7050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9DD766-D53E-402F-6ABB-7220593A41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SG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2481012-864C-DA8A-6BE2-C7E016EFB20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214AF22-E284-A04F-35FA-BAC8CC467F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BDB1FE-2F11-940A-0D5F-F3D399A489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A7109B1-55CB-156E-CD60-2B1EB9DE1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581327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C699D2-6E79-0D65-DB6E-B0BBE96B94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29EEA9-80A3-BE9A-FF93-6F71EBDA455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2AC008-F0D0-891C-DAED-28B00F77F5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A338D0-440C-2B3C-B840-065F12172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6B32F4-0DEA-EC93-20BA-8671A4F5A5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688799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E7E0DD-AE40-51F8-67ED-2757B9CE83D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A65760-CB0B-CCF8-974D-AF21024981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20DC16-6EB9-6693-25EE-22631FBD0D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AF9D08-60B1-AC3E-15DA-EDB52EDEB2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259838-C42F-58BE-18FC-85DBA5C2A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29147084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1A22612-53E9-1472-DE56-3B9BA8CBC1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SG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B0B86C-45DF-4306-D1E8-17192610927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SG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0B4949-C105-D7A3-A521-C8123DF3D7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B35F6B0-D468-4997-9CE3-CF2A1AE5E3F9}" type="datetimeFigureOut">
              <a:rPr lang="en-SG" smtClean="0"/>
              <a:t>14/1/2026</a:t>
            </a:fld>
            <a:endParaRPr lang="en-SG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BC09B9-0678-1AEF-93C0-B1A3A7CDB6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SG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93F84A-B605-98F7-7694-62AFD7A6E2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E59FAF-36E2-46C7-B056-2E79DE02A3C7}" type="slidenum">
              <a:rPr lang="en-SG" smtClean="0"/>
              <a:t>‹#›</a:t>
            </a:fld>
            <a:endParaRPr lang="en-SG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7321BB-4993-C3D7-45BA-3941EB0C1E33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5781675" y="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EEF943D-E5F8-C50D-F37B-649E0AB3F320}"/>
              </a:ext>
            </a:extLst>
          </p:cNvPr>
          <p:cNvSpPr txBox="1"/>
          <p:nvPr userDrawn="1"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781675" y="6675120"/>
            <a:ext cx="663575" cy="18288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en-SG" sz="1200">
                <a:solidFill>
                  <a:srgbClr val="FF0000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Restricted</a:t>
            </a:r>
          </a:p>
        </p:txBody>
      </p:sp>
    </p:spTree>
    <p:extLst>
      <p:ext uri="{BB962C8B-B14F-4D97-AF65-F5344CB8AC3E}">
        <p14:creationId xmlns:p14="http://schemas.microsoft.com/office/powerpoint/2010/main" val="116289535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4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4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0CEB46-CC16-4D19-8C2C-AEE9471D81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5139" y="942610"/>
            <a:ext cx="11441722" cy="2387600"/>
          </a:xfrm>
        </p:spPr>
        <p:txBody>
          <a:bodyPr>
            <a:normAutofit fontScale="90000"/>
          </a:bodyPr>
          <a:lstStyle/>
          <a:p>
            <a:r>
              <a:rPr lang="en-US" b="1" dirty="0"/>
              <a:t>50.051 Programming Language Concepts</a:t>
            </a:r>
            <a:br>
              <a:rPr lang="en-US" b="1" dirty="0"/>
            </a:br>
            <a:br>
              <a:rPr lang="en-US" dirty="0"/>
            </a:br>
            <a:r>
              <a:rPr lang="en-US" dirty="0"/>
              <a:t>W11-S3 Semantic Analysis(Part 2)</a:t>
            </a:r>
            <a:br>
              <a:rPr lang="en-US" dirty="0"/>
            </a:br>
            <a:r>
              <a:rPr lang="en-US" dirty="0"/>
              <a:t>and intermediate code representation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16ABDE1-A047-4B53-92F2-67282914DD7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Matthieu De Mari</a:t>
            </a:r>
          </a:p>
        </p:txBody>
      </p:sp>
      <p:pic>
        <p:nvPicPr>
          <p:cNvPr id="4" name="Picture 3" descr="A picture containing drawing&#10;&#10;Description automatically generated">
            <a:extLst>
              <a:ext uri="{FF2B5EF4-FFF2-40B4-BE49-F238E27FC236}">
                <a16:creationId xmlns:a16="http://schemas.microsoft.com/office/drawing/2014/main" id="{EEFD138E-FF3C-4975-898F-31371952367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74008" y="4484243"/>
            <a:ext cx="4443984" cy="1731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01561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front-end of a compiler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Semantic Analysis</a:t>
            </a:r>
          </a:p>
          <a:p>
            <a:r>
              <a:rPr lang="en-GB" dirty="0"/>
              <a:t>Final step in the “front-end” phase, whose job is to check that the </a:t>
            </a:r>
            <a:r>
              <a:rPr lang="en-GB" b="1" dirty="0"/>
              <a:t>source code is legal</a:t>
            </a:r>
            <a:r>
              <a:rPr lang="en-GB" dirty="0"/>
              <a:t>.</a:t>
            </a:r>
          </a:p>
          <a:p>
            <a:r>
              <a:rPr lang="en-GB" dirty="0"/>
              <a:t>Ensures that the program has a </a:t>
            </a:r>
            <a:r>
              <a:rPr lang="en-GB" b="1" dirty="0"/>
              <a:t>well-defined meaning</a:t>
            </a:r>
            <a:r>
              <a:rPr lang="en-GB" dirty="0"/>
              <a:t>.</a:t>
            </a:r>
          </a:p>
          <a:p>
            <a:r>
              <a:rPr lang="en-GB" dirty="0"/>
              <a:t>Should catch </a:t>
            </a:r>
            <a:r>
              <a:rPr lang="en-GB" b="1" dirty="0"/>
              <a:t>all remaining errors </a:t>
            </a:r>
            <a:r>
              <a:rPr lang="en-GB" dirty="0"/>
              <a:t>that lexical analysis and syntax analysis could not catch.</a:t>
            </a:r>
          </a:p>
          <a:p>
            <a:r>
              <a:rPr lang="en-GB" dirty="0"/>
              <a:t>Errors that require </a:t>
            </a:r>
            <a:r>
              <a:rPr lang="en-GB" b="1" dirty="0"/>
              <a:t>contextual information</a:t>
            </a:r>
            <a:r>
              <a:rPr lang="en-GB" dirty="0"/>
              <a:t> about the code.</a:t>
            </a:r>
            <a:endParaRPr lang="en-SG" dirty="0"/>
          </a:p>
        </p:txBody>
      </p:sp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8D7AE188-3FCF-9638-BCBC-D80FAEB83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219" y="1547446"/>
            <a:ext cx="5154106" cy="5310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8031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D384-1C51-3B56-9AC5-09C8BB928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remaining errors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19AB2-EF8A-CE15-36BC-B7A5961D7A3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Type problems</a:t>
            </a:r>
          </a:p>
          <a:p>
            <a:r>
              <a:rPr lang="en-GB" dirty="0"/>
              <a:t>An operation attempts to combine two invalid types together (e.g. summing a string and a float together).</a:t>
            </a:r>
          </a:p>
          <a:p>
            <a:r>
              <a:rPr lang="en-GB" dirty="0"/>
              <a:t>An operation attempts to convert a variable of a certain type in another type that is not feasible.</a:t>
            </a:r>
          </a:p>
          <a:p>
            <a:r>
              <a:rPr lang="en-GB" dirty="0"/>
              <a:t>Etc.</a:t>
            </a: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BB2D82-6C5E-D515-10D6-FBFCFE46B2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53414" y="365125"/>
            <a:ext cx="3422771" cy="224795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0EFD786-4F4D-A50B-D64B-82728B60EB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0568" y="2950005"/>
            <a:ext cx="5361177" cy="39079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939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2CD384-1C51-3B56-9AC5-09C8BB928A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Examples of remaining errors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9F19AB2-EF8A-CE15-36BC-B7A5961D7A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Important fact: These errors cannot be checked during the lexical analysis or the syntax analysis, as they require some </a:t>
            </a:r>
            <a:r>
              <a:rPr lang="en-GB" b="1" dirty="0">
                <a:solidFill>
                  <a:srgbClr val="7030A0"/>
                </a:solidFill>
              </a:rPr>
              <a:t>context</a:t>
            </a:r>
            <a:r>
              <a:rPr lang="en-GB" b="1" dirty="0"/>
              <a:t>.</a:t>
            </a:r>
          </a:p>
          <a:p>
            <a:r>
              <a:rPr lang="en-GB" dirty="0"/>
              <a:t>Cannot be checked by a </a:t>
            </a:r>
            <a:r>
              <a:rPr lang="en-GB" u="sng" dirty="0"/>
              <a:t>context-free</a:t>
            </a:r>
            <a:r>
              <a:rPr lang="en-GB" dirty="0"/>
              <a:t> (duh!) grammar.</a:t>
            </a:r>
          </a:p>
          <a:p>
            <a:r>
              <a:rPr lang="en-GB" dirty="0"/>
              <a:t>Often depends on values and context, not syntax.</a:t>
            </a:r>
          </a:p>
          <a:p>
            <a:r>
              <a:rPr lang="en-GB" dirty="0"/>
              <a:t>May sometimes require and involve computation.</a:t>
            </a:r>
          </a:p>
          <a:p>
            <a:pPr marL="0" indent="0">
              <a:buNone/>
            </a:pPr>
            <a:r>
              <a:rPr lang="en-GB" b="1" dirty="0"/>
              <a:t>What to do then?</a:t>
            </a:r>
          </a:p>
          <a:p>
            <a:r>
              <a:rPr lang="en-GB" dirty="0"/>
              <a:t>Instead, will need to </a:t>
            </a:r>
            <a:r>
              <a:rPr lang="en-GB" b="1" dirty="0"/>
              <a:t>define a set of semantic rules for scoping</a:t>
            </a:r>
            <a:r>
              <a:rPr lang="en-GB" dirty="0"/>
              <a:t> </a:t>
            </a:r>
            <a:r>
              <a:rPr lang="en-GB" b="1" dirty="0"/>
              <a:t>and</a:t>
            </a:r>
            <a:r>
              <a:rPr lang="en-GB" dirty="0"/>
              <a:t> </a:t>
            </a:r>
            <a:r>
              <a:rPr lang="en-GB" b="1" dirty="0"/>
              <a:t>types</a:t>
            </a:r>
            <a:r>
              <a:rPr lang="en-GB" dirty="0"/>
              <a:t> explicitly.</a:t>
            </a:r>
          </a:p>
          <a:p>
            <a:r>
              <a:rPr lang="en-GB" dirty="0"/>
              <a:t>And then, </a:t>
            </a:r>
            <a:r>
              <a:rPr lang="en-GB" b="1" dirty="0"/>
              <a:t>perform additional checks after parsing</a:t>
            </a:r>
            <a:r>
              <a:rPr lang="en-GB" dirty="0"/>
              <a:t>.</a:t>
            </a:r>
          </a:p>
          <a:p>
            <a:r>
              <a:rPr lang="en-GB" dirty="0"/>
              <a:t> These checks will be implemented in the form of “if-else” checks.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2425634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5452C-00F4-4B33-7A84-9EA0C569DD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Semantic analysis and ASTs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531A95-E99D-C219-635C-9F299E41A2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Objective: </a:t>
            </a:r>
            <a:r>
              <a:rPr lang="en-GB" dirty="0"/>
              <a:t>The answer to the semantic problems</a:t>
            </a:r>
          </a:p>
          <a:p>
            <a:r>
              <a:rPr lang="en-GB" dirty="0"/>
              <a:t>Scope problems,</a:t>
            </a:r>
          </a:p>
          <a:p>
            <a:r>
              <a:rPr lang="en-GB" dirty="0"/>
              <a:t>Type problems,</a:t>
            </a:r>
          </a:p>
          <a:p>
            <a:r>
              <a:rPr lang="en-GB" dirty="0"/>
              <a:t>And more,…</a:t>
            </a:r>
          </a:p>
          <a:p>
            <a:pPr marL="0" indent="0">
              <a:buNone/>
            </a:pPr>
            <a:r>
              <a:rPr lang="en-GB" dirty="0"/>
              <a:t>And the checks to be conducted, both rely on the </a:t>
            </a:r>
            <a:r>
              <a:rPr lang="en-GB" b="1" dirty="0"/>
              <a:t>Abstract Syntax Tree </a:t>
            </a:r>
            <a:r>
              <a:rPr lang="en-GB" dirty="0"/>
              <a:t>produced by the syntax analysis step.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3257100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BD81A-01A5-8455-BECB-3B7A362F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Types?</a:t>
            </a:r>
            <a:br>
              <a:rPr lang="en-GB" dirty="0"/>
            </a:b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8DEF2-66AB-B111-4A42-E1C8FF1B6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type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This is a difficult definition, by here is my attempt.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type</a:t>
            </a:r>
            <a:r>
              <a:rPr lang="en-GB" dirty="0"/>
              <a:t> is a </a:t>
            </a:r>
            <a:r>
              <a:rPr lang="en-GB" b="1" dirty="0"/>
              <a:t>classification</a:t>
            </a:r>
            <a:r>
              <a:rPr lang="en-GB" dirty="0"/>
              <a:t> that defines a </a:t>
            </a:r>
            <a:r>
              <a:rPr lang="en-GB" b="1" dirty="0"/>
              <a:t>set of values and the operations that can be performed on variables of said type</a:t>
            </a:r>
            <a:br>
              <a:rPr lang="en-GB" b="1" dirty="0"/>
            </a:br>
            <a:r>
              <a:rPr lang="en-GB" dirty="0"/>
              <a:t>(e.g. types methods and operators behaviours) .</a:t>
            </a:r>
          </a:p>
          <a:p>
            <a:pPr marL="0" indent="0">
              <a:buNone/>
            </a:pPr>
            <a:r>
              <a:rPr lang="en-GB" dirty="0"/>
              <a:t>It also defines a </a:t>
            </a:r>
            <a:r>
              <a:rPr lang="en-GB" b="1" dirty="0"/>
              <a:t>way to encode said information </a:t>
            </a:r>
            <a:r>
              <a:rPr lang="en-GB" dirty="0"/>
              <a:t>about the variable in the memory (e.g. char, short, long, int, etc.)</a:t>
            </a:r>
          </a:p>
          <a:p>
            <a:pPr marL="0" indent="0">
              <a:buNone/>
            </a:pPr>
            <a:r>
              <a:rPr lang="en-GB" dirty="0"/>
              <a:t>In short, the purpose of a </a:t>
            </a:r>
            <a:r>
              <a:rPr lang="en-GB" b="1" dirty="0">
                <a:solidFill>
                  <a:srgbClr val="7030A0"/>
                </a:solidFill>
              </a:rPr>
              <a:t>types system </a:t>
            </a:r>
            <a:r>
              <a:rPr lang="en-GB" dirty="0"/>
              <a:t>is to provide a way to describe and reason about data and their behaviour within a program.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23434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BBD81A-01A5-8455-BECB-3B7A362F5E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What are Types?</a:t>
            </a:r>
            <a:br>
              <a:rPr lang="en-GB" dirty="0"/>
            </a:b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88DEF2-66AB-B111-4A42-E1C8FF1B6B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type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This is a difficult definition, by here is my attempt.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type</a:t>
            </a:r>
            <a:r>
              <a:rPr lang="en-GB" dirty="0"/>
              <a:t> is a </a:t>
            </a:r>
            <a:r>
              <a:rPr lang="en-GB" b="1" dirty="0"/>
              <a:t>classification</a:t>
            </a:r>
            <a:r>
              <a:rPr lang="en-GB" dirty="0"/>
              <a:t> that defines a </a:t>
            </a:r>
            <a:r>
              <a:rPr lang="en-GB" b="1" dirty="0"/>
              <a:t>set of values and the operations that can be performed on variables of said type</a:t>
            </a:r>
            <a:br>
              <a:rPr lang="en-GB" b="1" dirty="0"/>
            </a:br>
            <a:r>
              <a:rPr lang="en-GB" dirty="0"/>
              <a:t>(e.g. types methods and operators behaviours) .</a:t>
            </a:r>
          </a:p>
          <a:p>
            <a:pPr marL="0" indent="0">
              <a:buNone/>
            </a:pPr>
            <a:r>
              <a:rPr lang="en-GB" dirty="0"/>
              <a:t>It also defines a </a:t>
            </a:r>
            <a:r>
              <a:rPr lang="en-GB" b="1" dirty="0"/>
              <a:t>way to encode said information </a:t>
            </a:r>
            <a:r>
              <a:rPr lang="en-GB" dirty="0"/>
              <a:t>about the variable in the memory (e.g. char, short, long, int, long </a:t>
            </a:r>
            <a:r>
              <a:rPr lang="en-GB" dirty="0" err="1"/>
              <a:t>long</a:t>
            </a:r>
            <a:r>
              <a:rPr lang="en-GB" dirty="0"/>
              <a:t>, etc.)</a:t>
            </a:r>
          </a:p>
          <a:p>
            <a:pPr marL="0" indent="0">
              <a:buNone/>
            </a:pPr>
            <a:r>
              <a:rPr lang="en-GB" dirty="0"/>
              <a:t>In short, the purpose of a </a:t>
            </a:r>
            <a:r>
              <a:rPr lang="en-GB" b="1" dirty="0">
                <a:solidFill>
                  <a:srgbClr val="7030A0"/>
                </a:solidFill>
              </a:rPr>
              <a:t>types system </a:t>
            </a:r>
            <a:r>
              <a:rPr lang="en-GB" dirty="0"/>
              <a:t>is to provide a way to describe and reason about data and their behaviour within a program.</a:t>
            </a:r>
          </a:p>
          <a:p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CB82C6A-21FE-8446-4914-4FE0D688B4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1538" y="0"/>
            <a:ext cx="1128892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74019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20261-8CA6-9F33-94F4-076913546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Strong vs. weak type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11565-F93F-7BBF-ADA0-D6FF4F87E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Strong type system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strong type system </a:t>
            </a:r>
            <a:r>
              <a:rPr lang="en-GB" b="1" dirty="0"/>
              <a:t>strictly enforces rules about which types can be used in specific operations and contexts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In languages with a strong type system, we typically see more explicit type declarations, and the compiler or runtime will enforce type constraints, often causing errors when there is a type mismatch.</a:t>
            </a:r>
          </a:p>
          <a:p>
            <a:pPr marL="0" indent="0">
              <a:buNone/>
            </a:pPr>
            <a:r>
              <a:rPr lang="en-GB" dirty="0"/>
              <a:t>This helps catch potential errors early, as well as promotes code readability and allows for better optimization.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73012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20261-8CA6-9F33-94F4-076913546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Strong vs. weak type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11565-F93F-7BBF-ADA0-D6FF4F87E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Weak type system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weak type system </a:t>
            </a:r>
            <a:r>
              <a:rPr lang="en-GB" dirty="0"/>
              <a:t>is </a:t>
            </a:r>
            <a:r>
              <a:rPr lang="en-GB" b="1" dirty="0"/>
              <a:t>more lenient with type enforcement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In languages with a weak type system, you may see implicit type conversions (coercions) and less strict rules about which types can be used in certain operations.</a:t>
            </a:r>
          </a:p>
          <a:p>
            <a:pPr marL="0" indent="0">
              <a:buNone/>
            </a:pPr>
            <a:r>
              <a:rPr lang="en-GB" dirty="0"/>
              <a:t>This can lead to more flexibility and shorter code but also introduces the risk of subtle bugs and less predictable behaviour. </a:t>
            </a:r>
          </a:p>
          <a:p>
            <a:pPr marL="0" indent="0">
              <a:buNone/>
            </a:pPr>
            <a:r>
              <a:rPr lang="en-GB" dirty="0"/>
              <a:t>For instance, Python allows things like “x = True and 1”. It resolves the type mismatch (bool and int) by performing an implicit conversion of the int 1 into a Boolean. Might not be allowed in other languages.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8825954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6D721-2D75-38E3-AF5A-53BE909D0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Implicit vs. Explicit type conversion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77A50-537F-3E00-8698-89F3E2421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Implicit type conversion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Implicit type conversion</a:t>
            </a:r>
            <a:r>
              <a:rPr lang="en-GB" dirty="0"/>
              <a:t>, also known as </a:t>
            </a:r>
            <a:r>
              <a:rPr lang="en-GB" b="1" dirty="0"/>
              <a:t>type coercion</a:t>
            </a:r>
            <a:r>
              <a:rPr lang="en-GB" dirty="0"/>
              <a:t> or </a:t>
            </a:r>
            <a:r>
              <a:rPr lang="en-GB" b="1" dirty="0"/>
              <a:t>automatic type conversion</a:t>
            </a:r>
            <a:r>
              <a:rPr lang="en-GB" dirty="0"/>
              <a:t>, occurs when the compiler or runtime automatically converts a value of one type to another type without the programmer explicitly requesting the conversion.</a:t>
            </a:r>
          </a:p>
          <a:p>
            <a:pPr marL="0" indent="0">
              <a:buNone/>
            </a:pPr>
            <a:r>
              <a:rPr lang="en-GB" dirty="0"/>
              <a:t>This typically happens when performing operations with operands of different types, and the language's type system automatically promotes or converts one of the values to match the other.</a:t>
            </a:r>
          </a:p>
          <a:p>
            <a:pPr marL="0" indent="0">
              <a:buNone/>
            </a:pPr>
            <a:r>
              <a:rPr lang="en-GB" dirty="0"/>
              <a:t>Implicit type conversions can make code more concise, but they can also introduce unexpected behaviour if the conversion rules are not well-defined or understood.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9540332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36D721-2D75-38E3-AF5A-53BE909D0A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Implicit vs. Explicit type conversion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677A50-537F-3E00-8698-89F3E2421A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Explicit type conversion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Explicit type conversion</a:t>
            </a:r>
            <a:r>
              <a:rPr lang="en-GB" dirty="0"/>
              <a:t>, also known as </a:t>
            </a:r>
            <a:r>
              <a:rPr lang="en-GB" b="1" dirty="0"/>
              <a:t>type casting </a:t>
            </a:r>
            <a:r>
              <a:rPr lang="en-GB" dirty="0"/>
              <a:t>or </a:t>
            </a:r>
            <a:r>
              <a:rPr lang="en-GB" b="1" dirty="0"/>
              <a:t>manual type conversion</a:t>
            </a:r>
            <a:r>
              <a:rPr lang="en-GB" dirty="0"/>
              <a:t>, occurs when the programmer explicitly requests the conversion of a value from one type to another using language-specific syntax or functions.</a:t>
            </a:r>
          </a:p>
          <a:p>
            <a:pPr marL="0" indent="0">
              <a:buNone/>
            </a:pPr>
            <a:r>
              <a:rPr lang="en-GB" dirty="0"/>
              <a:t>This is often necessary in languages with strong type systems that do not allow implicit type conversions or when the programmer wants to override the default behaviour of implicit conversions.</a:t>
            </a:r>
          </a:p>
          <a:p>
            <a:pPr marL="0" indent="0">
              <a:buNone/>
            </a:pPr>
            <a:r>
              <a:rPr lang="en-GB" dirty="0"/>
              <a:t>Explicit type conversions provide more control and predictability, but they can also make the code more verbose and may introduce errors if not used carefully.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0583672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20261-8CA6-9F33-94F4-076913546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Strong vs. weak type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11565-F93F-7BBF-ADA0-D6FF4F87E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Strong vs. Weak defines a spectrum (not a binary classification).</a:t>
            </a:r>
          </a:p>
          <a:p>
            <a:r>
              <a:rPr lang="en-GB" b="1" dirty="0"/>
              <a:t>C:</a:t>
            </a:r>
            <a:r>
              <a:rPr lang="en-GB" dirty="0"/>
              <a:t> will allow to sum together a char and an int, same thing with a float and an int. An </a:t>
            </a:r>
            <a:r>
              <a:rPr lang="en-GB" b="1" dirty="0"/>
              <a:t>implicit conversion </a:t>
            </a:r>
            <a:r>
              <a:rPr lang="en-GB" dirty="0"/>
              <a:t>will happen.</a:t>
            </a:r>
          </a:p>
          <a:p>
            <a:r>
              <a:rPr lang="en-GB" b="1" dirty="0"/>
              <a:t>Python:</a:t>
            </a:r>
            <a:r>
              <a:rPr lang="en-GB" dirty="0"/>
              <a:t> will allow to sum together a float and an int using an </a:t>
            </a:r>
            <a:r>
              <a:rPr lang="en-GB" b="1" dirty="0"/>
              <a:t>implicit conversion</a:t>
            </a:r>
            <a:r>
              <a:rPr lang="en-GB" dirty="0"/>
              <a:t>. The char and int addition is not straightforward and requires an </a:t>
            </a:r>
            <a:r>
              <a:rPr lang="en-GB" b="1" dirty="0"/>
              <a:t>explicit Unicode conversion </a:t>
            </a:r>
            <a:r>
              <a:rPr lang="en-GB" dirty="0"/>
              <a:t>of the char using </a:t>
            </a:r>
            <a:r>
              <a:rPr lang="en-GB" dirty="0" err="1"/>
              <a:t>ord</a:t>
            </a:r>
            <a:r>
              <a:rPr lang="en-GB" dirty="0"/>
              <a:t>().</a:t>
            </a:r>
          </a:p>
          <a:p>
            <a:r>
              <a:rPr lang="en-GB" b="1" dirty="0"/>
              <a:t>Strict languages (e.g. Haskell): </a:t>
            </a:r>
            <a:r>
              <a:rPr lang="en-GB" dirty="0"/>
              <a:t>will simply refuse to operate if the types do not exactly match.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585859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20261-8CA6-9F33-94F4-076913546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Strong vs. weak type systems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11565-F93F-7BBF-ADA0-D6FF4F87E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Strong vs. Weak defines a spectrum (not a binary classification).</a:t>
            </a:r>
          </a:p>
          <a:p>
            <a:r>
              <a:rPr lang="en-GB" b="1" dirty="0"/>
              <a:t>C:</a:t>
            </a:r>
            <a:r>
              <a:rPr lang="en-GB" dirty="0"/>
              <a:t> will allow to sum together a char and an int, same thing with a float and an int. An </a:t>
            </a:r>
            <a:r>
              <a:rPr lang="en-GB" b="1" dirty="0"/>
              <a:t>implicit conversion </a:t>
            </a:r>
            <a:r>
              <a:rPr lang="en-GB" dirty="0"/>
              <a:t>will happen.</a:t>
            </a:r>
          </a:p>
          <a:p>
            <a:r>
              <a:rPr lang="en-GB" b="1" dirty="0"/>
              <a:t>Python:</a:t>
            </a:r>
            <a:r>
              <a:rPr lang="en-GB" dirty="0"/>
              <a:t> will allow to sum together a float and an int using an </a:t>
            </a:r>
            <a:r>
              <a:rPr lang="en-GB" b="1" dirty="0"/>
              <a:t>implicit conversion</a:t>
            </a:r>
            <a:r>
              <a:rPr lang="en-GB" dirty="0"/>
              <a:t>. The char and int addition is not straightforward and requires an </a:t>
            </a:r>
            <a:r>
              <a:rPr lang="en-GB" b="1" dirty="0"/>
              <a:t>explicit Unicode conversion </a:t>
            </a:r>
            <a:r>
              <a:rPr lang="en-GB" dirty="0"/>
              <a:t>of the char using </a:t>
            </a:r>
            <a:r>
              <a:rPr lang="en-GB" dirty="0" err="1"/>
              <a:t>ord</a:t>
            </a:r>
            <a:r>
              <a:rPr lang="en-GB" dirty="0"/>
              <a:t>().</a:t>
            </a:r>
          </a:p>
          <a:p>
            <a:r>
              <a:rPr lang="en-GB" b="1" dirty="0"/>
              <a:t>Strict languages (e.g. Haskell): </a:t>
            </a:r>
            <a:r>
              <a:rPr lang="en-GB" dirty="0"/>
              <a:t>will simply refuse to operate if the types do not exactly match. Explicit conversions only.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Which is better then? </a:t>
            </a:r>
            <a:r>
              <a:rPr lang="en-GB" dirty="0"/>
              <a:t>Another open debate, for you to decide!</a:t>
            </a:r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6713599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D20261-8CA6-9F33-94F4-076913546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errors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011565-F93F-7BBF-ADA0-D6FF4F87EE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Type errors will typically occur in the following two scenarios:</a:t>
            </a:r>
          </a:p>
          <a:p>
            <a:r>
              <a:rPr lang="en-GB" b="1" dirty="0"/>
              <a:t>An explicit method or operation is used on a type that does not support it </a:t>
            </a:r>
            <a:r>
              <a:rPr lang="en-GB" dirty="0"/>
              <a:t>(e.g. in Python the explicit conversion of a string “123.4” into int, using + operation between int ”7” and string “hello”, calling append() method on string, etc.).</a:t>
            </a:r>
          </a:p>
          <a:p>
            <a:r>
              <a:rPr lang="en-GB" b="1" dirty="0"/>
              <a:t>There is no implicit conversion that might resolve the issue above, if any</a:t>
            </a:r>
            <a:r>
              <a:rPr lang="en-GB" dirty="0"/>
              <a:t> (e.g. summing a char “c” and an int “7” in C, will simply require an implicit conversion, but this will not do in Python).</a:t>
            </a:r>
          </a:p>
          <a:p>
            <a:endParaRPr lang="en-GB" b="1" dirty="0"/>
          </a:p>
          <a:p>
            <a:pPr marL="0" indent="0">
              <a:buNone/>
            </a:pPr>
            <a:r>
              <a:rPr lang="en-GB" b="1" dirty="0"/>
              <a:t>This can be implemented with an “if-else” again and a set of rules on the basic types in our language.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06608106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BF1842-B61A-7EDB-EE9A-C5A0F4E23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Static vs Dynamic type checking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3E802-681A-7083-E53A-F9E21CE0380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Static vs. Dynamic type checking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In </a:t>
            </a:r>
            <a:r>
              <a:rPr lang="en-GB" b="1" dirty="0">
                <a:solidFill>
                  <a:srgbClr val="00B050"/>
                </a:solidFill>
              </a:rPr>
              <a:t>Static Type Checking</a:t>
            </a:r>
            <a:r>
              <a:rPr lang="en-GB" dirty="0"/>
              <a:t>, types are checked </a:t>
            </a:r>
            <a:r>
              <a:rPr lang="en-GB" b="1" dirty="0"/>
              <a:t>at compile-time</a:t>
            </a:r>
            <a:r>
              <a:rPr lang="en-GB" dirty="0"/>
              <a:t>, errors are caught </a:t>
            </a:r>
            <a:r>
              <a:rPr lang="en-GB" b="1" dirty="0"/>
              <a:t>before program execution </a:t>
            </a:r>
            <a:r>
              <a:rPr lang="en-GB" dirty="0"/>
              <a:t>(e.g., Java, C++).</a:t>
            </a:r>
          </a:p>
          <a:p>
            <a:pPr marL="0" indent="0">
              <a:buNone/>
            </a:pPr>
            <a:r>
              <a:rPr lang="en-GB" dirty="0"/>
              <a:t>In </a:t>
            </a:r>
            <a:r>
              <a:rPr lang="en-GB" b="1" dirty="0">
                <a:solidFill>
                  <a:srgbClr val="00B050"/>
                </a:solidFill>
              </a:rPr>
              <a:t>Dynamic Type Checking</a:t>
            </a:r>
            <a:r>
              <a:rPr lang="en-GB" dirty="0"/>
              <a:t>, types are checked </a:t>
            </a:r>
            <a:r>
              <a:rPr lang="en-GB" b="1" dirty="0"/>
              <a:t>at run-time</a:t>
            </a:r>
            <a:r>
              <a:rPr lang="en-GB" dirty="0"/>
              <a:t>, errors are caught </a:t>
            </a:r>
            <a:r>
              <a:rPr lang="en-GB" b="1" dirty="0"/>
              <a:t>during program execution </a:t>
            </a:r>
            <a:r>
              <a:rPr lang="en-GB" dirty="0"/>
              <a:t>(e.g., Python, JavaScript).</a:t>
            </a:r>
          </a:p>
          <a:p>
            <a:pPr marL="0" indent="0">
              <a:buNone/>
            </a:pPr>
            <a:r>
              <a:rPr lang="en-GB" strike="sngStrike" dirty="0"/>
              <a:t>In </a:t>
            </a:r>
            <a:r>
              <a:rPr lang="en-GB" b="1" strike="sngStrike" dirty="0"/>
              <a:t>No (or None?) Type Checking</a:t>
            </a:r>
            <a:r>
              <a:rPr lang="en-GB" strike="sngStrike" dirty="0"/>
              <a:t>, types are not checked and everything is processed in binary! (Ok, maybe not the best idea).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b="1" dirty="0"/>
              <a:t>Which one is best? </a:t>
            </a:r>
            <a:r>
              <a:rPr lang="en-GB" dirty="0"/>
              <a:t>Another open debate.</a:t>
            </a:r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0356115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C65440-8BE3-8FC1-524E-FDD5FE052B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Endless debate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2ECD51-B09C-2790-8E7E-60463BAB5A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There is an </a:t>
            </a:r>
            <a:r>
              <a:rPr lang="en-GB" b="1" dirty="0"/>
              <a:t>endless debate </a:t>
            </a:r>
            <a:r>
              <a:rPr lang="en-GB" dirty="0"/>
              <a:t>about the best type system to use.</a:t>
            </a:r>
          </a:p>
          <a:p>
            <a:r>
              <a:rPr lang="en-GB" dirty="0"/>
              <a:t>Dynamic type checking systems make it easier to prototype. </a:t>
            </a:r>
          </a:p>
          <a:p>
            <a:r>
              <a:rPr lang="en-GB" dirty="0"/>
              <a:t>Static type checking systems have fewer bugs.</a:t>
            </a:r>
          </a:p>
          <a:p>
            <a:r>
              <a:rPr lang="en-GB" strike="sngStrike" dirty="0"/>
              <a:t>None type checking is quite frankly a terrible idea.</a:t>
            </a:r>
          </a:p>
          <a:p>
            <a:r>
              <a:rPr lang="en-GB" dirty="0"/>
              <a:t>Strongly-typed languages are often more robust.</a:t>
            </a:r>
          </a:p>
          <a:p>
            <a:r>
              <a:rPr lang="en-GB" dirty="0"/>
              <a:t>Weakly-typed systems are often faster.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I am staying out of this!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71979370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250F-4330-331E-1F69-38B44AA7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inference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09637-8005-AE0C-5E33-33E0800EDD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types inference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The bread-and-butter concept behind a types system is </a:t>
            </a:r>
            <a:r>
              <a:rPr lang="en-GB" b="1" dirty="0">
                <a:solidFill>
                  <a:srgbClr val="00B050"/>
                </a:solidFill>
              </a:rPr>
              <a:t>types inference</a:t>
            </a:r>
            <a:r>
              <a:rPr lang="en-GB" dirty="0"/>
              <a:t>, that is a logical set of pre-established rules that will define the behaviour to use for any operation on any given type.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BBABFC5-8C30-4128-6FD9-E52B5B8B42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0119" y="3953408"/>
            <a:ext cx="6551761" cy="29045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12701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250F-4330-331E-1F69-38B44AA7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inference for</a:t>
            </a:r>
            <a:br>
              <a:rPr lang="en-GB" dirty="0"/>
            </a:br>
            <a:r>
              <a:rPr lang="en-GB" dirty="0"/>
              <a:t>operators (Python)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09637-8005-AE0C-5E33-33E0800ED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The case of Python</a:t>
            </a:r>
          </a:p>
          <a:p>
            <a:r>
              <a:rPr lang="en-GB" dirty="0"/>
              <a:t>In the case of operators (+, *, -, /, etc.), the behaviour of a given operation “x operator y” is often decided by looking at the left-hand variable type first and calling its special method for said operator, here __add__().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717D2A-023B-6790-8048-7E8D5D6753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698" y="0"/>
            <a:ext cx="545006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118254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250F-4330-331E-1F69-38B44AA7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inference for</a:t>
            </a:r>
            <a:br>
              <a:rPr lang="en-GB" dirty="0"/>
            </a:br>
            <a:r>
              <a:rPr lang="en-GB" dirty="0"/>
              <a:t>operators (Python)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09637-8005-AE0C-5E33-33E0800ED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The case of Python</a:t>
            </a:r>
          </a:p>
          <a:p>
            <a:r>
              <a:rPr lang="en-GB" dirty="0"/>
              <a:t>In the case of operators (+, *, -, /, etc.), the behaviour of a given operation “x operator y” is often decided by looking at the left-hand variable type first and calling its special method for said operator, here __add__().</a:t>
            </a:r>
          </a:p>
          <a:p>
            <a:r>
              <a:rPr lang="en-GB" dirty="0"/>
              <a:t>If __add__() is not defined for left-hand type, try using the __</a:t>
            </a:r>
            <a:r>
              <a:rPr lang="en-GB" dirty="0" err="1"/>
              <a:t>radd</a:t>
            </a:r>
            <a:r>
              <a:rPr lang="en-GB" dirty="0"/>
              <a:t>__() for right-hand type.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6F69D30-969A-3231-7825-525007F1CE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5900" y="-1"/>
            <a:ext cx="5461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417580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250F-4330-331E-1F69-38B44AA7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inference for</a:t>
            </a:r>
            <a:br>
              <a:rPr lang="en-GB" dirty="0"/>
            </a:br>
            <a:r>
              <a:rPr lang="en-GB" dirty="0"/>
              <a:t>operators (Python)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09637-8005-AE0C-5E33-33E0800EDD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case of Python</a:t>
            </a:r>
          </a:p>
          <a:p>
            <a:r>
              <a:rPr lang="en-GB" dirty="0"/>
              <a:t>In the case of operators (+, *, -, /, etc.), the behaviour of a given operation “x operator y” is often decided by looking at the left-hand variable type first and calling its special method for said operator, here __add__().</a:t>
            </a:r>
          </a:p>
          <a:p>
            <a:r>
              <a:rPr lang="en-GB" dirty="0"/>
              <a:t>If __add__() is not defined for left-hand type, try using the __</a:t>
            </a:r>
            <a:r>
              <a:rPr lang="en-GB" dirty="0" err="1"/>
              <a:t>radd</a:t>
            </a:r>
            <a:r>
              <a:rPr lang="en-GB" dirty="0"/>
              <a:t>__() for right-hand type.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D9C2BE-D19D-3785-4C7D-5DF02E3014ED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This behaviour is Python has to do with the way they designed their object-oriented structure for the programming language.</a:t>
            </a:r>
          </a:p>
          <a:p>
            <a:r>
              <a:rPr lang="en-GB" dirty="0"/>
              <a:t>It defines clear types inferences rules for </a:t>
            </a:r>
            <a:r>
              <a:rPr lang="en-GB" b="1" dirty="0"/>
              <a:t>operator overloading</a:t>
            </a:r>
            <a:r>
              <a:rPr lang="en-GB" dirty="0"/>
              <a:t>.</a:t>
            </a:r>
          </a:p>
          <a:p>
            <a:r>
              <a:rPr lang="en-GB" dirty="0"/>
              <a:t>It is, however, not universal and not the only framework.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6163809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250F-4330-331E-1F69-38B44AA7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inference for</a:t>
            </a:r>
            <a:br>
              <a:rPr lang="en-GB" dirty="0"/>
            </a:br>
            <a:r>
              <a:rPr lang="en-GB" dirty="0"/>
              <a:t>operators (C)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09637-8005-AE0C-5E33-33E0800ED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924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case of C</a:t>
            </a:r>
          </a:p>
          <a:p>
            <a:r>
              <a:rPr lang="en-GB" dirty="0"/>
              <a:t>In C, operator behaviour is different. </a:t>
            </a:r>
          </a:p>
          <a:p>
            <a:r>
              <a:rPr lang="en-GB" dirty="0"/>
              <a:t>C follows specific rules for type promotion and conversion when performing operations with different types.</a:t>
            </a:r>
          </a:p>
          <a:p>
            <a:r>
              <a:rPr lang="en-GB" dirty="0"/>
              <a:t>For example, when adding an int and a float, C will implicitly convert the int to a float before performing the addition.</a:t>
            </a:r>
          </a:p>
          <a:p>
            <a:r>
              <a:rPr lang="en-GB" dirty="0"/>
              <a:t>Behaviour of operators in C is determined by the language's type system and promotion rules, rather than the left-hand operand's type alone.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93878003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250F-4330-331E-1F69-38B44AA7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inference for</a:t>
            </a:r>
            <a:br>
              <a:rPr lang="en-GB" dirty="0"/>
            </a:br>
            <a:r>
              <a:rPr lang="en-GB" dirty="0"/>
              <a:t>operators (C)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09637-8005-AE0C-5E33-33E0800ED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924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case of C</a:t>
            </a:r>
          </a:p>
          <a:p>
            <a:r>
              <a:rPr lang="en-GB" dirty="0"/>
              <a:t>In C, operator behaviour is different. </a:t>
            </a:r>
          </a:p>
          <a:p>
            <a:r>
              <a:rPr lang="en-GB" dirty="0"/>
              <a:t>C follows specific rules for type promotion and conversion when performing operations with different types.</a:t>
            </a:r>
          </a:p>
          <a:p>
            <a:r>
              <a:rPr lang="en-GB" dirty="0"/>
              <a:t>For example, when adding an int and a float, C will implicitly convert the int to a float before performing the addition.</a:t>
            </a:r>
          </a:p>
          <a:p>
            <a:r>
              <a:rPr lang="en-GB" dirty="0"/>
              <a:t>Behaviour of operators in C is determined by the language's type system and promotion rules, rather than the left-hand operand's type alone.</a:t>
            </a:r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838A38D-48BD-7E2F-A43F-1CD1AD02F88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168" y="557815"/>
            <a:ext cx="6181977" cy="5742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6502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250F-4330-331E-1F69-38B44AA7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inference for</a:t>
            </a:r>
            <a:br>
              <a:rPr lang="en-GB" dirty="0"/>
            </a:br>
            <a:r>
              <a:rPr lang="en-GB" dirty="0"/>
              <a:t>operators (C++)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09637-8005-AE0C-5E33-33E0800ED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924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case of C</a:t>
            </a:r>
          </a:p>
          <a:p>
            <a:r>
              <a:rPr lang="en-GB" dirty="0"/>
              <a:t>In C, operator behaviour is different. </a:t>
            </a:r>
          </a:p>
          <a:p>
            <a:r>
              <a:rPr lang="en-GB" dirty="0"/>
              <a:t>C follows specific rules for type promotion and conversion when performing operations with different types.</a:t>
            </a:r>
          </a:p>
          <a:p>
            <a:r>
              <a:rPr lang="en-GB" dirty="0"/>
              <a:t>For example, when adding an int and a float, C will implicitly convert the int to a float before performing the addition.</a:t>
            </a:r>
          </a:p>
          <a:p>
            <a:r>
              <a:rPr lang="en-GB" dirty="0"/>
              <a:t>Behaviour of operators in C is determined by the language's type system and promotion rules, rather than the left-hand operand's type alone.</a:t>
            </a:r>
          </a:p>
          <a:p>
            <a:r>
              <a:rPr lang="en-SG" dirty="0"/>
              <a:t>To some extent, operator overloading can also be made in C++ for custom objects (to be seen later).</a:t>
            </a:r>
          </a:p>
        </p:txBody>
      </p:sp>
    </p:spTree>
    <p:extLst>
      <p:ext uri="{BB962C8B-B14F-4D97-AF65-F5344CB8AC3E}">
        <p14:creationId xmlns:p14="http://schemas.microsoft.com/office/powerpoint/2010/main" val="345754849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ED250F-4330-331E-1F69-38B44AA75F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inference for</a:t>
            </a:r>
            <a:br>
              <a:rPr lang="en-GB" dirty="0"/>
            </a:br>
            <a:r>
              <a:rPr lang="en-GB" dirty="0"/>
              <a:t>operators (C++)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B09637-8005-AE0C-5E33-33E0800EDD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869246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The case of C</a:t>
            </a:r>
          </a:p>
          <a:p>
            <a:r>
              <a:rPr lang="en-GB" dirty="0"/>
              <a:t>In C, operator behaviour is different. </a:t>
            </a:r>
          </a:p>
          <a:p>
            <a:r>
              <a:rPr lang="en-GB" dirty="0"/>
              <a:t>C follows specific rules for type promotion and conversion when performing operations with different types.</a:t>
            </a:r>
          </a:p>
          <a:p>
            <a:r>
              <a:rPr lang="en-GB" dirty="0"/>
              <a:t>For example, when adding an int and a float, C will implicitly convert the int to a float before performing the addition.</a:t>
            </a:r>
          </a:p>
          <a:p>
            <a:r>
              <a:rPr lang="en-GB" dirty="0"/>
              <a:t>Behaviour of operators in C is determined by the language's type system and promotion rules, rather than the left-hand operand's type alone.</a:t>
            </a:r>
          </a:p>
          <a:p>
            <a:r>
              <a:rPr lang="en-SG" dirty="0"/>
              <a:t>To some extent, operator overloading can also be made in C++ for custom objects (to be seen later).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1D0574-A04D-966F-422C-8E7EA28C69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274" y="0"/>
            <a:ext cx="45802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815825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678DF-430C-BF86-D67C-29BA425C40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Checking as Proofs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951B63-744A-7302-6216-D2E3E2073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We can think of type checking in semantic analysis as proving claims about the types of expressions.</a:t>
            </a:r>
          </a:p>
          <a:p>
            <a:r>
              <a:rPr lang="en-GB" dirty="0"/>
              <a:t>We begin with a set of </a:t>
            </a:r>
            <a:r>
              <a:rPr lang="en-GB" b="1" dirty="0"/>
              <a:t>axioms</a:t>
            </a:r>
            <a:r>
              <a:rPr lang="en-GB" dirty="0"/>
              <a:t>, then apply our </a:t>
            </a:r>
            <a:r>
              <a:rPr lang="en-GB" b="1" dirty="0"/>
              <a:t>inference rules </a:t>
            </a:r>
            <a:r>
              <a:rPr lang="en-GB" dirty="0"/>
              <a:t>to determine the types of expressions.</a:t>
            </a:r>
          </a:p>
          <a:p>
            <a:r>
              <a:rPr lang="en-GB" dirty="0"/>
              <a:t>Many type systems can be thought of as proof systems.</a:t>
            </a:r>
          </a:p>
          <a:p>
            <a:r>
              <a:rPr lang="en-GB" dirty="0"/>
              <a:t>Typically defined as ‘If … Then …” statements.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173797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Some examples of types inferences rules.</a:t>
            </a:r>
          </a:p>
          <a:p>
            <a:r>
              <a:rPr lang="en-GB" dirty="0"/>
              <a:t>“If x is an identifier that refers to an object of type T, the expression x has type T.”</a:t>
            </a:r>
          </a:p>
          <a:p>
            <a:r>
              <a:rPr lang="en-GB" dirty="0"/>
              <a:t>“If e is an integer constant, e has type int.”</a:t>
            </a:r>
          </a:p>
          <a:p>
            <a:r>
              <a:rPr lang="en-GB" dirty="0"/>
              <a:t>“If the operands e1 and e2 of e1 + e2 are known to have types int and int, then e1 + e2 has type int.”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13160626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3596D-8F95-353B-3571-2BDF4767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Formalism for Type Inference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55D055-19A0-F5AF-F9ED-19A3A8C0C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GB" dirty="0"/>
              <a:t>We will represent our axioms and inference rules using the formalism below.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It reads as “If preconditions are true, then we can infer postconditions are true.”</a:t>
            </a:r>
          </a:p>
          <a:p>
            <a:r>
              <a:rPr lang="en-GB" dirty="0"/>
              <a:t>We also denote “S ⊢ e : T” if the expression e in scope S has type T.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5F64A6C7-0823-7EA3-3BCB-E014BC84FB6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15591039"/>
              </p:ext>
            </p:extLst>
          </p:nvPr>
        </p:nvGraphicFramePr>
        <p:xfrm>
          <a:off x="3990731" y="2844617"/>
          <a:ext cx="4210538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053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b="1" dirty="0">
                          <a:solidFill>
                            <a:schemeClr val="tx1"/>
                          </a:solidFill>
                        </a:rPr>
                        <a:t>Preconditions</a:t>
                      </a:r>
                      <a:endParaRPr lang="en-SG" sz="2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b="1" dirty="0">
                          <a:solidFill>
                            <a:schemeClr val="tx1"/>
                          </a:solidFill>
                        </a:rPr>
                        <a:t>Postconditions</a:t>
                      </a:r>
                      <a:endParaRPr lang="en-SG" sz="2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9947810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E3596D-8F95-353B-3571-2BDF4767BC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Formalism for Type Inference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155D055-19A0-F5AF-F9ED-19A3A8C0C1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GB" dirty="0"/>
              <a:t>We will represent our axioms and inference rules using the formalism below.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It reads as “If preconditions are true, then we can infer postconditions are true.”</a:t>
            </a:r>
          </a:p>
          <a:p>
            <a:r>
              <a:rPr lang="en-GB" dirty="0"/>
              <a:t>We also denote “S ⊢ e : T” if the expression e in scope S has type T.</a:t>
            </a:r>
          </a:p>
          <a:p>
            <a:endParaRPr lang="en-GB" dirty="0"/>
          </a:p>
          <a:p>
            <a:pPr marL="0" indent="0">
              <a:buNone/>
            </a:pPr>
            <a:endParaRPr lang="en-SG" dirty="0"/>
          </a:p>
        </p:txBody>
      </p:sp>
      <p:graphicFrame>
        <p:nvGraphicFramePr>
          <p:cNvPr id="7" name="Table 4">
            <a:extLst>
              <a:ext uri="{FF2B5EF4-FFF2-40B4-BE49-F238E27FC236}">
                <a16:creationId xmlns:a16="http://schemas.microsoft.com/office/drawing/2014/main" id="{5F64A6C7-0823-7EA3-3BCB-E014BC84FB6C}"/>
              </a:ext>
            </a:extLst>
          </p:cNvPr>
          <p:cNvGraphicFramePr>
            <a:graphicFrameLocks/>
          </p:cNvGraphicFramePr>
          <p:nvPr/>
        </p:nvGraphicFramePr>
        <p:xfrm>
          <a:off x="3990731" y="2844617"/>
          <a:ext cx="4210538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053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b="1" dirty="0">
                          <a:solidFill>
                            <a:schemeClr val="tx1"/>
                          </a:solidFill>
                        </a:rPr>
                        <a:t>Preconditions</a:t>
                      </a:r>
                      <a:endParaRPr lang="en-SG" sz="2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b="1" dirty="0">
                          <a:solidFill>
                            <a:schemeClr val="tx1"/>
                          </a:solidFill>
                        </a:rPr>
                        <a:t>Postconditions</a:t>
                      </a:r>
                      <a:endParaRPr lang="en-SG" sz="2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12653742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Some examples of types inferences rules.</a:t>
            </a:r>
          </a:p>
          <a:p>
            <a:r>
              <a:rPr lang="en-GB" dirty="0"/>
              <a:t>“True is of type Boolean, whatever the scope is (no preconditions).”</a:t>
            </a:r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“If e is an integer constant in scope S, then e has type int.”</a:t>
            </a:r>
          </a:p>
          <a:p>
            <a:endParaRPr lang="en-GB" dirty="0"/>
          </a:p>
          <a:p>
            <a:endParaRPr lang="en-SG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E23B331-DF4A-4ACF-EBC9-D7DD902C9B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00819253"/>
              </p:ext>
            </p:extLst>
          </p:nvPr>
        </p:nvGraphicFramePr>
        <p:xfrm>
          <a:off x="3990731" y="2844617"/>
          <a:ext cx="4210538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053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b="1" dirty="0">
                          <a:solidFill>
                            <a:schemeClr val="tx1"/>
                          </a:solidFill>
                        </a:rPr>
                        <a:t> </a:t>
                      </a:r>
                      <a:endParaRPr lang="en-SG" sz="2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dirty="0"/>
                        <a:t>⊢ True : bool</a:t>
                      </a:r>
                      <a:endParaRPr lang="en-SG" sz="2800" b="1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A747C6D-66EB-CD8F-5F01-8803A3B38742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68617076"/>
              </p:ext>
            </p:extLst>
          </p:nvPr>
        </p:nvGraphicFramePr>
        <p:xfrm>
          <a:off x="3990731" y="4510790"/>
          <a:ext cx="4210538" cy="1036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053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e is an integer constant 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/>
                        <a:t>S ⊢ e : int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9490725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Some examples of types inferences rules</a:t>
            </a:r>
          </a:p>
          <a:p>
            <a:r>
              <a:rPr lang="en-GB" dirty="0"/>
              <a:t>“If the operands e1 and e2 of the operation e1 + e2 are known to have types int and int, then e1 + e2 has type int.”</a:t>
            </a:r>
            <a:endParaRPr lang="en-SG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E23B331-DF4A-4ACF-EBC9-D7DD902C9B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864225348"/>
              </p:ext>
            </p:extLst>
          </p:nvPr>
        </p:nvGraphicFramePr>
        <p:xfrm>
          <a:off x="3990731" y="3429000"/>
          <a:ext cx="421053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053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: int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e2 : int 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+ e2 : int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85026821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Some examples of types inferences rules.</a:t>
            </a:r>
          </a:p>
          <a:p>
            <a:r>
              <a:rPr lang="en-GB" dirty="0"/>
              <a:t>“If the operands e1 and e2 of the operation e1 + e2 are known to have types int and float, then e1 + e2 has type float, but it might require for e1 to be converted implicitly to float before the addition operation is performed.”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r>
              <a:rPr lang="en-GB" dirty="0"/>
              <a:t>Can be used to introduce </a:t>
            </a:r>
            <a:r>
              <a:rPr lang="en-GB" b="1" dirty="0"/>
              <a:t>implicit conversions of types</a:t>
            </a:r>
            <a:r>
              <a:rPr lang="en-GB" dirty="0"/>
              <a:t>!</a:t>
            </a:r>
            <a:endParaRPr lang="en-SG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E23B331-DF4A-4ACF-EBC9-D7DD902C9B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742230628"/>
              </p:ext>
            </p:extLst>
          </p:nvPr>
        </p:nvGraphicFramePr>
        <p:xfrm>
          <a:off x="3990731" y="4064383"/>
          <a:ext cx="4210538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21053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: int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e2 : float 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: float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  <a:p>
                      <a:pPr algn="ctr"/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+ e2 : float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758536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5EBC74-920E-C91B-CCE2-C5416559D0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tables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DE7AD5-0512-DF6D-6B6E-2074F2BB6DC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Many times, these rules can be assembled in result types tables, where each cell will indicate</a:t>
            </a:r>
          </a:p>
          <a:p>
            <a:r>
              <a:rPr lang="en-GB" dirty="0"/>
              <a:t>If the operation is allowed,</a:t>
            </a:r>
          </a:p>
          <a:p>
            <a:r>
              <a:rPr lang="en-GB" dirty="0"/>
              <a:t>What is the resulting type,</a:t>
            </a:r>
          </a:p>
          <a:p>
            <a:r>
              <a:rPr lang="en-GB" dirty="0"/>
              <a:t>What is the operation to use for said types</a:t>
            </a:r>
          </a:p>
          <a:p>
            <a:r>
              <a:rPr lang="en-GB" dirty="0"/>
              <a:t>If any implicit conversions must be made.</a:t>
            </a:r>
            <a:endParaRPr lang="en-SG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E900133-2EBC-231D-ABD2-F6E17FC980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8287006"/>
              </p:ext>
            </p:extLst>
          </p:nvPr>
        </p:nvGraphicFramePr>
        <p:xfrm>
          <a:off x="6172202" y="2221633"/>
          <a:ext cx="5900615" cy="3418130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1180123">
                  <a:extLst>
                    <a:ext uri="{9D8B030D-6E8A-4147-A177-3AD203B41FA5}">
                      <a16:colId xmlns:a16="http://schemas.microsoft.com/office/drawing/2014/main" val="826716068"/>
                    </a:ext>
                  </a:extLst>
                </a:gridCol>
                <a:gridCol w="1180123">
                  <a:extLst>
                    <a:ext uri="{9D8B030D-6E8A-4147-A177-3AD203B41FA5}">
                      <a16:colId xmlns:a16="http://schemas.microsoft.com/office/drawing/2014/main" val="2519295779"/>
                    </a:ext>
                  </a:extLst>
                </a:gridCol>
                <a:gridCol w="1180123">
                  <a:extLst>
                    <a:ext uri="{9D8B030D-6E8A-4147-A177-3AD203B41FA5}">
                      <a16:colId xmlns:a16="http://schemas.microsoft.com/office/drawing/2014/main" val="65615768"/>
                    </a:ext>
                  </a:extLst>
                </a:gridCol>
                <a:gridCol w="1180123">
                  <a:extLst>
                    <a:ext uri="{9D8B030D-6E8A-4147-A177-3AD203B41FA5}">
                      <a16:colId xmlns:a16="http://schemas.microsoft.com/office/drawing/2014/main" val="3460771797"/>
                    </a:ext>
                  </a:extLst>
                </a:gridCol>
                <a:gridCol w="1180123">
                  <a:extLst>
                    <a:ext uri="{9D8B030D-6E8A-4147-A177-3AD203B41FA5}">
                      <a16:colId xmlns:a16="http://schemas.microsoft.com/office/drawing/2014/main" val="2526479446"/>
                    </a:ext>
                  </a:extLst>
                </a:gridCol>
              </a:tblGrid>
              <a:tr h="683626">
                <a:tc>
                  <a:txBody>
                    <a:bodyPr/>
                    <a:lstStyle/>
                    <a:p>
                      <a:r>
                        <a:rPr lang="en-GB" sz="2800" b="1" dirty="0">
                          <a:solidFill>
                            <a:srgbClr val="C00000"/>
                          </a:solidFill>
                        </a:rPr>
                        <a:t>Op: +</a:t>
                      </a:r>
                      <a:endParaRPr lang="en-SG" sz="28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bool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int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float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string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515421"/>
                  </a:ext>
                </a:extLst>
              </a:tr>
              <a:tr h="683626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bool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...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6967763"/>
                  </a:ext>
                </a:extLst>
              </a:tr>
              <a:tr h="683626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int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14707"/>
                  </a:ext>
                </a:extLst>
              </a:tr>
              <a:tr h="683626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float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060502"/>
                  </a:ext>
                </a:extLst>
              </a:tr>
              <a:tr h="683626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string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...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17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1836637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E900133-2EBC-231D-ABD2-F6E17FC980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965546"/>
              </p:ext>
            </p:extLst>
          </p:nvPr>
        </p:nvGraphicFramePr>
        <p:xfrm>
          <a:off x="269631" y="447540"/>
          <a:ext cx="11664460" cy="6307566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2332892">
                  <a:extLst>
                    <a:ext uri="{9D8B030D-6E8A-4147-A177-3AD203B41FA5}">
                      <a16:colId xmlns:a16="http://schemas.microsoft.com/office/drawing/2014/main" val="826716068"/>
                    </a:ext>
                  </a:extLst>
                </a:gridCol>
                <a:gridCol w="2332892">
                  <a:extLst>
                    <a:ext uri="{9D8B030D-6E8A-4147-A177-3AD203B41FA5}">
                      <a16:colId xmlns:a16="http://schemas.microsoft.com/office/drawing/2014/main" val="2519295779"/>
                    </a:ext>
                  </a:extLst>
                </a:gridCol>
                <a:gridCol w="2332892">
                  <a:extLst>
                    <a:ext uri="{9D8B030D-6E8A-4147-A177-3AD203B41FA5}">
                      <a16:colId xmlns:a16="http://schemas.microsoft.com/office/drawing/2014/main" val="65615768"/>
                    </a:ext>
                  </a:extLst>
                </a:gridCol>
                <a:gridCol w="2332892">
                  <a:extLst>
                    <a:ext uri="{9D8B030D-6E8A-4147-A177-3AD203B41FA5}">
                      <a16:colId xmlns:a16="http://schemas.microsoft.com/office/drawing/2014/main" val="3460771797"/>
                    </a:ext>
                  </a:extLst>
                </a:gridCol>
                <a:gridCol w="2332892">
                  <a:extLst>
                    <a:ext uri="{9D8B030D-6E8A-4147-A177-3AD203B41FA5}">
                      <a16:colId xmlns:a16="http://schemas.microsoft.com/office/drawing/2014/main" val="2526479446"/>
                    </a:ext>
                  </a:extLst>
                </a:gridCol>
              </a:tblGrid>
              <a:tr h="770926">
                <a:tc>
                  <a:txBody>
                    <a:bodyPr/>
                    <a:lstStyle/>
                    <a:p>
                      <a:r>
                        <a:rPr lang="en-GB" sz="1600" b="1" dirty="0">
                          <a:solidFill>
                            <a:srgbClr val="C00000"/>
                          </a:solidFill>
                        </a:rPr>
                        <a:t>Op: +, rows are left operand, columns are right operand.</a:t>
                      </a:r>
                      <a:endParaRPr lang="en-SG" sz="16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bool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int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float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string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14515421"/>
                  </a:ext>
                </a:extLst>
              </a:tr>
              <a:tr h="1340522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bool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int to bool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float to bool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string to bool?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36967763"/>
                  </a:ext>
                </a:extLst>
              </a:tr>
              <a:tr h="1340522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int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int to bool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int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math. addition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Convert int to float</a:t>
                      </a:r>
                    </a:p>
                    <a:p>
                      <a:r>
                        <a:rPr lang="en-SG" dirty="0"/>
                        <a:t>Res: float</a:t>
                      </a:r>
                    </a:p>
                    <a:p>
                      <a:r>
                        <a:rPr lang="en-SG" dirty="0" err="1"/>
                        <a:t>Behavior</a:t>
                      </a:r>
                      <a:r>
                        <a:rPr lang="en-SG" dirty="0"/>
                        <a:t>: math. Addition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Illegal, should trigger a type error</a:t>
                      </a:r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14707"/>
                  </a:ext>
                </a:extLst>
              </a:tr>
              <a:tr h="1340522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float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float to bool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Convert int to float</a:t>
                      </a:r>
                    </a:p>
                    <a:p>
                      <a:r>
                        <a:rPr lang="en-SG" dirty="0"/>
                        <a:t>Res: float</a:t>
                      </a:r>
                    </a:p>
                    <a:p>
                      <a:r>
                        <a:rPr lang="en-SG" dirty="0" err="1"/>
                        <a:t>Behavior</a:t>
                      </a:r>
                      <a:r>
                        <a:rPr lang="en-SG" dirty="0"/>
                        <a:t>: math. addition</a:t>
                      </a:r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float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math. addition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should trigger a type error</a:t>
                      </a:r>
                      <a:endParaRPr lang="en-SG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3060502"/>
                  </a:ext>
                </a:extLst>
              </a:tr>
              <a:tr h="1340522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string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string to bool?</a:t>
                      </a:r>
                    </a:p>
                    <a:p>
                      <a:r>
                        <a:rPr lang="en-GB" dirty="0"/>
                        <a:t>Res: bool</a:t>
                      </a:r>
                      <a:endParaRPr lang="en-SG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should trigger a type error</a:t>
                      </a:r>
                      <a:endParaRPr lang="en-SG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should trigger a type error</a:t>
                      </a:r>
                      <a:endParaRPr lang="en-SG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string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concatenation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559179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0219860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GB" dirty="0"/>
              <a:t>When an identifier (e.g. a variable with name x) is called, a lookup procedure will check the symbol table for a given scope S (or multiple ones if LEGB).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Can also be used to resolve </a:t>
            </a:r>
            <a:r>
              <a:rPr lang="en-GB" b="1" dirty="0"/>
              <a:t>resulting</a:t>
            </a:r>
            <a:r>
              <a:rPr lang="en-GB" dirty="0"/>
              <a:t> </a:t>
            </a:r>
            <a:r>
              <a:rPr lang="en-GB" b="1" dirty="0"/>
              <a:t>types of operations mixing constants and identifiers</a:t>
            </a:r>
            <a:r>
              <a:rPr lang="en-GB" dirty="0"/>
              <a:t>!</a:t>
            </a:r>
            <a:endParaRPr lang="en-SG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E23B331-DF4A-4ACF-EBC9-D7DD902C9B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864547596"/>
              </p:ext>
            </p:extLst>
          </p:nvPr>
        </p:nvGraphicFramePr>
        <p:xfrm>
          <a:off x="2765180" y="3241429"/>
          <a:ext cx="6957158" cy="1889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5715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x is in identifier called in scope S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x appears in scope S with type int (S ⊢ x : int)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7 is always a literal of type int (7 : int)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x + 7 : int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97684571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GB" b="1" dirty="0"/>
              <a:t>What if the identifier refers to a function?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r>
              <a:rPr lang="en-GB" dirty="0"/>
              <a:t>Can also be used to resolve </a:t>
            </a:r>
            <a:r>
              <a:rPr lang="en-GB" b="1" dirty="0"/>
              <a:t>resulting</a:t>
            </a:r>
            <a:r>
              <a:rPr lang="en-GB" dirty="0"/>
              <a:t> </a:t>
            </a:r>
            <a:r>
              <a:rPr lang="en-GB" b="1" dirty="0"/>
              <a:t>types of function calls</a:t>
            </a:r>
            <a:r>
              <a:rPr lang="en-GB" dirty="0"/>
              <a:t>!</a:t>
            </a:r>
            <a:endParaRPr lang="en-SG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E23B331-DF4A-4ACF-EBC9-D7DD902C9B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123204922"/>
              </p:ext>
            </p:extLst>
          </p:nvPr>
        </p:nvGraphicFramePr>
        <p:xfrm>
          <a:off x="2617421" y="2545860"/>
          <a:ext cx="6957158" cy="2316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5715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f is in identifier called in scope S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f appears in scope S as a non-member function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f expects types (T1, … , Tn) and returns type U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</a:t>
                      </a:r>
                      <a:r>
                        <a:rPr lang="en-GB" sz="2800" b="0" dirty="0" err="1">
                          <a:solidFill>
                            <a:schemeClr val="tx1"/>
                          </a:solidFill>
                        </a:rPr>
                        <a:t>ei</a:t>
                      </a: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 : </a:t>
                      </a:r>
                      <a:r>
                        <a:rPr lang="en-GB" sz="2800" b="0" dirty="0" err="1">
                          <a:solidFill>
                            <a:schemeClr val="tx1"/>
                          </a:solidFill>
                        </a:rPr>
                        <a:t>Ti</a:t>
                      </a: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 for 1 &lt;= </a:t>
                      </a:r>
                      <a:r>
                        <a:rPr lang="en-GB" sz="2800" b="0" dirty="0" err="1">
                          <a:solidFill>
                            <a:schemeClr val="tx1"/>
                          </a:solidFill>
                        </a:rPr>
                        <a:t>i</a:t>
                      </a: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 &lt;= n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f(e1, …,</a:t>
                      </a:r>
                      <a:r>
                        <a:rPr lang="en-GB" sz="2800" b="0" dirty="0" err="1">
                          <a:solidFill>
                            <a:schemeClr val="tx1"/>
                          </a:solidFill>
                        </a:rPr>
                        <a:t>en</a:t>
                      </a: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) : U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16257043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r>
              <a:rPr lang="en-GB" b="1" dirty="0"/>
              <a:t>Also works on compound types (e.g. arrays) and their operations, for instance indexing.</a:t>
            </a:r>
          </a:p>
          <a:p>
            <a:endParaRPr lang="en-GB" b="1" dirty="0"/>
          </a:p>
          <a:p>
            <a:endParaRPr lang="en-GB" b="1" dirty="0"/>
          </a:p>
          <a:p>
            <a:endParaRPr lang="en-GB" b="1" dirty="0"/>
          </a:p>
          <a:p>
            <a:pPr marL="0" indent="0">
              <a:buNone/>
            </a:pPr>
            <a:endParaRPr lang="en-GB" b="1" dirty="0"/>
          </a:p>
          <a:p>
            <a:r>
              <a:rPr lang="en-GB" b="1" dirty="0"/>
              <a:t>Question about array bounds and index checking: </a:t>
            </a:r>
            <a:r>
              <a:rPr lang="en-GB" dirty="0"/>
              <a:t>Semantic analysis should also include checking that array indices are within bounds to avoid out-of-bounds errors at runtime. How would you modify statement above to illustrate that?</a:t>
            </a:r>
            <a:endParaRPr lang="en-GB" b="1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E23B331-DF4A-4ACF-EBC9-D7DD902C9B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57791414"/>
              </p:ext>
            </p:extLst>
          </p:nvPr>
        </p:nvGraphicFramePr>
        <p:xfrm>
          <a:off x="2617421" y="2960075"/>
          <a:ext cx="6957158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957158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: T[]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e2 : int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e1[e2]: 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0123141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GB" b="1" dirty="0"/>
              <a:t>How about assignments?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Question:</a:t>
            </a:r>
            <a:r>
              <a:rPr lang="en-GB" dirty="0"/>
              <a:t> Is this rule good enough to approve the assignment procedures in the code shown on the right ?</a:t>
            </a:r>
          </a:p>
          <a:p>
            <a:endParaRPr lang="en-GB" dirty="0"/>
          </a:p>
          <a:p>
            <a:endParaRPr lang="en-SG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E23B331-DF4A-4ACF-EBC9-D7DD902C9B9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00823029"/>
              </p:ext>
            </p:extLst>
          </p:nvPr>
        </p:nvGraphicFramePr>
        <p:xfrm>
          <a:off x="702629" y="2538254"/>
          <a:ext cx="4457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200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: 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e2 : 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= e2 : 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36BF8CD0-7425-5DD2-E5AC-003991CD3F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75396" y="1600428"/>
            <a:ext cx="4318702" cy="45765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6108800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r>
              <a:rPr lang="en-GB" b="1" dirty="0"/>
              <a:t>How about assignments?</a:t>
            </a: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r>
              <a:rPr lang="en-GB" b="1" dirty="0"/>
              <a:t>Question 2: </a:t>
            </a:r>
            <a:r>
              <a:rPr lang="en-GB" dirty="0"/>
              <a:t>How about this?</a:t>
            </a:r>
          </a:p>
          <a:p>
            <a:pPr marL="0" indent="0">
              <a:buNone/>
            </a:pPr>
            <a:r>
              <a:rPr lang="en-GB" dirty="0"/>
              <a:t>Is “5 = a;” an acceptable syntax? And, therefore, something that would have escaped the syntax analysis phase?</a:t>
            </a:r>
          </a:p>
          <a:p>
            <a:endParaRPr lang="en-GB" dirty="0"/>
          </a:p>
          <a:p>
            <a:endParaRPr lang="en-SG" dirty="0"/>
          </a:p>
        </p:txBody>
      </p:sp>
      <p:graphicFrame>
        <p:nvGraphicFramePr>
          <p:cNvPr id="4" name="Table 4">
            <a:extLst>
              <a:ext uri="{FF2B5EF4-FFF2-40B4-BE49-F238E27FC236}">
                <a16:creationId xmlns:a16="http://schemas.microsoft.com/office/drawing/2014/main" id="{9E23B331-DF4A-4ACF-EBC9-D7DD902C9B90}"/>
              </a:ext>
            </a:extLst>
          </p:cNvPr>
          <p:cNvGraphicFramePr>
            <a:graphicFrameLocks/>
          </p:cNvGraphicFramePr>
          <p:nvPr/>
        </p:nvGraphicFramePr>
        <p:xfrm>
          <a:off x="702629" y="2538254"/>
          <a:ext cx="44572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457200">
                  <a:extLst>
                    <a:ext uri="{9D8B030D-6E8A-4147-A177-3AD203B41FA5}">
                      <a16:colId xmlns:a16="http://schemas.microsoft.com/office/drawing/2014/main" val="85708717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: T</a:t>
                      </a: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e2 : 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87810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2800" b="0" dirty="0">
                          <a:solidFill>
                            <a:schemeClr val="tx1"/>
                          </a:solidFill>
                        </a:rPr>
                        <a:t>S ⊢ e1 = e2 : T</a:t>
                      </a:r>
                      <a:endParaRPr lang="en-SG" sz="2800" b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9524501"/>
                  </a:ext>
                </a:extLst>
              </a:tr>
            </a:tbl>
          </a:graphicData>
        </a:graphic>
      </p:graphicFrame>
      <p:pic>
        <p:nvPicPr>
          <p:cNvPr id="7" name="Picture 6">
            <a:extLst>
              <a:ext uri="{FF2B5EF4-FFF2-40B4-BE49-F238E27FC236}">
                <a16:creationId xmlns:a16="http://schemas.microsoft.com/office/drawing/2014/main" id="{D2975AA2-6DFC-B0C4-6309-0D7F54B4CF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7082" y="1518566"/>
            <a:ext cx="4653471" cy="4762195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4C933E6-33D7-10EF-4BA1-89B8F5000F5F}"/>
              </a:ext>
            </a:extLst>
          </p:cNvPr>
          <p:cNvCxnSpPr>
            <a:cxnSpLocks/>
          </p:cNvCxnSpPr>
          <p:nvPr/>
        </p:nvCxnSpPr>
        <p:spPr>
          <a:xfrm flipV="1">
            <a:off x="5159829" y="4418176"/>
            <a:ext cx="3445786" cy="143992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4900540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FDAA-2FF3-D833-06C1-1721107D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custom classes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DD1C4-D50E-543C-006E-35C091965B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How do we factor in, any new classes the user might have defined into our inference rules?</a:t>
            </a:r>
          </a:p>
          <a:p>
            <a:r>
              <a:rPr lang="en-GB" dirty="0"/>
              <a:t>Let us start with the simplest case, a custom class that does not inherit from anybody.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0DF8CB-8644-B21F-CD5D-49B6DAB2E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384" y="352238"/>
            <a:ext cx="4772691" cy="2676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7B85CB-F333-68D1-C063-8BA577A18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474" y="3517640"/>
            <a:ext cx="5417449" cy="22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94111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FDAA-2FF3-D833-06C1-1721107D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custom classes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DD1C4-D50E-543C-006E-35C091965BF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Let us start with the simplest case, a custom class that does not inherit from anybody.</a:t>
            </a:r>
          </a:p>
          <a:p>
            <a:r>
              <a:rPr lang="en-GB" dirty="0"/>
              <a:t>In both cases, these class statements indicate to the compiler that there is a new type in town now, on top of the built-in ones!</a:t>
            </a:r>
          </a:p>
          <a:p>
            <a:r>
              <a:rPr lang="en-GB" dirty="0"/>
              <a:t>Operator methods basically tell the compiler to amend operations table and account for new possible + behaviour!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10DF8CB-8644-B21F-CD5D-49B6DAB2E5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9384" y="352238"/>
            <a:ext cx="4772691" cy="2676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47B85CB-F333-68D1-C063-8BA577A18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10474" y="3517640"/>
            <a:ext cx="5417449" cy="2298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4330472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8E900133-2EBC-231D-ABD2-F6E17FC980F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1662570"/>
              </p:ext>
            </p:extLst>
          </p:nvPr>
        </p:nvGraphicFramePr>
        <p:xfrm>
          <a:off x="236415" y="199914"/>
          <a:ext cx="11719170" cy="6029444"/>
        </p:xfrm>
        <a:graphic>
          <a:graphicData uri="http://schemas.openxmlformats.org/drawingml/2006/table">
            <a:tbl>
              <a:tblPr firstRow="1" bandRow="1">
                <a:tableStyleId>{5202B0CA-FC54-4496-8BCA-5EF66A818D29}</a:tableStyleId>
              </a:tblPr>
              <a:tblGrid>
                <a:gridCol w="941754">
                  <a:extLst>
                    <a:ext uri="{9D8B030D-6E8A-4147-A177-3AD203B41FA5}">
                      <a16:colId xmlns:a16="http://schemas.microsoft.com/office/drawing/2014/main" val="826716068"/>
                    </a:ext>
                  </a:extLst>
                </a:gridCol>
                <a:gridCol w="2313353">
                  <a:extLst>
                    <a:ext uri="{9D8B030D-6E8A-4147-A177-3AD203B41FA5}">
                      <a16:colId xmlns:a16="http://schemas.microsoft.com/office/drawing/2014/main" val="2519295779"/>
                    </a:ext>
                  </a:extLst>
                </a:gridCol>
                <a:gridCol w="1969477">
                  <a:extLst>
                    <a:ext uri="{9D8B030D-6E8A-4147-A177-3AD203B41FA5}">
                      <a16:colId xmlns:a16="http://schemas.microsoft.com/office/drawing/2014/main" val="65615768"/>
                    </a:ext>
                  </a:extLst>
                </a:gridCol>
                <a:gridCol w="2219570">
                  <a:extLst>
                    <a:ext uri="{9D8B030D-6E8A-4147-A177-3AD203B41FA5}">
                      <a16:colId xmlns:a16="http://schemas.microsoft.com/office/drawing/2014/main" val="3460771797"/>
                    </a:ext>
                  </a:extLst>
                </a:gridCol>
                <a:gridCol w="2368061">
                  <a:extLst>
                    <a:ext uri="{9D8B030D-6E8A-4147-A177-3AD203B41FA5}">
                      <a16:colId xmlns:a16="http://schemas.microsoft.com/office/drawing/2014/main" val="2526479446"/>
                    </a:ext>
                  </a:extLst>
                </a:gridCol>
                <a:gridCol w="1906955">
                  <a:extLst>
                    <a:ext uri="{9D8B030D-6E8A-4147-A177-3AD203B41FA5}">
                      <a16:colId xmlns:a16="http://schemas.microsoft.com/office/drawing/2014/main" val="745332777"/>
                    </a:ext>
                  </a:extLst>
                </a:gridCol>
              </a:tblGrid>
              <a:tr h="516152">
                <a:tc>
                  <a:txBody>
                    <a:bodyPr/>
                    <a:lstStyle/>
                    <a:p>
                      <a:r>
                        <a:rPr lang="en-GB" sz="2400" b="1" dirty="0">
                          <a:solidFill>
                            <a:srgbClr val="C00000"/>
                          </a:solidFill>
                        </a:rPr>
                        <a:t>Op: +</a:t>
                      </a:r>
                      <a:endParaRPr lang="en-SG" sz="2400" b="1" dirty="0">
                        <a:solidFill>
                          <a:srgbClr val="C00000"/>
                        </a:solidFill>
                      </a:endParaRPr>
                    </a:p>
                  </a:txBody>
                  <a:tcP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bool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int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float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string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 err="1">
                          <a:solidFill>
                            <a:schemeClr val="bg1"/>
                          </a:solidFill>
                        </a:rPr>
                        <a:t>MyInt</a:t>
                      </a:r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4515421"/>
                  </a:ext>
                </a:extLst>
              </a:tr>
              <a:tr h="1032732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bool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int to bool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float to bool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string to bool?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36967763"/>
                  </a:ext>
                </a:extLst>
              </a:tr>
              <a:tr h="1032732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int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int to bool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int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math. addition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Convert int to bool</a:t>
                      </a:r>
                    </a:p>
                    <a:p>
                      <a:r>
                        <a:rPr lang="en-SG" dirty="0"/>
                        <a:t>Res: float</a:t>
                      </a:r>
                    </a:p>
                    <a:p>
                      <a:r>
                        <a:rPr lang="en-SG" dirty="0" err="1"/>
                        <a:t>Behavior</a:t>
                      </a:r>
                      <a:r>
                        <a:rPr lang="en-SG" dirty="0"/>
                        <a:t>: math. addition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Illegal, should trigger a type error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4114707"/>
                  </a:ext>
                </a:extLst>
              </a:tr>
              <a:tr h="766142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float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float to bool</a:t>
                      </a:r>
                    </a:p>
                    <a:p>
                      <a:r>
                        <a:rPr lang="en-GB" dirty="0"/>
                        <a:t>Res: bool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Convert int to bool</a:t>
                      </a:r>
                    </a:p>
                    <a:p>
                      <a:r>
                        <a:rPr lang="en-SG" dirty="0"/>
                        <a:t>Res: float</a:t>
                      </a:r>
                    </a:p>
                    <a:p>
                      <a:r>
                        <a:rPr lang="en-SG" dirty="0" err="1"/>
                        <a:t>Behavior</a:t>
                      </a:r>
                      <a:r>
                        <a:rPr lang="en-SG" dirty="0"/>
                        <a:t>: math. addition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float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math. addition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should trigger a type error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3060502"/>
                  </a:ext>
                </a:extLst>
              </a:tr>
              <a:tr h="591085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bg1"/>
                          </a:solidFill>
                        </a:rPr>
                        <a:t>string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Convert string to bool?</a:t>
                      </a:r>
                    </a:p>
                    <a:p>
                      <a:r>
                        <a:rPr lang="en-GB" dirty="0"/>
                        <a:t>Res: bool</a:t>
                      </a:r>
                      <a:endParaRPr lang="en-SG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string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concatenation</a:t>
                      </a:r>
                      <a:endParaRPr lang="en-S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5917997"/>
                  </a:ext>
                </a:extLst>
              </a:tr>
              <a:tr h="1032732">
                <a:tc>
                  <a:txBody>
                    <a:bodyPr/>
                    <a:lstStyle/>
                    <a:p>
                      <a:r>
                        <a:rPr lang="en-GB" b="1" dirty="0" err="1">
                          <a:solidFill>
                            <a:schemeClr val="bg1"/>
                          </a:solidFill>
                        </a:rPr>
                        <a:t>MyInt</a:t>
                      </a:r>
                      <a:endParaRPr lang="en-SG" b="1" dirty="0">
                        <a:solidFill>
                          <a:schemeClr val="bg1"/>
                        </a:solidFill>
                      </a:endParaRPr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should trigger a type error</a:t>
                      </a:r>
                      <a:endParaRPr lang="en-SG" dirty="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dirty="0"/>
                        <a:t>Illegal, trigger a type error</a:t>
                      </a:r>
                      <a:endParaRPr lang="en-SG" dirty="0"/>
                    </a:p>
                    <a:p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Res: int</a:t>
                      </a:r>
                    </a:p>
                    <a:p>
                      <a:r>
                        <a:rPr lang="en-GB" dirty="0" err="1"/>
                        <a:t>Behavior</a:t>
                      </a:r>
                      <a:r>
                        <a:rPr lang="en-GB" dirty="0"/>
                        <a:t>: in add method of </a:t>
                      </a:r>
                      <a:r>
                        <a:rPr lang="en-GB" dirty="0" err="1"/>
                        <a:t>MyInt</a:t>
                      </a:r>
                      <a:r>
                        <a:rPr lang="en-GB" dirty="0"/>
                        <a:t> class</a:t>
                      </a:r>
                      <a:endParaRPr lang="en-SG" dirty="0"/>
                    </a:p>
                  </a:txBody>
                  <a:tcPr>
                    <a:solidFill>
                      <a:srgbClr val="7030A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6856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1646767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FDAA-2FF3-D833-06C1-1721107D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custom classes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DD1C4-D50E-543C-006E-35C091965B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How do we factor in, any new classes the user might have defined into our inference rules?</a:t>
            </a:r>
          </a:p>
          <a:p>
            <a:r>
              <a:rPr lang="en-GB" dirty="0"/>
              <a:t>How about classes that inherit from a </a:t>
            </a:r>
            <a:r>
              <a:rPr lang="en-GB" u="sng" dirty="0"/>
              <a:t>single</a:t>
            </a:r>
            <a:r>
              <a:rPr lang="en-GB" dirty="0"/>
              <a:t> other class or type?</a:t>
            </a:r>
          </a:p>
          <a:p>
            <a:r>
              <a:rPr lang="en-GB" dirty="0"/>
              <a:t>Will have to factor in the possible inheritance conversions for types and methods.</a:t>
            </a:r>
            <a:endParaRPr lang="en-SG" dirty="0"/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8EAAF52-FB10-143B-3F9A-B7886D72DC2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97360033"/>
              </p:ext>
            </p:extLst>
          </p:nvPr>
        </p:nvGraphicFramePr>
        <p:xfrm>
          <a:off x="6512768" y="1548881"/>
          <a:ext cx="5477070" cy="4589451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75090231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54773-CA6A-4FB5-6A5A-2BE1A0518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Properties of inheritance structures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258D292-26F9-8B47-32DC-D745D349BF2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the definitions below, “convertible” means that type A can be converted to type B, 100% of the time (no shenanigans).</a:t>
            </a:r>
          </a:p>
          <a:p>
            <a:r>
              <a:rPr lang="en-GB" b="1" dirty="0"/>
              <a:t>Reflexivity: </a:t>
            </a:r>
            <a:r>
              <a:rPr lang="en-GB" dirty="0"/>
              <a:t>Any type is convertible to itself.</a:t>
            </a:r>
          </a:p>
          <a:p>
            <a:r>
              <a:rPr lang="en-GB" b="1" dirty="0"/>
              <a:t>Transitivity: </a:t>
            </a:r>
            <a:r>
              <a:rPr lang="en-GB" dirty="0"/>
              <a:t>If A is convertible to B and B is convertible to C, then A is convertible to C.</a:t>
            </a:r>
          </a:p>
          <a:p>
            <a:r>
              <a:rPr lang="en-GB" b="1" dirty="0" err="1"/>
              <a:t>Antisymmetry</a:t>
            </a:r>
            <a:r>
              <a:rPr lang="en-GB" b="1" dirty="0"/>
              <a:t>: </a:t>
            </a:r>
            <a:r>
              <a:rPr lang="en-GB" dirty="0"/>
              <a:t>if A is convertible to B and B is convertible to A, then A and B are the same.</a:t>
            </a:r>
          </a:p>
          <a:p>
            <a:pPr marL="0" indent="0"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6313198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54773-CA6A-4FB5-6A5A-2BE1A0518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Properties of inheritance structures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258D292-26F9-8B47-32DC-D745D349BF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b="1" dirty="0"/>
                  <a:t>In the definitions below, “convertible” means that type A can be converted to type B, 100% of the time (no shenanigans).</a:t>
                </a:r>
              </a:p>
              <a:p>
                <a:r>
                  <a:rPr lang="en-GB" b="1" dirty="0"/>
                  <a:t>Reflexivity: </a:t>
                </a:r>
                <a:r>
                  <a:rPr lang="en-GB" dirty="0"/>
                  <a:t>Any type is convertible to itself.</a:t>
                </a:r>
              </a:p>
              <a:p>
                <a:r>
                  <a:rPr lang="en-GB" b="1" dirty="0"/>
                  <a:t>Transitivity: </a:t>
                </a:r>
                <a:r>
                  <a:rPr lang="en-GB" dirty="0"/>
                  <a:t>If A is convertible to B and B is convertible to C, then A is convertible to C.</a:t>
                </a:r>
              </a:p>
              <a:p>
                <a:r>
                  <a:rPr lang="en-GB" b="1" dirty="0" err="1"/>
                  <a:t>Antisymmetry</a:t>
                </a:r>
                <a:r>
                  <a:rPr lang="en-GB" b="1" dirty="0"/>
                  <a:t>: </a:t>
                </a:r>
                <a:r>
                  <a:rPr lang="en-GB" dirty="0"/>
                  <a:t>if A is convertible to B and B is convertible to A, then A and B are the same.</a:t>
                </a:r>
              </a:p>
              <a:p>
                <a:pPr marL="0" indent="0">
                  <a:buNone/>
                </a:pPr>
                <a:r>
                  <a:rPr lang="en-SG" dirty="0"/>
                  <a:t>In mathematics, having these three properties allows to define a </a:t>
                </a:r>
                <a:r>
                  <a:rPr lang="en-SG" b="1" dirty="0"/>
                  <a:t>partial order operation (</a:t>
                </a:r>
                <a14:m>
                  <m:oMath xmlns:m="http://schemas.openxmlformats.org/officeDocument/2006/math">
                    <m:r>
                      <a:rPr lang="en-SG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SG" b="1" dirty="0"/>
                  <a:t>) over elements</a:t>
                </a:r>
                <a:r>
                  <a:rPr lang="en-SG" dirty="0"/>
                  <a:t>, in our case, types.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258D292-26F9-8B47-32DC-D745D349BF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91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26668918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54773-CA6A-4FB5-6A5A-2BE1A0518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Properties of inheritance structures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258D292-26F9-8B47-32DC-D745D349BF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b="1" dirty="0"/>
                  <a:t>In the definitions below, “convertible” means that type A can be converted to type B, 100% of the time (no shenanigans).</a:t>
                </a:r>
              </a:p>
              <a:p>
                <a:r>
                  <a:rPr lang="en-GB" b="1" dirty="0"/>
                  <a:t>Reflexivity: </a:t>
                </a:r>
                <a:r>
                  <a:rPr lang="en-GB" dirty="0"/>
                  <a:t>Any type is convertible to itself.</a:t>
                </a:r>
              </a:p>
              <a:p>
                <a:r>
                  <a:rPr lang="en-GB" b="1" dirty="0"/>
                  <a:t>Transitivity: </a:t>
                </a:r>
                <a:r>
                  <a:rPr lang="en-GB" dirty="0"/>
                  <a:t>If A is convertible to B and B is convertible to C, then A is convertible to C.</a:t>
                </a:r>
              </a:p>
              <a:p>
                <a:r>
                  <a:rPr lang="en-GB" b="1" dirty="0" err="1"/>
                  <a:t>Antisymmetry</a:t>
                </a:r>
                <a:r>
                  <a:rPr lang="en-GB" b="1" dirty="0"/>
                  <a:t>: </a:t>
                </a:r>
                <a:r>
                  <a:rPr lang="en-GB" dirty="0"/>
                  <a:t>if A is convertible to B and B is convertible to A, then A and B are the same.</a:t>
                </a:r>
              </a:p>
              <a:p>
                <a:pPr marL="0" indent="0">
                  <a:buNone/>
                </a:pPr>
                <a:r>
                  <a:rPr lang="en-SG" dirty="0"/>
                  <a:t>In mathematics, having these three properties allows to define a </a:t>
                </a:r>
                <a:r>
                  <a:rPr lang="en-SG" b="1" dirty="0"/>
                  <a:t>partial order operation (</a:t>
                </a:r>
                <a14:m>
                  <m:oMath xmlns:m="http://schemas.openxmlformats.org/officeDocument/2006/math">
                    <m:r>
                      <a:rPr lang="en-SG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SG" b="1" dirty="0"/>
                  <a:t>) over elements</a:t>
                </a:r>
                <a:r>
                  <a:rPr lang="en-SG" dirty="0"/>
                  <a:t>, in our case, types.</a:t>
                </a:r>
              </a:p>
              <a:p>
                <a:pPr marL="0" indent="0">
                  <a:buNone/>
                </a:pPr>
                <a:r>
                  <a:rPr lang="en-SG" dirty="0"/>
                  <a:t>Using this notation, we say that A</a:t>
                </a:r>
                <a:r>
                  <a:rPr lang="en-SG" b="1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SG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</m:oMath>
                </a14:m>
                <a:r>
                  <a:rPr lang="en-SG" dirty="0"/>
                  <a:t> B if A is convertible to B.</a:t>
                </a:r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258D292-26F9-8B47-32DC-D745D349BF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 r="-1913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70893197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954773-CA6A-4FB5-6A5A-2BE1A05180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Properties of inheritance structures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258D292-26F9-8B47-32DC-D745D349BF2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This idea and the notation </a:t>
                </a:r>
                <a14:m>
                  <m:oMath xmlns:m="http://schemas.openxmlformats.org/officeDocument/2006/math">
                    <m:r>
                      <a:rPr lang="en-SG" sz="28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 </m:t>
                    </m:r>
                  </m:oMath>
                </a14:m>
                <a:r>
                  <a:rPr lang="en-GB" dirty="0"/>
                  <a:t>can be used to provide </a:t>
                </a:r>
                <a:r>
                  <a:rPr lang="en-GB" b="1" dirty="0"/>
                  <a:t>order among types </a:t>
                </a:r>
                <a:r>
                  <a:rPr lang="en-GB" dirty="0"/>
                  <a:t>and </a:t>
                </a:r>
                <a:r>
                  <a:rPr lang="en-GB" b="1" dirty="0"/>
                  <a:t>define possible implicit conversion rules in operations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Typically added to operations tables!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258D292-26F9-8B47-32DC-D745D349BF2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5032375"/>
              </a:xfrm>
              <a:blipFill>
                <a:blip r:embed="rId2"/>
                <a:stretch>
                  <a:fillRect l="-1217" t="-1937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77EF1DD2-F8AA-0DEB-B150-367D1514855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8859089"/>
                  </p:ext>
                </p:extLst>
              </p:nvPr>
            </p:nvGraphicFramePr>
            <p:xfrm>
              <a:off x="3990731" y="2936631"/>
              <a:ext cx="4210538" cy="231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10538">
                      <a:extLst>
                        <a:ext uri="{9D8B030D-6E8A-4147-A177-3AD203B41FA5}">
                          <a16:colId xmlns:a16="http://schemas.microsoft.com/office/drawing/2014/main" val="8570871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e1 : int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e2 : float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int </a:t>
                          </a:r>
                          <a14:m>
                            <m:oMath xmlns:m="http://schemas.openxmlformats.org/officeDocument/2006/math">
                              <m:r>
                                <a:rPr lang="en-SG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SG" sz="2800" b="0" dirty="0">
                              <a:solidFill>
                                <a:schemeClr val="tx1"/>
                              </a:solidFill>
                            </a:rPr>
                            <a:t> float</a:t>
                          </a: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7810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e1 : float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e1 + e2 : float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5245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4">
                <a:extLst>
                  <a:ext uri="{FF2B5EF4-FFF2-40B4-BE49-F238E27FC236}">
                    <a16:creationId xmlns:a16="http://schemas.microsoft.com/office/drawing/2014/main" id="{77EF1DD2-F8AA-0DEB-B150-367D15148556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38859089"/>
                  </p:ext>
                </p:extLst>
              </p:nvPr>
            </p:nvGraphicFramePr>
            <p:xfrm>
              <a:off x="3990731" y="2936631"/>
              <a:ext cx="4210538" cy="231648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4210538">
                      <a:extLst>
                        <a:ext uri="{9D8B030D-6E8A-4147-A177-3AD203B41FA5}">
                          <a16:colId xmlns:a16="http://schemas.microsoft.com/office/drawing/2014/main" val="857087177"/>
                        </a:ext>
                      </a:extLst>
                    </a:gridCol>
                  </a:tblGrid>
                  <a:tr h="13716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3"/>
                          <a:stretch>
                            <a:fillRect t="-5310" r="-145" b="-8141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781048"/>
                      </a:ext>
                    </a:extLst>
                  </a:tr>
                  <a:tr h="94488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e1 : float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algn="ctr"/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e1 + e2 : float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52450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73163591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Careful about operations</a:t>
            </a:r>
            <a:br>
              <a:rPr lang="en-GB" dirty="0"/>
            </a:br>
            <a:r>
              <a:rPr lang="en-GB" dirty="0"/>
              <a:t>overloading</a:t>
            </a:r>
            <a:endParaRPr lang="en-SG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F8EBAF4-3AA9-69A8-8A3A-91F609095A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97848"/>
            <a:ext cx="5591955" cy="443927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9C112A1-BFC3-1D2A-EA91-040C33B8A6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2516" y="192636"/>
            <a:ext cx="3419952" cy="61444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5686917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GB" b="1" dirty="0"/>
              <a:t>Updated functions calls with implicit types conversions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9E23B331-DF4A-4ACF-EBC9-D7DD902C9B9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87282796"/>
                  </p:ext>
                </p:extLst>
              </p:nvPr>
            </p:nvGraphicFramePr>
            <p:xfrm>
              <a:off x="2617421" y="2545860"/>
              <a:ext cx="6957158" cy="2743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57158">
                      <a:extLst>
                        <a:ext uri="{9D8B030D-6E8A-4147-A177-3AD203B41FA5}">
                          <a16:colId xmlns:a16="http://schemas.microsoft.com/office/drawing/2014/main" val="8570871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is in identifier called in scope S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appears in scope S as a non-member function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expects types (T1, … , Tn) and returns type U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: Ri for 1 &lt;=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&lt;= n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Ri </a:t>
                          </a:r>
                          <a14:m>
                            <m:oMath xmlns:m="http://schemas.openxmlformats.org/officeDocument/2006/math">
                              <m:r>
                                <a:rPr lang="en-SG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Ti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for 1 &lt;=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&lt;= n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7810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f(e1, …,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en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) : U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5245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9E23B331-DF4A-4ACF-EBC9-D7DD902C9B9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3787282796"/>
                  </p:ext>
                </p:extLst>
              </p:nvPr>
            </p:nvGraphicFramePr>
            <p:xfrm>
              <a:off x="2617421" y="2545860"/>
              <a:ext cx="6957158" cy="2743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6957158">
                      <a:extLst>
                        <a:ext uri="{9D8B030D-6E8A-4147-A177-3AD203B41FA5}">
                          <a16:colId xmlns:a16="http://schemas.microsoft.com/office/drawing/2014/main" val="857087177"/>
                        </a:ext>
                      </a:extLst>
                    </a:gridCol>
                  </a:tblGrid>
                  <a:tr h="22250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459" r="-88" b="-3114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78104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f(e1, …,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en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) : U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52450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350306163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GB" b="1" dirty="0"/>
              <a:t>Updated functions calls with implicit types conversions and member functions/methods of a class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9E23B331-DF4A-4ACF-EBC9-D7DD902C9B9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85981394"/>
                  </p:ext>
                </p:extLst>
              </p:nvPr>
            </p:nvGraphicFramePr>
            <p:xfrm>
              <a:off x="2098064" y="3108567"/>
              <a:ext cx="7995871" cy="3169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95871">
                      <a:extLst>
                        <a:ext uri="{9D8B030D-6E8A-4147-A177-3AD203B41FA5}">
                          <a16:colId xmlns:a16="http://schemas.microsoft.com/office/drawing/2014/main" val="8570871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is in identifier called in scope S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e0 : M 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appears in scope S as a member function in class M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expects types (T1, … , Tn) and returns type U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: Ri for 1 &lt;=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&lt;= n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Ri </a:t>
                          </a:r>
                          <a14:m>
                            <m:oMath xmlns:m="http://schemas.openxmlformats.org/officeDocument/2006/math">
                              <m:r>
                                <a:rPr lang="en-SG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Ti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for 1 &lt;=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&lt;= n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7810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e0.f(e1, …,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en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) : U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5245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9E23B331-DF4A-4ACF-EBC9-D7DD902C9B9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85981394"/>
                  </p:ext>
                </p:extLst>
              </p:nvPr>
            </p:nvGraphicFramePr>
            <p:xfrm>
              <a:off x="2098064" y="3108567"/>
              <a:ext cx="7995871" cy="3169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95871">
                      <a:extLst>
                        <a:ext uri="{9D8B030D-6E8A-4147-A177-3AD203B41FA5}">
                          <a16:colId xmlns:a16="http://schemas.microsoft.com/office/drawing/2014/main" val="857087177"/>
                        </a:ext>
                      </a:extLst>
                    </a:gridCol>
                  </a:tblGrid>
                  <a:tr h="2651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64" r="-76" b="-261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78104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e0.f(e1, …,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en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) : U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52450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093837783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58AF28-96A6-A2CE-EED0-231F2EAA3B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Some examples of types inference rules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226C63E-7436-9AB6-DA1E-68FF930728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r>
              <a:rPr lang="en-GB" b="1" dirty="0"/>
              <a:t>Open Question: How would you modify this to ensure that f is a method of class e0 or any parent class that e0 inherits from?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endParaRPr lang="en-GB" dirty="0"/>
          </a:p>
          <a:p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9E23B331-DF4A-4ACF-EBC9-D7DD902C9B90}"/>
                  </a:ext>
                </a:extLst>
              </p:cNvPr>
              <p:cNvGraphicFramePr>
                <a:graphicFrameLocks/>
              </p:cNvGraphicFramePr>
              <p:nvPr/>
            </p:nvGraphicFramePr>
            <p:xfrm>
              <a:off x="2098064" y="3108567"/>
              <a:ext cx="7995871" cy="3169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95871">
                      <a:extLst>
                        <a:ext uri="{9D8B030D-6E8A-4147-A177-3AD203B41FA5}">
                          <a16:colId xmlns:a16="http://schemas.microsoft.com/office/drawing/2014/main" val="857087177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is in identifier called in scope S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e0 : M 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appears in scope S as a member function in class M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f expects types (T1, … , Tn) and returns type U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: Ri for 1 &lt;=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&lt;= n</a:t>
                          </a:r>
                        </a:p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Ri </a:t>
                          </a:r>
                          <a14:m>
                            <m:oMath xmlns:m="http://schemas.openxmlformats.org/officeDocument/2006/math">
                              <m:r>
                                <a:rPr lang="en-SG" sz="2800" b="1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≤</m:t>
                              </m:r>
                            </m:oMath>
                          </a14:m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Ti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for 1 &lt;= 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i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 &lt;= n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78104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e0.f(e1, …,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en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) : U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524501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4" name="Table 4">
                <a:extLst>
                  <a:ext uri="{FF2B5EF4-FFF2-40B4-BE49-F238E27FC236}">
                    <a16:creationId xmlns:a16="http://schemas.microsoft.com/office/drawing/2014/main" id="{9E23B331-DF4A-4ACF-EBC9-D7DD902C9B90}"/>
                  </a:ext>
                </a:extLst>
              </p:cNvPr>
              <p:cNvGraphicFramePr>
                <a:graphicFrameLocks/>
              </p:cNvGraphicFramePr>
              <p:nvPr>
                <p:extLst>
                  <p:ext uri="{D42A27DB-BD31-4B8C-83A1-F6EECF244321}">
                    <p14:modId xmlns:p14="http://schemas.microsoft.com/office/powerpoint/2010/main" val="1085981394"/>
                  </p:ext>
                </p:extLst>
              </p:nvPr>
            </p:nvGraphicFramePr>
            <p:xfrm>
              <a:off x="2098064" y="3108567"/>
              <a:ext cx="7995871" cy="316992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7995871">
                      <a:extLst>
                        <a:ext uri="{9D8B030D-6E8A-4147-A177-3AD203B41FA5}">
                          <a16:colId xmlns:a16="http://schemas.microsoft.com/office/drawing/2014/main" val="857087177"/>
                        </a:ext>
                      </a:extLst>
                    </a:gridCol>
                  </a:tblGrid>
                  <a:tr h="265176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mpd="sng">
                          <a:noFill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blipFill>
                          <a:blip r:embed="rId2"/>
                          <a:stretch>
                            <a:fillRect t="-2064" r="-76" b="-2614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828781048"/>
                      </a:ext>
                    </a:extLst>
                  </a:tr>
                  <a:tr h="518160">
                    <a:tc>
                      <a:txBody>
                        <a:bodyPr/>
                        <a:lstStyle/>
                        <a:p>
                          <a:pPr marL="0" marR="0" lvl="0" indent="0" algn="ctr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S ⊢ e0.f(e1, …,</a:t>
                          </a:r>
                          <a:r>
                            <a:rPr lang="en-GB" sz="2800" b="0" dirty="0" err="1">
                              <a:solidFill>
                                <a:schemeClr val="tx1"/>
                              </a:solidFill>
                            </a:rPr>
                            <a:t>en</a:t>
                          </a:r>
                          <a:r>
                            <a:rPr lang="en-GB" sz="2800" b="0" dirty="0">
                              <a:solidFill>
                                <a:schemeClr val="tx1"/>
                              </a:solidFill>
                            </a:rPr>
                            <a:t>) : U</a:t>
                          </a:r>
                          <a:endParaRPr lang="en-SG" sz="2800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>
                        <a:lnL w="12700" cmpd="sng">
                          <a:noFill/>
                        </a:lnL>
                        <a:lnR w="12700" cmpd="sng">
                          <a:noFill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mpd="sng">
                          <a:noFill/>
                        </a:lnB>
                        <a:lnTlToBr w="12700" cmpd="sng">
                          <a:noFill/>
                          <a:prstDash val="solid"/>
                        </a:lnTlToBr>
                        <a:lnBlToTr w="12700" cmpd="sng">
                          <a:noFill/>
                          <a:prstDash val="solid"/>
                        </a:lnBlToTr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19524501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48505971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8FDAA-2FF3-D833-06C1-1721107DD9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Defining custom classes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DD1C4-D50E-543C-006E-35C091965BF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How do we factor in, any new classes the user might have defined into our inference rules?</a:t>
            </a:r>
          </a:p>
          <a:p>
            <a:r>
              <a:rPr lang="en-GB" b="1" dirty="0"/>
              <a:t>Open question #1: </a:t>
            </a:r>
            <a:r>
              <a:rPr lang="en-GB" dirty="0"/>
              <a:t>How about classes that inherit from a </a:t>
            </a:r>
            <a:r>
              <a:rPr lang="en-GB" u="sng" dirty="0"/>
              <a:t>multiple</a:t>
            </a:r>
            <a:r>
              <a:rPr lang="en-GB" dirty="0"/>
              <a:t> other classes or types?</a:t>
            </a:r>
          </a:p>
          <a:p>
            <a:r>
              <a:rPr lang="en-GB" dirty="0"/>
              <a:t>Usually starts to become a mess at this point! (Which is why I am not really a big fan of multiple inheritance…)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E08282-AD0B-A356-052F-846888426BC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199" y="1825625"/>
            <a:ext cx="5910385" cy="4351338"/>
          </a:xfrm>
        </p:spPr>
        <p:txBody>
          <a:bodyPr/>
          <a:lstStyle/>
          <a:p>
            <a:r>
              <a:rPr lang="en-GB" b="1" dirty="0"/>
              <a:t>Open question #2: </a:t>
            </a:r>
            <a:r>
              <a:rPr lang="en-GB" dirty="0"/>
              <a:t>How about function overloading/polymorphism?</a:t>
            </a:r>
            <a:endParaRPr lang="en-SG" dirty="0"/>
          </a:p>
        </p:txBody>
      </p:sp>
      <p:pic>
        <p:nvPicPr>
          <p:cNvPr id="7" name="Picture 6" descr="Text&#10;&#10;Description automatically generated">
            <a:extLst>
              <a:ext uri="{FF2B5EF4-FFF2-40B4-BE49-F238E27FC236}">
                <a16:creationId xmlns:a16="http://schemas.microsoft.com/office/drawing/2014/main" id="{C46C6219-B157-0994-0F74-58E819D400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5531" y="2688491"/>
            <a:ext cx="4115452" cy="45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23598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FB6861-4024-DB3C-2DA2-4278E629C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Error reporting and recovery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8B04F75-5F3B-E104-D5CF-16AE75C016E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Type errors will typically occur in these two scenarios:</a:t>
            </a:r>
          </a:p>
          <a:p>
            <a:r>
              <a:rPr lang="en-GB" b="1" dirty="0"/>
              <a:t>An explicit method or operation is used on a type that does not support it </a:t>
            </a:r>
            <a:r>
              <a:rPr lang="en-GB" dirty="0"/>
              <a:t>(e.g. in Python the explicit conversion of a string “123.4” into int, using + operation between int ”7” and string “hello”, calling append() method on string, etc.).</a:t>
            </a:r>
          </a:p>
          <a:p>
            <a:r>
              <a:rPr lang="en-GB" b="1" dirty="0"/>
              <a:t>There is no implicit conversion that might resolve the issue above, if any</a:t>
            </a:r>
            <a:r>
              <a:rPr lang="en-GB" dirty="0"/>
              <a:t> (e.g. summing a char “c” and an int “7” in C, will simply require an implicit conversion, but this will not do in Python).</a:t>
            </a:r>
          </a:p>
          <a:p>
            <a:endParaRPr lang="en-GB" b="1" dirty="0"/>
          </a:p>
          <a:p>
            <a:pPr marL="0" indent="0">
              <a:buNone/>
            </a:pPr>
            <a:r>
              <a:rPr lang="en-GB" b="1" dirty="0"/>
              <a:t>This can be implemented with an “if-else” again and a set of rules we have defined we our </a:t>
            </a:r>
            <a:r>
              <a:rPr lang="en-GB" b="1" dirty="0">
                <a:solidFill>
                  <a:srgbClr val="7030A0"/>
                </a:solidFill>
              </a:rPr>
              <a:t>types inference framework </a:t>
            </a:r>
            <a:r>
              <a:rPr lang="en-GB" b="1" dirty="0"/>
              <a:t>and</a:t>
            </a:r>
            <a:r>
              <a:rPr lang="en-GB" b="1" dirty="0">
                <a:solidFill>
                  <a:srgbClr val="7030A0"/>
                </a:solidFill>
              </a:rPr>
              <a:t> tables</a:t>
            </a:r>
            <a:r>
              <a:rPr lang="en-GB" b="1" dirty="0"/>
              <a:t>.</a:t>
            </a:r>
          </a:p>
          <a:p>
            <a:endParaRPr lang="en-SG" dirty="0"/>
          </a:p>
          <a:p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4603110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02C192-1282-701A-0B2A-CEB45200E7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Compiler Error Recovery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C042FA-4DBB-CA74-8D15-86D935F560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Compiler Error Recovery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In modern compilers, </a:t>
            </a:r>
            <a:r>
              <a:rPr lang="en-GB" b="1" dirty="0">
                <a:solidFill>
                  <a:srgbClr val="00B050"/>
                </a:solidFill>
              </a:rPr>
              <a:t>compiler error recovery </a:t>
            </a:r>
            <a:r>
              <a:rPr lang="en-GB" dirty="0"/>
              <a:t>refers to the process of attempting to continue the semantic analysis despite type errors.</a:t>
            </a:r>
          </a:p>
          <a:p>
            <a:pPr marL="0" indent="0">
              <a:buNone/>
            </a:pPr>
            <a:r>
              <a:rPr lang="en-GB" dirty="0"/>
              <a:t>This allows the compiler to potentially detect and report multiple errors in a single compilation pass, saving the programmer time by reducing the need for multiple recompilations.</a:t>
            </a:r>
          </a:p>
          <a:p>
            <a:pPr marL="0" indent="0">
              <a:buNone/>
            </a:pPr>
            <a:r>
              <a:rPr lang="en-GB" dirty="0"/>
              <a:t>Limited in terms of possibilities, however, as semantic errors will often carry to other expressions…</a:t>
            </a:r>
          </a:p>
          <a:p>
            <a:r>
              <a:rPr lang="en-GB" b="1" dirty="0"/>
              <a:t>For instance: </a:t>
            </a:r>
            <a:r>
              <a:rPr lang="en-GB" dirty="0"/>
              <a:t>E.g. if y uses x and x undefined, then y undefined, and if z uses y, then z undefined, etc.</a:t>
            </a:r>
          </a:p>
          <a:p>
            <a:r>
              <a:rPr lang="en-GB" b="1" dirty="0"/>
              <a:t>How to bypass error, pretend code worked and continue execution?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3748743876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9893-CA39-BA32-F577-A27100E1C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CB033-0290-FE03-AC1C-BBBEDA0AB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is the main purpose of type checking during semantic analysis?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optimize the generated machine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ensure that variables and expressions are used correctly according to their types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find syntax errors in the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allocate memory for variables, matching the types requirements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407262559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9893-CA39-BA32-F577-A27100E1C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CB033-0290-FE03-AC1C-BBBEDA0AB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What is the main purpose of type checking during semantic analysis?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optimize the generated machine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To ensure that variables and expressions are used correctly according to their types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find syntax errors in the code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allocate memory for variables, matching the types requirements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82650329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9893-CA39-BA32-F577-A27100E1C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CB033-0290-FE03-AC1C-BBBEDA0AB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the context of type systems, what does polymorphism refer to?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ability of a single function or method to work with multiple types of arguments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automatic conversion of one type to another when needed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inferring the types of variables and expressions without explicit type annotations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relationship between types and their subtypes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54432884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9893-CA39-BA32-F577-A27100E1C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CB033-0290-FE03-AC1C-BBBEDA0ABDB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the context of type systems, what does polymorphism refer to?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The ability of a single function or method to work with multiple types of arguments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automatic conversion of one type to another when needed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process of inferring the types of variables and expressions without explicit type annotations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The relationship between types and their subtypes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92006022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9893-CA39-BA32-F577-A27100E1C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CB033-0290-FE03-AC1C-BBBEDA0AB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916138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What is the term used to describe the process by which a programming language algorithm derives the types of expressions and variables based on the context in which they are used? 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Type inference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Type coercion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Type instantiation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Type resolution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050044934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629893-CA39-BA32-F577-A27100E1CA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CCB033-0290-FE03-AC1C-BBBEDA0ABD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1002108" cy="4351338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What is the term used to describe the process by which a programming language algorithm derives the types of expressions and variables based on the context in which they are used? 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Type inference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Type coercion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Type instantiation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Type resolution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8036323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107EE-7D1E-7FB1-2E0E-4CDCA79FF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tasks in semantic analysis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83180-B1AB-82D3-17D7-4D9FBBE4F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964159" cy="503237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Beyond the scope of this class, there are many other tasks in Semantic Analysis, worth discussing:</a:t>
            </a:r>
          </a:p>
          <a:p>
            <a:pPr marL="514350" indent="-514350">
              <a:buFont typeface="+mj-lt"/>
              <a:buAutoNum type="arabicPeriod"/>
            </a:pPr>
            <a:r>
              <a:rPr lang="en-GB" b="1" dirty="0"/>
              <a:t>Control-Flow: </a:t>
            </a:r>
            <a:r>
              <a:rPr lang="en-GB" dirty="0"/>
              <a:t>Checks that the control structures, such as loops and conditional statements, are used correctly, e.g. ensuring that every branch of an 'if-else' is reachable, and that loops have proper termination conditions, etc.</a:t>
            </a:r>
          </a:p>
          <a:p>
            <a:pPr marL="514350" indent="-514350">
              <a:buFont typeface="+mj-lt"/>
              <a:buAutoNum type="arabicPeriod"/>
            </a:pPr>
            <a:r>
              <a:rPr lang="en-SG" b="1" dirty="0"/>
              <a:t>Access control and visibility: </a:t>
            </a:r>
            <a:r>
              <a:rPr lang="en-SG" dirty="0"/>
              <a:t>Checks that some attributes/methods of an object can be called at a given time, given their public, private, protected status.</a:t>
            </a:r>
          </a:p>
          <a:p>
            <a:pPr marL="514350" indent="-514350">
              <a:buFont typeface="+mj-lt"/>
              <a:buAutoNum type="arabicPeriod"/>
            </a:pPr>
            <a:r>
              <a:rPr lang="en-SG" b="1" dirty="0"/>
              <a:t>Self/This: </a:t>
            </a:r>
            <a:r>
              <a:rPr lang="en-SG" dirty="0"/>
              <a:t>At any given time, who is the “self/this” keyword referring to? How do you resolve this and know which object in the scope it corresponds to?</a:t>
            </a:r>
          </a:p>
        </p:txBody>
      </p:sp>
    </p:spTree>
    <p:extLst>
      <p:ext uri="{BB962C8B-B14F-4D97-AF65-F5344CB8AC3E}">
        <p14:creationId xmlns:p14="http://schemas.microsoft.com/office/powerpoint/2010/main" val="150703324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E107EE-7D1E-7FB1-2E0E-4CDCA79FF1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Other tasks in semantic analysis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D83180-B1AB-82D3-17D7-4D9FBBE4F3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Beyond the scope of this class, there are many other tasks in Semantic Analysis, worth discussing: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GB" b="1" dirty="0"/>
              <a:t>Exception handling: </a:t>
            </a:r>
            <a:r>
              <a:rPr lang="en-GB" dirty="0"/>
              <a:t>Ensures that exceptions are properly caught and handled, and that appropriate error messages or fallback behaviour are in place.</a:t>
            </a:r>
          </a:p>
          <a:p>
            <a:pPr marL="514350" indent="-514350">
              <a:buFont typeface="+mj-lt"/>
              <a:buAutoNum type="arabicPeriod" startAt="4"/>
            </a:pPr>
            <a:r>
              <a:rPr lang="en-GB" b="1" dirty="0"/>
              <a:t>Garbage collection and memory management: </a:t>
            </a:r>
            <a:r>
              <a:rPr lang="en-GB" dirty="0"/>
              <a:t>Ensures that you are freeing variables, that can be freed, and that you are freeing them the correct way. Somewhat related to scope?</a:t>
            </a:r>
          </a:p>
          <a:p>
            <a:pPr marL="0" indent="0">
              <a:buNone/>
            </a:pPr>
            <a:r>
              <a:rPr lang="en-GB" b="1" dirty="0"/>
              <a:t>And many other concepts!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181698277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4E011-EC84-BEF1-2304-F949009D1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Code is legal!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83C5B-604A-B5C1-BAB7-C9C0B23E22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Legal Code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legal code </a:t>
            </a:r>
            <a:r>
              <a:rPr lang="en-GB" dirty="0"/>
              <a:t>is a program that adheres to all the rules of a programming language. It passed through various stages, including:</a:t>
            </a:r>
          </a:p>
          <a:p>
            <a:r>
              <a:rPr lang="en-GB" b="1" dirty="0"/>
              <a:t>Lexical Analysis: </a:t>
            </a:r>
            <a:r>
              <a:rPr lang="en-GB" dirty="0"/>
              <a:t>The code is tokenized into meaningful symbols, keywords, identifiers, and literals according to the language's rules. No weird symbols have been used.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E6CE14-D01C-974B-6A05-5340C9F7D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Syntax Analysis: </a:t>
            </a:r>
            <a:r>
              <a:rPr lang="en-GB" dirty="0"/>
              <a:t>The code follows the grammar rules and structural guidelines of the language, ensuring that keywords, punctuation, and language constructs are used correctly.</a:t>
            </a:r>
          </a:p>
          <a:p>
            <a:pPr marL="0" indent="0">
              <a:buNone/>
            </a:pPr>
            <a:r>
              <a:rPr lang="en-GB" b="1" dirty="0"/>
              <a:t>Semantic Analysis: </a:t>
            </a:r>
            <a:r>
              <a:rPr lang="en-GB" dirty="0"/>
              <a:t>The code is meaningful and adheres to the language's conventions, including well-formedness, type checking, identifier scoping, and control flow analysis.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632298038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94E011-EC84-BEF1-2304-F949009D1A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Code is legal!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A83C5B-604A-B5C1-BAB7-C9C0B23E226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Legal Code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legal code </a:t>
            </a:r>
            <a:r>
              <a:rPr lang="en-GB" dirty="0"/>
              <a:t>is a program that adheres to all the rules of a programming language. It passed through various stages, including:</a:t>
            </a:r>
          </a:p>
          <a:p>
            <a:r>
              <a:rPr lang="en-GB" b="1" dirty="0"/>
              <a:t>Lexical Analysis</a:t>
            </a:r>
          </a:p>
          <a:p>
            <a:r>
              <a:rPr lang="en-GB" b="1" dirty="0"/>
              <a:t>Syntax Analysis</a:t>
            </a:r>
          </a:p>
          <a:p>
            <a:r>
              <a:rPr lang="en-GB" b="1" dirty="0"/>
              <a:t>Semantic Analysis</a:t>
            </a:r>
          </a:p>
          <a:p>
            <a:pPr marL="0" indent="0">
              <a:buNone/>
            </a:pPr>
            <a:r>
              <a:rPr lang="en-GB" b="1" dirty="0"/>
              <a:t>Our code is </a:t>
            </a:r>
            <a:r>
              <a:rPr lang="en-GB" b="1" dirty="0">
                <a:solidFill>
                  <a:srgbClr val="00B050"/>
                </a:solidFill>
              </a:rPr>
              <a:t>legal</a:t>
            </a:r>
            <a:r>
              <a:rPr lang="en-GB" b="1" dirty="0"/>
              <a:t> if no errors were reported during each of these three stages.</a:t>
            </a:r>
            <a:endParaRPr lang="en-SG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FE6CE14-D01C-974B-6A05-5340C9F7D9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503237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Property: </a:t>
            </a:r>
            <a:r>
              <a:rPr lang="en-GB" dirty="0"/>
              <a:t>A code is considered legal if it satisfies the requirements of lexical analysis, syntax analysis, semantic analysis.</a:t>
            </a:r>
          </a:p>
          <a:p>
            <a:pPr marL="0" indent="0">
              <a:buNone/>
            </a:pPr>
            <a:r>
              <a:rPr lang="en-GB" b="1" dirty="0"/>
              <a:t>A code that is deemed </a:t>
            </a:r>
            <a:r>
              <a:rPr lang="en-GB" b="1" dirty="0">
                <a:solidFill>
                  <a:srgbClr val="00B050"/>
                </a:solidFill>
              </a:rPr>
              <a:t>legal</a:t>
            </a:r>
            <a:r>
              <a:rPr lang="en-GB" b="1" dirty="0"/>
              <a:t> should be able to execute (or run) correctly, after it has been transformed into machine code.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3804890726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8D7AE188-3FCF-9638-BCBC-D80FAEB83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219" y="1547446"/>
            <a:ext cx="5154106" cy="53105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end of the front-end?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Semantic Analysis</a:t>
            </a:r>
          </a:p>
          <a:p>
            <a:r>
              <a:rPr lang="en-GB" dirty="0"/>
              <a:t>Final step in the “front-end” phase, whose job is to check that the </a:t>
            </a:r>
            <a:r>
              <a:rPr lang="en-GB" b="1" dirty="0"/>
              <a:t>source code is legal</a:t>
            </a:r>
            <a:r>
              <a:rPr lang="en-GB" dirty="0"/>
              <a:t>.</a:t>
            </a:r>
          </a:p>
          <a:p>
            <a:r>
              <a:rPr lang="en-GB" dirty="0"/>
              <a:t>Ensures that the program has a </a:t>
            </a:r>
            <a:r>
              <a:rPr lang="en-GB" b="1" dirty="0"/>
              <a:t>well-defined meaning</a:t>
            </a:r>
            <a:r>
              <a:rPr lang="en-GB" dirty="0"/>
              <a:t>.</a:t>
            </a:r>
          </a:p>
          <a:p>
            <a:r>
              <a:rPr lang="en-GB" dirty="0"/>
              <a:t>Should catch </a:t>
            </a:r>
            <a:r>
              <a:rPr lang="en-GB" b="1" dirty="0"/>
              <a:t>all remaining errors </a:t>
            </a:r>
            <a:r>
              <a:rPr lang="en-GB" dirty="0"/>
              <a:t>that lexical analysis and syntax analysis could not catch.</a:t>
            </a:r>
          </a:p>
          <a:p>
            <a:r>
              <a:rPr lang="en-GB" dirty="0"/>
              <a:t>Errors that require </a:t>
            </a:r>
            <a:r>
              <a:rPr lang="en-GB" b="1" dirty="0"/>
              <a:t>contextual information</a:t>
            </a:r>
            <a:r>
              <a:rPr lang="en-GB" dirty="0"/>
              <a:t> about the code.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19249969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Graphical user interface, text, application, chat or text message&#10;&#10;Description automatically generated">
            <a:extLst>
              <a:ext uri="{FF2B5EF4-FFF2-40B4-BE49-F238E27FC236}">
                <a16:creationId xmlns:a16="http://schemas.microsoft.com/office/drawing/2014/main" id="{8D7AE188-3FCF-9638-BCBC-D80FAEB837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0219" y="1547446"/>
            <a:ext cx="5154106" cy="5310554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7657C29-1A3B-9090-2528-30E69AB940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end of the front-end?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B13EA12-F42E-A14F-570D-C7B3FB0BA67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>
                <a:solidFill>
                  <a:schemeClr val="bg1">
                    <a:lumMod val="85000"/>
                  </a:schemeClr>
                </a:solidFill>
              </a:rPr>
              <a:t>Semantic Analysis</a:t>
            </a:r>
          </a:p>
          <a:p>
            <a:r>
              <a:rPr lang="en-GB" dirty="0">
                <a:solidFill>
                  <a:schemeClr val="bg1">
                    <a:lumMod val="85000"/>
                  </a:schemeClr>
                </a:solidFill>
              </a:rPr>
              <a:t>Final step in the “front-end” phase, whose job is to check that the </a:t>
            </a:r>
            <a:r>
              <a:rPr lang="en-GB" b="1" dirty="0">
                <a:solidFill>
                  <a:schemeClr val="bg1">
                    <a:lumMod val="85000"/>
                  </a:schemeClr>
                </a:solidFill>
              </a:rPr>
              <a:t>source code is legal</a:t>
            </a:r>
            <a:r>
              <a:rPr lang="en-GB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en-GB" dirty="0">
                <a:solidFill>
                  <a:schemeClr val="bg1">
                    <a:lumMod val="85000"/>
                  </a:schemeClr>
                </a:solidFill>
              </a:rPr>
              <a:t>Ensures that the program has a </a:t>
            </a:r>
            <a:r>
              <a:rPr lang="en-GB" b="1" dirty="0">
                <a:solidFill>
                  <a:schemeClr val="bg1">
                    <a:lumMod val="85000"/>
                  </a:schemeClr>
                </a:solidFill>
              </a:rPr>
              <a:t>well-defined meaning</a:t>
            </a:r>
            <a:r>
              <a:rPr lang="en-GB" dirty="0">
                <a:solidFill>
                  <a:schemeClr val="bg1">
                    <a:lumMod val="85000"/>
                  </a:schemeClr>
                </a:solidFill>
              </a:rPr>
              <a:t>.</a:t>
            </a:r>
          </a:p>
          <a:p>
            <a:r>
              <a:rPr lang="en-GB" dirty="0">
                <a:solidFill>
                  <a:schemeClr val="bg1">
                    <a:lumMod val="85000"/>
                  </a:schemeClr>
                </a:solidFill>
              </a:rPr>
              <a:t>Should catch </a:t>
            </a:r>
            <a:r>
              <a:rPr lang="en-GB" b="1" dirty="0">
                <a:solidFill>
                  <a:schemeClr val="bg1">
                    <a:lumMod val="85000"/>
                  </a:schemeClr>
                </a:solidFill>
              </a:rPr>
              <a:t>all remaining errors </a:t>
            </a:r>
            <a:r>
              <a:rPr lang="en-GB" dirty="0">
                <a:solidFill>
                  <a:schemeClr val="bg1">
                    <a:lumMod val="85000"/>
                  </a:schemeClr>
                </a:solidFill>
              </a:rPr>
              <a:t>that lexical analysis and syntax analysis could not catch.</a:t>
            </a:r>
          </a:p>
          <a:p>
            <a:r>
              <a:rPr lang="en-GB" dirty="0">
                <a:solidFill>
                  <a:schemeClr val="bg1">
                    <a:lumMod val="85000"/>
                  </a:schemeClr>
                </a:solidFill>
              </a:rPr>
              <a:t>Errors that require </a:t>
            </a:r>
            <a:r>
              <a:rPr lang="en-GB" b="1" dirty="0">
                <a:solidFill>
                  <a:schemeClr val="bg1">
                    <a:lumMod val="85000"/>
                  </a:schemeClr>
                </a:solidFill>
              </a:rPr>
              <a:t>contextual information</a:t>
            </a:r>
            <a:r>
              <a:rPr lang="en-GB" dirty="0">
                <a:solidFill>
                  <a:schemeClr val="bg1">
                    <a:lumMod val="85000"/>
                  </a:schemeClr>
                </a:solidFill>
              </a:rPr>
              <a:t> about the code.</a:t>
            </a:r>
            <a:endParaRPr lang="en-SG" dirty="0">
              <a:solidFill>
                <a:schemeClr val="bg1">
                  <a:lumMod val="85000"/>
                </a:schemeClr>
              </a:solidFill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2D0394A-8EC9-BD6D-9970-011962B069C3}"/>
              </a:ext>
            </a:extLst>
          </p:cNvPr>
          <p:cNvSpPr/>
          <p:nvPr/>
        </p:nvSpPr>
        <p:spPr>
          <a:xfrm rot="20798748">
            <a:off x="1194927" y="4085366"/>
            <a:ext cx="3906821" cy="750277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4400" b="1" dirty="0">
                <a:solidFill>
                  <a:srgbClr val="7030A0"/>
                </a:solidFill>
              </a:rPr>
              <a:t>In an upcoming (or bonus) lecture, Intermediate Code Generation?</a:t>
            </a:r>
            <a:endParaRPr lang="en-SG" sz="4400" b="1" dirty="0">
              <a:solidFill>
                <a:srgbClr val="7030A0"/>
              </a:solidFill>
            </a:endParaRPr>
          </a:p>
        </p:txBody>
      </p:sp>
      <p:sp>
        <p:nvSpPr>
          <p:cNvPr id="4" name="Arrow: Right 3">
            <a:extLst>
              <a:ext uri="{FF2B5EF4-FFF2-40B4-BE49-F238E27FC236}">
                <a16:creationId xmlns:a16="http://schemas.microsoft.com/office/drawing/2014/main" id="{0B2E73F8-5734-4B23-9C23-DFC0A49C333E}"/>
              </a:ext>
            </a:extLst>
          </p:cNvPr>
          <p:cNvSpPr/>
          <p:nvPr/>
        </p:nvSpPr>
        <p:spPr>
          <a:xfrm>
            <a:off x="5267569" y="4089274"/>
            <a:ext cx="1398954" cy="742462"/>
          </a:xfrm>
          <a:prstGeom prst="rightArrow">
            <a:avLst/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3600345363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18D872-7EAD-92D5-BFAD-15DDF554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Intermediate code generation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AE6CBB-40B9-5E99-2250-21041EBB5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Intermediate code generation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Intermediate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code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generation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is the process of transforming the source code into a code that is more abstract and closer to machine language.</a:t>
            </a:r>
          </a:p>
          <a:p>
            <a:pPr marL="0" indent="0">
              <a:buNone/>
            </a:pPr>
            <a:r>
              <a:rPr lang="en-GB" dirty="0"/>
              <a:t>Making a direct jump from source code to target code might prove difficult. </a:t>
            </a:r>
            <a:endParaRPr lang="en-GB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4D5F4D7-398B-ACD9-E7C7-C4E1B498201A}"/>
              </a:ext>
            </a:extLst>
          </p:cNvPr>
          <p:cNvSpPr/>
          <p:nvPr/>
        </p:nvSpPr>
        <p:spPr>
          <a:xfrm>
            <a:off x="2012390" y="5697413"/>
            <a:ext cx="1738994" cy="109097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Source code</a:t>
            </a:r>
            <a:endParaRPr lang="en-GB" b="1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D576238F-C2D4-C7A4-F8DA-C5A96E50E27E}"/>
              </a:ext>
            </a:extLst>
          </p:cNvPr>
          <p:cNvSpPr/>
          <p:nvPr/>
        </p:nvSpPr>
        <p:spPr>
          <a:xfrm>
            <a:off x="8440616" y="5697413"/>
            <a:ext cx="1738994" cy="109097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Target code</a:t>
            </a:r>
            <a:endParaRPr lang="en-GB" b="1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C7FBA987-C549-8E00-0F07-6541ABAD191C}"/>
              </a:ext>
            </a:extLst>
          </p:cNvPr>
          <p:cNvSpPr/>
          <p:nvPr/>
        </p:nvSpPr>
        <p:spPr>
          <a:xfrm>
            <a:off x="5226503" y="4606434"/>
            <a:ext cx="1738994" cy="1090979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/>
              <a:t>Intermediate code</a:t>
            </a:r>
            <a:endParaRPr lang="en-GB" b="1" dirty="0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39E7D4BA-48DE-3049-144F-854ACF1FFE48}"/>
              </a:ext>
            </a:extLst>
          </p:cNvPr>
          <p:cNvSpPr/>
          <p:nvPr/>
        </p:nvSpPr>
        <p:spPr>
          <a:xfrm>
            <a:off x="2883878" y="5150337"/>
            <a:ext cx="2258645" cy="547075"/>
          </a:xfrm>
          <a:custGeom>
            <a:avLst/>
            <a:gdLst>
              <a:gd name="connsiteX0" fmla="*/ 0 w 2344615"/>
              <a:gd name="connsiteY0" fmla="*/ 617416 h 617416"/>
              <a:gd name="connsiteX1" fmla="*/ 2344615 w 2344615"/>
              <a:gd name="connsiteY1" fmla="*/ 0 h 61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44615" h="617416">
                <a:moveTo>
                  <a:pt x="0" y="617416"/>
                </a:moveTo>
                <a:cubicBezTo>
                  <a:pt x="633697" y="308708"/>
                  <a:pt x="1267395" y="0"/>
                  <a:pt x="2344615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A8BAD85A-B884-B031-4B8E-F6602A7E6FBD}"/>
              </a:ext>
            </a:extLst>
          </p:cNvPr>
          <p:cNvSpPr/>
          <p:nvPr/>
        </p:nvSpPr>
        <p:spPr>
          <a:xfrm rot="1616786">
            <a:off x="6971896" y="5113326"/>
            <a:ext cx="2153799" cy="544263"/>
          </a:xfrm>
          <a:custGeom>
            <a:avLst/>
            <a:gdLst>
              <a:gd name="connsiteX0" fmla="*/ 0 w 2344615"/>
              <a:gd name="connsiteY0" fmla="*/ 617416 h 617416"/>
              <a:gd name="connsiteX1" fmla="*/ 2344615 w 2344615"/>
              <a:gd name="connsiteY1" fmla="*/ 0 h 61741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2344615" h="617416">
                <a:moveTo>
                  <a:pt x="0" y="617416"/>
                </a:moveTo>
                <a:cubicBezTo>
                  <a:pt x="633697" y="308708"/>
                  <a:pt x="1267395" y="0"/>
                  <a:pt x="2344615" y="0"/>
                </a:cubicBezTo>
              </a:path>
            </a:pathLst>
          </a:custGeom>
          <a:noFill/>
          <a:ln w="38100">
            <a:solidFill>
              <a:schemeClr val="tx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CAE3696F-84E4-8BDA-A284-36E5CD78A768}"/>
              </a:ext>
            </a:extLst>
          </p:cNvPr>
          <p:cNvCxnSpPr>
            <a:cxnSpLocks/>
            <a:stCxn id="7" idx="3"/>
          </p:cNvCxnSpPr>
          <p:nvPr/>
        </p:nvCxnSpPr>
        <p:spPr>
          <a:xfrm>
            <a:off x="3751384" y="6242903"/>
            <a:ext cx="4572001" cy="0"/>
          </a:xfrm>
          <a:prstGeom prst="straightConnector1">
            <a:avLst/>
          </a:prstGeom>
          <a:ln w="38100">
            <a:solidFill>
              <a:schemeClr val="tx1"/>
            </a:solidFill>
            <a:prstDash val="sysDash"/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2005718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C18D872-7EAD-92D5-BFAD-15DDF554F3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Intermediate code generation</a:t>
            </a:r>
            <a:endParaRPr lang="en-SG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3AE6CBB-40B9-5E99-2250-21041EBB5EC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Intermediate code generation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Intermediate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code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b="1" dirty="0">
                <a:solidFill>
                  <a:srgbClr val="00B050"/>
                </a:solidFill>
              </a:rPr>
              <a:t>generation</a:t>
            </a:r>
            <a:r>
              <a:rPr lang="en-GB" dirty="0">
                <a:solidFill>
                  <a:srgbClr val="00B050"/>
                </a:solidFill>
              </a:rPr>
              <a:t> </a:t>
            </a:r>
            <a:r>
              <a:rPr lang="en-GB" dirty="0"/>
              <a:t>is the process of transforming the source code into a code that is more abstract and closer to machine language.</a:t>
            </a:r>
          </a:p>
          <a:p>
            <a:pPr marL="0" indent="0">
              <a:buNone/>
            </a:pPr>
            <a:r>
              <a:rPr lang="en-GB" dirty="0"/>
              <a:t>Making a direct jump from source code to target code might prove difficult.</a:t>
            </a:r>
          </a:p>
          <a:p>
            <a:pPr marL="0" indent="0">
              <a:buNone/>
            </a:pPr>
            <a:r>
              <a:rPr lang="en-GB" b="1" dirty="0"/>
              <a:t>For this reason, an intermediate code representation is often easier to manipulate and allows for optimization.</a:t>
            </a:r>
          </a:p>
          <a:p>
            <a:pPr marL="0" indent="0">
              <a:buNone/>
            </a:pPr>
            <a:r>
              <a:rPr lang="en-GB" dirty="0"/>
              <a:t>The intermediate code is not specific to any particular hardware or operating system and can be easily transformed into the final machine code (</a:t>
            </a:r>
            <a:r>
              <a:rPr lang="en-GB" b="1" dirty="0"/>
              <a:t>Intermediate code is roughly a high-level assembly code?</a:t>
            </a:r>
            <a:r>
              <a:rPr lang="en-GB" dirty="0"/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30611773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B16A8-77FB-83A2-DD3F-F56410FBE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Three-address code representation</a:t>
            </a:r>
            <a:endParaRPr lang="en-SG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B7324-B540-3767-63C5-15C5025183F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en-GB" b="1" dirty="0"/>
                  <a:t>Definition (</a:t>
                </a:r>
                <a:r>
                  <a:rPr lang="en-GB" b="1" dirty="0">
                    <a:solidFill>
                      <a:srgbClr val="00B050"/>
                    </a:solidFill>
                  </a:rPr>
                  <a:t>Three-address code </a:t>
                </a:r>
                <a:r>
                  <a:rPr lang="en-GB" b="1" dirty="0"/>
                  <a:t>representation):</a:t>
                </a:r>
              </a:p>
              <a:p>
                <a:pPr marL="0" indent="0">
                  <a:buNone/>
                </a:pPr>
                <a:r>
                  <a:rPr lang="en-GB" b="1" dirty="0">
                    <a:solidFill>
                      <a:srgbClr val="00B050"/>
                    </a:solidFill>
                  </a:rPr>
                  <a:t>Three-address code </a:t>
                </a:r>
                <a:r>
                  <a:rPr lang="en-GB" b="1" dirty="0"/>
                  <a:t>(or </a:t>
                </a:r>
                <a:r>
                  <a:rPr lang="en-GB" b="1" dirty="0">
                    <a:solidFill>
                      <a:srgbClr val="00B050"/>
                    </a:solidFill>
                  </a:rPr>
                  <a:t>TAC</a:t>
                </a:r>
                <a:r>
                  <a:rPr lang="en-GB" b="1" dirty="0"/>
                  <a:t>)</a:t>
                </a:r>
                <a:r>
                  <a:rPr lang="en-GB" b="1" dirty="0">
                    <a:solidFill>
                      <a:srgbClr val="00B050"/>
                    </a:solidFill>
                  </a:rPr>
                  <a:t> </a:t>
                </a:r>
                <a:r>
                  <a:rPr lang="en-GB" dirty="0"/>
                  <a:t>is a low-level intermediate code representation used by compilers to facilitate optimization and code generation.</a:t>
                </a:r>
              </a:p>
              <a:p>
                <a:pPr marL="0" indent="0">
                  <a:buNone/>
                </a:pPr>
                <a:r>
                  <a:rPr lang="en-GB" dirty="0"/>
                  <a:t>It is called </a:t>
                </a:r>
                <a:r>
                  <a:rPr lang="en-GB" b="1" dirty="0"/>
                  <a:t>“three-address” </a:t>
                </a:r>
                <a:r>
                  <a:rPr lang="en-GB" dirty="0"/>
                  <a:t>because each instruction in the code </a:t>
                </a:r>
                <a:r>
                  <a:rPr lang="en-GB" b="1" dirty="0"/>
                  <a:t>can have at most three operands</a:t>
                </a:r>
                <a:r>
                  <a:rPr lang="en-GB" dirty="0"/>
                  <a:t>.</a:t>
                </a:r>
              </a:p>
              <a:p>
                <a:pPr marL="0" indent="0">
                  <a:buNone/>
                </a:pPr>
                <a:r>
                  <a:rPr lang="en-GB" dirty="0"/>
                  <a:t>A typical three-address code instruction has the following format: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𝑜𝑝𝑒𝑟𝑎𝑛𝑑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1=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𝑜𝑝𝑒𝑟𝑎𝑛𝑑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2 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𝑜𝑝𝑒𝑟𝑎𝑡𝑜𝑟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𝑜𝑝𝑒𝑟𝑎𝑛𝑑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</m:oMath>
                  </m:oMathPara>
                </a14:m>
                <a:endParaRPr lang="en-S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00B7324-B540-3767-63C5-15C5025183F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217" t="-224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60213588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CB16A8-77FB-83A2-DD3F-F56410FBE5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Three-address code representation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0B7324-B540-3767-63C5-15C5025183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4887478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For instance, the C code below can be transformed…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437BBC-8797-B9CD-ECD3-F2F3873707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650892" y="1825625"/>
            <a:ext cx="5136220" cy="4351338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…into its equivalent three-address code representation.</a:t>
            </a:r>
            <a:endParaRPr lang="en-SG" dirty="0"/>
          </a:p>
          <a:p>
            <a:pPr marL="0" indent="0">
              <a:buNone/>
            </a:pPr>
            <a:endParaRPr lang="en-SG" dirty="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7C6C646-DC67-4AB1-AFDA-B4DBE2C02DC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900" y="3854107"/>
            <a:ext cx="6439799" cy="24577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C403C7A-6971-2BDB-E0BB-7A61A07B0F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8986" y="3215843"/>
            <a:ext cx="5830114" cy="1276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532897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A3A92F-952A-71AE-EA75-43B5478FA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From CFG to SDT </a:t>
            </a:r>
            <a:r>
              <a:rPr lang="en-GB" b="1" dirty="0"/>
              <a:t>to IR?!</a:t>
            </a:r>
            <a:endParaRPr lang="en-SG" b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A738A-2FBB-5C32-F86A-AF2A963948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2615" y="1825624"/>
            <a:ext cx="5707185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blast from the past (W9S2).</a:t>
            </a:r>
          </a:p>
          <a:p>
            <a:pPr marL="0" indent="0">
              <a:buNone/>
            </a:pPr>
            <a:r>
              <a:rPr lang="en-GB" dirty="0"/>
              <a:t>We managed to find a derivation for the string “26*5+7” and built an </a:t>
            </a:r>
            <a:r>
              <a:rPr lang="en-GB" b="1" dirty="0"/>
              <a:t>Abstract Syntax Tree </a:t>
            </a:r>
            <a:r>
              <a:rPr lang="en-GB" dirty="0"/>
              <a:t>for this derivation…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Having an </a:t>
            </a:r>
            <a:r>
              <a:rPr lang="en-GB" b="1" dirty="0"/>
              <a:t>AST</a:t>
            </a:r>
            <a:r>
              <a:rPr lang="en-GB" dirty="0"/>
              <a:t>, following from using SDT Rules on our Parse Tree/CFG, </a:t>
            </a:r>
            <a:r>
              <a:rPr lang="en-GB" b="1" dirty="0"/>
              <a:t>brings us very close to being able to produce an </a:t>
            </a:r>
            <a:r>
              <a:rPr lang="en-GB" b="1" dirty="0">
                <a:solidFill>
                  <a:srgbClr val="7030A0"/>
                </a:solidFill>
              </a:rPr>
              <a:t>Intermediate Code Representation</a:t>
            </a:r>
            <a:r>
              <a:rPr lang="en-GB" b="1" dirty="0"/>
              <a:t>!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C61DD1-16B8-7637-AE23-1E9423ED67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707184" cy="5032374"/>
          </a:xfrm>
        </p:spPr>
        <p:txBody>
          <a:bodyPr>
            <a:normAutofit/>
          </a:bodyPr>
          <a:lstStyle/>
          <a:p>
            <a:r>
              <a:rPr lang="en-GB" dirty="0"/>
              <a:t>I1.val = 26</a:t>
            </a:r>
          </a:p>
          <a:p>
            <a:r>
              <a:rPr lang="en-SG" dirty="0"/>
              <a:t>I2.val = 5</a:t>
            </a:r>
          </a:p>
          <a:p>
            <a:r>
              <a:rPr lang="en-SG" dirty="0"/>
              <a:t>T1.val = I2.val</a:t>
            </a:r>
          </a:p>
          <a:p>
            <a:r>
              <a:rPr lang="en-SG" dirty="0"/>
              <a:t>T2.val = T1.val*I1.val</a:t>
            </a:r>
          </a:p>
          <a:p>
            <a:r>
              <a:rPr lang="en-SG" dirty="0"/>
              <a:t>I3.val = 7</a:t>
            </a:r>
          </a:p>
          <a:p>
            <a:r>
              <a:rPr lang="en-SG" dirty="0"/>
              <a:t>T3.val = I3.val</a:t>
            </a:r>
          </a:p>
          <a:p>
            <a:r>
              <a:rPr lang="en-SG" dirty="0"/>
              <a:t>E1.val = T3.val</a:t>
            </a:r>
          </a:p>
          <a:p>
            <a:r>
              <a:rPr lang="en-SG" dirty="0" err="1"/>
              <a:t>E.val</a:t>
            </a:r>
            <a:r>
              <a:rPr lang="en-SG" dirty="0"/>
              <a:t> = T2.val + E1.val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F3496BC4-5C1A-D60B-000E-EE4EF7821794}"/>
              </a:ext>
            </a:extLst>
          </p:cNvPr>
          <p:cNvSpPr txBox="1">
            <a:spLocks/>
          </p:cNvSpPr>
          <p:nvPr/>
        </p:nvSpPr>
        <p:spPr>
          <a:xfrm>
            <a:off x="10217426" y="1825624"/>
            <a:ext cx="2449002" cy="503237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>
                <a:solidFill>
                  <a:srgbClr val="7030A0"/>
                </a:solidFill>
              </a:rPr>
              <a:t>i1 = 26</a:t>
            </a:r>
          </a:p>
          <a:p>
            <a:r>
              <a:rPr lang="en-SG" dirty="0">
                <a:solidFill>
                  <a:srgbClr val="7030A0"/>
                </a:solidFill>
              </a:rPr>
              <a:t>i2 = 5</a:t>
            </a:r>
          </a:p>
          <a:p>
            <a:r>
              <a:rPr lang="en-SG" dirty="0">
                <a:solidFill>
                  <a:srgbClr val="7030A0"/>
                </a:solidFill>
              </a:rPr>
              <a:t>t1 = i2</a:t>
            </a:r>
          </a:p>
          <a:p>
            <a:r>
              <a:rPr lang="en-SG" dirty="0">
                <a:solidFill>
                  <a:srgbClr val="7030A0"/>
                </a:solidFill>
              </a:rPr>
              <a:t>t2 = t1*i1</a:t>
            </a:r>
          </a:p>
          <a:p>
            <a:r>
              <a:rPr lang="en-SG" dirty="0">
                <a:solidFill>
                  <a:srgbClr val="7030A0"/>
                </a:solidFill>
              </a:rPr>
              <a:t>i3 = 7</a:t>
            </a:r>
          </a:p>
          <a:p>
            <a:r>
              <a:rPr lang="en-SG" dirty="0">
                <a:solidFill>
                  <a:srgbClr val="7030A0"/>
                </a:solidFill>
              </a:rPr>
              <a:t>t3 = i3</a:t>
            </a:r>
          </a:p>
          <a:p>
            <a:r>
              <a:rPr lang="en-SG" dirty="0">
                <a:solidFill>
                  <a:srgbClr val="7030A0"/>
                </a:solidFill>
              </a:rPr>
              <a:t>e1 = t3</a:t>
            </a:r>
          </a:p>
          <a:p>
            <a:r>
              <a:rPr lang="en-SG" dirty="0">
                <a:solidFill>
                  <a:srgbClr val="7030A0"/>
                </a:solidFill>
              </a:rPr>
              <a:t>e = t2 + e1</a:t>
            </a: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552AD9C2-39FF-5BDC-C21A-F0DC92B344D0}"/>
              </a:ext>
            </a:extLst>
          </p:cNvPr>
          <p:cNvSpPr/>
          <p:nvPr/>
        </p:nvSpPr>
        <p:spPr>
          <a:xfrm>
            <a:off x="9401479" y="3797792"/>
            <a:ext cx="663547" cy="469338"/>
          </a:xfrm>
          <a:prstGeom prst="rightArrow">
            <a:avLst/>
          </a:prstGeom>
          <a:solidFill>
            <a:srgbClr val="7030A0"/>
          </a:solidFill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359594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F929E-ACE9-25FD-F200-4EDA0C14A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TAC generation for SDT expressions</a:t>
            </a:r>
            <a:endParaRPr lang="en-SG" dirty="0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A678F6BC-577F-A02C-6DE7-C0249EEEA29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4"/>
            <a:ext cx="10681677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Our SDT expressions are quite close to the TAC expressions already.</a:t>
            </a:r>
          </a:p>
          <a:p>
            <a:pPr marL="0" indent="0">
              <a:buNone/>
            </a:pPr>
            <a:r>
              <a:rPr lang="en-GB" dirty="0"/>
              <a:t>All we need is:</a:t>
            </a:r>
          </a:p>
          <a:p>
            <a:r>
              <a:rPr lang="en-GB" dirty="0"/>
              <a:t>A simple mapping to translate our SDT elementary operations into their TAC equivalents (SDT: </a:t>
            </a:r>
            <a:r>
              <a:rPr lang="en-GB" dirty="0" err="1"/>
              <a:t>e.val</a:t>
            </a:r>
            <a:r>
              <a:rPr lang="en-GB" dirty="0"/>
              <a:t> = </a:t>
            </a:r>
            <a:r>
              <a:rPr lang="en-GB" dirty="0" err="1"/>
              <a:t>a.val</a:t>
            </a:r>
            <a:r>
              <a:rPr lang="en-GB" dirty="0"/>
              <a:t> + </a:t>
            </a:r>
            <a:r>
              <a:rPr lang="en-GB" dirty="0" err="1"/>
              <a:t>b.val</a:t>
            </a:r>
            <a:r>
              <a:rPr lang="en-GB" dirty="0"/>
              <a:t> </a:t>
            </a:r>
            <a:r>
              <a:rPr lang="en-GB" dirty="0">
                <a:sym typeface="Wingdings" panose="05000000000000000000" pitchFamily="2" charset="2"/>
              </a:rPr>
              <a:t> TAC: e:= a + b</a:t>
            </a:r>
            <a:r>
              <a:rPr lang="en-GB" dirty="0"/>
              <a:t>).</a:t>
            </a:r>
          </a:p>
          <a:p>
            <a:r>
              <a:rPr lang="en-GB" dirty="0"/>
              <a:t>A function that will correctly link variables using the edges of our abstract syntax tree. And a function that will open registers </a:t>
            </a:r>
            <a:r>
              <a:rPr lang="en-GB" i="1" dirty="0"/>
              <a:t>_</a:t>
            </a:r>
            <a:r>
              <a:rPr lang="en-GB" i="1" dirty="0" err="1"/>
              <a:t>tn</a:t>
            </a:r>
            <a:r>
              <a:rPr lang="en-GB" i="1" dirty="0"/>
              <a:t> </a:t>
            </a:r>
            <a:r>
              <a:rPr lang="en-GB" dirty="0"/>
              <a:t>to store variable values</a:t>
            </a:r>
            <a:r>
              <a:rPr lang="en-GB" i="1" dirty="0"/>
              <a:t> </a:t>
            </a:r>
            <a:r>
              <a:rPr lang="en-GB" dirty="0"/>
              <a:t>and keep a counter on n.</a:t>
            </a:r>
          </a:p>
          <a:p>
            <a:r>
              <a:rPr lang="en-GB" dirty="0"/>
              <a:t>We do not even need to verify that the SDT code is legal! (already guaranteed by previous steps that brought us to the SDT code!)</a:t>
            </a:r>
            <a:endParaRPr lang="en-GB" b="1" dirty="0"/>
          </a:p>
          <a:p>
            <a:pPr marL="0" indent="0">
              <a:buNone/>
            </a:pPr>
            <a:r>
              <a:rPr lang="en-GB" b="1" dirty="0"/>
              <a:t>Could be easily implemented (but would require an implementation of an abstract syntax tree object during parsing, which we did not do!).</a:t>
            </a:r>
            <a:endParaRPr lang="en-SG" b="1" dirty="0"/>
          </a:p>
        </p:txBody>
      </p:sp>
    </p:spTree>
    <p:extLst>
      <p:ext uri="{BB962C8B-B14F-4D97-AF65-F5344CB8AC3E}">
        <p14:creationId xmlns:p14="http://schemas.microsoft.com/office/powerpoint/2010/main" val="3792039076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359558-0A4F-B88B-7672-789D61DF66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 quick note before we start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EFA322-4520-F107-C397-7998B5465B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An important note before we start</a:t>
            </a:r>
          </a:p>
          <a:p>
            <a:r>
              <a:rPr lang="en-GB" dirty="0"/>
              <a:t>When generating IR at this level, you do not need to worry about optimizing it, as long as it produces the correct outcome.</a:t>
            </a:r>
          </a:p>
          <a:p>
            <a:r>
              <a:rPr lang="en-GB" dirty="0"/>
              <a:t>It is okay to generate IR that has lots of unnecessary assignments, redundant computations, uses many temporary variables, etc.</a:t>
            </a:r>
          </a:p>
          <a:p>
            <a:endParaRPr lang="en-GB" dirty="0"/>
          </a:p>
          <a:p>
            <a:r>
              <a:rPr lang="en-GB" dirty="0"/>
              <a:t>In the next lecture, we will discuss how to optimize IR code (</a:t>
            </a:r>
            <a:r>
              <a:rPr lang="en-GB"/>
              <a:t>a.k.a</a:t>
            </a:r>
            <a:r>
              <a:rPr lang="en-GB" dirty="0"/>
              <a:t>. the middle-end part of the compiler).</a:t>
            </a:r>
          </a:p>
          <a:p>
            <a:r>
              <a:rPr lang="en-GB" dirty="0"/>
              <a:t>Optimization is tricky, but interesting!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351308315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0E6A1-C73D-4FA2-9330-21D7F18925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CFG for TAC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23FDC9-3E80-C74F-5720-132700EBE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Technically, the three-address code has a syntax and CFG of its own.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A595560-82EC-4938-BE3A-C25F3398CD14}"/>
                  </a:ext>
                </a:extLst>
              </p:cNvPr>
              <p:cNvSpPr>
                <a:spLocks noGrp="1"/>
              </p:cNvSpPr>
              <p:nvPr>
                <p:ph sz="half" idx="4294967295"/>
              </p:nvPr>
            </p:nvSpPr>
            <p:spPr>
              <a:xfrm>
                <a:off x="1766596" y="2506662"/>
                <a:ext cx="3620278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GB" dirty="0"/>
                  <a:t>P </a:t>
                </a:r>
                <a:r>
                  <a:rPr lang="en-GB" dirty="0">
                    <a:sym typeface="Wingdings" panose="05000000000000000000" pitchFamily="2" charset="2"/>
                  </a:rPr>
                  <a:t> SP |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  <a:sym typeface="Wingdings" panose="05000000000000000000" pitchFamily="2" charset="2"/>
                      </a:rPr>
                      <m:t>𝜖</m:t>
                    </m:r>
                  </m:oMath>
                </a14:m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S </a:t>
                </a:r>
                <a:r>
                  <a:rPr lang="en-SG" dirty="0">
                    <a:sym typeface="Wingdings" panose="05000000000000000000" pitchFamily="2" charset="2"/>
                  </a:rPr>
                  <a:t> id := id op id</a:t>
                </a:r>
              </a:p>
              <a:p>
                <a:pPr marL="0" indent="0">
                  <a:buNone/>
                </a:pPr>
                <a:r>
                  <a:rPr lang="en-SG" dirty="0"/>
                  <a:t>S </a:t>
                </a:r>
                <a:r>
                  <a:rPr lang="en-SG" dirty="0">
                    <a:sym typeface="Wingdings" panose="05000000000000000000" pitchFamily="2" charset="2"/>
                  </a:rPr>
                  <a:t> id := op id</a:t>
                </a:r>
              </a:p>
              <a:p>
                <a:pPr marL="0" indent="0">
                  <a:buNone/>
                </a:pPr>
                <a:r>
                  <a:rPr lang="en-SG" dirty="0"/>
                  <a:t>S </a:t>
                </a:r>
                <a:r>
                  <a:rPr lang="en-SG" dirty="0">
                    <a:sym typeface="Wingdings" panose="05000000000000000000" pitchFamily="2" charset="2"/>
                  </a:rPr>
                  <a:t> id := id</a:t>
                </a:r>
                <a:endParaRPr lang="en-SG" dirty="0"/>
              </a:p>
              <a:p>
                <a:pPr marL="0" indent="0">
                  <a:buNone/>
                </a:pPr>
                <a:r>
                  <a:rPr lang="en-SG" dirty="0"/>
                  <a:t>S </a:t>
                </a:r>
                <a:r>
                  <a:rPr lang="en-SG" dirty="0">
                    <a:sym typeface="Wingdings" panose="05000000000000000000" pitchFamily="2" charset="2"/>
                  </a:rPr>
                  <a:t> push id</a:t>
                </a:r>
              </a:p>
              <a:p>
                <a:pPr marL="0" indent="0">
                  <a:buNone/>
                </a:pPr>
                <a:r>
                  <a:rPr lang="en-SG" dirty="0"/>
                  <a:t>S </a:t>
                </a:r>
                <a:r>
                  <a:rPr lang="en-SG" dirty="0">
                    <a:sym typeface="Wingdings" panose="05000000000000000000" pitchFamily="2" charset="2"/>
                  </a:rPr>
                  <a:t> if id </a:t>
                </a:r>
                <a:r>
                  <a:rPr lang="en-SG" dirty="0" err="1">
                    <a:sym typeface="Wingdings" panose="05000000000000000000" pitchFamily="2" charset="2"/>
                  </a:rPr>
                  <a:t>goto</a:t>
                </a:r>
                <a:r>
                  <a:rPr lang="en-SG" dirty="0">
                    <a:sym typeface="Wingdings" panose="05000000000000000000" pitchFamily="2" charset="2"/>
                  </a:rPr>
                  <a:t> L</a:t>
                </a:r>
              </a:p>
              <a:p>
                <a:pPr marL="0" indent="0">
                  <a:buNone/>
                </a:pPr>
                <a:r>
                  <a:rPr lang="en-SG" dirty="0">
                    <a:sym typeface="Wingdings" panose="05000000000000000000" pitchFamily="2" charset="2"/>
                  </a:rPr>
                  <a:t>S  L:</a:t>
                </a:r>
              </a:p>
              <a:p>
                <a:pPr marL="0" indent="0">
                  <a:buNone/>
                </a:pPr>
                <a:r>
                  <a:rPr lang="en-SG" dirty="0">
                    <a:sym typeface="Wingdings" panose="05000000000000000000" pitchFamily="2" charset="2"/>
                  </a:rPr>
                  <a:t>S  jump L</a:t>
                </a: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  <a:p>
                <a:pPr marL="0" indent="0">
                  <a:buNone/>
                </a:pPr>
                <a:endParaRPr lang="en-SG" dirty="0"/>
              </a:p>
            </p:txBody>
          </p:sp>
        </mc:Choice>
        <mc:Fallback xmlns="">
          <p:sp>
            <p:nvSpPr>
              <p:cNvPr id="4" name="Content Placeholder 3">
                <a:extLst>
                  <a:ext uri="{FF2B5EF4-FFF2-40B4-BE49-F238E27FC236}">
                    <a16:creationId xmlns:a16="http://schemas.microsoft.com/office/drawing/2014/main" id="{AA595560-82EC-4938-BE3A-C25F3398CD1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4294967295"/>
              </p:nvPr>
            </p:nvSpPr>
            <p:spPr>
              <a:xfrm>
                <a:off x="1766596" y="2506662"/>
                <a:ext cx="3620278" cy="4351338"/>
              </a:xfrm>
              <a:blipFill>
                <a:blip r:embed="rId2"/>
                <a:stretch>
                  <a:fillRect l="-3535" t="-2661"/>
                </a:stretch>
              </a:blipFill>
            </p:spPr>
            <p:txBody>
              <a:bodyPr/>
              <a:lstStyle/>
              <a:p>
                <a:r>
                  <a:rPr lang="en-SG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40C27C44-46A6-8D86-C29F-A9D3B92A5664}"/>
              </a:ext>
            </a:extLst>
          </p:cNvPr>
          <p:cNvSpPr txBox="1">
            <a:spLocks/>
          </p:cNvSpPr>
          <p:nvPr/>
        </p:nvSpPr>
        <p:spPr>
          <a:xfrm>
            <a:off x="6805127" y="2506662"/>
            <a:ext cx="440213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id </a:t>
            </a:r>
            <a:r>
              <a:rPr lang="en-GB" dirty="0">
                <a:sym typeface="Wingdings" panose="05000000000000000000" pitchFamily="2" charset="2"/>
              </a:rPr>
              <a:t> (any identifier name)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/>
              <a:t>id </a:t>
            </a:r>
            <a:r>
              <a:rPr lang="en-GB" dirty="0">
                <a:sym typeface="Wingdings" panose="05000000000000000000" pitchFamily="2" charset="2"/>
              </a:rPr>
              <a:t> (any constant literal)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>
                <a:sym typeface="Wingdings" panose="05000000000000000000" pitchFamily="2" charset="2"/>
              </a:rPr>
              <a:t>op  (any basic operator</a:t>
            </a:r>
            <a:br>
              <a:rPr lang="en-GB" dirty="0">
                <a:sym typeface="Wingdings" panose="05000000000000000000" pitchFamily="2" charset="2"/>
              </a:rPr>
            </a:br>
            <a:r>
              <a:rPr lang="en-GB" dirty="0">
                <a:sym typeface="Wingdings" panose="05000000000000000000" pitchFamily="2" charset="2"/>
              </a:rPr>
              <a:t>             e.g. +, -, *, /, ==, &lt;,</a:t>
            </a:r>
            <a:br>
              <a:rPr lang="en-GB" dirty="0">
                <a:sym typeface="Wingdings" panose="05000000000000000000" pitchFamily="2" charset="2"/>
              </a:rPr>
            </a:br>
            <a:r>
              <a:rPr lang="en-GB" dirty="0">
                <a:sym typeface="Wingdings" panose="05000000000000000000" pitchFamily="2" charset="2"/>
              </a:rPr>
              <a:t>             ||, &amp;&amp;, etc. )</a:t>
            </a: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>
                <a:sym typeface="Wingdings" panose="05000000000000000000" pitchFamily="2" charset="2"/>
              </a:rPr>
              <a:t>L  L0 | L1 | … (block name)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GB" dirty="0">
              <a:sym typeface="Wingdings" panose="05000000000000000000" pitchFamily="2" charset="2"/>
            </a:endParaRPr>
          </a:p>
          <a:p>
            <a:pPr marL="0" indent="0">
              <a:buFont typeface="Arial" panose="020B0604020202020204" pitchFamily="34" charset="0"/>
              <a:buNone/>
            </a:pPr>
            <a:r>
              <a:rPr lang="en-GB" dirty="0">
                <a:sym typeface="Wingdings" panose="05000000000000000000" pitchFamily="2" charset="2"/>
              </a:rPr>
              <a:t>Normally, many more production rules for S…</a:t>
            </a:r>
            <a:endParaRPr lang="en-SG" dirty="0"/>
          </a:p>
          <a:p>
            <a:pPr marL="0" indent="0">
              <a:buFont typeface="Arial" panose="020B0604020202020204" pitchFamily="34" charset="0"/>
              <a:buNone/>
            </a:pPr>
            <a:endParaRPr lang="en-SG" dirty="0"/>
          </a:p>
          <a:p>
            <a:pPr marL="0" indent="0">
              <a:buFont typeface="Arial" panose="020B0604020202020204" pitchFamily="34" charset="0"/>
              <a:buNone/>
            </a:pPr>
            <a:endParaRPr lang="en-SG" dirty="0"/>
          </a:p>
          <a:p>
            <a:pPr marL="0" indent="0">
              <a:buFont typeface="Arial" panose="020B0604020202020204" pitchFamily="34" charset="0"/>
              <a:buNone/>
            </a:pP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72300661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676B2-1B06-A507-4D2F-5FC0FDA40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block in TAC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F4944-D594-B5EC-4A8C-84B643D906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basic block </a:t>
            </a:r>
            <a:r>
              <a:rPr lang="en-GB" b="1" dirty="0"/>
              <a:t>in TAC):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basic block </a:t>
            </a:r>
            <a:r>
              <a:rPr lang="en-GB" dirty="0"/>
              <a:t>consists of a sequence of instructions in TAC, with:</a:t>
            </a:r>
          </a:p>
          <a:p>
            <a:r>
              <a:rPr lang="en-GB" dirty="0"/>
              <a:t>No labels (except at the first instruction),</a:t>
            </a:r>
          </a:p>
          <a:p>
            <a:r>
              <a:rPr lang="en-GB" dirty="0"/>
              <a:t>No jumps (except at the last instruction of the block).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Core idea behind basic blocks:</a:t>
            </a:r>
          </a:p>
          <a:p>
            <a:r>
              <a:rPr lang="en-SG" dirty="0"/>
              <a:t>Cannot jump in the middle of a basic block, only the beginning,</a:t>
            </a:r>
          </a:p>
          <a:p>
            <a:r>
              <a:rPr lang="en-SG" dirty="0"/>
              <a:t>Cannot jump out of a block, except at the end of it,</a:t>
            </a:r>
          </a:p>
          <a:p>
            <a:r>
              <a:rPr lang="en-SG" dirty="0"/>
              <a:t>Basic block is then a single-entry and single-exit code segment.</a:t>
            </a:r>
          </a:p>
        </p:txBody>
      </p:sp>
    </p:spTree>
    <p:extLst>
      <p:ext uri="{BB962C8B-B14F-4D97-AF65-F5344CB8AC3E}">
        <p14:creationId xmlns:p14="http://schemas.microsoft.com/office/powerpoint/2010/main" val="2107224318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676B2-1B06-A507-4D2F-5FC0FDA40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block in TAC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F4944-D594-B5EC-4A8C-84B643D906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A basic block always writes as:</a:t>
            </a:r>
          </a:p>
          <a:p>
            <a:r>
              <a:rPr lang="en-GB" dirty="0"/>
              <a:t>Start with a </a:t>
            </a:r>
            <a:r>
              <a:rPr lang="en-GB" b="1" dirty="0">
                <a:solidFill>
                  <a:schemeClr val="accent2"/>
                </a:solidFill>
              </a:rPr>
              <a:t>block name</a:t>
            </a:r>
            <a:r>
              <a:rPr lang="en-GB" dirty="0"/>
              <a:t>, by convention, in the form of Ln, with n an integer.</a:t>
            </a:r>
          </a:p>
          <a:p>
            <a:r>
              <a:rPr lang="en-GB" dirty="0"/>
              <a:t>Has </a:t>
            </a:r>
            <a:r>
              <a:rPr lang="en-GB" b="1" dirty="0">
                <a:solidFill>
                  <a:schemeClr val="accent2">
                    <a:lumMod val="50000"/>
                  </a:schemeClr>
                </a:solidFill>
              </a:rPr>
              <a:t>elementary operations </a:t>
            </a:r>
            <a:r>
              <a:rPr lang="en-GB" dirty="0"/>
              <a:t>in TAC format.</a:t>
            </a:r>
          </a:p>
          <a:p>
            <a:r>
              <a:rPr lang="en-GB" dirty="0"/>
              <a:t>Could have </a:t>
            </a:r>
            <a:r>
              <a:rPr lang="en-GB" b="1" dirty="0">
                <a:solidFill>
                  <a:srgbClr val="7030A0"/>
                </a:solidFill>
              </a:rPr>
              <a:t>conditional structures</a:t>
            </a:r>
            <a:r>
              <a:rPr lang="en-GB" dirty="0"/>
              <a:t>, using if.</a:t>
            </a:r>
          </a:p>
          <a:p>
            <a:r>
              <a:rPr lang="en-GB" b="1" dirty="0" err="1">
                <a:solidFill>
                  <a:srgbClr val="00B050"/>
                </a:solidFill>
              </a:rPr>
              <a:t>Goto</a:t>
            </a:r>
            <a:r>
              <a:rPr lang="en-GB" b="1" dirty="0">
                <a:solidFill>
                  <a:srgbClr val="00B050"/>
                </a:solidFill>
              </a:rPr>
              <a:t>/jump </a:t>
            </a:r>
            <a:r>
              <a:rPr lang="en-GB" dirty="0"/>
              <a:t>could reference current block or another block.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65029-C7BC-122A-DEF7-A19DA071BA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L0:</a:t>
            </a:r>
          </a:p>
          <a:p>
            <a:pPr marL="0" indent="0">
              <a:buNone/>
            </a:pPr>
            <a:r>
              <a:rPr lang="en-GB" dirty="0"/>
              <a:t>	…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/>
                </a:solidFill>
              </a:rPr>
              <a:t>L1: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>
                    <a:lumMod val="50000"/>
                  </a:schemeClr>
                </a:solidFill>
              </a:rPr>
              <a:t>	x := x - 1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>
                    <a:lumMod val="50000"/>
                  </a:schemeClr>
                </a:solidFill>
              </a:rPr>
              <a:t>	z := x &gt; 0</a:t>
            </a:r>
          </a:p>
          <a:p>
            <a:pPr marL="0" indent="0">
              <a:buNone/>
            </a:pPr>
            <a:r>
              <a:rPr lang="en-GB" i="1" dirty="0"/>
              <a:t>	</a:t>
            </a:r>
            <a:r>
              <a:rPr lang="en-GB" i="1" dirty="0">
                <a:solidFill>
                  <a:srgbClr val="7030A0"/>
                </a:solidFill>
              </a:rPr>
              <a:t>if</a:t>
            </a:r>
            <a:r>
              <a:rPr lang="en-GB" i="1" dirty="0"/>
              <a:t> </a:t>
            </a:r>
            <a:r>
              <a:rPr lang="en-GB" i="1" dirty="0">
                <a:solidFill>
                  <a:srgbClr val="7030A0"/>
                </a:solidFill>
              </a:rPr>
              <a:t>z</a:t>
            </a:r>
            <a:r>
              <a:rPr lang="en-GB" i="1" dirty="0"/>
              <a:t> </a:t>
            </a:r>
            <a:r>
              <a:rPr lang="en-GB" i="1" dirty="0" err="1">
                <a:solidFill>
                  <a:srgbClr val="00B050"/>
                </a:solidFill>
              </a:rPr>
              <a:t>goto</a:t>
            </a:r>
            <a:r>
              <a:rPr lang="en-GB" i="1" dirty="0">
                <a:solidFill>
                  <a:srgbClr val="00B050"/>
                </a:solidFill>
              </a:rPr>
              <a:t> L1</a:t>
            </a:r>
          </a:p>
          <a:p>
            <a:pPr marL="0" indent="0">
              <a:buNone/>
            </a:pPr>
            <a:r>
              <a:rPr lang="en-GB" i="1" dirty="0"/>
              <a:t>           </a:t>
            </a:r>
            <a:r>
              <a:rPr lang="en-GB" i="1" dirty="0">
                <a:solidFill>
                  <a:srgbClr val="00B050"/>
                </a:solidFill>
              </a:rPr>
              <a:t>jump L2</a:t>
            </a:r>
            <a:endParaRPr lang="en-SG" i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SG" dirty="0"/>
              <a:t>L2:</a:t>
            </a:r>
          </a:p>
          <a:p>
            <a:pPr marL="0" indent="0">
              <a:buNone/>
            </a:pPr>
            <a:r>
              <a:rPr lang="en-SG" dirty="0"/>
              <a:t>	…</a:t>
            </a:r>
          </a:p>
        </p:txBody>
      </p:sp>
    </p:spTree>
    <p:extLst>
      <p:ext uri="{BB962C8B-B14F-4D97-AF65-F5344CB8AC3E}">
        <p14:creationId xmlns:p14="http://schemas.microsoft.com/office/powerpoint/2010/main" val="2446787094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676B2-1B06-A507-4D2F-5FC0FDA40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block in TAC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F4944-D594-B5EC-4A8C-84B643D906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b="1" dirty="0"/>
              <a:t>Question: </a:t>
            </a:r>
            <a:r>
              <a:rPr lang="en-GB" dirty="0"/>
              <a:t>Which C code could have potentially generated this TAC?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65029-C7BC-122A-DEF7-A19DA071BA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L0:</a:t>
            </a:r>
          </a:p>
          <a:p>
            <a:pPr marL="0" indent="0">
              <a:buNone/>
            </a:pPr>
            <a:r>
              <a:rPr lang="en-GB" dirty="0"/>
              <a:t>	…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/>
                </a:solidFill>
              </a:rPr>
              <a:t>L1: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>
                    <a:lumMod val="50000"/>
                  </a:schemeClr>
                </a:solidFill>
              </a:rPr>
              <a:t>	x := x - 1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>
                    <a:lumMod val="50000"/>
                  </a:schemeClr>
                </a:solidFill>
              </a:rPr>
              <a:t>	z := x &gt; 0</a:t>
            </a:r>
          </a:p>
          <a:p>
            <a:pPr marL="0" indent="0">
              <a:buNone/>
            </a:pPr>
            <a:r>
              <a:rPr lang="en-GB" i="1" dirty="0"/>
              <a:t>	</a:t>
            </a:r>
            <a:r>
              <a:rPr lang="en-GB" i="1" dirty="0">
                <a:solidFill>
                  <a:srgbClr val="7030A0"/>
                </a:solidFill>
              </a:rPr>
              <a:t>if</a:t>
            </a:r>
            <a:r>
              <a:rPr lang="en-GB" i="1" dirty="0"/>
              <a:t> </a:t>
            </a:r>
            <a:r>
              <a:rPr lang="en-GB" i="1" dirty="0">
                <a:solidFill>
                  <a:srgbClr val="7030A0"/>
                </a:solidFill>
              </a:rPr>
              <a:t>z</a:t>
            </a:r>
            <a:r>
              <a:rPr lang="en-GB" i="1" dirty="0"/>
              <a:t> </a:t>
            </a:r>
            <a:r>
              <a:rPr lang="en-GB" i="1" dirty="0" err="1">
                <a:solidFill>
                  <a:srgbClr val="00B050"/>
                </a:solidFill>
              </a:rPr>
              <a:t>goto</a:t>
            </a:r>
            <a:r>
              <a:rPr lang="en-GB" i="1" dirty="0">
                <a:solidFill>
                  <a:srgbClr val="00B050"/>
                </a:solidFill>
              </a:rPr>
              <a:t> L1</a:t>
            </a:r>
          </a:p>
          <a:p>
            <a:pPr marL="0" indent="0">
              <a:buNone/>
            </a:pPr>
            <a:r>
              <a:rPr lang="en-GB" i="1" dirty="0"/>
              <a:t>           </a:t>
            </a:r>
            <a:r>
              <a:rPr lang="en-GB" i="1" dirty="0">
                <a:solidFill>
                  <a:srgbClr val="00B050"/>
                </a:solidFill>
              </a:rPr>
              <a:t>jump L2</a:t>
            </a:r>
            <a:endParaRPr lang="en-SG" i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SG" dirty="0"/>
              <a:t>L2:</a:t>
            </a:r>
          </a:p>
          <a:p>
            <a:pPr marL="0" indent="0">
              <a:buNone/>
            </a:pPr>
            <a:r>
              <a:rPr lang="en-SG" dirty="0"/>
              <a:t>	…</a:t>
            </a:r>
          </a:p>
        </p:txBody>
      </p:sp>
    </p:spTree>
    <p:extLst>
      <p:ext uri="{BB962C8B-B14F-4D97-AF65-F5344CB8AC3E}">
        <p14:creationId xmlns:p14="http://schemas.microsoft.com/office/powerpoint/2010/main" val="194359269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4676B2-1B06-A507-4D2F-5FC0FDA40F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 block in TAC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CF4944-D594-B5EC-4A8C-84B643D9060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Question: </a:t>
            </a:r>
            <a:r>
              <a:rPr lang="en-GB" dirty="0"/>
              <a:t>Which C code could have potentially generated this TAC?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int x = 4; </a:t>
            </a:r>
          </a:p>
          <a:p>
            <a:pPr marL="0" indent="0">
              <a:buNone/>
            </a:pPr>
            <a:r>
              <a:rPr lang="en-GB" dirty="0"/>
              <a:t>…                               (Some code L0)</a:t>
            </a:r>
          </a:p>
          <a:p>
            <a:pPr marL="0" indent="0">
              <a:buNone/>
            </a:pPr>
            <a:r>
              <a:rPr lang="en-GB" dirty="0"/>
              <a:t>do {</a:t>
            </a:r>
          </a:p>
          <a:p>
            <a:pPr marL="0" indent="0">
              <a:buNone/>
            </a:pPr>
            <a:r>
              <a:rPr lang="en-GB" dirty="0"/>
              <a:t>	x = x - 1</a:t>
            </a:r>
          </a:p>
          <a:p>
            <a:pPr marL="0" indent="0">
              <a:buNone/>
            </a:pPr>
            <a:r>
              <a:rPr lang="en-GB" dirty="0"/>
              <a:t>} while (x &gt; 0)</a:t>
            </a:r>
          </a:p>
          <a:p>
            <a:pPr marL="0" indent="0">
              <a:buNone/>
            </a:pPr>
            <a:r>
              <a:rPr lang="en-GB" dirty="0"/>
              <a:t>…                (Some more code in L2)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7E65029-C7BC-122A-DEF7-A19DA071BA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L0:</a:t>
            </a:r>
          </a:p>
          <a:p>
            <a:pPr marL="0" indent="0">
              <a:buNone/>
            </a:pPr>
            <a:r>
              <a:rPr lang="en-GB" dirty="0"/>
              <a:t>	…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/>
                </a:solidFill>
              </a:rPr>
              <a:t>L1: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>
                    <a:lumMod val="50000"/>
                  </a:schemeClr>
                </a:solidFill>
              </a:rPr>
              <a:t>	x := x - 1</a:t>
            </a:r>
          </a:p>
          <a:p>
            <a:pPr marL="0" indent="0">
              <a:buNone/>
            </a:pPr>
            <a:r>
              <a:rPr lang="en-GB" i="1" dirty="0">
                <a:solidFill>
                  <a:schemeClr val="accent2">
                    <a:lumMod val="50000"/>
                  </a:schemeClr>
                </a:solidFill>
              </a:rPr>
              <a:t>	z := x &gt; 0</a:t>
            </a:r>
          </a:p>
          <a:p>
            <a:pPr marL="0" indent="0">
              <a:buNone/>
            </a:pPr>
            <a:r>
              <a:rPr lang="en-GB" i="1" dirty="0"/>
              <a:t>	</a:t>
            </a:r>
            <a:r>
              <a:rPr lang="en-GB" i="1" dirty="0">
                <a:solidFill>
                  <a:srgbClr val="7030A0"/>
                </a:solidFill>
              </a:rPr>
              <a:t>if</a:t>
            </a:r>
            <a:r>
              <a:rPr lang="en-GB" i="1" dirty="0"/>
              <a:t> </a:t>
            </a:r>
            <a:r>
              <a:rPr lang="en-GB" i="1" dirty="0">
                <a:solidFill>
                  <a:srgbClr val="7030A0"/>
                </a:solidFill>
              </a:rPr>
              <a:t>z</a:t>
            </a:r>
            <a:r>
              <a:rPr lang="en-GB" i="1" dirty="0"/>
              <a:t> </a:t>
            </a:r>
            <a:r>
              <a:rPr lang="en-GB" i="1" dirty="0" err="1">
                <a:solidFill>
                  <a:srgbClr val="00B050"/>
                </a:solidFill>
              </a:rPr>
              <a:t>goto</a:t>
            </a:r>
            <a:r>
              <a:rPr lang="en-GB" i="1" dirty="0">
                <a:solidFill>
                  <a:srgbClr val="00B050"/>
                </a:solidFill>
              </a:rPr>
              <a:t> L1</a:t>
            </a:r>
          </a:p>
          <a:p>
            <a:pPr marL="0" indent="0">
              <a:buNone/>
            </a:pPr>
            <a:r>
              <a:rPr lang="en-GB" i="1" dirty="0"/>
              <a:t>           </a:t>
            </a:r>
            <a:r>
              <a:rPr lang="en-GB" i="1" dirty="0">
                <a:solidFill>
                  <a:srgbClr val="00B050"/>
                </a:solidFill>
              </a:rPr>
              <a:t>jump L2</a:t>
            </a:r>
            <a:endParaRPr lang="en-SG" i="1" dirty="0">
              <a:solidFill>
                <a:srgbClr val="00B050"/>
              </a:solidFill>
            </a:endParaRPr>
          </a:p>
          <a:p>
            <a:pPr marL="0" indent="0">
              <a:buNone/>
            </a:pPr>
            <a:r>
              <a:rPr lang="en-SG" dirty="0"/>
              <a:t>L2:</a:t>
            </a:r>
          </a:p>
          <a:p>
            <a:pPr marL="0" indent="0">
              <a:buNone/>
            </a:pPr>
            <a:r>
              <a:rPr lang="en-SG" dirty="0"/>
              <a:t>	…</a:t>
            </a:r>
          </a:p>
        </p:txBody>
      </p:sp>
    </p:spTree>
    <p:extLst>
      <p:ext uri="{BB962C8B-B14F-4D97-AF65-F5344CB8AC3E}">
        <p14:creationId xmlns:p14="http://schemas.microsoft.com/office/powerpoint/2010/main" val="251424277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5C463B-0C22-0F77-40FE-88AF66FC0C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 graph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752C6F-5587-2D21-BE9B-404B8885E89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4"/>
            <a:ext cx="5181600" cy="503237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b="1" dirty="0"/>
              <a:t>Definition (</a:t>
            </a:r>
            <a:r>
              <a:rPr lang="en-GB" b="1" dirty="0">
                <a:solidFill>
                  <a:srgbClr val="00B050"/>
                </a:solidFill>
              </a:rPr>
              <a:t>control-flow</a:t>
            </a:r>
            <a:r>
              <a:rPr lang="en-GB" b="1" dirty="0"/>
              <a:t> </a:t>
            </a:r>
            <a:r>
              <a:rPr lang="en-GB" b="1" dirty="0">
                <a:solidFill>
                  <a:srgbClr val="00B050"/>
                </a:solidFill>
              </a:rPr>
              <a:t>graph</a:t>
            </a:r>
            <a:r>
              <a:rPr lang="en-GB" b="1" dirty="0"/>
              <a:t>):</a:t>
            </a:r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b="1" dirty="0">
                <a:solidFill>
                  <a:srgbClr val="00B050"/>
                </a:solidFill>
              </a:rPr>
              <a:t>control-flow graph </a:t>
            </a:r>
            <a:r>
              <a:rPr lang="en-GB" dirty="0"/>
              <a:t>is a directed graph with basic blocks as nodes, and an edge from block A to block B if the execution can pass from the last instruction in A to the first instruction in B.</a:t>
            </a:r>
          </a:p>
          <a:p>
            <a:r>
              <a:rPr lang="en-GB" dirty="0"/>
              <a:t>E.g., the last instruction in A is jump LB and execution can fall-through from block A to block B.</a:t>
            </a:r>
          </a:p>
          <a:p>
            <a:pPr marL="0" indent="0">
              <a:buNone/>
            </a:pPr>
            <a:r>
              <a:rPr lang="en-GB" dirty="0"/>
              <a:t>Used for if/for/while/functions!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312718C6-3124-31AC-774E-87379857989B}"/>
              </a:ext>
            </a:extLst>
          </p:cNvPr>
          <p:cNvGraphicFramePr/>
          <p:nvPr/>
        </p:nvGraphicFramePr>
        <p:xfrm>
          <a:off x="6768122" y="218831"/>
          <a:ext cx="5111263" cy="656492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957368A-99CA-FE00-7C63-A59AF2DEAB2B}"/>
              </a:ext>
            </a:extLst>
          </p:cNvPr>
          <p:cNvCxnSpPr/>
          <p:nvPr/>
        </p:nvCxnSpPr>
        <p:spPr>
          <a:xfrm>
            <a:off x="9284677" y="1544394"/>
            <a:ext cx="0" cy="409452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96F33F9C-99EB-0AF2-5FB4-B17E37341A02}"/>
              </a:ext>
            </a:extLst>
          </p:cNvPr>
          <p:cNvCxnSpPr/>
          <p:nvPr/>
        </p:nvCxnSpPr>
        <p:spPr>
          <a:xfrm>
            <a:off x="9284677" y="5049594"/>
            <a:ext cx="0" cy="409452"/>
          </a:xfrm>
          <a:prstGeom prst="straightConnector1">
            <a:avLst/>
          </a:prstGeom>
          <a:ln w="38100">
            <a:headEnd type="none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DC69EBF7-E74C-E0AF-EA07-B553B4A85F83}"/>
              </a:ext>
            </a:extLst>
          </p:cNvPr>
          <p:cNvSpPr/>
          <p:nvPr/>
        </p:nvSpPr>
        <p:spPr>
          <a:xfrm>
            <a:off x="6595825" y="1687290"/>
            <a:ext cx="2688852" cy="3606135"/>
          </a:xfrm>
          <a:custGeom>
            <a:avLst/>
            <a:gdLst>
              <a:gd name="connsiteX0" fmla="*/ 2688852 w 2688852"/>
              <a:gd name="connsiteY0" fmla="*/ 3541202 h 3606135"/>
              <a:gd name="connsiteX1" fmla="*/ 445837 w 2688852"/>
              <a:gd name="connsiteY1" fmla="*/ 3502125 h 3606135"/>
              <a:gd name="connsiteX2" fmla="*/ 31621 w 2688852"/>
              <a:gd name="connsiteY2" fmla="*/ 2564279 h 3606135"/>
              <a:gd name="connsiteX3" fmla="*/ 55067 w 2688852"/>
              <a:gd name="connsiteY3" fmla="*/ 844895 h 3606135"/>
              <a:gd name="connsiteX4" fmla="*/ 266083 w 2688852"/>
              <a:gd name="connsiteY4" fmla="*/ 110248 h 3606135"/>
              <a:gd name="connsiteX5" fmla="*/ 2681037 w 2688852"/>
              <a:gd name="connsiteY5" fmla="*/ 16464 h 3606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688852" h="3606135">
                <a:moveTo>
                  <a:pt x="2688852" y="3541202"/>
                </a:moveTo>
                <a:cubicBezTo>
                  <a:pt x="1788780" y="3603073"/>
                  <a:pt x="888709" y="3664945"/>
                  <a:pt x="445837" y="3502125"/>
                </a:cubicBezTo>
                <a:cubicBezTo>
                  <a:pt x="2965" y="3339305"/>
                  <a:pt x="96749" y="3007151"/>
                  <a:pt x="31621" y="2564279"/>
                </a:cubicBezTo>
                <a:cubicBezTo>
                  <a:pt x="-33507" y="2121407"/>
                  <a:pt x="15990" y="1253900"/>
                  <a:pt x="55067" y="844895"/>
                </a:cubicBezTo>
                <a:cubicBezTo>
                  <a:pt x="94144" y="435890"/>
                  <a:pt x="-171578" y="248320"/>
                  <a:pt x="266083" y="110248"/>
                </a:cubicBezTo>
                <a:cubicBezTo>
                  <a:pt x="703744" y="-27824"/>
                  <a:pt x="1692390" y="-5680"/>
                  <a:pt x="2681037" y="16464"/>
                </a:cubicBezTo>
              </a:path>
            </a:pathLst>
          </a:custGeom>
          <a:noFill/>
          <a:ln w="38100">
            <a:solidFill>
              <a:schemeClr val="accent1"/>
            </a:solidFill>
            <a:headEnd type="none" w="med" len="med"/>
            <a:tailEnd type="arrow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SG"/>
          </a:p>
        </p:txBody>
      </p:sp>
    </p:spTree>
    <p:extLst>
      <p:ext uri="{BB962C8B-B14F-4D97-AF65-F5344CB8AC3E}">
        <p14:creationId xmlns:p14="http://schemas.microsoft.com/office/powerpoint/2010/main" val="863606253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424C5-2664-4C8D-3F4D-1061B7287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Conclusion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F3464BD-D977-B4D3-6735-26DA3AD001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5032375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Finished with the front-end part of the compiler.</a:t>
            </a:r>
          </a:p>
          <a:p>
            <a:r>
              <a:rPr lang="en-GB" sz="2800" dirty="0"/>
              <a:t>Can now safely check if a code is legal or not.</a:t>
            </a:r>
          </a:p>
          <a:p>
            <a:pPr lvl="1"/>
            <a:endParaRPr lang="en-GB" sz="2800" dirty="0"/>
          </a:p>
          <a:p>
            <a:pPr marL="0" indent="0">
              <a:buNone/>
            </a:pPr>
            <a:r>
              <a:rPr lang="en-GB" dirty="0"/>
              <a:t>The SDT/AST gives us a solid candidate for a first translation, using an intermediate language of some sort.</a:t>
            </a:r>
          </a:p>
          <a:p>
            <a:r>
              <a:rPr lang="en-GB" dirty="0"/>
              <a:t>Easily done with a mapping of some sort.</a:t>
            </a:r>
          </a:p>
          <a:p>
            <a:r>
              <a:rPr lang="en-GB" dirty="0"/>
              <a:t>Curious about how the generation of the TAC code is done using a mapping on the SDT instructions?</a:t>
            </a:r>
            <a:br>
              <a:rPr lang="en-GB" dirty="0"/>
            </a:br>
            <a:r>
              <a:rPr lang="en-GB" dirty="0">
                <a:sym typeface="Wingdings" panose="05000000000000000000" pitchFamily="2" charset="2"/>
              </a:rPr>
              <a:t> </a:t>
            </a:r>
            <a:r>
              <a:rPr lang="en-GB" dirty="0"/>
              <a:t>Check bonus slides attached to today’s lecture (tough!).</a:t>
            </a:r>
          </a:p>
        </p:txBody>
      </p:sp>
    </p:spTree>
    <p:extLst>
      <p:ext uri="{BB962C8B-B14F-4D97-AF65-F5344CB8AC3E}">
        <p14:creationId xmlns:p14="http://schemas.microsoft.com/office/powerpoint/2010/main" val="655666416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2BA30-6684-2E97-47E0-AF69AF54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875254-CC77-41F2-0959-DED77000B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Which of the following best describes the structure of a three-address code?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Three operands and one operator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Two operands and two operators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One operand and three operators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Three operands and no operator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1593912804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2BA30-6684-2E97-47E0-AF69AF54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875254-CC77-41F2-0959-DED77000B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Which of the following best describes the structure of a three-address code?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Three operands and one operator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Two operands and two operators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One operand and three operators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Three operands and no operator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3527326922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41069-A8BE-FE55-5F34-EF006B72C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E478B-41F6-6DF6-B7C6-378C2C2B2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the context of three-address code, what is the purpose of the "basic block" concept? 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define a sequence of code with a single entry and exit point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divide code into smaller, manageable units for optimization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handle loops and conditional statements correctly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All of the above</a:t>
            </a:r>
          </a:p>
          <a:p>
            <a:pPr marL="514350" indent="-514350">
              <a:buFont typeface="+mj-lt"/>
              <a:buAutoNum type="alphaUcPeriod"/>
            </a:pPr>
            <a:r>
              <a:rPr lang="en-SG" dirty="0"/>
              <a:t>None of the above</a:t>
            </a:r>
          </a:p>
        </p:txBody>
      </p:sp>
    </p:spTree>
    <p:extLst>
      <p:ext uri="{BB962C8B-B14F-4D97-AF65-F5344CB8AC3E}">
        <p14:creationId xmlns:p14="http://schemas.microsoft.com/office/powerpoint/2010/main" val="29258395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C41069-A8BE-FE55-5F34-EF006B72CE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1E478B-41F6-6DF6-B7C6-378C2C2B2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In the context of three-address code, what is the purpose of the "basic block" concept? 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define a sequence of code with a single entry and exit point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divide code into smaller, manageable units for optimization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To handle loops and conditional statements correctly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All of the above (more on B in the next lecture!)</a:t>
            </a:r>
          </a:p>
          <a:p>
            <a:pPr marL="514350" indent="-514350">
              <a:buFont typeface="+mj-lt"/>
              <a:buAutoNum type="alphaUcPeriod"/>
            </a:pPr>
            <a:r>
              <a:rPr lang="en-SG" dirty="0"/>
              <a:t>None of the above</a:t>
            </a:r>
          </a:p>
        </p:txBody>
      </p:sp>
    </p:spTree>
    <p:extLst>
      <p:ext uri="{BB962C8B-B14F-4D97-AF65-F5344CB8AC3E}">
        <p14:creationId xmlns:p14="http://schemas.microsoft.com/office/powerpoint/2010/main" val="228402102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2BA30-6684-2E97-47E0-AF69AF54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875254-CC77-41F2-0959-DED77000B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Which of the following is NOT a common operation that can be implemented using three-address code? 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Arithmetic operations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Conditional jumps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Loops 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Dynamic memory allocation</a:t>
            </a:r>
            <a:endParaRPr lang="en-SG" dirty="0"/>
          </a:p>
        </p:txBody>
      </p:sp>
    </p:spTree>
    <p:extLst>
      <p:ext uri="{BB962C8B-B14F-4D97-AF65-F5344CB8AC3E}">
        <p14:creationId xmlns:p14="http://schemas.microsoft.com/office/powerpoint/2010/main" val="2590547302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2BA30-6684-2E97-47E0-AF69AF54E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Quiz time!</a:t>
            </a:r>
            <a:endParaRPr lang="en-SG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F875254-CC77-41F2-0959-DED77000B22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b="1" dirty="0"/>
              <a:t>Which of the following is NOT a common operation that can be implemented using three-address code? 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Arithmetic operations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Conditional jumps</a:t>
            </a:r>
          </a:p>
          <a:p>
            <a:pPr marL="514350" indent="-514350">
              <a:buFont typeface="+mj-lt"/>
              <a:buAutoNum type="alphaUcPeriod"/>
            </a:pPr>
            <a:r>
              <a:rPr lang="en-GB" dirty="0"/>
              <a:t>Loops</a:t>
            </a:r>
          </a:p>
          <a:p>
            <a:pPr marL="514350" indent="-514350">
              <a:buFont typeface="+mj-lt"/>
              <a:buAutoNum type="alphaUcPeriod"/>
            </a:pPr>
            <a:r>
              <a:rPr lang="en-GB" b="1" dirty="0">
                <a:solidFill>
                  <a:srgbClr val="00B050"/>
                </a:solidFill>
              </a:rPr>
              <a:t>Dynamic memory allocation (that is something the backend will have to resolve later on during register allocation!)</a:t>
            </a:r>
            <a:endParaRPr lang="en-SG" b="1" dirty="0">
              <a:solidFill>
                <a:srgbClr val="00B05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11095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2342</TotalTime>
  <Words>7039</Words>
  <Application>Microsoft Office PowerPoint</Application>
  <PresentationFormat>Widescreen</PresentationFormat>
  <Paragraphs>780</Paragraphs>
  <Slides>85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85</vt:i4>
      </vt:variant>
    </vt:vector>
  </HeadingPairs>
  <TitlesOfParts>
    <vt:vector size="91" baseType="lpstr">
      <vt:lpstr>Arial</vt:lpstr>
      <vt:lpstr>Calibri</vt:lpstr>
      <vt:lpstr>Calibri Light</vt:lpstr>
      <vt:lpstr>Cambria Math</vt:lpstr>
      <vt:lpstr>Wingdings</vt:lpstr>
      <vt:lpstr>Office Theme</vt:lpstr>
      <vt:lpstr>50.051 Programming Language Concepts  W11-S3 Semantic Analysis(Part 2) and intermediate code representation</vt:lpstr>
      <vt:lpstr>The front-end of a compiler</vt:lpstr>
      <vt:lpstr>Examples of remaining errors</vt:lpstr>
      <vt:lpstr>Examples of remaining errors</vt:lpstr>
      <vt:lpstr>Semantic analysis and ASTs</vt:lpstr>
      <vt:lpstr>What are Types? </vt:lpstr>
      <vt:lpstr>What are Types? </vt:lpstr>
      <vt:lpstr>Strong vs. weak type systems</vt:lpstr>
      <vt:lpstr>Strong vs. weak type systems</vt:lpstr>
      <vt:lpstr>Implicit vs. Explicit type conversion</vt:lpstr>
      <vt:lpstr>Implicit vs. Explicit type conversion</vt:lpstr>
      <vt:lpstr>Strong vs. weak type systems</vt:lpstr>
      <vt:lpstr>Strong vs. weak type systems</vt:lpstr>
      <vt:lpstr>Types errors</vt:lpstr>
      <vt:lpstr>Static vs Dynamic type checking</vt:lpstr>
      <vt:lpstr>Endless debate</vt:lpstr>
      <vt:lpstr>Types inference</vt:lpstr>
      <vt:lpstr>Types inference for operators (Python)</vt:lpstr>
      <vt:lpstr>Types inference for operators (Python)</vt:lpstr>
      <vt:lpstr>Types inference for operators (Python)</vt:lpstr>
      <vt:lpstr>Types inference for operators (C)</vt:lpstr>
      <vt:lpstr>Types inference for operators (C)</vt:lpstr>
      <vt:lpstr>Types inference for operators (C++)</vt:lpstr>
      <vt:lpstr>Types inference for operators (C++)</vt:lpstr>
      <vt:lpstr>Type Checking as Proofs</vt:lpstr>
      <vt:lpstr>Some examples of types inference rules</vt:lpstr>
      <vt:lpstr>Formalism for Type Inference</vt:lpstr>
      <vt:lpstr>Formalism for Type Inference</vt:lpstr>
      <vt:lpstr>Some examples of types inference rules</vt:lpstr>
      <vt:lpstr>Some examples of types inference rules</vt:lpstr>
      <vt:lpstr>Some examples of types inference rules</vt:lpstr>
      <vt:lpstr>Operations tables</vt:lpstr>
      <vt:lpstr>PowerPoint Presentation</vt:lpstr>
      <vt:lpstr>Some examples of types inference rules</vt:lpstr>
      <vt:lpstr>Some examples of types inference rules</vt:lpstr>
      <vt:lpstr>Some examples of types inference rules</vt:lpstr>
      <vt:lpstr>Some examples of types inference rules</vt:lpstr>
      <vt:lpstr>Some examples of types inference rules</vt:lpstr>
      <vt:lpstr>Defining custom classes</vt:lpstr>
      <vt:lpstr>Defining custom classes</vt:lpstr>
      <vt:lpstr>PowerPoint Presentation</vt:lpstr>
      <vt:lpstr>Defining custom classes</vt:lpstr>
      <vt:lpstr>Properties of inheritance structures</vt:lpstr>
      <vt:lpstr>Properties of inheritance structures</vt:lpstr>
      <vt:lpstr>Properties of inheritance structures</vt:lpstr>
      <vt:lpstr>Properties of inheritance structures</vt:lpstr>
      <vt:lpstr>Careful about operations overloading</vt:lpstr>
      <vt:lpstr>Some examples of types inference rules</vt:lpstr>
      <vt:lpstr>Some examples of types inference rules</vt:lpstr>
      <vt:lpstr>Some examples of types inference rules</vt:lpstr>
      <vt:lpstr>Defining custom classes</vt:lpstr>
      <vt:lpstr>Error reporting and recovery</vt:lpstr>
      <vt:lpstr>Compiler Error Recovery</vt:lpstr>
      <vt:lpstr>Quiz time!</vt:lpstr>
      <vt:lpstr>Quiz time!</vt:lpstr>
      <vt:lpstr>Quiz time!</vt:lpstr>
      <vt:lpstr>Quiz time!</vt:lpstr>
      <vt:lpstr>Quiz time!</vt:lpstr>
      <vt:lpstr>Quiz time!</vt:lpstr>
      <vt:lpstr>Other tasks in semantic analysis</vt:lpstr>
      <vt:lpstr>Other tasks in semantic analysis</vt:lpstr>
      <vt:lpstr>Code is legal!</vt:lpstr>
      <vt:lpstr>Code is legal!</vt:lpstr>
      <vt:lpstr>The end of the front-end?</vt:lpstr>
      <vt:lpstr>The end of the front-end?</vt:lpstr>
      <vt:lpstr>Intermediate code generation</vt:lpstr>
      <vt:lpstr>Intermediate code generation</vt:lpstr>
      <vt:lpstr>Three-address code representation</vt:lpstr>
      <vt:lpstr>Three-address code representation</vt:lpstr>
      <vt:lpstr>From CFG to SDT to IR?!</vt:lpstr>
      <vt:lpstr>TAC generation for SDT expressions</vt:lpstr>
      <vt:lpstr>A quick note before we start</vt:lpstr>
      <vt:lpstr>CFG for TAC</vt:lpstr>
      <vt:lpstr>Basic block in TAC</vt:lpstr>
      <vt:lpstr>Basic block in TAC</vt:lpstr>
      <vt:lpstr>Basic block in TAC</vt:lpstr>
      <vt:lpstr>Basic block in TAC</vt:lpstr>
      <vt:lpstr>Control flow graph</vt:lpstr>
      <vt:lpstr>Conclusion</vt:lpstr>
      <vt:lpstr>Quiz time!</vt:lpstr>
      <vt:lpstr>Quiz time!</vt:lpstr>
      <vt:lpstr>Quiz time!</vt:lpstr>
      <vt:lpstr>Quiz time!</vt:lpstr>
      <vt:lpstr>Quiz time!</vt:lpstr>
      <vt:lpstr>Quiz time!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50.051 Programming Language Concepts  W1-S1 Introduction to Compilers and Course Outline</dc:title>
  <dc:creator>Matthieu DE MARI</dc:creator>
  <cp:lastModifiedBy>Matthieu De Mari</cp:lastModifiedBy>
  <cp:revision>1</cp:revision>
  <dcterms:created xsi:type="dcterms:W3CDTF">2023-03-02T06:54:24Z</dcterms:created>
  <dcterms:modified xsi:type="dcterms:W3CDTF">2026-01-14T09:52:27Z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7fde23a9-9a05-4714-826f-57380a17bd9d_Enabled">
    <vt:lpwstr>true</vt:lpwstr>
  </property>
  <property fmtid="{D5CDD505-2E9C-101B-9397-08002B2CF9AE}" pid="3" name="MSIP_Label_7fde23a9-9a05-4714-826f-57380a17bd9d_SetDate">
    <vt:lpwstr>2023-03-02T06:54:28Z</vt:lpwstr>
  </property>
  <property fmtid="{D5CDD505-2E9C-101B-9397-08002B2CF9AE}" pid="4" name="MSIP_Label_7fde23a9-9a05-4714-826f-57380a17bd9d_Method">
    <vt:lpwstr>Privileged</vt:lpwstr>
  </property>
  <property fmtid="{D5CDD505-2E9C-101B-9397-08002B2CF9AE}" pid="5" name="MSIP_Label_7fde23a9-9a05-4714-826f-57380a17bd9d_Name">
    <vt:lpwstr>Restricted</vt:lpwstr>
  </property>
  <property fmtid="{D5CDD505-2E9C-101B-9397-08002B2CF9AE}" pid="6" name="MSIP_Label_7fde23a9-9a05-4714-826f-57380a17bd9d_SiteId">
    <vt:lpwstr>3476b776-e990-4f72-b950-62489831623d</vt:lpwstr>
  </property>
  <property fmtid="{D5CDD505-2E9C-101B-9397-08002B2CF9AE}" pid="7" name="MSIP_Label_7fde23a9-9a05-4714-826f-57380a17bd9d_ActionId">
    <vt:lpwstr>d53d049c-34cc-4ec9-a6d9-543a36f42364</vt:lpwstr>
  </property>
  <property fmtid="{D5CDD505-2E9C-101B-9397-08002B2CF9AE}" pid="8" name="MSIP_Label_7fde23a9-9a05-4714-826f-57380a17bd9d_ContentBits">
    <vt:lpwstr>3</vt:lpwstr>
  </property>
  <property fmtid="{D5CDD505-2E9C-101B-9397-08002B2CF9AE}" pid="9" name="ClassificationContentMarkingFooterLocations">
    <vt:lpwstr>Office Theme:10</vt:lpwstr>
  </property>
  <property fmtid="{D5CDD505-2E9C-101B-9397-08002B2CF9AE}" pid="10" name="ClassificationContentMarkingFooterText">
    <vt:lpwstr>Restricted</vt:lpwstr>
  </property>
  <property fmtid="{D5CDD505-2E9C-101B-9397-08002B2CF9AE}" pid="11" name="ClassificationContentMarkingHeaderLocations">
    <vt:lpwstr>Office Theme:9</vt:lpwstr>
  </property>
  <property fmtid="{D5CDD505-2E9C-101B-9397-08002B2CF9AE}" pid="12" name="ClassificationContentMarkingHeaderText">
    <vt:lpwstr>Restricted</vt:lpwstr>
  </property>
</Properties>
</file>