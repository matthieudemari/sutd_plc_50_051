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377" r:id="rId2"/>
    <p:sldId id="378" r:id="rId3"/>
    <p:sldId id="380" r:id="rId4"/>
    <p:sldId id="381" r:id="rId5"/>
    <p:sldId id="388" r:id="rId6"/>
    <p:sldId id="389" r:id="rId7"/>
    <p:sldId id="390" r:id="rId8"/>
    <p:sldId id="391" r:id="rId9"/>
    <p:sldId id="392" r:id="rId10"/>
    <p:sldId id="393" r:id="rId11"/>
    <p:sldId id="394" r:id="rId12"/>
    <p:sldId id="395" r:id="rId13"/>
    <p:sldId id="396" r:id="rId14"/>
    <p:sldId id="398" r:id="rId15"/>
    <p:sldId id="397" r:id="rId16"/>
    <p:sldId id="399" r:id="rId17"/>
    <p:sldId id="400" r:id="rId18"/>
    <p:sldId id="401" r:id="rId19"/>
    <p:sldId id="402" r:id="rId20"/>
    <p:sldId id="403" r:id="rId21"/>
    <p:sldId id="404" r:id="rId22"/>
    <p:sldId id="405" r:id="rId23"/>
    <p:sldId id="406" r:id="rId24"/>
    <p:sldId id="407" r:id="rId25"/>
    <p:sldId id="387" r:id="rId26"/>
    <p:sldId id="386" r:id="rId27"/>
    <p:sldId id="416" r:id="rId28"/>
    <p:sldId id="417" r:id="rId29"/>
    <p:sldId id="415" r:id="rId30"/>
    <p:sldId id="409" r:id="rId31"/>
    <p:sldId id="410" r:id="rId32"/>
    <p:sldId id="411" r:id="rId33"/>
    <p:sldId id="412" r:id="rId34"/>
    <p:sldId id="413" r:id="rId35"/>
    <p:sldId id="414" r:id="rId36"/>
    <p:sldId id="382" r:id="rId37"/>
    <p:sldId id="419" r:id="rId38"/>
    <p:sldId id="441" r:id="rId39"/>
    <p:sldId id="420" r:id="rId40"/>
    <p:sldId id="440" r:id="rId41"/>
    <p:sldId id="379" r:id="rId42"/>
    <p:sldId id="422" r:id="rId43"/>
    <p:sldId id="423" r:id="rId44"/>
    <p:sldId id="443" r:id="rId45"/>
    <p:sldId id="408" r:id="rId46"/>
    <p:sldId id="425" r:id="rId47"/>
    <p:sldId id="426" r:id="rId48"/>
    <p:sldId id="427" r:id="rId49"/>
    <p:sldId id="429" r:id="rId50"/>
    <p:sldId id="430" r:id="rId51"/>
    <p:sldId id="438" r:id="rId52"/>
    <p:sldId id="439" r:id="rId53"/>
    <p:sldId id="432" r:id="rId54"/>
    <p:sldId id="433" r:id="rId55"/>
    <p:sldId id="434" r:id="rId56"/>
    <p:sldId id="435" r:id="rId57"/>
    <p:sldId id="436" r:id="rId58"/>
    <p:sldId id="437" r:id="rId59"/>
    <p:sldId id="421" r:id="rId60"/>
    <p:sldId id="431" r:id="rId61"/>
    <p:sldId id="442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B78B9027-D5BB-40A0-9AF0-3B950F71C46E}">
          <p14:sldIdLst>
            <p14:sldId id="377"/>
          </p14:sldIdLst>
        </p14:section>
        <p14:section name="Where are we right now" id="{554DCEA0-590B-4FD5-BA40-9DCEB1B4452C}">
          <p14:sldIdLst>
            <p14:sldId id="378"/>
            <p14:sldId id="380"/>
          </p14:sldIdLst>
        </p14:section>
        <p14:section name="Relaxing the whitespace hypothesis" id="{EEE06065-B7C3-4489-A5A5-199E597FA216}">
          <p14:sldIdLst>
            <p14:sldId id="381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8"/>
            <p14:sldId id="397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</p14:sldIdLst>
        </p14:section>
        <p14:section name="Error handling for invalid identifiers" id="{8C6D2A78-BDF6-4BFE-8E79-9E311080F24B}">
          <p14:sldIdLst>
            <p14:sldId id="387"/>
          </p14:sldIdLst>
        </p14:section>
        <p14:section name="Implementing a maximal munch" id="{8F26BDE7-3C08-44ED-8466-1B172DFD8C9F}">
          <p14:sldIdLst>
            <p14:sldId id="386"/>
            <p14:sldId id="416"/>
            <p14:sldId id="417"/>
            <p14:sldId id="415"/>
          </p14:sldIdLst>
        </p14:section>
        <p14:section name="Implementing a line tracking and error message display" id="{510C5BAD-68C7-4264-989C-8BA4FEEF7168}">
          <p14:sldIdLst>
            <p14:sldId id="409"/>
            <p14:sldId id="410"/>
            <p14:sldId id="411"/>
            <p14:sldId id="412"/>
            <p14:sldId id="413"/>
            <p14:sldId id="414"/>
          </p14:sldIdLst>
        </p14:section>
        <p14:section name="Problems and limitations with code 1" id="{12D11AD6-848A-4D78-9D6B-B454D71BC037}">
          <p14:sldIdLst>
            <p14:sldId id="382"/>
            <p14:sldId id="419"/>
            <p14:sldId id="441"/>
            <p14:sldId id="420"/>
            <p14:sldId id="440"/>
          </p14:sldIdLst>
        </p14:section>
        <p14:section name="Recognizing and discarding comments" id="{BBC104A9-9980-47DF-A3E7-9ED3066AD4FF}">
          <p14:sldIdLst>
            <p14:sldId id="379"/>
            <p14:sldId id="422"/>
            <p14:sldId id="423"/>
            <p14:sldId id="443"/>
          </p14:sldIdLst>
        </p14:section>
        <p14:section name="Preprocessing and function imports" id="{E5D7A166-779C-4906-991C-B0FECE6E3288}">
          <p14:sldIdLst>
            <p14:sldId id="408"/>
            <p14:sldId id="425"/>
            <p14:sldId id="426"/>
            <p14:sldId id="427"/>
            <p14:sldId id="429"/>
            <p14:sldId id="430"/>
          </p14:sldIdLst>
        </p14:section>
        <p14:section name="Quiz" id="{D4347CF9-6998-4F91-810B-0D0B75252308}">
          <p14:sldIdLst>
            <p14:sldId id="438"/>
            <p14:sldId id="439"/>
            <p14:sldId id="432"/>
            <p14:sldId id="433"/>
            <p14:sldId id="434"/>
            <p14:sldId id="435"/>
            <p14:sldId id="436"/>
            <p14:sldId id="437"/>
          </p14:sldIdLst>
        </p14:section>
        <p14:section name="Practice: Removing Block Comments" id="{ECC255F3-3F25-4C8C-92FD-29E3E271A5CB}">
          <p14:sldIdLst>
            <p14:sldId id="421"/>
            <p14:sldId id="431"/>
            <p14:sldId id="44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B37E7B-2C63-881E-D1CD-0B80C5165243}" name="Matthieu DE MARI" initials="MDM" userId="15f9bd7465eafad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69" Type="http://schemas.microsoft.com/office/2018/10/relationships/authors" Target="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modSld">
      <pc:chgData name="Matthieu De Mari" userId="dfb708c9-d8dc-439f-9a3b-c772bf4a311c" providerId="ADAL" clId="{81E9B007-0C2C-493E-9B93-55A62C9C1F12}" dt="2026-03-03T10:09:39.552" v="1" actId="20577"/>
      <pc:docMkLst>
        <pc:docMk/>
      </pc:docMkLst>
      <pc:sldChg chg="modSp mod">
        <pc:chgData name="Matthieu De Mari" userId="dfb708c9-d8dc-439f-9a3b-c772bf4a311c" providerId="ADAL" clId="{81E9B007-0C2C-493E-9B93-55A62C9C1F12}" dt="2026-03-03T10:09:39.552" v="1" actId="20577"/>
        <pc:sldMkLst>
          <pc:docMk/>
          <pc:sldMk cId="1040156172" sldId="377"/>
        </pc:sldMkLst>
        <pc:spChg chg="mod">
          <ac:chgData name="Matthieu De Mari" userId="dfb708c9-d8dc-439f-9a3b-c772bf4a311c" providerId="ADAL" clId="{81E9B007-0C2C-493E-9B93-55A62C9C1F12}" dt="2026-03-03T10:09:39.552" v="1" actId="20577"/>
          <ac:spMkLst>
            <pc:docMk/>
            <pc:sldMk cId="1040156172" sldId="377"/>
            <ac:spMk id="2" creationId="{080CEB46-CC16-4D19-8C2C-AEE9471D816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FC6A4-B085-437B-8084-693BEB2A32DE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275F3-0744-4B3F-986A-B720E2CE05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2986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04E3-9B9E-0B91-AA29-B356F19B7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6A716-5C7D-F23B-5221-64E9C8264B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554BE-C464-1858-7CE8-EE087B716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C678C-234A-A12A-C292-CF7A8FE3B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58BCA-A573-1FAE-54DF-9261AECB3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9045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9CDC6-8674-88A5-68BA-4DF3EF7F3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BD233-6835-D2C8-D4B6-2377CA695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CB200-8CA3-3D50-247E-E16948501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3C4F2-0C9D-182B-FAF9-7AF1B77A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EC91B-956F-EA73-BCF4-F0796288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3055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F325-7251-4FD9-5A0A-482D96752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4414C-39F5-968A-8953-D6E4A4BBB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787D6-E021-15BD-3F47-6B3A2CEAA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13CE0-0459-2E8E-3279-EF5B62DD6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49588-601F-7C26-2A07-334BD5E2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7041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7D91B-BBA0-866E-9BF6-0971AE779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788D2-0925-B3F9-22BD-A25915E04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4DBE8-2CD0-1238-EE02-0801D12E7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C1A08-9D08-4757-4860-2175B179D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B010B-6483-0B1F-5B0B-B68323882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C635F-808F-F58D-6EB6-0AE5EFDB5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64249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0DC9-E3FF-E219-0E49-D7D20A95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E6D7B-100B-C183-40D4-96803F1BB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2DE0A-2907-D16A-F14E-54AFDA36A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10E894-7CE5-F017-AA15-A24E5281DF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920203-5A0A-1AF2-47B3-27418EB2D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BA0826-6B70-B30F-F054-248E26E2E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3948B-56AE-8DB5-883D-7E0ADA59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C00A08-E897-BB96-0E14-88D07380B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1050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3D70C-4ED2-C81B-9AC6-3791B4661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9A99B7-97F4-423D-BDAF-4827705CF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CED9FE-3730-E498-E87E-C5D4F1C98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6A7511-9EBE-2037-4332-F5B0B6AA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3300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8D6E9-5B1E-E414-B4BB-A00EAB4A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E7774D-CDCD-146B-FC2D-28E83A75B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59B5-E4B6-9852-BE06-6B29AE883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303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E1E7E-7FFC-7D20-B361-9F3B52ADF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9E599-603D-2F32-D4D8-DBAFE7625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CE027-AF2D-0C5B-C650-3D1DF50CE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A35D9-EACF-710A-C495-B386C2625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C95A1-CCC7-8794-CBB7-67865E6AB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8442F-C062-76CF-A283-7F9D4006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8207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F101F-436C-78D4-3353-52675D705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9DD766-D53E-402F-6ABB-7220593A4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81012-864C-DA8A-6BE2-C7E016EFB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4AF22-E284-A04F-35FA-BAC8CC467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DB1FE-2F11-940A-0D5F-F3D399A48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109B1-55CB-156E-CD60-2B1EB9DE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81327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99D2-6E79-0D65-DB6E-B0BBE96B9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29EEA9-80A3-BE9A-FF93-6F71EBDA4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AC008-F0D0-891C-DAED-28B00F77F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338D0-440C-2B3C-B840-065F12172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B32F4-0DEA-EC93-20BA-8671A4F5A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887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E7E0DD-AE40-51F8-67ED-2757B9CE8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5760-CB0B-CCF8-974D-AF2102498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0DC16-6EB9-6693-25EE-22631FBD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F9D08-60B1-AC3E-15DA-EDB52EDEB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59838-C42F-58BE-18FC-85DBA5C2A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470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A22612-53E9-1472-DE56-3B9BA8CBC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0B86C-45DF-4306-D1E8-171926109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B4949-C105-D7A3-A521-C8123DF3D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C09B9-0678-1AEF-93C0-B1A3A7CDB6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3F84A-B605-98F7-7694-62AFD7A6E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7321BB-4993-C3D7-45BA-3941EB0C1E3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EF943D-E5F8-C50D-F37B-649E0AB3F32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1162895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50.051 Programming Language Concepts</a:t>
            </a:r>
            <a:br>
              <a:rPr lang="en-US" b="1" dirty="0"/>
            </a:br>
            <a:br>
              <a:rPr lang="en-US" dirty="0"/>
            </a:br>
            <a:r>
              <a:rPr lang="en-US" dirty="0"/>
              <a:t>W8-S2 Lexical Analysis</a:t>
            </a:r>
            <a:br>
              <a:rPr lang="en-US" dirty="0"/>
            </a:br>
            <a:r>
              <a:rPr lang="en-US" dirty="0"/>
              <a:t>and Tokenization (Part 2)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De Mari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F603F-1F1B-6578-26C3-0631342CF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are we right now?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858D0-96EE-D3D0-66A1-E381FFC36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16138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We have functions that:</a:t>
            </a:r>
          </a:p>
          <a:p>
            <a:r>
              <a:rPr lang="en-GB" dirty="0"/>
              <a:t>Scan a </a:t>
            </a:r>
            <a:r>
              <a:rPr lang="en-GB" dirty="0" err="1"/>
              <a:t>source.c</a:t>
            </a:r>
            <a:r>
              <a:rPr lang="en-GB" dirty="0"/>
              <a:t> file for code and puts it into a string,</a:t>
            </a:r>
          </a:p>
          <a:p>
            <a:r>
              <a:rPr lang="en-GB" dirty="0"/>
              <a:t>Splits the string using whitespaces and \n symbols to produce lexemes,</a:t>
            </a:r>
          </a:p>
          <a:p>
            <a:r>
              <a:rPr lang="en-GB" dirty="0"/>
              <a:t>Checks those lexemes to recognize, using </a:t>
            </a:r>
            <a:r>
              <a:rPr lang="en-GB" dirty="0" err="1"/>
              <a:t>RegEx</a:t>
            </a:r>
            <a:r>
              <a:rPr lang="en-GB" dirty="0"/>
              <a:t>, if each lexeme matches a vast collection of keywords, operators, punctuation signs, identifiers or literals, or is an unknown type of lexeme,</a:t>
            </a:r>
          </a:p>
          <a:p>
            <a:r>
              <a:rPr lang="en-GB" dirty="0"/>
              <a:t>In case of a match, create a token which assembles the TOKEN_TYPE that has been recognized and the lexeme,</a:t>
            </a:r>
          </a:p>
          <a:p>
            <a:r>
              <a:rPr lang="en-GB" dirty="0"/>
              <a:t>And, if no type is recognized, assign a default TOKEN_UNKNOWN type.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71224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F603F-1F1B-6578-26C3-0631342CF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are we right now?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858D0-96EE-D3D0-66A1-E381FFC36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16138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On this lecture,</a:t>
            </a:r>
          </a:p>
          <a:p>
            <a:r>
              <a:rPr lang="en-SG" dirty="0"/>
              <a:t>Relaxing the hypothesis that all elements/lexemes in our source code are nicely separated with whitespaces or \n symbols.</a:t>
            </a:r>
          </a:p>
          <a:p>
            <a:r>
              <a:rPr lang="en-SG" dirty="0"/>
              <a:t>Conflict resolution in the case of ambiguous tokens that could be classified as more than one type.</a:t>
            </a:r>
          </a:p>
          <a:p>
            <a:r>
              <a:rPr lang="en-SG" dirty="0"/>
              <a:t>Error handling in the case of incorrect/unknown lexemes.</a:t>
            </a:r>
          </a:p>
          <a:p>
            <a:r>
              <a:rPr lang="en-SG" dirty="0"/>
              <a:t>Recognizing and dropping comments.</a:t>
            </a:r>
          </a:p>
          <a:p>
            <a:r>
              <a:rPr lang="en-SG" dirty="0"/>
              <a:t>(If time allows, pre-processing)</a:t>
            </a:r>
          </a:p>
          <a:p>
            <a:r>
              <a:rPr lang="en-SG" dirty="0"/>
              <a:t>Closing on the topic of Tokenization.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2436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F6679-8E86-2C3F-84D4-A9CBC78E4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Important hypothesis we made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271BA-AC55-21E5-0913-B71388158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46881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Hypothesis: </a:t>
            </a:r>
            <a:r>
              <a:rPr lang="en-GB" dirty="0"/>
              <a:t>The source code will have all the substrings that will become our future lexemes, clearly separated using whitespaces and \n symbols.</a:t>
            </a:r>
          </a:p>
          <a:p>
            <a:pPr marL="0" indent="0">
              <a:buNone/>
            </a:pPr>
            <a:r>
              <a:rPr lang="en-GB" dirty="0"/>
              <a:t>This will allow for a very simple string splitting to produce lexemes.</a:t>
            </a:r>
          </a:p>
          <a:p>
            <a:r>
              <a:rPr lang="en-GB" dirty="0"/>
              <a:t>In practice, almost never true, this </a:t>
            </a:r>
            <a:r>
              <a:rPr lang="en-GB" dirty="0" err="1"/>
              <a:t>assumpution</a:t>
            </a:r>
            <a:r>
              <a:rPr lang="en-GB" dirty="0"/>
              <a:t> will have to go.</a:t>
            </a:r>
          </a:p>
          <a:p>
            <a:pPr marL="0" indent="0" algn="ctr">
              <a:buNone/>
            </a:pPr>
            <a:r>
              <a:rPr lang="en-GB" b="1" dirty="0">
                <a:sym typeface="Wingdings" panose="05000000000000000000" pitchFamily="2" charset="2"/>
              </a:rPr>
              <a:t> </a:t>
            </a:r>
            <a:r>
              <a:rPr lang="en-GB" b="1" dirty="0"/>
              <a:t>Left-to-right scan, character by character, to produce lexemes.</a:t>
            </a:r>
          </a:p>
        </p:txBody>
      </p:sp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945D929-4D23-C120-2079-C6EBB34887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49" r="46058"/>
          <a:stretch/>
        </p:blipFill>
        <p:spPr>
          <a:xfrm>
            <a:off x="6508980" y="2365927"/>
            <a:ext cx="5595893" cy="310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722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2165-6BED-FB70-B4E4-B05BDF13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702" cy="1325563"/>
          </a:xfrm>
        </p:spPr>
        <p:txBody>
          <a:bodyPr/>
          <a:lstStyle/>
          <a:p>
            <a:r>
              <a:rPr lang="en-GB" dirty="0"/>
              <a:t>An intuition for an updated splitting procedure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28B6A2-6545-445B-1417-2CAB87D2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this hypothesis goes out the window…</a:t>
            </a:r>
          </a:p>
          <a:p>
            <a:r>
              <a:rPr lang="en-GB" dirty="0"/>
              <a:t>No other choice but to scan source code string, character by character and build our lexemes on-the-fly!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sz="8800" b="1" i="1" dirty="0"/>
              <a:t>int fort= 17; </a:t>
            </a:r>
          </a:p>
          <a:p>
            <a:endParaRPr lang="en-GB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9E30B5BC-F3EA-FE16-6F6B-A9F6D9019EDA}"/>
              </a:ext>
            </a:extLst>
          </p:cNvPr>
          <p:cNvSpPr/>
          <p:nvPr/>
        </p:nvSpPr>
        <p:spPr>
          <a:xfrm rot="10800000">
            <a:off x="3219939" y="4908061"/>
            <a:ext cx="531446" cy="7628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7BA99A-0E34-F9F7-164F-A2BE53DBE986}"/>
              </a:ext>
            </a:extLst>
          </p:cNvPr>
          <p:cNvSpPr txBox="1"/>
          <p:nvPr/>
        </p:nvSpPr>
        <p:spPr>
          <a:xfrm>
            <a:off x="59592" y="5805854"/>
            <a:ext cx="52441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Current lexeme = “</a:t>
            </a:r>
            <a:r>
              <a:rPr lang="en-GB" sz="2400" dirty="0" err="1"/>
              <a:t>i</a:t>
            </a:r>
            <a:r>
              <a:rPr lang="en-GB" sz="2400" dirty="0"/>
              <a:t>”</a:t>
            </a:r>
          </a:p>
          <a:p>
            <a:r>
              <a:rPr lang="en-GB" sz="2400" dirty="0"/>
              <a:t>Token types it could be: identifier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3646841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2165-6BED-FB70-B4E4-B05BDF13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702" cy="1325563"/>
          </a:xfrm>
        </p:spPr>
        <p:txBody>
          <a:bodyPr/>
          <a:lstStyle/>
          <a:p>
            <a:r>
              <a:rPr lang="en-GB" dirty="0"/>
              <a:t>An intuition for an updated splitting procedure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28B6A2-6545-445B-1417-2CAB87D2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this hypothesis goes out the window…</a:t>
            </a:r>
          </a:p>
          <a:p>
            <a:r>
              <a:rPr lang="en-GB" dirty="0"/>
              <a:t>No other choice but to scan source code string, character by character and build our lexemes on-the-fly!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sz="8800" b="1" i="1" dirty="0"/>
              <a:t>int fort= 17; </a:t>
            </a:r>
          </a:p>
          <a:p>
            <a:endParaRPr lang="en-GB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9BC5F6-6738-0FEB-C744-091BEC148F07}"/>
              </a:ext>
            </a:extLst>
          </p:cNvPr>
          <p:cNvSpPr txBox="1"/>
          <p:nvPr/>
        </p:nvSpPr>
        <p:spPr>
          <a:xfrm>
            <a:off x="59592" y="5805854"/>
            <a:ext cx="52441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Current lexeme = “in”</a:t>
            </a:r>
          </a:p>
          <a:p>
            <a:r>
              <a:rPr lang="en-GB" sz="2400" dirty="0"/>
              <a:t>Token types it could be: identifier</a:t>
            </a:r>
            <a:endParaRPr lang="en-SG" sz="2400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7A3D5AAE-EC6D-9CEA-FA2E-83B807B1508E}"/>
              </a:ext>
            </a:extLst>
          </p:cNvPr>
          <p:cNvSpPr/>
          <p:nvPr/>
        </p:nvSpPr>
        <p:spPr>
          <a:xfrm rot="10800000">
            <a:off x="3657599" y="4908061"/>
            <a:ext cx="531446" cy="7628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8129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2165-6BED-FB70-B4E4-B05BDF13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702" cy="1325563"/>
          </a:xfrm>
        </p:spPr>
        <p:txBody>
          <a:bodyPr/>
          <a:lstStyle/>
          <a:p>
            <a:r>
              <a:rPr lang="en-GB" dirty="0"/>
              <a:t>An intuition for an updated splitting procedure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28B6A2-6545-445B-1417-2CAB87D2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this hypothesis goes out the window…</a:t>
            </a:r>
          </a:p>
          <a:p>
            <a:r>
              <a:rPr lang="en-GB" dirty="0"/>
              <a:t>No other choice but to scan source code string, character by character and build our lexemes on-the-fly!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sz="8800" b="1" i="1" dirty="0"/>
              <a:t>int fort= 17; </a:t>
            </a:r>
          </a:p>
          <a:p>
            <a:endParaRPr lang="en-GB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A18BE-069D-095B-1D45-5A383EBA7B31}"/>
              </a:ext>
            </a:extLst>
          </p:cNvPr>
          <p:cNvSpPr txBox="1"/>
          <p:nvPr/>
        </p:nvSpPr>
        <p:spPr>
          <a:xfrm>
            <a:off x="59592" y="5805854"/>
            <a:ext cx="78495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Current lexeme = “int”</a:t>
            </a:r>
          </a:p>
          <a:p>
            <a:r>
              <a:rPr lang="en-GB" sz="2400" dirty="0"/>
              <a:t>Token types it could be: keyword, identifier</a:t>
            </a:r>
            <a:endParaRPr lang="en-SG" sz="2400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35940A70-E88F-BDE4-4BFB-0A6F7A9A9BC6}"/>
              </a:ext>
            </a:extLst>
          </p:cNvPr>
          <p:cNvSpPr/>
          <p:nvPr/>
        </p:nvSpPr>
        <p:spPr>
          <a:xfrm rot="10800000">
            <a:off x="4157783" y="4908061"/>
            <a:ext cx="531446" cy="7628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34346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2165-6BED-FB70-B4E4-B05BDF13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702" cy="1325563"/>
          </a:xfrm>
        </p:spPr>
        <p:txBody>
          <a:bodyPr/>
          <a:lstStyle/>
          <a:p>
            <a:r>
              <a:rPr lang="en-GB" dirty="0"/>
              <a:t>An intuition for an updated splitting procedure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28B6A2-6545-445B-1417-2CAB87D2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this hypothesis goes out the window…</a:t>
            </a:r>
          </a:p>
          <a:p>
            <a:r>
              <a:rPr lang="en-GB" dirty="0"/>
              <a:t>No other choice but to scan source code string, character by character and build our lexemes on-the-fly!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sz="8800" b="1" i="1" dirty="0"/>
              <a:t>int fort= 17; </a:t>
            </a:r>
          </a:p>
          <a:p>
            <a:endParaRPr lang="en-GB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A18BE-069D-095B-1D45-5A383EBA7B31}"/>
              </a:ext>
            </a:extLst>
          </p:cNvPr>
          <p:cNvSpPr txBox="1"/>
          <p:nvPr/>
        </p:nvSpPr>
        <p:spPr>
          <a:xfrm>
            <a:off x="59592" y="5805854"/>
            <a:ext cx="78495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Current lexeme = “int ” (with a white space!)</a:t>
            </a:r>
          </a:p>
          <a:p>
            <a:r>
              <a:rPr lang="en-GB" sz="2400" dirty="0"/>
              <a:t>Token types it could be: </a:t>
            </a:r>
            <a:r>
              <a:rPr lang="en-GB" sz="2400" b="1" dirty="0"/>
              <a:t>nothing!</a:t>
            </a:r>
            <a:endParaRPr lang="en-SG" sz="2400" b="1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29EF6A7C-51EE-0A3B-037D-C090B0C5C2D1}"/>
              </a:ext>
            </a:extLst>
          </p:cNvPr>
          <p:cNvSpPr/>
          <p:nvPr/>
        </p:nvSpPr>
        <p:spPr>
          <a:xfrm rot="10800000">
            <a:off x="4407878" y="4908061"/>
            <a:ext cx="531446" cy="7628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71101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2165-6BED-FB70-B4E4-B05BDF13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702" cy="1325563"/>
          </a:xfrm>
        </p:spPr>
        <p:txBody>
          <a:bodyPr/>
          <a:lstStyle/>
          <a:p>
            <a:r>
              <a:rPr lang="en-GB" dirty="0"/>
              <a:t>An intuition for an updated splitting procedure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28B6A2-6545-445B-1417-2CAB87D2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this hypothesis goes out the window…</a:t>
            </a:r>
          </a:p>
          <a:p>
            <a:r>
              <a:rPr lang="en-GB" dirty="0"/>
              <a:t>No other choice but to scan source code string, character by character and build our lexemes on-the-fly!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sz="8800" b="1" i="1" dirty="0"/>
              <a:t>int fort= 17; </a:t>
            </a:r>
          </a:p>
          <a:p>
            <a:endParaRPr lang="en-GB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A18BE-069D-095B-1D45-5A383EBA7B31}"/>
              </a:ext>
            </a:extLst>
          </p:cNvPr>
          <p:cNvSpPr txBox="1"/>
          <p:nvPr/>
        </p:nvSpPr>
        <p:spPr>
          <a:xfrm>
            <a:off x="59592" y="5805854"/>
            <a:ext cx="109277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Current lexeme = “int” (</a:t>
            </a:r>
            <a:r>
              <a:rPr lang="en-GB" sz="2400" b="1" dirty="0"/>
              <a:t>backtrack</a:t>
            </a:r>
            <a:r>
              <a:rPr lang="en-GB" sz="2400" dirty="0"/>
              <a:t> to last lexeme that had at least one valid type)</a:t>
            </a:r>
          </a:p>
          <a:p>
            <a:r>
              <a:rPr lang="en-GB" sz="2400" dirty="0"/>
              <a:t>Token types it could be: keyword, identifier</a:t>
            </a:r>
            <a:endParaRPr lang="en-SG" sz="2400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29EF6A7C-51EE-0A3B-037D-C090B0C5C2D1}"/>
              </a:ext>
            </a:extLst>
          </p:cNvPr>
          <p:cNvSpPr/>
          <p:nvPr/>
        </p:nvSpPr>
        <p:spPr>
          <a:xfrm rot="10800000">
            <a:off x="4126524" y="4908061"/>
            <a:ext cx="531446" cy="7628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22702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7292F-B51D-FA81-2703-B3D3354E9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Addressing lexical ambiguities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E5B62-C8A5-5FCD-7F80-3C7312200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lexeme “int”, could technically be of </a:t>
            </a:r>
            <a:r>
              <a:rPr lang="en-GB" b="1" dirty="0"/>
              <a:t>two possible types</a:t>
            </a:r>
            <a:r>
              <a:rPr lang="en-GB" dirty="0"/>
              <a:t>:</a:t>
            </a:r>
          </a:p>
          <a:p>
            <a:r>
              <a:rPr lang="en-GB" dirty="0"/>
              <a:t>It could be the </a:t>
            </a:r>
            <a:r>
              <a:rPr lang="en-GB" b="1" dirty="0"/>
              <a:t>keyword</a:t>
            </a:r>
            <a:r>
              <a:rPr lang="en-GB" dirty="0"/>
              <a:t> int, used to declare an integer type of variable,</a:t>
            </a:r>
          </a:p>
          <a:p>
            <a:r>
              <a:rPr lang="en-SG" dirty="0"/>
              <a:t>It could be a variable/function/class/… name, or in other words, an </a:t>
            </a:r>
            <a:r>
              <a:rPr lang="en-SG" b="1" dirty="0"/>
              <a:t>identifier</a:t>
            </a:r>
            <a:r>
              <a:rPr lang="en-SG" dirty="0"/>
              <a:t> of some sort.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/>
              <a:t>In general, most programming languages will forbid using keywords as identifiers. This is easily fixed by </a:t>
            </a:r>
            <a:r>
              <a:rPr lang="en-SG" b="1" dirty="0"/>
              <a:t>enforcing a token type priority</a:t>
            </a:r>
            <a:r>
              <a:rPr lang="en-SG" dirty="0"/>
              <a:t>!</a:t>
            </a:r>
          </a:p>
          <a:p>
            <a:pPr marL="0" indent="0">
              <a:buNone/>
            </a:pPr>
            <a:r>
              <a:rPr lang="en-SG" dirty="0"/>
              <a:t>Maybe this is token type priority rule is good for now?</a:t>
            </a:r>
          </a:p>
          <a:p>
            <a:pPr marL="0" indent="0" algn="ctr">
              <a:buNone/>
            </a:pPr>
            <a:r>
              <a:rPr lang="en-SG" b="1" dirty="0"/>
              <a:t>Keywords, Operators, Punctuation &gt; Identifiers, Literals</a:t>
            </a:r>
          </a:p>
        </p:txBody>
      </p:sp>
    </p:spTree>
    <p:extLst>
      <p:ext uri="{BB962C8B-B14F-4D97-AF65-F5344CB8AC3E}">
        <p14:creationId xmlns:p14="http://schemas.microsoft.com/office/powerpoint/2010/main" val="2789972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2165-6BED-FB70-B4E4-B05BDF13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702" cy="1325563"/>
          </a:xfrm>
        </p:spPr>
        <p:txBody>
          <a:bodyPr/>
          <a:lstStyle/>
          <a:p>
            <a:r>
              <a:rPr lang="en-GB" dirty="0"/>
              <a:t>An intuition for an updated splitting procedure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28B6A2-6545-445B-1417-2CAB87D2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this hypothesis goes out the window…</a:t>
            </a:r>
          </a:p>
          <a:p>
            <a:r>
              <a:rPr lang="en-GB" dirty="0"/>
              <a:t>No other choice but to scan source code string, character by character and build our lexemes on-the-fly!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sz="8800" b="1" i="1" dirty="0"/>
              <a:t>int fort= 17; </a:t>
            </a:r>
          </a:p>
          <a:p>
            <a:endParaRPr lang="en-GB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A18BE-069D-095B-1D45-5A383EBA7B31}"/>
              </a:ext>
            </a:extLst>
          </p:cNvPr>
          <p:cNvSpPr txBox="1"/>
          <p:nvPr/>
        </p:nvSpPr>
        <p:spPr>
          <a:xfrm>
            <a:off x="59592" y="5805854"/>
            <a:ext cx="109277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Current lexeme = “int” (</a:t>
            </a:r>
            <a:r>
              <a:rPr lang="en-GB" sz="2400" b="1" dirty="0"/>
              <a:t>backtrack</a:t>
            </a:r>
            <a:r>
              <a:rPr lang="en-GB" sz="2400" dirty="0"/>
              <a:t> to last lexeme that had at least one valid type)</a:t>
            </a:r>
          </a:p>
          <a:p>
            <a:r>
              <a:rPr lang="en-GB" sz="2400" dirty="0"/>
              <a:t>Token types it could be: </a:t>
            </a:r>
            <a:r>
              <a:rPr lang="en-GB" sz="2400" b="1" dirty="0"/>
              <a:t>keyword</a:t>
            </a:r>
            <a:r>
              <a:rPr lang="en-GB" sz="2400" dirty="0"/>
              <a:t>, identifier (</a:t>
            </a:r>
            <a:r>
              <a:rPr lang="en-GB" sz="2400" b="1" dirty="0"/>
              <a:t>resolved</a:t>
            </a:r>
            <a:r>
              <a:rPr lang="en-GB" sz="2400" dirty="0"/>
              <a:t> </a:t>
            </a:r>
            <a:r>
              <a:rPr lang="en-GB" sz="2400" b="1" dirty="0"/>
              <a:t>by priority rule</a:t>
            </a:r>
            <a:r>
              <a:rPr lang="en-GB" sz="2400" dirty="0"/>
              <a:t>)</a:t>
            </a:r>
            <a:endParaRPr lang="en-SG" sz="2400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29EF6A7C-51EE-0A3B-037D-C090B0C5C2D1}"/>
              </a:ext>
            </a:extLst>
          </p:cNvPr>
          <p:cNvSpPr/>
          <p:nvPr/>
        </p:nvSpPr>
        <p:spPr>
          <a:xfrm rot="10800000">
            <a:off x="4126524" y="4908061"/>
            <a:ext cx="531446" cy="7628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582ECB-B3F2-1FBC-0125-09B1182067B3}"/>
              </a:ext>
            </a:extLst>
          </p:cNvPr>
          <p:cNvSpPr txBox="1"/>
          <p:nvPr/>
        </p:nvSpPr>
        <p:spPr>
          <a:xfrm>
            <a:off x="9394092" y="3571631"/>
            <a:ext cx="25868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2"/>
                </a:solidFill>
              </a:rPr>
              <a:t>“int” lexeme produced and recognized as type KEYWORD_INT.</a:t>
            </a:r>
            <a:endParaRPr lang="en-SG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038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2165-6BED-FB70-B4E4-B05BDF13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702" cy="1325563"/>
          </a:xfrm>
        </p:spPr>
        <p:txBody>
          <a:bodyPr/>
          <a:lstStyle/>
          <a:p>
            <a:r>
              <a:rPr lang="en-GB" dirty="0"/>
              <a:t>An intuition for an updated splitting procedure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28B6A2-6545-445B-1417-2CAB87D2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this hypothesis goes out the window…</a:t>
            </a:r>
          </a:p>
          <a:p>
            <a:r>
              <a:rPr lang="en-GB" dirty="0"/>
              <a:t>No other choice but to scan source code string, character by character and build our lexemes on-the-fly!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sz="8800" b="1" i="1" dirty="0"/>
              <a:t>int fort= 17; </a:t>
            </a:r>
          </a:p>
          <a:p>
            <a:endParaRPr lang="en-GB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A18BE-069D-095B-1D45-5A383EBA7B31}"/>
              </a:ext>
            </a:extLst>
          </p:cNvPr>
          <p:cNvSpPr txBox="1"/>
          <p:nvPr/>
        </p:nvSpPr>
        <p:spPr>
          <a:xfrm>
            <a:off x="59592" y="5805854"/>
            <a:ext cx="109277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Current lexeme = “” (</a:t>
            </a:r>
            <a:r>
              <a:rPr lang="en-GB" sz="2400" b="1" dirty="0"/>
              <a:t>lexeme has been categorised</a:t>
            </a:r>
            <a:r>
              <a:rPr lang="en-GB" sz="2400" dirty="0"/>
              <a:t>, </a:t>
            </a:r>
            <a:r>
              <a:rPr lang="en-GB" sz="2400" b="1" dirty="0"/>
              <a:t>discard</a:t>
            </a:r>
            <a:r>
              <a:rPr lang="en-GB" sz="2400" dirty="0"/>
              <a:t> it, and </a:t>
            </a:r>
            <a:r>
              <a:rPr lang="en-GB" sz="2400" b="1" dirty="0"/>
              <a:t>continue</a:t>
            </a:r>
            <a:r>
              <a:rPr lang="en-GB" sz="2400" dirty="0"/>
              <a:t>)</a:t>
            </a:r>
          </a:p>
          <a:p>
            <a:r>
              <a:rPr lang="en-GB" sz="2400" dirty="0"/>
              <a:t>Token types it could be: nothing</a:t>
            </a:r>
            <a:endParaRPr lang="en-SG" sz="2400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29EF6A7C-51EE-0A3B-037D-C090B0C5C2D1}"/>
              </a:ext>
            </a:extLst>
          </p:cNvPr>
          <p:cNvSpPr/>
          <p:nvPr/>
        </p:nvSpPr>
        <p:spPr>
          <a:xfrm rot="10800000">
            <a:off x="4126524" y="4908061"/>
            <a:ext cx="531446" cy="7628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03925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2165-6BED-FB70-B4E4-B05BDF13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702" cy="1325563"/>
          </a:xfrm>
        </p:spPr>
        <p:txBody>
          <a:bodyPr/>
          <a:lstStyle/>
          <a:p>
            <a:r>
              <a:rPr lang="en-GB" dirty="0"/>
              <a:t>An intuition for an updated splitting procedure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28B6A2-6545-445B-1417-2CAB87D2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this hypothesis goes out the window…</a:t>
            </a:r>
          </a:p>
          <a:p>
            <a:r>
              <a:rPr lang="en-GB" dirty="0"/>
              <a:t>No other choice but to scan source code string, character by character and build our lexemes on-the-fly!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sz="8800" b="1" i="1" dirty="0"/>
              <a:t>int fort= 17; </a:t>
            </a:r>
          </a:p>
          <a:p>
            <a:endParaRPr lang="en-GB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A18BE-069D-095B-1D45-5A383EBA7B31}"/>
              </a:ext>
            </a:extLst>
          </p:cNvPr>
          <p:cNvSpPr txBox="1"/>
          <p:nvPr/>
        </p:nvSpPr>
        <p:spPr>
          <a:xfrm>
            <a:off x="59592" y="5805854"/>
            <a:ext cx="109277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Current lexeme = “ ” (single whitespace?)</a:t>
            </a:r>
          </a:p>
          <a:p>
            <a:r>
              <a:rPr lang="en-GB" sz="2400" dirty="0"/>
              <a:t>Token types it could be: Whitespace type if Python? Nothing in C?</a:t>
            </a:r>
            <a:endParaRPr lang="en-SG" sz="2400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29EF6A7C-51EE-0A3B-037D-C090B0C5C2D1}"/>
              </a:ext>
            </a:extLst>
          </p:cNvPr>
          <p:cNvSpPr/>
          <p:nvPr/>
        </p:nvSpPr>
        <p:spPr>
          <a:xfrm rot="10800000">
            <a:off x="4415695" y="4908061"/>
            <a:ext cx="531446" cy="7628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73852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2165-6BED-FB70-B4E4-B05BDF13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702" cy="1325563"/>
          </a:xfrm>
        </p:spPr>
        <p:txBody>
          <a:bodyPr/>
          <a:lstStyle/>
          <a:p>
            <a:r>
              <a:rPr lang="en-GB" dirty="0"/>
              <a:t>An intuition for an updated splitting procedure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28B6A2-6545-445B-1417-2CAB87D2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this hypothesis goes out the window…</a:t>
            </a:r>
          </a:p>
          <a:p>
            <a:r>
              <a:rPr lang="en-GB" dirty="0"/>
              <a:t>No other choice but to scan source code string, character by character and build our lexemes on-the-fly!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sz="8800" b="1" i="1" dirty="0"/>
              <a:t>int fort= 17; </a:t>
            </a:r>
          </a:p>
          <a:p>
            <a:endParaRPr lang="en-GB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A18BE-069D-095B-1D45-5A383EBA7B31}"/>
              </a:ext>
            </a:extLst>
          </p:cNvPr>
          <p:cNvSpPr txBox="1"/>
          <p:nvPr/>
        </p:nvSpPr>
        <p:spPr>
          <a:xfrm>
            <a:off x="59592" y="5805854"/>
            <a:ext cx="109277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Current lexeme = “” (irrelevant in the case of C, </a:t>
            </a:r>
            <a:r>
              <a:rPr lang="en-GB" sz="2400" b="1" dirty="0"/>
              <a:t>discard</a:t>
            </a:r>
            <a:r>
              <a:rPr lang="en-GB" sz="2400" dirty="0"/>
              <a:t>)</a:t>
            </a:r>
          </a:p>
          <a:p>
            <a:r>
              <a:rPr lang="en-GB" sz="2400" dirty="0"/>
              <a:t>Token types it could be: Whitespace type if Python? Nothing in C?</a:t>
            </a:r>
            <a:endParaRPr lang="en-SG" sz="2400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29EF6A7C-51EE-0A3B-037D-C090B0C5C2D1}"/>
              </a:ext>
            </a:extLst>
          </p:cNvPr>
          <p:cNvSpPr/>
          <p:nvPr/>
        </p:nvSpPr>
        <p:spPr>
          <a:xfrm rot="10800000">
            <a:off x="4415695" y="4908061"/>
            <a:ext cx="531446" cy="7628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4343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2165-6BED-FB70-B4E4-B05BDF13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702" cy="1325563"/>
          </a:xfrm>
        </p:spPr>
        <p:txBody>
          <a:bodyPr/>
          <a:lstStyle/>
          <a:p>
            <a:r>
              <a:rPr lang="en-GB" dirty="0"/>
              <a:t>An intuition for an updated splitting procedure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28B6A2-6545-445B-1417-2CAB87D2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this hypothesis goes out the window…</a:t>
            </a:r>
          </a:p>
          <a:p>
            <a:r>
              <a:rPr lang="en-GB" dirty="0"/>
              <a:t>No other choice but to scan source code string, character by character and build our lexemes on-the-fly!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sz="8800" b="1" i="1" dirty="0"/>
              <a:t>int fort= 17; </a:t>
            </a:r>
          </a:p>
          <a:p>
            <a:endParaRPr lang="en-GB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A18BE-069D-095B-1D45-5A383EBA7B31}"/>
              </a:ext>
            </a:extLst>
          </p:cNvPr>
          <p:cNvSpPr txBox="1"/>
          <p:nvPr/>
        </p:nvSpPr>
        <p:spPr>
          <a:xfrm>
            <a:off x="59592" y="5805854"/>
            <a:ext cx="109277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Current lexeme = “f”</a:t>
            </a:r>
          </a:p>
          <a:p>
            <a:r>
              <a:rPr lang="en-GB" sz="2400" dirty="0"/>
              <a:t>Token types it could be: identifier</a:t>
            </a:r>
            <a:endParaRPr lang="en-SG" sz="2400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29EF6A7C-51EE-0A3B-037D-C090B0C5C2D1}"/>
              </a:ext>
            </a:extLst>
          </p:cNvPr>
          <p:cNvSpPr/>
          <p:nvPr/>
        </p:nvSpPr>
        <p:spPr>
          <a:xfrm rot="10800000">
            <a:off x="4611074" y="4908061"/>
            <a:ext cx="531446" cy="7628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01876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2165-6BED-FB70-B4E4-B05BDF13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702" cy="1325563"/>
          </a:xfrm>
        </p:spPr>
        <p:txBody>
          <a:bodyPr/>
          <a:lstStyle/>
          <a:p>
            <a:r>
              <a:rPr lang="en-GB" dirty="0"/>
              <a:t>An intuition for an updated splitting procedure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28B6A2-6545-445B-1417-2CAB87D2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this hypothesis goes out the window…</a:t>
            </a:r>
          </a:p>
          <a:p>
            <a:r>
              <a:rPr lang="en-GB" dirty="0"/>
              <a:t>No other choice but to scan source code string, character by character and build our lexemes on-the-fly!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sz="8800" b="1" i="1" dirty="0"/>
              <a:t>int fort= 17; </a:t>
            </a:r>
          </a:p>
          <a:p>
            <a:endParaRPr lang="en-GB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A18BE-069D-095B-1D45-5A383EBA7B31}"/>
              </a:ext>
            </a:extLst>
          </p:cNvPr>
          <p:cNvSpPr txBox="1"/>
          <p:nvPr/>
        </p:nvSpPr>
        <p:spPr>
          <a:xfrm>
            <a:off x="59592" y="5805854"/>
            <a:ext cx="109277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Current lexeme = “</a:t>
            </a:r>
            <a:r>
              <a:rPr lang="en-GB" sz="2400" dirty="0" err="1"/>
              <a:t>fo</a:t>
            </a:r>
            <a:r>
              <a:rPr lang="en-GB" sz="2400" dirty="0"/>
              <a:t>”</a:t>
            </a:r>
          </a:p>
          <a:p>
            <a:r>
              <a:rPr lang="en-GB" sz="2400" dirty="0"/>
              <a:t>Token types it could be: identifier</a:t>
            </a:r>
            <a:endParaRPr lang="en-SG" sz="2400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29EF6A7C-51EE-0A3B-037D-C090B0C5C2D1}"/>
              </a:ext>
            </a:extLst>
          </p:cNvPr>
          <p:cNvSpPr/>
          <p:nvPr/>
        </p:nvSpPr>
        <p:spPr>
          <a:xfrm rot="10800000">
            <a:off x="5181596" y="4908061"/>
            <a:ext cx="531446" cy="7628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5080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2165-6BED-FB70-B4E4-B05BDF13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702" cy="1325563"/>
          </a:xfrm>
        </p:spPr>
        <p:txBody>
          <a:bodyPr/>
          <a:lstStyle/>
          <a:p>
            <a:r>
              <a:rPr lang="en-GB" dirty="0"/>
              <a:t>An intuition for an updated splitting procedure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28B6A2-6545-445B-1417-2CAB87D2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this hypothesis goes out the window…</a:t>
            </a:r>
          </a:p>
          <a:p>
            <a:r>
              <a:rPr lang="en-GB" dirty="0"/>
              <a:t>No other choice but to scan source code string, character by character and build our lexemes on-the-fly!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sz="8800" b="1" i="1" dirty="0"/>
              <a:t>int fort= 17; </a:t>
            </a:r>
          </a:p>
          <a:p>
            <a:endParaRPr lang="en-GB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A18BE-069D-095B-1D45-5A383EBA7B31}"/>
              </a:ext>
            </a:extLst>
          </p:cNvPr>
          <p:cNvSpPr txBox="1"/>
          <p:nvPr/>
        </p:nvSpPr>
        <p:spPr>
          <a:xfrm>
            <a:off x="59592" y="5805854"/>
            <a:ext cx="109277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Current lexeme = “for”</a:t>
            </a:r>
          </a:p>
          <a:p>
            <a:r>
              <a:rPr lang="en-GB" sz="2400" dirty="0"/>
              <a:t>Token types it could be: keyword, identifier</a:t>
            </a:r>
            <a:endParaRPr lang="en-SG" sz="2400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29EF6A7C-51EE-0A3B-037D-C090B0C5C2D1}"/>
              </a:ext>
            </a:extLst>
          </p:cNvPr>
          <p:cNvSpPr/>
          <p:nvPr/>
        </p:nvSpPr>
        <p:spPr>
          <a:xfrm rot="10800000">
            <a:off x="5673965" y="4908061"/>
            <a:ext cx="531446" cy="7628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4671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2165-6BED-FB70-B4E4-B05BDF13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702" cy="1325563"/>
          </a:xfrm>
        </p:spPr>
        <p:txBody>
          <a:bodyPr/>
          <a:lstStyle/>
          <a:p>
            <a:r>
              <a:rPr lang="en-GB" dirty="0"/>
              <a:t>An intuition for an updated splitting procedure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28B6A2-6545-445B-1417-2CAB87D2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this hypothesis goes out the window…</a:t>
            </a:r>
          </a:p>
          <a:p>
            <a:r>
              <a:rPr lang="en-GB" dirty="0"/>
              <a:t>No other choice but to scan source code string, character by character and build our lexemes on-the-fly!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sz="8800" b="1" i="1" dirty="0"/>
              <a:t>int fort= 17; </a:t>
            </a:r>
          </a:p>
          <a:p>
            <a:endParaRPr lang="en-GB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A18BE-069D-095B-1D45-5A383EBA7B31}"/>
              </a:ext>
            </a:extLst>
          </p:cNvPr>
          <p:cNvSpPr txBox="1"/>
          <p:nvPr/>
        </p:nvSpPr>
        <p:spPr>
          <a:xfrm>
            <a:off x="59592" y="5805854"/>
            <a:ext cx="109277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Current lexeme = “for” (</a:t>
            </a:r>
            <a:r>
              <a:rPr lang="en-GB" sz="2400" b="1" dirty="0"/>
              <a:t>shall we call that a lexeme and categorise it now?</a:t>
            </a:r>
            <a:r>
              <a:rPr lang="en-GB" sz="2400" dirty="0"/>
              <a:t>)</a:t>
            </a:r>
          </a:p>
          <a:p>
            <a:r>
              <a:rPr lang="en-GB" sz="2400" dirty="0"/>
              <a:t>Token types it could be: keyword, identifier</a:t>
            </a:r>
            <a:endParaRPr lang="en-SG" sz="2400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29EF6A7C-51EE-0A3B-037D-C090B0C5C2D1}"/>
              </a:ext>
            </a:extLst>
          </p:cNvPr>
          <p:cNvSpPr/>
          <p:nvPr/>
        </p:nvSpPr>
        <p:spPr>
          <a:xfrm rot="10800000">
            <a:off x="5673965" y="4908061"/>
            <a:ext cx="531446" cy="7628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02857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2165-6BED-FB70-B4E4-B05BDF13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702" cy="1325563"/>
          </a:xfrm>
        </p:spPr>
        <p:txBody>
          <a:bodyPr/>
          <a:lstStyle/>
          <a:p>
            <a:r>
              <a:rPr lang="en-GB" dirty="0"/>
              <a:t>An intuition for an updated splitting procedure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28B6A2-6545-445B-1417-2CAB87D2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this hypothesis goes out the window…</a:t>
            </a:r>
          </a:p>
          <a:p>
            <a:r>
              <a:rPr lang="en-GB" dirty="0"/>
              <a:t>No other choice but to scan source code string, character by character and build our lexemes on-the-fly!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sz="8800" b="1" i="1" dirty="0"/>
              <a:t>int fort= 17; </a:t>
            </a:r>
          </a:p>
          <a:p>
            <a:endParaRPr lang="en-GB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A18BE-069D-095B-1D45-5A383EBA7B31}"/>
              </a:ext>
            </a:extLst>
          </p:cNvPr>
          <p:cNvSpPr txBox="1"/>
          <p:nvPr/>
        </p:nvSpPr>
        <p:spPr>
          <a:xfrm>
            <a:off x="59592" y="5805854"/>
            <a:ext cx="11706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Current lexeme = “for” (shall we call that a lexeme and categorise it now? </a:t>
            </a:r>
            <a:r>
              <a:rPr lang="en-GB" sz="2400" b="1" dirty="0"/>
              <a:t>No,</a:t>
            </a:r>
            <a:r>
              <a:rPr lang="en-GB" sz="2400" dirty="0"/>
              <a:t> </a:t>
            </a:r>
            <a:r>
              <a:rPr lang="en-GB" sz="2400" b="1" dirty="0"/>
              <a:t>continue</a:t>
            </a:r>
            <a:r>
              <a:rPr lang="en-GB" sz="2400" dirty="0"/>
              <a:t>)</a:t>
            </a:r>
          </a:p>
          <a:p>
            <a:r>
              <a:rPr lang="en-GB" sz="2400" dirty="0"/>
              <a:t>Token types it could be: keyword, identifier</a:t>
            </a:r>
            <a:endParaRPr lang="en-SG" sz="2400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29EF6A7C-51EE-0A3B-037D-C090B0C5C2D1}"/>
              </a:ext>
            </a:extLst>
          </p:cNvPr>
          <p:cNvSpPr/>
          <p:nvPr/>
        </p:nvSpPr>
        <p:spPr>
          <a:xfrm rot="10800000">
            <a:off x="5673965" y="4908061"/>
            <a:ext cx="531446" cy="7628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43929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2165-6BED-FB70-B4E4-B05BDF13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702" cy="1325563"/>
          </a:xfrm>
        </p:spPr>
        <p:txBody>
          <a:bodyPr/>
          <a:lstStyle/>
          <a:p>
            <a:r>
              <a:rPr lang="en-GB" dirty="0"/>
              <a:t>An intuition for an updated splitting procedure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28B6A2-6545-445B-1417-2CAB87D2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this hypothesis goes out the window…</a:t>
            </a:r>
          </a:p>
          <a:p>
            <a:r>
              <a:rPr lang="en-GB" dirty="0"/>
              <a:t>No other choice but to scan source code string, character by character and build our lexemes on-the-fly!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sz="8800" b="1" i="1" dirty="0"/>
              <a:t>int fort= 17; </a:t>
            </a:r>
          </a:p>
          <a:p>
            <a:endParaRPr lang="en-GB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A18BE-069D-095B-1D45-5A383EBA7B31}"/>
              </a:ext>
            </a:extLst>
          </p:cNvPr>
          <p:cNvSpPr txBox="1"/>
          <p:nvPr/>
        </p:nvSpPr>
        <p:spPr>
          <a:xfrm>
            <a:off x="59592" y="5805854"/>
            <a:ext cx="11706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Current lexeme = “fort”</a:t>
            </a:r>
          </a:p>
          <a:p>
            <a:r>
              <a:rPr lang="en-GB" sz="2400" dirty="0"/>
              <a:t>Token types it could be: identifier</a:t>
            </a:r>
            <a:endParaRPr lang="en-SG" sz="2400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29EF6A7C-51EE-0A3B-037D-C090B0C5C2D1}"/>
              </a:ext>
            </a:extLst>
          </p:cNvPr>
          <p:cNvSpPr/>
          <p:nvPr/>
        </p:nvSpPr>
        <p:spPr>
          <a:xfrm rot="10800000">
            <a:off x="6127257" y="4908061"/>
            <a:ext cx="531446" cy="7628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98285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2165-6BED-FB70-B4E4-B05BDF13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702" cy="1325563"/>
          </a:xfrm>
        </p:spPr>
        <p:txBody>
          <a:bodyPr/>
          <a:lstStyle/>
          <a:p>
            <a:r>
              <a:rPr lang="en-GB" dirty="0"/>
              <a:t>An intuition for an updated splitting procedure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28B6A2-6545-445B-1417-2CAB87D2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this hypothesis goes out the window…</a:t>
            </a:r>
          </a:p>
          <a:p>
            <a:r>
              <a:rPr lang="en-GB" dirty="0"/>
              <a:t>No other choice but to scan source code string, character by character and build our lexemes on-the-fly!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sz="8800" b="1" i="1" dirty="0"/>
              <a:t>int fort= 17; </a:t>
            </a:r>
          </a:p>
          <a:p>
            <a:endParaRPr lang="en-GB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A18BE-069D-095B-1D45-5A383EBA7B31}"/>
              </a:ext>
            </a:extLst>
          </p:cNvPr>
          <p:cNvSpPr txBox="1"/>
          <p:nvPr/>
        </p:nvSpPr>
        <p:spPr>
          <a:xfrm>
            <a:off x="59592" y="5805854"/>
            <a:ext cx="11706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Current lexeme = “fort=”</a:t>
            </a:r>
          </a:p>
          <a:p>
            <a:r>
              <a:rPr lang="en-GB" sz="2400" dirty="0"/>
              <a:t>Token types it could be: </a:t>
            </a:r>
            <a:r>
              <a:rPr lang="en-GB" sz="2400" b="1" dirty="0"/>
              <a:t>nothing</a:t>
            </a:r>
            <a:endParaRPr lang="en-SG" sz="2400" b="1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29EF6A7C-51EE-0A3B-037D-C090B0C5C2D1}"/>
              </a:ext>
            </a:extLst>
          </p:cNvPr>
          <p:cNvSpPr/>
          <p:nvPr/>
        </p:nvSpPr>
        <p:spPr>
          <a:xfrm rot="10800000">
            <a:off x="6549285" y="4908061"/>
            <a:ext cx="531446" cy="7628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91040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2165-6BED-FB70-B4E4-B05BDF13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702" cy="1325563"/>
          </a:xfrm>
        </p:spPr>
        <p:txBody>
          <a:bodyPr/>
          <a:lstStyle/>
          <a:p>
            <a:r>
              <a:rPr lang="en-GB" dirty="0"/>
              <a:t>An intuition for an updated splitting procedure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28B6A2-6545-445B-1417-2CAB87D2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this hypothesis goes out the window…</a:t>
            </a:r>
          </a:p>
          <a:p>
            <a:r>
              <a:rPr lang="en-GB" dirty="0"/>
              <a:t>No other choice but to scan source code string, character by character and build our lexemes on-the-fly!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sz="8800" b="1" i="1" dirty="0"/>
              <a:t>int fort= 17; </a:t>
            </a:r>
          </a:p>
          <a:p>
            <a:endParaRPr lang="en-GB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A18BE-069D-095B-1D45-5A383EBA7B31}"/>
              </a:ext>
            </a:extLst>
          </p:cNvPr>
          <p:cNvSpPr txBox="1"/>
          <p:nvPr/>
        </p:nvSpPr>
        <p:spPr>
          <a:xfrm>
            <a:off x="59592" y="5805854"/>
            <a:ext cx="11706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Current lexeme = “fort” (</a:t>
            </a:r>
            <a:r>
              <a:rPr lang="en-GB" sz="2400" b="1" dirty="0"/>
              <a:t>backtrack</a:t>
            </a:r>
            <a:r>
              <a:rPr lang="en-GB" sz="2400" dirty="0"/>
              <a:t> to last lexeme that had at least one valid type)</a:t>
            </a:r>
          </a:p>
          <a:p>
            <a:r>
              <a:rPr lang="en-GB" sz="2400" dirty="0"/>
              <a:t>Token types it could be: identifier</a:t>
            </a:r>
            <a:endParaRPr lang="en-SG" sz="2400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29EF6A7C-51EE-0A3B-037D-C090B0C5C2D1}"/>
              </a:ext>
            </a:extLst>
          </p:cNvPr>
          <p:cNvSpPr/>
          <p:nvPr/>
        </p:nvSpPr>
        <p:spPr>
          <a:xfrm rot="10800000">
            <a:off x="6119439" y="4908061"/>
            <a:ext cx="531446" cy="7628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5483F3-A416-1921-DBF8-ADB9C06B87FC}"/>
              </a:ext>
            </a:extLst>
          </p:cNvPr>
          <p:cNvSpPr txBox="1"/>
          <p:nvPr/>
        </p:nvSpPr>
        <p:spPr>
          <a:xfrm>
            <a:off x="9394092" y="3571631"/>
            <a:ext cx="25868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2"/>
                </a:solidFill>
              </a:rPr>
              <a:t>“fort” lexeme produced and recognized as type IDENTIFIER.</a:t>
            </a:r>
            <a:endParaRPr lang="en-SG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7584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7292F-B51D-FA81-2703-B3D3354E9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Maximal Munch Algorithm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E5B62-C8A5-5FCD-7F80-3C7312200C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Maximal Munch idea</a:t>
            </a:r>
            <a:r>
              <a:rPr lang="en-GB" b="1" dirty="0"/>
              <a:t>:</a:t>
            </a:r>
            <a:r>
              <a:rPr lang="en-GB" b="1" dirty="0">
                <a:solidFill>
                  <a:srgbClr val="00B050"/>
                </a:solidFill>
              </a:rPr>
              <a:t> </a:t>
            </a:r>
            <a:r>
              <a:rPr lang="en-GB" dirty="0"/>
              <a:t>Scan one character at a time, from left to right, always try to produce the longest lexeme as possible.</a:t>
            </a:r>
          </a:p>
          <a:p>
            <a:r>
              <a:rPr lang="en-GB" b="1" dirty="0"/>
              <a:t>As long as one token type can be matched to the current lexeme, keep scanning.</a:t>
            </a:r>
          </a:p>
          <a:p>
            <a:r>
              <a:rPr lang="en-GB" b="1" dirty="0"/>
              <a:t>When you produce a lexeme that cannot fit any token type, backtrack to the last valid one and assign a token type.</a:t>
            </a:r>
          </a:p>
          <a:p>
            <a:endParaRPr lang="en-SG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F26B8-398E-AF82-4386-0825676C5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b="1" dirty="0"/>
              <a:t>If the last valid lexeme could be classified as multiple token types, use our priority rule from earlier on token types.</a:t>
            </a:r>
          </a:p>
          <a:p>
            <a:r>
              <a:rPr lang="en-GB" b="1" dirty="0"/>
              <a:t>Ignore and discard any lexeme that consists of a single irrelevant character (e.g. whitespace or \n character).</a:t>
            </a:r>
          </a:p>
          <a:p>
            <a:r>
              <a:rPr lang="en-GB" b="1" dirty="0"/>
              <a:t>A single character that is problematic (e.g. @) triggers an UNKNOWN token type!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3775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7292F-B51D-FA81-2703-B3D3354E9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Maximal Munch Algorithm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E5B62-C8A5-5FCD-7F80-3C7312200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This basically means two things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We will have to reuse our functions that were checking if a given lexeme could fit a given token type, using </a:t>
            </a:r>
            <a:r>
              <a:rPr lang="en-GB" b="1" dirty="0" err="1"/>
              <a:t>RegEx</a:t>
            </a:r>
            <a:r>
              <a:rPr lang="en-GB" b="1" dirty="0"/>
              <a:t> or </a:t>
            </a:r>
            <a:r>
              <a:rPr lang="en-GB" b="1" i="1" dirty="0" err="1"/>
              <a:t>strcmp</a:t>
            </a:r>
            <a:r>
              <a:rPr lang="en-GB" b="1" i="1" dirty="0"/>
              <a:t>()</a:t>
            </a:r>
            <a:r>
              <a:rPr lang="en-GB" b="1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We will no longer treat the string splitting task (which produces lexemes to be categorised) and the lexeme classification as two different tasks to be done sequentially.</a:t>
            </a:r>
          </a:p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GB" b="1" dirty="0">
                <a:solidFill>
                  <a:srgbClr val="FF0000"/>
                </a:solidFill>
              </a:rPr>
              <a:t>Instead, the lexeme classification will happen at the same time as the splitting of the code string, on-the-fly.</a:t>
            </a:r>
            <a:endParaRPr lang="en-SG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SG" i="1" dirty="0"/>
              <a:t>(</a:t>
            </a:r>
            <a:r>
              <a:rPr lang="en-SG" b="1" i="1" dirty="0"/>
              <a:t>Note:</a:t>
            </a:r>
            <a:r>
              <a:rPr lang="en-SG" i="1" dirty="0"/>
              <a:t> Ultimately, this means that we will have to scan many more lexemes than before. In turn, it will make the tokenizer slower.</a:t>
            </a:r>
            <a:br>
              <a:rPr lang="en-SG" i="1" dirty="0"/>
            </a:br>
            <a:r>
              <a:rPr lang="en-SG" i="1" dirty="0"/>
              <a:t>But that is the price to pay to relax the whitespace hypothesis!)</a:t>
            </a:r>
            <a:endParaRPr lang="en-GB" b="1" i="1" dirty="0"/>
          </a:p>
        </p:txBody>
      </p:sp>
    </p:spTree>
    <p:extLst>
      <p:ext uri="{BB962C8B-B14F-4D97-AF65-F5344CB8AC3E}">
        <p14:creationId xmlns:p14="http://schemas.microsoft.com/office/powerpoint/2010/main" val="23872243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A2476-A5FA-8487-2643-8D58D1B11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Error handling for invalid tokens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EDBBB-DBF4-8602-AF92-21D16F3D8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In our previous lecture, we mentioned, as a challenge, a Tokenizer v1.2, which had a </a:t>
            </a:r>
            <a:r>
              <a:rPr lang="en-GB" b="1" dirty="0"/>
              <a:t>line-tracking feature for handling errors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In short, this feature requires,</a:t>
            </a:r>
          </a:p>
          <a:p>
            <a:r>
              <a:rPr lang="en-GB" dirty="0"/>
              <a:t>To </a:t>
            </a:r>
            <a:r>
              <a:rPr lang="en-GB" b="1" dirty="0"/>
              <a:t>add an extra attribute to our Token objects</a:t>
            </a:r>
            <a:r>
              <a:rPr lang="en-GB" dirty="0"/>
              <a:t>, more specifically, the </a:t>
            </a:r>
            <a:r>
              <a:rPr lang="en-GB" b="1" dirty="0"/>
              <a:t>line at which said lexeme appears </a:t>
            </a:r>
            <a:r>
              <a:rPr lang="en-GB" dirty="0"/>
              <a:t>in the code.</a:t>
            </a:r>
          </a:p>
          <a:p>
            <a:r>
              <a:rPr lang="en-GB" dirty="0"/>
              <a:t>During the left-to-right scan, we </a:t>
            </a:r>
            <a:r>
              <a:rPr lang="en-GB" b="1" dirty="0"/>
              <a:t>keep track of how many \n symbols </a:t>
            </a:r>
            <a:r>
              <a:rPr lang="en-GB" dirty="0"/>
              <a:t>we have encountered and </a:t>
            </a:r>
            <a:r>
              <a:rPr lang="en-GB" b="1" dirty="0"/>
              <a:t>use a counter </a:t>
            </a:r>
            <a:r>
              <a:rPr lang="en-GB" b="1" i="1" dirty="0" err="1"/>
              <a:t>line_number</a:t>
            </a:r>
            <a:r>
              <a:rPr lang="en-GB" b="1" i="1" dirty="0"/>
              <a:t> </a:t>
            </a:r>
            <a:r>
              <a:rPr lang="en-GB" dirty="0"/>
              <a:t>to do so.</a:t>
            </a:r>
          </a:p>
          <a:p>
            <a:r>
              <a:rPr lang="en-GB" dirty="0"/>
              <a:t>If a Token is not recognized (e.g. a weird character like “@” appears in a C code and produces a TOKEN_UNKNOWN type), an </a:t>
            </a:r>
            <a:r>
              <a:rPr lang="en-GB" b="1" dirty="0"/>
              <a:t>error message will show the problematic token, lexeme and line it appears at</a:t>
            </a:r>
            <a:r>
              <a:rPr lang="en-GB" dirty="0"/>
              <a:t>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298306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537C2AA-6666-630C-FFE8-41317883A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4050"/>
            <a:ext cx="12192000" cy="42839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389D56-2B43-6F58-5305-6A0849E82CEB}"/>
              </a:ext>
            </a:extLst>
          </p:cNvPr>
          <p:cNvSpPr txBox="1"/>
          <p:nvPr/>
        </p:nvSpPr>
        <p:spPr>
          <a:xfrm>
            <a:off x="7247094" y="190043"/>
            <a:ext cx="454400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accent2"/>
                </a:solidFill>
              </a:rPr>
              <a:t>In Code files/1.</a:t>
            </a:r>
          </a:p>
          <a:p>
            <a:pPr algn="ctr"/>
            <a:r>
              <a:rPr lang="en-GB" sz="2800" b="1" dirty="0">
                <a:solidFill>
                  <a:schemeClr val="accent2"/>
                </a:solidFill>
              </a:rPr>
              <a:t>Implement a left-to-right scan, character by character, with maximal munch</a:t>
            </a:r>
          </a:p>
          <a:p>
            <a:pPr algn="ctr"/>
            <a:endParaRPr lang="en-GB" sz="2800" b="1" dirty="0">
              <a:solidFill>
                <a:schemeClr val="accent2"/>
              </a:solidFill>
            </a:endParaRPr>
          </a:p>
          <a:p>
            <a:pPr algn="ctr"/>
            <a:r>
              <a:rPr lang="en-GB" sz="2800" b="1" u="sng" dirty="0">
                <a:solidFill>
                  <a:schemeClr val="accent2"/>
                </a:solidFill>
              </a:rPr>
              <a:t>Step1:</a:t>
            </a:r>
            <a:r>
              <a:rPr lang="en-GB" sz="2800" b="1" dirty="0">
                <a:solidFill>
                  <a:schemeClr val="accent2"/>
                </a:solidFill>
              </a:rPr>
              <a:t> Prepare variables for tracking.</a:t>
            </a:r>
            <a:endParaRPr lang="en-SG" sz="2800" b="1" dirty="0">
              <a:solidFill>
                <a:schemeClr val="accent2"/>
              </a:solidFill>
            </a:endParaRPr>
          </a:p>
          <a:p>
            <a:pPr algn="ctr"/>
            <a:r>
              <a:rPr lang="en-SG" sz="2800" b="1" u="sng" dirty="0">
                <a:solidFill>
                  <a:schemeClr val="accent2"/>
                </a:solidFill>
              </a:rPr>
              <a:t>Step2:</a:t>
            </a:r>
            <a:r>
              <a:rPr lang="en-SG" sz="2800" b="1" dirty="0">
                <a:solidFill>
                  <a:schemeClr val="accent2"/>
                </a:solidFill>
              </a:rPr>
              <a:t> Implement a loop going through characters.</a:t>
            </a:r>
            <a:endParaRPr lang="en-GB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4403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5F8C3F-C632-32E0-34B5-8C2667250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1243"/>
            <a:ext cx="12192000" cy="41680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389D56-2B43-6F58-5305-6A0849E82CEB}"/>
              </a:ext>
            </a:extLst>
          </p:cNvPr>
          <p:cNvSpPr txBox="1"/>
          <p:nvPr/>
        </p:nvSpPr>
        <p:spPr>
          <a:xfrm>
            <a:off x="7527012" y="28685"/>
            <a:ext cx="454400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u="sng" dirty="0">
                <a:solidFill>
                  <a:schemeClr val="accent2"/>
                </a:solidFill>
              </a:rPr>
              <a:t>Note:</a:t>
            </a:r>
            <a:r>
              <a:rPr lang="en-GB" sz="2800" b="1" dirty="0">
                <a:solidFill>
                  <a:schemeClr val="accent2"/>
                </a:solidFill>
              </a:rPr>
              <a:t> we use the short-circuit evaluation property of the OR statements.</a:t>
            </a:r>
          </a:p>
          <a:p>
            <a:pPr algn="ctr"/>
            <a:r>
              <a:rPr lang="en-GB" sz="2800" b="1" dirty="0">
                <a:solidFill>
                  <a:schemeClr val="accent2"/>
                </a:solidFill>
              </a:rPr>
              <a:t>This way, the if() will only compute the first non-unknown token and assign it to </a:t>
            </a:r>
            <a:r>
              <a:rPr lang="en-GB" sz="2800" b="1" dirty="0" err="1">
                <a:solidFill>
                  <a:schemeClr val="accent2"/>
                </a:solidFill>
              </a:rPr>
              <a:t>candidate_token_type</a:t>
            </a:r>
            <a:r>
              <a:rPr lang="en-GB" sz="2800" b="1" dirty="0">
                <a:solidFill>
                  <a:schemeClr val="accent2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814273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5F8C3F-C632-32E0-34B5-8C2667250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1243"/>
            <a:ext cx="12192000" cy="41680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389D56-2B43-6F58-5305-6A0849E82CEB}"/>
              </a:ext>
            </a:extLst>
          </p:cNvPr>
          <p:cNvSpPr txBox="1"/>
          <p:nvPr/>
        </p:nvSpPr>
        <p:spPr>
          <a:xfrm>
            <a:off x="6877538" y="28685"/>
            <a:ext cx="519348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i="1" dirty="0">
                <a:solidFill>
                  <a:schemeClr val="accent2"/>
                </a:solidFill>
              </a:rPr>
              <a:t>(There are obviously other ways to implement this that are a bit more readable, but just a friendly reminder that short-circuiting is a thing!)</a:t>
            </a:r>
          </a:p>
        </p:txBody>
      </p:sp>
    </p:spTree>
    <p:extLst>
      <p:ext uri="{BB962C8B-B14F-4D97-AF65-F5344CB8AC3E}">
        <p14:creationId xmlns:p14="http://schemas.microsoft.com/office/powerpoint/2010/main" val="23913454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389D56-2B43-6F58-5305-6A0849E82CEB}"/>
              </a:ext>
            </a:extLst>
          </p:cNvPr>
          <p:cNvSpPr txBox="1"/>
          <p:nvPr/>
        </p:nvSpPr>
        <p:spPr>
          <a:xfrm>
            <a:off x="197287" y="275175"/>
            <a:ext cx="1210603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accent2"/>
                </a:solidFill>
              </a:rPr>
              <a:t>The for loop stops when a lexeme has been found, either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accent2"/>
                </a:solidFill>
              </a:rPr>
              <a:t>a maximal length one has been recognized,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accent2"/>
                </a:solidFill>
              </a:rPr>
              <a:t>a problematic one has been recognized,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accent2"/>
                </a:solidFill>
              </a:rPr>
              <a:t>or a single white space character of some sort has been recognized.</a:t>
            </a:r>
          </a:p>
          <a:p>
            <a:r>
              <a:rPr lang="en-GB" sz="2800" b="1" dirty="0">
                <a:solidFill>
                  <a:schemeClr val="accent2"/>
                </a:solidFill>
              </a:rPr>
              <a:t>Either way, something is supposed to happen with this lexeme.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8F462A-3051-697F-FF69-9DEF85591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94000"/>
            <a:ext cx="12192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093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C2EE47-1016-90A8-4826-0BB916D48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15" y="562228"/>
            <a:ext cx="10945753" cy="61254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B82944-D436-E4F4-C0BB-B718145522EC}"/>
              </a:ext>
            </a:extLst>
          </p:cNvPr>
          <p:cNvSpPr txBox="1"/>
          <p:nvPr/>
        </p:nvSpPr>
        <p:spPr>
          <a:xfrm>
            <a:off x="7184571" y="447869"/>
            <a:ext cx="45440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accent2"/>
                </a:solidFill>
              </a:rPr>
              <a:t>Adjusting our Token object to include a </a:t>
            </a:r>
            <a:r>
              <a:rPr lang="en-GB" sz="2800" b="1" dirty="0" err="1">
                <a:solidFill>
                  <a:schemeClr val="accent2"/>
                </a:solidFill>
              </a:rPr>
              <a:t>line_number</a:t>
            </a:r>
            <a:r>
              <a:rPr lang="en-GB" sz="2800" b="1" dirty="0">
                <a:solidFill>
                  <a:schemeClr val="accent2"/>
                </a:solidFill>
              </a:rPr>
              <a:t> attribute.</a:t>
            </a:r>
            <a:endParaRPr lang="en-SG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771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73AAF4-A1AD-2081-F061-7C101771E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1765"/>
            <a:ext cx="12192000" cy="51961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B82944-D436-E4F4-C0BB-B718145522EC}"/>
              </a:ext>
            </a:extLst>
          </p:cNvPr>
          <p:cNvSpPr txBox="1"/>
          <p:nvPr/>
        </p:nvSpPr>
        <p:spPr>
          <a:xfrm>
            <a:off x="7247094" y="190043"/>
            <a:ext cx="45440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accent2"/>
                </a:solidFill>
              </a:rPr>
              <a:t>Keep track of the </a:t>
            </a:r>
            <a:r>
              <a:rPr lang="en-GB" sz="2800" b="1" dirty="0" err="1">
                <a:solidFill>
                  <a:schemeClr val="accent2"/>
                </a:solidFill>
              </a:rPr>
              <a:t>line_number</a:t>
            </a:r>
            <a:r>
              <a:rPr lang="en-GB" sz="2800" b="1" dirty="0">
                <a:solidFill>
                  <a:schemeClr val="accent2"/>
                </a:solidFill>
              </a:rPr>
              <a:t>.</a:t>
            </a:r>
            <a:endParaRPr lang="en-SG" sz="2800" b="1" dirty="0">
              <a:solidFill>
                <a:schemeClr val="accent2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2F60193-F2F1-E3C8-D181-1294065C155D}"/>
              </a:ext>
            </a:extLst>
          </p:cNvPr>
          <p:cNvSpPr/>
          <p:nvPr/>
        </p:nvSpPr>
        <p:spPr>
          <a:xfrm>
            <a:off x="4501662" y="1224501"/>
            <a:ext cx="6091336" cy="5262268"/>
          </a:xfrm>
          <a:custGeom>
            <a:avLst/>
            <a:gdLst>
              <a:gd name="connsiteX0" fmla="*/ 5025292 w 6091336"/>
              <a:gd name="connsiteY0" fmla="*/ 0 h 5642707"/>
              <a:gd name="connsiteX1" fmla="*/ 5853723 w 6091336"/>
              <a:gd name="connsiteY1" fmla="*/ 2766646 h 5642707"/>
              <a:gd name="connsiteX2" fmla="*/ 5525476 w 6091336"/>
              <a:gd name="connsiteY2" fmla="*/ 4970584 h 5642707"/>
              <a:gd name="connsiteX3" fmla="*/ 0 w 6091336"/>
              <a:gd name="connsiteY3" fmla="*/ 5642707 h 5642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1336" h="5642707">
                <a:moveTo>
                  <a:pt x="5025292" y="0"/>
                </a:moveTo>
                <a:cubicBezTo>
                  <a:pt x="5397825" y="969107"/>
                  <a:pt x="5770359" y="1938215"/>
                  <a:pt x="5853723" y="2766646"/>
                </a:cubicBezTo>
                <a:cubicBezTo>
                  <a:pt x="5937087" y="3595077"/>
                  <a:pt x="6501096" y="4491241"/>
                  <a:pt x="5525476" y="4970584"/>
                </a:cubicBezTo>
                <a:cubicBezTo>
                  <a:pt x="4549856" y="5449927"/>
                  <a:pt x="2274928" y="5546317"/>
                  <a:pt x="0" y="5642707"/>
                </a:cubicBezTo>
              </a:path>
            </a:pathLst>
          </a:custGeom>
          <a:noFill/>
          <a:ln w="381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334162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A51312-F25B-B942-611A-C2F3632C8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3957"/>
            <a:ext cx="12192000" cy="406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B82944-D436-E4F4-C0BB-B718145522EC}"/>
              </a:ext>
            </a:extLst>
          </p:cNvPr>
          <p:cNvSpPr txBox="1"/>
          <p:nvPr/>
        </p:nvSpPr>
        <p:spPr>
          <a:xfrm>
            <a:off x="7247094" y="190043"/>
            <a:ext cx="45440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accent2"/>
                </a:solidFill>
              </a:rPr>
              <a:t>In maximal munch procedure, increase line number when \n is encountered</a:t>
            </a:r>
            <a:endParaRPr lang="en-SG" sz="2800" b="1" dirty="0">
              <a:solidFill>
                <a:schemeClr val="accent2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2F60193-F2F1-E3C8-D181-1294065C155D}"/>
              </a:ext>
            </a:extLst>
          </p:cNvPr>
          <p:cNvSpPr/>
          <p:nvPr/>
        </p:nvSpPr>
        <p:spPr>
          <a:xfrm>
            <a:off x="3548185" y="2005925"/>
            <a:ext cx="7044813" cy="2761460"/>
          </a:xfrm>
          <a:custGeom>
            <a:avLst/>
            <a:gdLst>
              <a:gd name="connsiteX0" fmla="*/ 5025292 w 6091336"/>
              <a:gd name="connsiteY0" fmla="*/ 0 h 5642707"/>
              <a:gd name="connsiteX1" fmla="*/ 5853723 w 6091336"/>
              <a:gd name="connsiteY1" fmla="*/ 2766646 h 5642707"/>
              <a:gd name="connsiteX2" fmla="*/ 5525476 w 6091336"/>
              <a:gd name="connsiteY2" fmla="*/ 4970584 h 5642707"/>
              <a:gd name="connsiteX3" fmla="*/ 0 w 6091336"/>
              <a:gd name="connsiteY3" fmla="*/ 5642707 h 5642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1336" h="5642707">
                <a:moveTo>
                  <a:pt x="5025292" y="0"/>
                </a:moveTo>
                <a:cubicBezTo>
                  <a:pt x="5397825" y="969107"/>
                  <a:pt x="5770359" y="1938215"/>
                  <a:pt x="5853723" y="2766646"/>
                </a:cubicBezTo>
                <a:cubicBezTo>
                  <a:pt x="5937087" y="3595077"/>
                  <a:pt x="6501096" y="4491241"/>
                  <a:pt x="5525476" y="4970584"/>
                </a:cubicBezTo>
                <a:cubicBezTo>
                  <a:pt x="4549856" y="5449927"/>
                  <a:pt x="2274928" y="5546317"/>
                  <a:pt x="0" y="5642707"/>
                </a:cubicBezTo>
              </a:path>
            </a:pathLst>
          </a:custGeom>
          <a:noFill/>
          <a:ln w="381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922353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136249-6C9A-86D1-98B3-9C3EF5D3E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3957"/>
            <a:ext cx="12192000" cy="406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B82944-D436-E4F4-C0BB-B718145522EC}"/>
              </a:ext>
            </a:extLst>
          </p:cNvPr>
          <p:cNvSpPr txBox="1"/>
          <p:nvPr/>
        </p:nvSpPr>
        <p:spPr>
          <a:xfrm>
            <a:off x="7247094" y="190043"/>
            <a:ext cx="45440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accent2"/>
                </a:solidFill>
              </a:rPr>
              <a:t>Upon creating a token, use current line number at which token appeared.</a:t>
            </a:r>
            <a:endParaRPr lang="en-SG" sz="2800" b="1" dirty="0">
              <a:solidFill>
                <a:schemeClr val="accent2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2F60193-F2F1-E3C8-D181-1294065C155D}"/>
              </a:ext>
            </a:extLst>
          </p:cNvPr>
          <p:cNvSpPr/>
          <p:nvPr/>
        </p:nvSpPr>
        <p:spPr>
          <a:xfrm>
            <a:off x="8104554" y="1575037"/>
            <a:ext cx="1073859" cy="1535485"/>
          </a:xfrm>
          <a:custGeom>
            <a:avLst/>
            <a:gdLst>
              <a:gd name="connsiteX0" fmla="*/ 5025292 w 6091336"/>
              <a:gd name="connsiteY0" fmla="*/ 0 h 5642707"/>
              <a:gd name="connsiteX1" fmla="*/ 5853723 w 6091336"/>
              <a:gd name="connsiteY1" fmla="*/ 2766646 h 5642707"/>
              <a:gd name="connsiteX2" fmla="*/ 5525476 w 6091336"/>
              <a:gd name="connsiteY2" fmla="*/ 4970584 h 5642707"/>
              <a:gd name="connsiteX3" fmla="*/ 0 w 6091336"/>
              <a:gd name="connsiteY3" fmla="*/ 5642707 h 5642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1336" h="5642707">
                <a:moveTo>
                  <a:pt x="5025292" y="0"/>
                </a:moveTo>
                <a:cubicBezTo>
                  <a:pt x="5397825" y="969107"/>
                  <a:pt x="5770359" y="1938215"/>
                  <a:pt x="5853723" y="2766646"/>
                </a:cubicBezTo>
                <a:cubicBezTo>
                  <a:pt x="5937087" y="3595077"/>
                  <a:pt x="6501096" y="4491241"/>
                  <a:pt x="5525476" y="4970584"/>
                </a:cubicBezTo>
                <a:cubicBezTo>
                  <a:pt x="4549856" y="5449927"/>
                  <a:pt x="2274928" y="5546317"/>
                  <a:pt x="0" y="5642707"/>
                </a:cubicBezTo>
              </a:path>
            </a:pathLst>
          </a:custGeom>
          <a:noFill/>
          <a:ln w="381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222766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C177BA-937E-F33A-CD18-3818406A9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3957"/>
            <a:ext cx="12192000" cy="406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B82944-D436-E4F4-C0BB-B718145522EC}"/>
              </a:ext>
            </a:extLst>
          </p:cNvPr>
          <p:cNvSpPr txBox="1"/>
          <p:nvPr/>
        </p:nvSpPr>
        <p:spPr>
          <a:xfrm>
            <a:off x="7247094" y="190043"/>
            <a:ext cx="45440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accent2"/>
                </a:solidFill>
              </a:rPr>
              <a:t>Error message shows problematic token along with its line number</a:t>
            </a:r>
            <a:endParaRPr lang="en-SG" sz="2800" b="1" dirty="0">
              <a:solidFill>
                <a:schemeClr val="accent2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2F60193-F2F1-E3C8-D181-1294065C155D}"/>
              </a:ext>
            </a:extLst>
          </p:cNvPr>
          <p:cNvSpPr/>
          <p:nvPr/>
        </p:nvSpPr>
        <p:spPr>
          <a:xfrm>
            <a:off x="9839570" y="1633415"/>
            <a:ext cx="492368" cy="3991033"/>
          </a:xfrm>
          <a:custGeom>
            <a:avLst/>
            <a:gdLst>
              <a:gd name="connsiteX0" fmla="*/ 5025292 w 6091336"/>
              <a:gd name="connsiteY0" fmla="*/ 0 h 5642707"/>
              <a:gd name="connsiteX1" fmla="*/ 5853723 w 6091336"/>
              <a:gd name="connsiteY1" fmla="*/ 2766646 h 5642707"/>
              <a:gd name="connsiteX2" fmla="*/ 5525476 w 6091336"/>
              <a:gd name="connsiteY2" fmla="*/ 4970584 h 5642707"/>
              <a:gd name="connsiteX3" fmla="*/ 0 w 6091336"/>
              <a:gd name="connsiteY3" fmla="*/ 5642707 h 5642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1336" h="5642707">
                <a:moveTo>
                  <a:pt x="5025292" y="0"/>
                </a:moveTo>
                <a:cubicBezTo>
                  <a:pt x="5397825" y="969107"/>
                  <a:pt x="5770359" y="1938215"/>
                  <a:pt x="5853723" y="2766646"/>
                </a:cubicBezTo>
                <a:cubicBezTo>
                  <a:pt x="5937087" y="3595077"/>
                  <a:pt x="6501096" y="4491241"/>
                  <a:pt x="5525476" y="4970584"/>
                </a:cubicBezTo>
                <a:cubicBezTo>
                  <a:pt x="4549856" y="5449927"/>
                  <a:pt x="2274928" y="5546317"/>
                  <a:pt x="0" y="5642707"/>
                </a:cubicBezTo>
              </a:path>
            </a:pathLst>
          </a:custGeom>
          <a:noFill/>
          <a:ln w="381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953604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9B1C08D-306C-BAEB-61A7-56513FEADD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5" t="13411" r="66654"/>
          <a:stretch/>
        </p:blipFill>
        <p:spPr>
          <a:xfrm>
            <a:off x="1398955" y="1001523"/>
            <a:ext cx="3425714" cy="6846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CD69AF-2C34-AA87-7DF3-63B64FE1C1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430"/>
          <a:stretch/>
        </p:blipFill>
        <p:spPr>
          <a:xfrm>
            <a:off x="179384" y="1290828"/>
            <a:ext cx="6971693" cy="7906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AC0A0A-99A8-4AD9-940F-9E60A2E8BDF1}"/>
              </a:ext>
            </a:extLst>
          </p:cNvPr>
          <p:cNvSpPr txBox="1"/>
          <p:nvPr/>
        </p:nvSpPr>
        <p:spPr>
          <a:xfrm>
            <a:off x="1027376" y="2602578"/>
            <a:ext cx="454400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accent2"/>
                </a:solidFill>
              </a:rPr>
              <a:t>Our Tokenizer v1.3 with some additional features: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accent2"/>
                </a:solidFill>
              </a:rPr>
              <a:t>Line tracking,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accent2"/>
                </a:solidFill>
              </a:rPr>
              <a:t>More types of tokens,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accent2"/>
                </a:solidFill>
              </a:rPr>
              <a:t>Left-to-right scan,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accent2"/>
                </a:solidFill>
              </a:rPr>
              <a:t>Maximal Munch,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accent2"/>
                </a:solidFill>
              </a:rPr>
              <a:t>Error messages for unknown tokens!</a:t>
            </a:r>
            <a:endParaRPr lang="en-SG" sz="2800" b="1" dirty="0">
              <a:solidFill>
                <a:schemeClr val="accent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96E32E-903A-6978-B14C-609CFEAD0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333" y="55844"/>
            <a:ext cx="4222882" cy="674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7307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2E7A7-E618-59F0-571A-6F2723263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 to the current code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F50C9-5827-6430-A431-981428743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Our current maximal munch will detect invalid characters, such as @, but will not necessarily detect invalid literals.</a:t>
            </a:r>
            <a:br>
              <a:rPr lang="en-GB" dirty="0"/>
            </a:br>
            <a:r>
              <a:rPr lang="en-GB" dirty="0"/>
              <a:t>Instead, it will split them into identifiers and literals.</a:t>
            </a:r>
          </a:p>
          <a:p>
            <a:r>
              <a:rPr lang="en-GB" dirty="0"/>
              <a:t>For instance, it will split the lexeme “1t00” into LITERAL(1) and IDENTIFIER(t00), instead of a single UNKNOWN(1t00).</a:t>
            </a:r>
          </a:p>
          <a:p>
            <a:r>
              <a:rPr lang="en-GB" dirty="0"/>
              <a:t>Per se, it is not that bad, as </a:t>
            </a:r>
            <a:r>
              <a:rPr lang="en-GB" b="1" dirty="0"/>
              <a:t>it will be caught by PARSER</a:t>
            </a:r>
            <a:r>
              <a:rPr lang="en-GB" dirty="0"/>
              <a:t> on the next step. After all, literals cannot be directly followed by identifiers.</a:t>
            </a:r>
          </a:p>
          <a:p>
            <a:r>
              <a:rPr lang="en-GB" dirty="0"/>
              <a:t>At this point, it is up to us to decide who should raise the error… Should it be the tokenizer or the parser?</a:t>
            </a:r>
          </a:p>
          <a:p>
            <a:r>
              <a:rPr lang="en-SG" dirty="0"/>
              <a:t>We could also implement the Error </a:t>
            </a:r>
            <a:r>
              <a:rPr lang="en-SG" dirty="0" err="1"/>
              <a:t>RegEx</a:t>
            </a:r>
            <a:r>
              <a:rPr lang="en-SG" dirty="0"/>
              <a:t> mentioned in last lecture and try to catch these faulty literals (e.g. invalid decimal literal).</a:t>
            </a:r>
          </a:p>
        </p:txBody>
      </p:sp>
    </p:spTree>
    <p:extLst>
      <p:ext uri="{BB962C8B-B14F-4D97-AF65-F5344CB8AC3E}">
        <p14:creationId xmlns:p14="http://schemas.microsoft.com/office/powerpoint/2010/main" val="22912006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2E7A7-E618-59F0-571A-6F2723263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Recognizing typical errors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F50C9-5827-6430-A431-981428743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We could, however, recognize some typical errors, by using </a:t>
            </a:r>
            <a:r>
              <a:rPr lang="en-GB" dirty="0" err="1"/>
              <a:t>RegEx</a:t>
            </a:r>
            <a:r>
              <a:rPr lang="en-GB" dirty="0"/>
              <a:t> to flag them. For instance, we could create a token type for </a:t>
            </a:r>
            <a:r>
              <a:rPr lang="en-GB" b="1" dirty="0"/>
              <a:t>invalid decimal literal lexemes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They start with at least one digit and are then followed by at least one non-digit character.</a:t>
            </a:r>
          </a:p>
          <a:p>
            <a:pPr marL="0" indent="0" algn="ctr">
              <a:buNone/>
            </a:pPr>
            <a:r>
              <a:rPr lang="en-GB" b="1" i="1" dirty="0">
                <a:solidFill>
                  <a:srgbClr val="7030A0"/>
                </a:solidFill>
              </a:rPr>
              <a:t>^[0-9]+[^0-9]+(.)*$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When recognized, interrupt compiler and raise errors, as shown earlier.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809844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2E7A7-E618-59F0-571A-6F2723263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Recognizing typical errors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F50C9-5827-6430-A431-981428743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Idea (code repairing): </a:t>
            </a:r>
            <a:r>
              <a:rPr lang="en-GB" dirty="0"/>
              <a:t>How about a smart tokenizer that could also recognize that a semicolon is missing at the end of a given statement and add it to the code?</a:t>
            </a:r>
          </a:p>
          <a:p>
            <a:pPr marL="0" indent="0">
              <a:buNone/>
            </a:pPr>
            <a:r>
              <a:rPr lang="en-GB" dirty="0"/>
              <a:t>Would it be a good idea or a potential disaster?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9136F8-7862-7F23-1907-E6AF012FE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859" y="3968304"/>
            <a:ext cx="4236281" cy="220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6930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E093F-C8CC-3A8E-89BA-3CE123548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Error Handling in Tokenization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FD3A2-2012-00A4-23EA-8941F913B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Some advanced tokenizers might in fact attempt to fix these errors!</a:t>
            </a:r>
          </a:p>
          <a:p>
            <a:pPr marL="0" indent="0">
              <a:buNone/>
            </a:pPr>
            <a:r>
              <a:rPr lang="en-GB" dirty="0"/>
              <a:t>But they are usually part of a larger system, such as an IDE or a code editor with syntax-checking features.</a:t>
            </a:r>
          </a:p>
          <a:p>
            <a:r>
              <a:rPr lang="en-GB" dirty="0"/>
              <a:t>These advanced tokenizers work in conjunction with other components like parsers and error recovery mechanisms to detect and correct common errors in source code.</a:t>
            </a:r>
          </a:p>
          <a:p>
            <a:r>
              <a:rPr lang="en-GB" dirty="0"/>
              <a:t>When the tokenizer encounters an invalid lexeme, it might try to guess the intended token based on the surrounding context or by applying heuristics.</a:t>
            </a:r>
          </a:p>
          <a:p>
            <a:r>
              <a:rPr lang="en-GB" dirty="0"/>
              <a:t>In difficult cases, it might even flag the error for further processing, leaving it to the parser to figure it out.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658760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E093F-C8CC-3A8E-89BA-3CE123548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Error Handling in Tokenization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FD3A2-2012-00A4-23EA-8941F913B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Some advanced tokenizers might even attempt to fix typical errors!</a:t>
            </a:r>
          </a:p>
          <a:p>
            <a:pPr marL="0" indent="0">
              <a:buNone/>
            </a:pPr>
            <a:r>
              <a:rPr lang="en-GB" dirty="0"/>
              <a:t>But they are usually part of a larger system, such as an IDE or a code editor with syntax-checking features.</a:t>
            </a:r>
          </a:p>
          <a:p>
            <a:r>
              <a:rPr lang="en-GB" dirty="0"/>
              <a:t>These advanced tokenizers work in conjunction with other components like parsers and error recovery mechanisms to detect and correct common errors in source code.</a:t>
            </a:r>
          </a:p>
          <a:p>
            <a:r>
              <a:rPr lang="en-GB" dirty="0"/>
              <a:t>When the tokenizer encounters an invalid lexeme, it might try to guess the intended token based on the surrounding context or by applying heuristics.</a:t>
            </a:r>
          </a:p>
          <a:p>
            <a:r>
              <a:rPr lang="en-GB" dirty="0"/>
              <a:t>In difficult cases, it might even flag the error for further processing, leaving it to the parser or user to figure it out.</a:t>
            </a:r>
          </a:p>
          <a:p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EE30A2-13DD-FB0A-BC7F-5D01EAB35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888" y="4135031"/>
            <a:ext cx="9506224" cy="23578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44133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A02F6-623B-13EA-E722-E0CCCD99D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Recognizing and discarding comments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D9CC1-DB3F-2AA6-618F-E8DA5A2D1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At the moment, our tokenizer is </a:t>
            </a:r>
            <a:r>
              <a:rPr lang="en-GB" b="1" dirty="0"/>
              <a:t>not correctly recognizing comments.</a:t>
            </a:r>
          </a:p>
          <a:p>
            <a:r>
              <a:rPr lang="en-GB" b="1" dirty="0"/>
              <a:t>Comments should be discarded: </a:t>
            </a:r>
            <a:r>
              <a:rPr lang="en-GB" dirty="0"/>
              <a:t>we shall not bother to create tokens for comments, just discard them during file reading.</a:t>
            </a:r>
          </a:p>
          <a:p>
            <a:r>
              <a:rPr lang="en-GB" dirty="0"/>
              <a:t>To do so, we should recognize when a line comment appears, by recognizing two // in succession.</a:t>
            </a:r>
          </a:p>
          <a:p>
            <a:r>
              <a:rPr lang="en-GB" dirty="0"/>
              <a:t>After that, we should then discard any scanned character until a \n is seen, indicating the end of the comment.</a:t>
            </a:r>
          </a:p>
          <a:p>
            <a:r>
              <a:rPr lang="en-GB" i="1" dirty="0"/>
              <a:t>(To some extent, we would do the same thing with block comments using /* and */ as beginning and end of comment symbols</a:t>
            </a:r>
            <a:br>
              <a:rPr lang="en-GB" i="1" dirty="0"/>
            </a:br>
            <a:r>
              <a:rPr lang="en-GB" i="1" dirty="0"/>
              <a:t>Leaving it as extra challenge to students!).</a:t>
            </a:r>
            <a:endParaRPr lang="en-SG" i="1" dirty="0"/>
          </a:p>
        </p:txBody>
      </p:sp>
    </p:spTree>
    <p:extLst>
      <p:ext uri="{BB962C8B-B14F-4D97-AF65-F5344CB8AC3E}">
        <p14:creationId xmlns:p14="http://schemas.microsoft.com/office/powerpoint/2010/main" val="3196366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3842F8-AEB7-9242-3C7D-55BACAF22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34" y="2048156"/>
            <a:ext cx="9669224" cy="47155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B3161C-BA17-F51D-70D9-9D2DA4C3EDEE}"/>
              </a:ext>
            </a:extLst>
          </p:cNvPr>
          <p:cNvSpPr txBox="1"/>
          <p:nvPr/>
        </p:nvSpPr>
        <p:spPr>
          <a:xfrm>
            <a:off x="7247094" y="190043"/>
            <a:ext cx="454400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accent2"/>
                </a:solidFill>
              </a:rPr>
              <a:t>In Code files/2.</a:t>
            </a:r>
          </a:p>
          <a:p>
            <a:pPr algn="ctr"/>
            <a:r>
              <a:rPr lang="en-GB" sz="2800" b="1" dirty="0">
                <a:solidFill>
                  <a:schemeClr val="accent2"/>
                </a:solidFill>
              </a:rPr>
              <a:t>We have written a function that will scan the source code and replace comments with white spaces.</a:t>
            </a:r>
          </a:p>
        </p:txBody>
      </p:sp>
    </p:spTree>
    <p:extLst>
      <p:ext uri="{BB962C8B-B14F-4D97-AF65-F5344CB8AC3E}">
        <p14:creationId xmlns:p14="http://schemas.microsoft.com/office/powerpoint/2010/main" val="6602334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B3161C-BA17-F51D-70D9-9D2DA4C3EDEE}"/>
              </a:ext>
            </a:extLst>
          </p:cNvPr>
          <p:cNvSpPr txBox="1"/>
          <p:nvPr/>
        </p:nvSpPr>
        <p:spPr>
          <a:xfrm>
            <a:off x="7247094" y="190043"/>
            <a:ext cx="46713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accent2"/>
                </a:solidFill>
              </a:rPr>
              <a:t>It is then used in our main, after the code has been retrieved from the source file.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F0F000-42C7-7A84-813E-19DD0EA92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02" y="1571371"/>
            <a:ext cx="11793596" cy="5096586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F401A02-C00D-A207-9869-579E657FCFC8}"/>
              </a:ext>
            </a:extLst>
          </p:cNvPr>
          <p:cNvSpPr/>
          <p:nvPr/>
        </p:nvSpPr>
        <p:spPr>
          <a:xfrm>
            <a:off x="4939322" y="1649046"/>
            <a:ext cx="5653675" cy="4024923"/>
          </a:xfrm>
          <a:custGeom>
            <a:avLst/>
            <a:gdLst>
              <a:gd name="connsiteX0" fmla="*/ 5025292 w 6091336"/>
              <a:gd name="connsiteY0" fmla="*/ 0 h 5642707"/>
              <a:gd name="connsiteX1" fmla="*/ 5853723 w 6091336"/>
              <a:gd name="connsiteY1" fmla="*/ 2766646 h 5642707"/>
              <a:gd name="connsiteX2" fmla="*/ 5525476 w 6091336"/>
              <a:gd name="connsiteY2" fmla="*/ 4970584 h 5642707"/>
              <a:gd name="connsiteX3" fmla="*/ 0 w 6091336"/>
              <a:gd name="connsiteY3" fmla="*/ 5642707 h 5642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1336" h="5642707">
                <a:moveTo>
                  <a:pt x="5025292" y="0"/>
                </a:moveTo>
                <a:cubicBezTo>
                  <a:pt x="5397825" y="969107"/>
                  <a:pt x="5770359" y="1938215"/>
                  <a:pt x="5853723" y="2766646"/>
                </a:cubicBezTo>
                <a:cubicBezTo>
                  <a:pt x="5937087" y="3595077"/>
                  <a:pt x="6501096" y="4491241"/>
                  <a:pt x="5525476" y="4970584"/>
                </a:cubicBezTo>
                <a:cubicBezTo>
                  <a:pt x="4549856" y="5449927"/>
                  <a:pt x="2274928" y="5546317"/>
                  <a:pt x="0" y="5642707"/>
                </a:cubicBezTo>
              </a:path>
            </a:pathLst>
          </a:custGeom>
          <a:noFill/>
          <a:ln w="381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807546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A02F6-623B-13EA-E722-E0CCCD99D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Recognizing and discarding comments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D9CC1-DB3F-2AA6-618F-E8DA5A2D1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At the moment, our tokenizer is </a:t>
            </a:r>
            <a:r>
              <a:rPr lang="en-GB" b="1" dirty="0">
                <a:solidFill>
                  <a:schemeClr val="bg1">
                    <a:lumMod val="75000"/>
                  </a:schemeClr>
                </a:solidFill>
              </a:rPr>
              <a:t>not correctly recognizing comments.</a:t>
            </a:r>
          </a:p>
          <a:p>
            <a:r>
              <a:rPr lang="en-GB" b="1" dirty="0">
                <a:solidFill>
                  <a:schemeClr val="bg1">
                    <a:lumMod val="75000"/>
                  </a:schemeClr>
                </a:solidFill>
              </a:rPr>
              <a:t>Comments should be discarded: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we shall not bother to create tokens for comments, just discard them during file reading.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To do so, we should recognize when a line comment appears, by recognizing two // in succession.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After that, we should then discard any scanned character until a \n is seen, indicating the end of the comment.</a:t>
            </a:r>
          </a:p>
          <a:p>
            <a:r>
              <a:rPr lang="en-GB" i="1" dirty="0">
                <a:solidFill>
                  <a:schemeClr val="bg1">
                    <a:lumMod val="75000"/>
                  </a:schemeClr>
                </a:solidFill>
              </a:rPr>
              <a:t>(To some extent, we would do the same thing with block comments using /* and */ as beginning and end of comment symbols</a:t>
            </a:r>
            <a:br>
              <a:rPr lang="en-GB" i="1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GB" i="1" dirty="0">
                <a:solidFill>
                  <a:schemeClr val="bg1">
                    <a:lumMod val="75000"/>
                  </a:schemeClr>
                </a:solidFill>
              </a:rPr>
              <a:t>Leaving it as extra challenge to students!).</a:t>
            </a:r>
            <a:endParaRPr lang="en-SG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2022D-C055-1831-3F3E-668C4A449D21}"/>
              </a:ext>
            </a:extLst>
          </p:cNvPr>
          <p:cNvSpPr txBox="1"/>
          <p:nvPr/>
        </p:nvSpPr>
        <p:spPr>
          <a:xfrm rot="20578948">
            <a:off x="773124" y="1280145"/>
            <a:ext cx="1064575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accent1"/>
                </a:solidFill>
              </a:rPr>
              <a:t>Would this work for the code</a:t>
            </a:r>
            <a:br>
              <a:rPr lang="en-GB" sz="4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accent1"/>
                </a:solidFill>
              </a:rPr>
            </a:br>
            <a:r>
              <a:rPr lang="en-GB" sz="4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accent1"/>
                </a:solidFill>
              </a:rPr>
              <a:t>char* s = “Hello // comment in a string;”?</a:t>
            </a:r>
          </a:p>
          <a:p>
            <a:pPr algn="ctr"/>
            <a:endParaRPr lang="en-GB" sz="4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accent1"/>
              </a:solidFill>
            </a:endParaRPr>
          </a:p>
          <a:p>
            <a:pPr algn="ctr"/>
            <a:r>
              <a:rPr lang="en-GB" sz="4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accent1"/>
                </a:solidFill>
              </a:rPr>
              <a:t>How to amend our function then?</a:t>
            </a:r>
          </a:p>
          <a:p>
            <a:pPr algn="ctr"/>
            <a:endParaRPr lang="en-GB" sz="4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accent1"/>
              </a:solidFill>
            </a:endParaRPr>
          </a:p>
          <a:p>
            <a:pPr algn="ctr"/>
            <a:r>
              <a:rPr lang="en-GB" sz="4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accent1"/>
                </a:solidFill>
              </a:rPr>
              <a:t>Better to remove comments before or during the maximal much?</a:t>
            </a:r>
          </a:p>
        </p:txBody>
      </p:sp>
    </p:spTree>
    <p:extLst>
      <p:ext uri="{BB962C8B-B14F-4D97-AF65-F5344CB8AC3E}">
        <p14:creationId xmlns:p14="http://schemas.microsoft.com/office/powerpoint/2010/main" val="1870794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2B5A7-257F-6105-ED78-BD2098895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Pre-processing commands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4622-F4E5-BCBF-9B20-E1F397CD4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Pre-processing commands (or pre-processor directives) are instructions for the C pre-processor that are usually evaluated and resolved </a:t>
            </a:r>
            <a:r>
              <a:rPr lang="en-GB" b="1" dirty="0"/>
              <a:t>before the actual compilation process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During tokenization, we have a few options for handling pre-processor directives:</a:t>
            </a:r>
          </a:p>
          <a:p>
            <a:r>
              <a:rPr lang="en-GB" b="1" dirty="0"/>
              <a:t>Simply ignore them: </a:t>
            </a:r>
            <a:r>
              <a:rPr lang="en-GB" dirty="0"/>
              <a:t>If your goal is to tokenize the C source code without considering the effects of pre-processing directives, you can simply ignore them during tokenization.</a:t>
            </a:r>
            <a:br>
              <a:rPr lang="en-GB" dirty="0"/>
            </a:br>
            <a:r>
              <a:rPr lang="en-GB" dirty="0"/>
              <a:t>You can remove pre-processor directives by replacing their characters with spaces, similar to how we handled comments.</a:t>
            </a:r>
          </a:p>
        </p:txBody>
      </p:sp>
    </p:spTree>
    <p:extLst>
      <p:ext uri="{BB962C8B-B14F-4D97-AF65-F5344CB8AC3E}">
        <p14:creationId xmlns:p14="http://schemas.microsoft.com/office/powerpoint/2010/main" val="38315364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2B5A7-257F-6105-ED78-BD2098895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Pre-processing commands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4622-F4E5-BCBF-9B20-E1F397CD4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Pre-processing commands (or pre-processor directives) are instructions for the C pre-processor that are usually evaluated and resolved </a:t>
            </a:r>
            <a:r>
              <a:rPr lang="en-GB" b="1" dirty="0"/>
              <a:t>before the actual compilation process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During tokenization, we have a few options for handling pre-processor directives:</a:t>
            </a:r>
          </a:p>
          <a:p>
            <a:r>
              <a:rPr lang="en-GB" b="1" dirty="0"/>
              <a:t>Fully process them: </a:t>
            </a:r>
            <a:r>
              <a:rPr lang="en-GB" dirty="0"/>
              <a:t>If you want to build a complete C compiler, you should pre-process the source code </a:t>
            </a:r>
            <a:r>
              <a:rPr lang="en-GB" b="1" dirty="0"/>
              <a:t>before</a:t>
            </a:r>
            <a:r>
              <a:rPr lang="en-GB" dirty="0"/>
              <a:t> tokenization. In this case, you would probably implement a separate pre-processor module that handles pre-processor directives as specified by the C standard.</a:t>
            </a:r>
          </a:p>
          <a:p>
            <a:pPr marL="0" indent="0">
              <a:buNone/>
            </a:pPr>
            <a:r>
              <a:rPr lang="en-GB" i="1" dirty="0"/>
              <a:t>(This is a more complex approach and requires to study what is the C pre-processor doing, which is </a:t>
            </a:r>
            <a:r>
              <a:rPr lang="en-GB" i="1" u="sng" dirty="0"/>
              <a:t>out-of-scope</a:t>
            </a:r>
            <a:r>
              <a:rPr lang="en-GB" i="1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38812398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2D0B2-00C5-ACBC-F7CA-1F376B1DB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about function imports?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44CD0-F4AB-5D05-ECA7-663AAC47E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For instance, in the case of function imports, what would happen?</a:t>
            </a:r>
          </a:p>
          <a:p>
            <a:r>
              <a:rPr lang="en-GB" dirty="0"/>
              <a:t>The tokenizer's main job is to break the source code into a stream of tokens, which then becomes the equivalent representation of the source code </a:t>
            </a:r>
            <a:r>
              <a:rPr lang="en-GB"/>
              <a:t>after tokenization.</a:t>
            </a:r>
            <a:endParaRPr lang="en-GB" dirty="0"/>
          </a:p>
          <a:p>
            <a:r>
              <a:rPr lang="en-GB" dirty="0"/>
              <a:t>If you plan on building a more complete compiler or analyser tool, you will need to handle header files and their contents. This requires a file manager, which is out of scope for this course.</a:t>
            </a:r>
          </a:p>
          <a:p>
            <a:r>
              <a:rPr lang="en-GB" dirty="0"/>
              <a:t>In such cases, you should consider implementing a separate pre-processor, which processes the #include directives and other pre-processing commands before tokenization (definitely </a:t>
            </a:r>
            <a:r>
              <a:rPr lang="en-GB" u="sng" dirty="0"/>
              <a:t>out-of-scope</a:t>
            </a:r>
            <a:r>
              <a:rPr lang="en-GB" dirty="0"/>
              <a:t>!)</a:t>
            </a:r>
          </a:p>
        </p:txBody>
      </p:sp>
    </p:spTree>
    <p:extLst>
      <p:ext uri="{BB962C8B-B14F-4D97-AF65-F5344CB8AC3E}">
        <p14:creationId xmlns:p14="http://schemas.microsoft.com/office/powerpoint/2010/main" val="40909242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2D0B2-00C5-ACBC-F7CA-1F376B1DB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about function imports?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44CD0-F4AB-5D05-ECA7-663AAC47E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To handle imports from other files, the pre-processor will have to:</a:t>
            </a:r>
          </a:p>
          <a:p>
            <a:r>
              <a:rPr lang="en-GB" dirty="0"/>
              <a:t>Detect #include directives in the source code.</a:t>
            </a:r>
          </a:p>
          <a:p>
            <a:r>
              <a:rPr lang="en-GB" dirty="0"/>
              <a:t>Resolve the paths of the included files (either local or from standard libraries in a different folder, probably specified by environment variables such as PATH).</a:t>
            </a:r>
          </a:p>
          <a:p>
            <a:r>
              <a:rPr lang="en-GB" dirty="0"/>
              <a:t>It should raise errors if invalid paths are used or files are not found.</a:t>
            </a:r>
          </a:p>
          <a:p>
            <a:r>
              <a:rPr lang="en-GB" dirty="0"/>
              <a:t>Read the contents of the included files and replace the #include directives with the contents of the included files.</a:t>
            </a:r>
          </a:p>
        </p:txBody>
      </p:sp>
    </p:spTree>
    <p:extLst>
      <p:ext uri="{BB962C8B-B14F-4D97-AF65-F5344CB8AC3E}">
        <p14:creationId xmlns:p14="http://schemas.microsoft.com/office/powerpoint/2010/main" val="20428804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2D0B2-00C5-ACBC-F7CA-1F376B1DB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about function imports?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44CD0-F4AB-5D05-ECA7-663AAC47E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After the pre-processing of the source code, we will have resolved all #include directives.</a:t>
            </a:r>
          </a:p>
          <a:p>
            <a:r>
              <a:rPr lang="en-GB" dirty="0"/>
              <a:t>The resulting pre-processed source code will have replaced all the include/function imports in the source file with the definition of said functions it has retrieved from additional files.</a:t>
            </a:r>
          </a:p>
          <a:p>
            <a:r>
              <a:rPr lang="en-GB" dirty="0"/>
              <a:t>This new file combining everything is then passed to the tokenizer.</a:t>
            </a:r>
          </a:p>
          <a:p>
            <a:r>
              <a:rPr lang="en-GB" dirty="0"/>
              <a:t>This way, the tokenizer will process the entire code as a single file, and it will generate a token stream for the entire program, as before.</a:t>
            </a:r>
          </a:p>
          <a:p>
            <a:r>
              <a:rPr lang="en-GB" dirty="0"/>
              <a:t>Of course, need to address the issue of multiple functions with identical names included from different files.</a:t>
            </a:r>
          </a:p>
        </p:txBody>
      </p:sp>
    </p:spTree>
    <p:extLst>
      <p:ext uri="{BB962C8B-B14F-4D97-AF65-F5344CB8AC3E}">
        <p14:creationId xmlns:p14="http://schemas.microsoft.com/office/powerpoint/2010/main" val="17016321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2D0B2-00C5-ACBC-F7CA-1F376B1DB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So, what happens when #include &lt;</a:t>
            </a:r>
            <a:r>
              <a:rPr lang="en-GB" dirty="0" err="1"/>
              <a:t>stdio.h</a:t>
            </a:r>
            <a:r>
              <a:rPr lang="en-GB" dirty="0"/>
              <a:t>&gt;?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44CD0-F4AB-5D05-ECA7-663AAC47E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/>
          </a:bodyPr>
          <a:lstStyle/>
          <a:p>
            <a:r>
              <a:rPr lang="en-GB" dirty="0"/>
              <a:t>The C pre-processor searches for the </a:t>
            </a:r>
            <a:r>
              <a:rPr lang="en-GB" dirty="0" err="1"/>
              <a:t>stdio.h</a:t>
            </a:r>
            <a:r>
              <a:rPr lang="en-GB" dirty="0"/>
              <a:t> header file. The search is usually performed in predefined locations, such as system directories and/or any directories specified by the -I option when compiling.</a:t>
            </a:r>
          </a:p>
          <a:p>
            <a:r>
              <a:rPr lang="en-GB" dirty="0"/>
              <a:t>Once the pre-processor finds the </a:t>
            </a:r>
            <a:r>
              <a:rPr lang="en-GB" dirty="0" err="1"/>
              <a:t>stdio.h</a:t>
            </a:r>
            <a:r>
              <a:rPr lang="en-GB" dirty="0"/>
              <a:t> file, it reads its contents.</a:t>
            </a:r>
          </a:p>
          <a:p>
            <a:r>
              <a:rPr lang="en-GB" dirty="0"/>
              <a:t>The pre-processor replaces the #include &lt;</a:t>
            </a:r>
            <a:r>
              <a:rPr lang="en-GB" dirty="0" err="1"/>
              <a:t>stdio.h</a:t>
            </a:r>
            <a:r>
              <a:rPr lang="en-GB" dirty="0"/>
              <a:t>&gt; directive in our source code with the contents of the </a:t>
            </a:r>
            <a:r>
              <a:rPr lang="en-GB" dirty="0" err="1"/>
              <a:t>stdio.h</a:t>
            </a:r>
            <a:r>
              <a:rPr lang="en-GB" dirty="0"/>
              <a:t> file. This process effectively merges the declarations from the </a:t>
            </a:r>
            <a:r>
              <a:rPr lang="en-GB" dirty="0" err="1"/>
              <a:t>stdio.h</a:t>
            </a:r>
            <a:r>
              <a:rPr lang="en-GB" dirty="0"/>
              <a:t> header into our source code.</a:t>
            </a:r>
          </a:p>
          <a:p>
            <a:r>
              <a:rPr lang="en-GB" dirty="0"/>
              <a:t>The modified source code (with </a:t>
            </a:r>
            <a:r>
              <a:rPr lang="en-GB" dirty="0" err="1"/>
              <a:t>stdio.h</a:t>
            </a:r>
            <a:r>
              <a:rPr lang="en-GB" dirty="0"/>
              <a:t> contents) is then passed to the compiler, which compiles the program, starting with tokenization. </a:t>
            </a:r>
          </a:p>
          <a:p>
            <a:r>
              <a:rPr lang="en-GB" dirty="0"/>
              <a:t>The compiler uses the declarations from </a:t>
            </a:r>
            <a:r>
              <a:rPr lang="en-GB" dirty="0" err="1"/>
              <a:t>stdio.h</a:t>
            </a:r>
            <a:r>
              <a:rPr lang="en-GB" dirty="0"/>
              <a:t> to ensure correct usage of functions and data structures provided by the standard library.</a:t>
            </a:r>
          </a:p>
        </p:txBody>
      </p:sp>
    </p:spTree>
    <p:extLst>
      <p:ext uri="{BB962C8B-B14F-4D97-AF65-F5344CB8AC3E}">
        <p14:creationId xmlns:p14="http://schemas.microsoft.com/office/powerpoint/2010/main" val="2120576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880E-863B-C813-DD46-D88FD6C9D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D72B4-40BA-0F0A-79D6-A11FC0409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the significance of left-to-right scanning in the tokenization process?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It allows the compiler to process tokens in reverse order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It enables the compiler to prioritize specific tokens over others 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It ensures that the source code is processed in the order it is written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It is a technique to improve the performance of the tokenization process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038763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880E-863B-C813-DD46-D88FD6C9D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D72B4-40BA-0F0A-79D6-A11FC0409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the significance of left-to-right scanning in the tokenization process?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It allows the compiler to process tokens in reverse order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It enables the compiler to prioritize specific tokens over others 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It ensures that the source code is processed in the order it is written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It is a technique to improve the performance of the tokenization process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168111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B2594-F31D-7797-CCFA-9EDB6AB55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5222D-CA15-1ACD-52A8-A68762276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does the "maximal munch" principle refer to in tokenization?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process of consuming the shortest possible sequence of characters to form a token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process of consuming the longest possible sequence of characters to form a valid token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process of scanning tokens from right to left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process of handling comments and pre-processing directives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049760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B2594-F31D-7797-CCFA-9EDB6AB55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5222D-CA15-1ACD-52A8-A68762276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does the "maximal munch" principle refer to in tokenization?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process of consuming the shortest possible sequence of characters to form a token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The process of consuming the longest possible sequence of characters to form a valid token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process of scanning tokens from right to left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process of handling comments and pre-processing directives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451687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B2594-F31D-7797-CCFA-9EDB6AB55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5222D-CA15-1ACD-52A8-A68762276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In the context of tokenization, how are comments typically handled by a compiler?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By converting comments into tokens for further analysis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By generating a separate file containing all comments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By ignoring and removing comments during the tokenization process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By storing comments in a separate data structure for later use</a:t>
            </a:r>
          </a:p>
        </p:txBody>
      </p:sp>
    </p:spTree>
    <p:extLst>
      <p:ext uri="{BB962C8B-B14F-4D97-AF65-F5344CB8AC3E}">
        <p14:creationId xmlns:p14="http://schemas.microsoft.com/office/powerpoint/2010/main" val="39012634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B2594-F31D-7797-CCFA-9EDB6AB55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5222D-CA15-1ACD-52A8-A68762276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In the context of tokenization, how are comments typically handled by a compiler?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By converting comments into tokens for further analysis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By generating a separate file containing all comments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By ignoring and removing comments during the tokenization process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By storing comments in a separate data structure for later use</a:t>
            </a:r>
          </a:p>
        </p:txBody>
      </p:sp>
    </p:spTree>
    <p:extLst>
      <p:ext uri="{BB962C8B-B14F-4D97-AF65-F5344CB8AC3E}">
        <p14:creationId xmlns:p14="http://schemas.microsoft.com/office/powerpoint/2010/main" val="186578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DE230-68B3-B169-3F0B-E6BA14544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FECE2-C60A-6160-64AD-8C632DF52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When handling function imports during tokenization, what is the main responsibility of the compiler?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optimize the imported functions for better performance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generate a list of all imported functions and their corresponding memory locations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identify the imported functions and create tokens for them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rewrite the imported functions in the native language used to code the compiler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931669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DE230-68B3-B169-3F0B-E6BA14544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FECE2-C60A-6160-64AD-8C632DF52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When handling function imports during tokenization, what is the main responsibility of the compiler?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optimize the imported functions for better performance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generate a list of all imported functions and their corresponding memory locations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To identify the imported functions and create tokens for them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rewrite the imported functions in the native language used to code the compiler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191796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D6B7-659E-C3BE-6470-CC7F3FDF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1: Removing block comments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9F8E6-763D-7142-F585-7B1ABD5BE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8185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Following the logic of the code shown in class, how would you remove block comments from the source code now?</a:t>
            </a:r>
          </a:p>
          <a:p>
            <a:r>
              <a:rPr lang="en-GB" dirty="0"/>
              <a:t>We provide a template in Code files/3.</a:t>
            </a:r>
          </a:p>
          <a:p>
            <a:r>
              <a:rPr lang="en-GB" dirty="0"/>
              <a:t>The function to modify starts on line 110 and is called in the main(), after the line comments have been removed.</a:t>
            </a:r>
          </a:p>
          <a:p>
            <a:r>
              <a:rPr lang="en-GB" i="1" dirty="0"/>
              <a:t>(Solution is provided in Code files/4.)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Challenge 1 (after practice 1): </a:t>
            </a:r>
            <a:r>
              <a:rPr lang="en-GB" dirty="0"/>
              <a:t>Would you raise an error message if a block comment starts /* but does not end, i.e. a */ is not found after a /*?</a:t>
            </a:r>
            <a:br>
              <a:rPr lang="en-GB" dirty="0"/>
            </a:br>
            <a:r>
              <a:rPr lang="en-GB" dirty="0"/>
              <a:t>How about a code where a block end */ is found before a block start /*?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436505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D6B7-659E-C3BE-6470-CC7F3FDF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 2: Linking additional files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9F8E6-763D-7142-F585-7B1ABD5BE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If the source code in </a:t>
            </a:r>
            <a:r>
              <a:rPr lang="en-GB" dirty="0" err="1"/>
              <a:t>source.c</a:t>
            </a:r>
            <a:r>
              <a:rPr lang="en-GB" dirty="0"/>
              <a:t> suggests importing a function from a source2.c file, how would you</a:t>
            </a:r>
          </a:p>
          <a:p>
            <a:r>
              <a:rPr lang="en-GB" dirty="0"/>
              <a:t>Read the code in </a:t>
            </a:r>
            <a:r>
              <a:rPr lang="en-GB" dirty="0" err="1"/>
              <a:t>source.c</a:t>
            </a:r>
            <a:r>
              <a:rPr lang="en-GB" dirty="0"/>
              <a:t>,</a:t>
            </a:r>
          </a:p>
          <a:p>
            <a:r>
              <a:rPr lang="en-GB" dirty="0"/>
              <a:t>Read the code in source2.c,</a:t>
            </a:r>
          </a:p>
          <a:p>
            <a:r>
              <a:rPr lang="en-GB" dirty="0"/>
              <a:t>And eventually replace the include command in the </a:t>
            </a:r>
            <a:r>
              <a:rPr lang="en-GB" dirty="0" err="1"/>
              <a:t>source.c</a:t>
            </a:r>
            <a:r>
              <a:rPr lang="en-GB" dirty="0"/>
              <a:t> file, with contents from the source2.c file?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Could conflicts happen between functions defined in both files?</a:t>
            </a:r>
            <a:br>
              <a:rPr lang="en-GB" dirty="0"/>
            </a:br>
            <a:r>
              <a:rPr lang="en-GB" dirty="0"/>
              <a:t>If so, how would you handle them?</a:t>
            </a:r>
          </a:p>
          <a:p>
            <a:pPr marL="0" indent="0">
              <a:buNone/>
            </a:pPr>
            <a:r>
              <a:rPr lang="en-GB" i="1" dirty="0"/>
              <a:t>(Good luck coding it, if you feel like!)</a:t>
            </a:r>
          </a:p>
        </p:txBody>
      </p:sp>
    </p:spTree>
    <p:extLst>
      <p:ext uri="{BB962C8B-B14F-4D97-AF65-F5344CB8AC3E}">
        <p14:creationId xmlns:p14="http://schemas.microsoft.com/office/powerpoint/2010/main" val="21211106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D6B7-659E-C3BE-6470-CC7F3FDF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3: A bit of an oopsie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9F8E6-763D-7142-F585-7B1ABD5BE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It seems my maximal munch algorithm is missing a </a:t>
            </a:r>
            <a:r>
              <a:rPr lang="en-GB" b="1" dirty="0"/>
              <a:t>break</a:t>
            </a:r>
            <a:r>
              <a:rPr lang="en-GB" dirty="0"/>
              <a:t> somewhere...</a:t>
            </a:r>
            <a:endParaRPr lang="en-GB" i="1" dirty="0"/>
          </a:p>
          <a:p>
            <a:pPr marL="0" indent="0">
              <a:buNone/>
            </a:pPr>
            <a:r>
              <a:rPr lang="en-GB" i="1" dirty="0"/>
              <a:t>(Oopsie)</a:t>
            </a:r>
          </a:p>
          <a:p>
            <a:pPr marL="0" indent="0">
              <a:buNone/>
            </a:pPr>
            <a:endParaRPr lang="en-GB" i="1" dirty="0"/>
          </a:p>
          <a:p>
            <a:pPr marL="0" indent="0">
              <a:buNone/>
            </a:pPr>
            <a:r>
              <a:rPr lang="en-GB" dirty="0"/>
              <a:t>Can you find out where?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Or, even better for practice, rewrite your own version of the maximal munch algorithm from scratch?</a:t>
            </a:r>
          </a:p>
        </p:txBody>
      </p:sp>
    </p:spTree>
    <p:extLst>
      <p:ext uri="{BB962C8B-B14F-4D97-AF65-F5344CB8AC3E}">
        <p14:creationId xmlns:p14="http://schemas.microsoft.com/office/powerpoint/2010/main" val="550687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2216</TotalTime>
  <Words>4289</Words>
  <Application>Microsoft Office PowerPoint</Application>
  <PresentationFormat>Widescreen</PresentationFormat>
  <Paragraphs>342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6" baseType="lpstr">
      <vt:lpstr>Arial</vt:lpstr>
      <vt:lpstr>Calibri</vt:lpstr>
      <vt:lpstr>Calibri Light</vt:lpstr>
      <vt:lpstr>Wingdings</vt:lpstr>
      <vt:lpstr>Office Theme</vt:lpstr>
      <vt:lpstr>50.051 Programming Language Concepts  W8-S2 Lexical Analysis and Tokenization (Part 2)</vt:lpstr>
      <vt:lpstr>Where are we right now?</vt:lpstr>
      <vt:lpstr>Where are we right now?</vt:lpstr>
      <vt:lpstr>Important hypothesis we made</vt:lpstr>
      <vt:lpstr>An intuition for an updated splitting procedure</vt:lpstr>
      <vt:lpstr>An intuition for an updated splitting procedure</vt:lpstr>
      <vt:lpstr>An intuition for an updated splitting procedure</vt:lpstr>
      <vt:lpstr>An intuition for an updated splitting procedure</vt:lpstr>
      <vt:lpstr>An intuition for an updated splitting procedure</vt:lpstr>
      <vt:lpstr>Addressing lexical ambiguities</vt:lpstr>
      <vt:lpstr>An intuition for an updated splitting procedure</vt:lpstr>
      <vt:lpstr>An intuition for an updated splitting procedure</vt:lpstr>
      <vt:lpstr>An intuition for an updated splitting procedure</vt:lpstr>
      <vt:lpstr>An intuition for an updated splitting procedure</vt:lpstr>
      <vt:lpstr>An intuition for an updated splitting procedure</vt:lpstr>
      <vt:lpstr>An intuition for an updated splitting procedure</vt:lpstr>
      <vt:lpstr>An intuition for an updated splitting procedure</vt:lpstr>
      <vt:lpstr>An intuition for an updated splitting procedure</vt:lpstr>
      <vt:lpstr>An intuition for an updated splitting procedure</vt:lpstr>
      <vt:lpstr>An intuition for an updated splitting procedure</vt:lpstr>
      <vt:lpstr>An intuition for an updated splitting procedure</vt:lpstr>
      <vt:lpstr>An intuition for an updated splitting procedure</vt:lpstr>
      <vt:lpstr>Maximal Munch Algorithm</vt:lpstr>
      <vt:lpstr>Maximal Munch Algorithm</vt:lpstr>
      <vt:lpstr>Error handling for invalid tokens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Limitations to the current code</vt:lpstr>
      <vt:lpstr>Recognizing typical errors</vt:lpstr>
      <vt:lpstr>Recognizing typical errors</vt:lpstr>
      <vt:lpstr>Advanced Error Handling in Tokenization</vt:lpstr>
      <vt:lpstr>Advanced Error Handling in Tokenization</vt:lpstr>
      <vt:lpstr>Recognizing and discarding comments</vt:lpstr>
      <vt:lpstr>PowerPoint Presentation</vt:lpstr>
      <vt:lpstr>PowerPoint Presentation</vt:lpstr>
      <vt:lpstr>Recognizing and discarding comments</vt:lpstr>
      <vt:lpstr>Pre-processing commands</vt:lpstr>
      <vt:lpstr>Pre-processing commands</vt:lpstr>
      <vt:lpstr>How about function imports?</vt:lpstr>
      <vt:lpstr>How about function imports?</vt:lpstr>
      <vt:lpstr>How about function imports?</vt:lpstr>
      <vt:lpstr>So, what happens when #include &lt;stdio.h&gt;?</vt:lpstr>
      <vt:lpstr>Quiz Time!</vt:lpstr>
      <vt:lpstr>Quiz Time!</vt:lpstr>
      <vt:lpstr>Quiz Time!</vt:lpstr>
      <vt:lpstr>Quiz Time!</vt:lpstr>
      <vt:lpstr>Quiz Time!</vt:lpstr>
      <vt:lpstr>Quiz Time!</vt:lpstr>
      <vt:lpstr>Quiz Time!</vt:lpstr>
      <vt:lpstr>Quiz Time!</vt:lpstr>
      <vt:lpstr>Practice 1: Removing block comments</vt:lpstr>
      <vt:lpstr>Challenge 2: Linking additional files</vt:lpstr>
      <vt:lpstr>Practice 3: A bit of an oopsie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50.051 Programming Language Concepts  W1-S1 Introduction to Compilers and Course Outline</dc:title>
  <dc:creator>Matthieu DE MARI</dc:creator>
  <cp:lastModifiedBy>Matthieu De Mari</cp:lastModifiedBy>
  <cp:revision>1</cp:revision>
  <dcterms:created xsi:type="dcterms:W3CDTF">2023-03-02T06:54:24Z</dcterms:created>
  <dcterms:modified xsi:type="dcterms:W3CDTF">2026-03-03T10:09:42Z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2023-03-02T06:54:28Z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d53d049c-34cc-4ec9-a6d9-543a36f42364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