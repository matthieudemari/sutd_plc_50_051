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0"/>
  </p:notesMasterIdLst>
  <p:sldIdLst>
    <p:sldId id="377" r:id="rId2"/>
    <p:sldId id="450" r:id="rId3"/>
    <p:sldId id="451" r:id="rId4"/>
    <p:sldId id="452" r:id="rId5"/>
    <p:sldId id="455" r:id="rId6"/>
    <p:sldId id="456" r:id="rId7"/>
    <p:sldId id="457" r:id="rId8"/>
    <p:sldId id="454" r:id="rId9"/>
    <p:sldId id="458" r:id="rId10"/>
    <p:sldId id="459" r:id="rId11"/>
    <p:sldId id="460" r:id="rId12"/>
    <p:sldId id="462" r:id="rId13"/>
    <p:sldId id="465" r:id="rId14"/>
    <p:sldId id="466" r:id="rId15"/>
    <p:sldId id="467" r:id="rId16"/>
    <p:sldId id="468" r:id="rId17"/>
    <p:sldId id="469" r:id="rId18"/>
    <p:sldId id="470" r:id="rId19"/>
    <p:sldId id="471" r:id="rId20"/>
    <p:sldId id="472" r:id="rId21"/>
    <p:sldId id="473" r:id="rId22"/>
    <p:sldId id="474" r:id="rId23"/>
    <p:sldId id="475" r:id="rId24"/>
    <p:sldId id="476" r:id="rId25"/>
    <p:sldId id="477" r:id="rId26"/>
    <p:sldId id="478" r:id="rId27"/>
    <p:sldId id="479" r:id="rId28"/>
    <p:sldId id="480" r:id="rId29"/>
    <p:sldId id="481" r:id="rId30"/>
    <p:sldId id="482" r:id="rId31"/>
    <p:sldId id="483" r:id="rId32"/>
    <p:sldId id="463" r:id="rId33"/>
    <p:sldId id="485" r:id="rId34"/>
    <p:sldId id="487" r:id="rId35"/>
    <p:sldId id="496" r:id="rId36"/>
    <p:sldId id="488" r:id="rId37"/>
    <p:sldId id="497" r:id="rId38"/>
    <p:sldId id="489" r:id="rId39"/>
    <p:sldId id="490" r:id="rId40"/>
    <p:sldId id="550" r:id="rId41"/>
    <p:sldId id="491" r:id="rId42"/>
    <p:sldId id="494" r:id="rId43"/>
    <p:sldId id="493" r:id="rId44"/>
    <p:sldId id="495" r:id="rId45"/>
    <p:sldId id="498" r:id="rId46"/>
    <p:sldId id="499" r:id="rId47"/>
    <p:sldId id="500" r:id="rId48"/>
    <p:sldId id="502" r:id="rId49"/>
    <p:sldId id="501" r:id="rId50"/>
    <p:sldId id="503" r:id="rId51"/>
    <p:sldId id="504" r:id="rId52"/>
    <p:sldId id="525" r:id="rId53"/>
    <p:sldId id="526" r:id="rId54"/>
    <p:sldId id="527" r:id="rId55"/>
    <p:sldId id="505" r:id="rId56"/>
    <p:sldId id="552" r:id="rId57"/>
    <p:sldId id="506" r:id="rId58"/>
    <p:sldId id="507" r:id="rId59"/>
    <p:sldId id="553" r:id="rId60"/>
    <p:sldId id="528" r:id="rId61"/>
    <p:sldId id="509" r:id="rId62"/>
    <p:sldId id="554" r:id="rId63"/>
    <p:sldId id="510" r:id="rId64"/>
    <p:sldId id="512" r:id="rId65"/>
    <p:sldId id="529" r:id="rId66"/>
    <p:sldId id="551" r:id="rId67"/>
    <p:sldId id="555" r:id="rId68"/>
    <p:sldId id="520" r:id="rId69"/>
    <p:sldId id="516" r:id="rId70"/>
    <p:sldId id="530" r:id="rId71"/>
    <p:sldId id="531" r:id="rId72"/>
    <p:sldId id="532" r:id="rId73"/>
    <p:sldId id="558" r:id="rId74"/>
    <p:sldId id="543" r:id="rId75"/>
    <p:sldId id="534" r:id="rId76"/>
    <p:sldId id="535" r:id="rId77"/>
    <p:sldId id="544" r:id="rId78"/>
    <p:sldId id="536" r:id="rId79"/>
    <p:sldId id="556" r:id="rId80"/>
    <p:sldId id="537" r:id="rId81"/>
    <p:sldId id="538" r:id="rId82"/>
    <p:sldId id="539" r:id="rId83"/>
    <p:sldId id="541" r:id="rId84"/>
    <p:sldId id="557" r:id="rId85"/>
    <p:sldId id="542" r:id="rId86"/>
    <p:sldId id="545" r:id="rId87"/>
    <p:sldId id="548" r:id="rId88"/>
    <p:sldId id="546"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B78B9027-D5BB-40A0-9AF0-3B950F71C46E}">
          <p14:sldIdLst>
            <p14:sldId id="377"/>
          </p14:sldIdLst>
        </p14:section>
        <p14:section name="Introduction" id="{86481EE5-0AAC-41DD-97D3-C79B1BA7DAD3}">
          <p14:sldIdLst>
            <p14:sldId id="450"/>
          </p14:sldIdLst>
        </p14:section>
        <p14:section name="An introductory example" id="{0AD12251-D454-42F7-80AA-DE1F30D37647}">
          <p14:sldIdLst>
            <p14:sldId id="451"/>
            <p14:sldId id="452"/>
            <p14:sldId id="455"/>
            <p14:sldId id="456"/>
            <p14:sldId id="457"/>
            <p14:sldId id="454"/>
            <p14:sldId id="458"/>
          </p14:sldIdLst>
        </p14:section>
        <p14:section name="Splitting, shifting and reducing" id="{496DA58D-C8A0-40B0-9B32-0057A129AF73}">
          <p14:sldIdLst>
            <p14:sldId id="459"/>
            <p14:sldId id="460"/>
            <p14:sldId id="462"/>
            <p14:sldId id="465"/>
            <p14:sldId id="466"/>
            <p14:sldId id="467"/>
            <p14:sldId id="468"/>
            <p14:sldId id="469"/>
            <p14:sldId id="470"/>
            <p14:sldId id="471"/>
            <p14:sldId id="472"/>
            <p14:sldId id="473"/>
            <p14:sldId id="474"/>
            <p14:sldId id="475"/>
            <p14:sldId id="476"/>
            <p14:sldId id="477"/>
            <p14:sldId id="478"/>
            <p14:sldId id="479"/>
            <p14:sldId id="480"/>
            <p14:sldId id="481"/>
            <p14:sldId id="482"/>
            <p14:sldId id="483"/>
          </p14:sldIdLst>
        </p14:section>
        <p14:section name="Practical implementation of Shift-Reduce" id="{58D71E07-81C8-47E0-9452-359326B81CB0}">
          <p14:sldIdLst>
            <p14:sldId id="463"/>
            <p14:sldId id="485"/>
          </p14:sldIdLst>
        </p14:section>
        <p14:section name="How to decide when shift-reduce is possible" id="{2E9B0255-C97D-402F-8172-F89B7F4E4F81}">
          <p14:sldIdLst>
            <p14:sldId id="487"/>
            <p14:sldId id="496"/>
            <p14:sldId id="488"/>
            <p14:sldId id="497"/>
            <p14:sldId id="489"/>
            <p14:sldId id="490"/>
            <p14:sldId id="550"/>
          </p14:sldIdLst>
        </p14:section>
        <p14:section name="Question 2" id="{54EDF14D-0344-4B86-ADCA-6CC93C2DE1BD}">
          <p14:sldIdLst>
            <p14:sldId id="491"/>
            <p14:sldId id="494"/>
            <p14:sldId id="493"/>
          </p14:sldIdLst>
        </p14:section>
        <p14:section name="Question 1" id="{6E6EF35D-B8F2-49C7-BA1D-C817CB5B1CB5}">
          <p14:sldIdLst>
            <p14:sldId id="495"/>
          </p14:sldIdLst>
        </p14:section>
        <p14:section name="Position tracking in production rules" id="{3D626A72-65F8-4261-A6B6-9E055B7A26B5}">
          <p14:sldIdLst>
            <p14:sldId id="498"/>
            <p14:sldId id="499"/>
            <p14:sldId id="500"/>
            <p14:sldId id="502"/>
            <p14:sldId id="501"/>
            <p14:sldId id="503"/>
          </p14:sldIdLst>
        </p14:section>
        <p14:section name="Listing all production rules states" id="{4A11EC21-FEAF-46FD-A0CC-978C53799ED1}">
          <p14:sldIdLst>
            <p14:sldId id="504"/>
            <p14:sldId id="525"/>
            <p14:sldId id="526"/>
            <p14:sldId id="527"/>
            <p14:sldId id="505"/>
          </p14:sldIdLst>
        </p14:section>
        <p14:section name="Transition logic rule" id="{3DB88097-203B-4329-8697-13F205A76D8A}">
          <p14:sldIdLst>
            <p14:sldId id="552"/>
            <p14:sldId id="506"/>
            <p14:sldId id="507"/>
            <p14:sldId id="553"/>
            <p14:sldId id="528"/>
            <p14:sldId id="509"/>
            <p14:sldId id="554"/>
            <p14:sldId id="510"/>
            <p14:sldId id="512"/>
            <p14:sldId id="529"/>
            <p14:sldId id="551"/>
            <p14:sldId id="555"/>
          </p14:sldIdLst>
        </p14:section>
        <p14:section name="Using the FSM to run LR(1)" id="{9AF19BB0-23D9-4F59-8129-1AC4253E5C28}">
          <p14:sldIdLst>
            <p14:sldId id="520"/>
            <p14:sldId id="516"/>
            <p14:sldId id="530"/>
            <p14:sldId id="531"/>
            <p14:sldId id="532"/>
            <p14:sldId id="558"/>
          </p14:sldIdLst>
        </p14:section>
        <p14:section name="Conflicts" id="{24C80FB4-FB07-4865-9DEB-958E5E7B96CE}">
          <p14:sldIdLst>
            <p14:sldId id="543"/>
            <p14:sldId id="534"/>
            <p14:sldId id="535"/>
            <p14:sldId id="544"/>
          </p14:sldIdLst>
        </p14:section>
        <p14:section name="An important question" id="{7BE6D80E-608E-4E14-B609-36AD4B6878D9}">
          <p14:sldIdLst>
            <p14:sldId id="536"/>
            <p14:sldId id="556"/>
            <p14:sldId id="537"/>
            <p14:sldId id="538"/>
            <p14:sldId id="539"/>
            <p14:sldId id="541"/>
            <p14:sldId id="557"/>
            <p14:sldId id="542"/>
          </p14:sldIdLst>
        </p14:section>
        <p14:section name="Conclusion" id="{201B13DF-DBD2-4F71-8A38-61EA8B935632}">
          <p14:sldIdLst>
            <p14:sldId id="545"/>
            <p14:sldId id="548"/>
            <p14:sldId id="54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B37E7B-2C63-881E-D1CD-0B80C5165243}" name="Matthieu DE MARI" initials="MDM" userId="15f9bd7465eafad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2" d="100"/>
          <a:sy n="112" d="100"/>
        </p:scale>
        <p:origin x="51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9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modSld">
      <pc:chgData name="Matthieu De Mari" userId="dfb708c9-d8dc-439f-9a3b-c772bf4a311c" providerId="ADAL" clId="{81E9B007-0C2C-493E-9B93-55A62C9C1F12}" dt="2026-01-14T09:42:50.163" v="45" actId="20577"/>
      <pc:docMkLst>
        <pc:docMk/>
      </pc:docMkLst>
      <pc:sldChg chg="modSp mod">
        <pc:chgData name="Matthieu De Mari" userId="dfb708c9-d8dc-439f-9a3b-c772bf4a311c" providerId="ADAL" clId="{81E9B007-0C2C-493E-9B93-55A62C9C1F12}" dt="2026-01-14T09:41:29.452" v="19" actId="20577"/>
        <pc:sldMkLst>
          <pc:docMk/>
          <pc:sldMk cId="1643824480" sldId="534"/>
        </pc:sldMkLst>
        <pc:spChg chg="mod">
          <ac:chgData name="Matthieu De Mari" userId="dfb708c9-d8dc-439f-9a3b-c772bf4a311c" providerId="ADAL" clId="{81E9B007-0C2C-493E-9B93-55A62C9C1F12}" dt="2026-01-14T09:41:29.452" v="19" actId="20577"/>
          <ac:spMkLst>
            <pc:docMk/>
            <pc:sldMk cId="1643824480" sldId="534"/>
            <ac:spMk id="3" creationId="{AB31810E-19E6-A69D-6CF8-6D2DC27B1434}"/>
          </ac:spMkLst>
        </pc:spChg>
      </pc:sldChg>
      <pc:sldChg chg="modSp mod">
        <pc:chgData name="Matthieu De Mari" userId="dfb708c9-d8dc-439f-9a3b-c772bf4a311c" providerId="ADAL" clId="{81E9B007-0C2C-493E-9B93-55A62C9C1F12}" dt="2026-01-14T09:41:37.873" v="43" actId="20577"/>
        <pc:sldMkLst>
          <pc:docMk/>
          <pc:sldMk cId="486894765" sldId="535"/>
        </pc:sldMkLst>
        <pc:spChg chg="mod">
          <ac:chgData name="Matthieu De Mari" userId="dfb708c9-d8dc-439f-9a3b-c772bf4a311c" providerId="ADAL" clId="{81E9B007-0C2C-493E-9B93-55A62C9C1F12}" dt="2026-01-14T09:41:37.873" v="43" actId="20577"/>
          <ac:spMkLst>
            <pc:docMk/>
            <pc:sldMk cId="486894765" sldId="535"/>
            <ac:spMk id="3" creationId="{88DAB0FF-73E2-4D74-1F36-C91A0E360347}"/>
          </ac:spMkLst>
        </pc:spChg>
      </pc:sldChg>
      <pc:sldChg chg="modSp mod">
        <pc:chgData name="Matthieu De Mari" userId="dfb708c9-d8dc-439f-9a3b-c772bf4a311c" providerId="ADAL" clId="{81E9B007-0C2C-493E-9B93-55A62C9C1F12}" dt="2026-01-14T09:42:50.163" v="45" actId="20577"/>
        <pc:sldMkLst>
          <pc:docMk/>
          <pc:sldMk cId="50461705" sldId="542"/>
        </pc:sldMkLst>
        <pc:spChg chg="mod">
          <ac:chgData name="Matthieu De Mari" userId="dfb708c9-d8dc-439f-9a3b-c772bf4a311c" providerId="ADAL" clId="{81E9B007-0C2C-493E-9B93-55A62C9C1F12}" dt="2026-01-14T09:42:50.163" v="45" actId="20577"/>
          <ac:spMkLst>
            <pc:docMk/>
            <pc:sldMk cId="50461705" sldId="542"/>
            <ac:spMk id="3" creationId="{D54ADA33-942B-09A4-5876-03BAAEE416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CFC6A4-B085-437B-8084-693BEB2A32DE}" type="datetimeFigureOut">
              <a:rPr lang="en-SG" smtClean="0"/>
              <a:t>14/1/2026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275F3-0744-4B3F-986A-B720E2CE0519}" type="slidenum">
              <a:rPr lang="en-SG" smtClean="0"/>
              <a:t>‹#›</a:t>
            </a:fld>
            <a:endParaRPr lang="en-SG"/>
          </a:p>
        </p:txBody>
      </p:sp>
    </p:spTree>
    <p:extLst>
      <p:ext uri="{BB962C8B-B14F-4D97-AF65-F5344CB8AC3E}">
        <p14:creationId xmlns:p14="http://schemas.microsoft.com/office/powerpoint/2010/main" val="3322986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04E3-9B9E-0B91-AA29-B356F19B72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1AF6A716-5C7D-F23B-5221-64E9C8264B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80A554BE-C464-1858-7CE8-EE087B7165E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36BC678C-234A-A12A-C292-CF7A8FE3B47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3558BCA-A573-1FAE-54DF-9261AECB371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349045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9CDC6-8674-88A5-68BA-4DF3EF7F3C98}"/>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CCBD233-6835-D2C8-D4B6-2377CA6957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F2CB200-8CA3-3D50-247E-E169485014FC}"/>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243C4F2-0C9D-182B-FAF9-7AF1B77A472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0A8EC91B-956F-EA73-BCF4-F07962880647}"/>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703055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F325-7251-4FD9-5A0A-482D967524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6ED4414C-39F5-968A-8953-D6E4A4BBB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2787D6-E021-15BD-3F47-6B3A2CEAAB8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ED513CE0-0459-2E8E-3279-EF5B62DD6802}"/>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5049588-601F-7C26-2A07-334BD5E2D818}"/>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4287041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7D91B-BBA0-866E-9BF6-0971AE779B87}"/>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FF788D2-0925-B3F9-22BD-A25915E04D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0974DBE8-2CD0-1238-EE02-0801D12E70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9C5C1A08-9D08-4757-4860-2175B179D02E}"/>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C7BB010B-6483-0B1F-5B0B-B683238821BA}"/>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84C635F-808F-F58D-6EB6-0AE5EFDB599E}"/>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464249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0DC9-E3FF-E219-0E49-D7D20A95189C}"/>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18DE6D7B-100B-C183-40D4-96803F1BB8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2DE0A-2907-D16A-F14E-54AFDA36AC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C210E894-7CE5-F017-AA15-A24E5281DF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920203-5A0A-1AF2-47B3-27418EB2DA6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6BA0826-6B70-B30F-F054-248E26E2E842}"/>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8" name="Footer Placeholder 7">
            <a:extLst>
              <a:ext uri="{FF2B5EF4-FFF2-40B4-BE49-F238E27FC236}">
                <a16:creationId xmlns:a16="http://schemas.microsoft.com/office/drawing/2014/main" id="{28C3948B-56AE-8DB5-883D-7E0ADA595FE3}"/>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DFC00A08-E897-BB96-0E14-88D07380B3D2}"/>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10508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3D70C-4ED2-C81B-9AC6-3791B4661B9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D59A99B7-97F4-423D-BDAF-4827705CFE0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4" name="Footer Placeholder 3">
            <a:extLst>
              <a:ext uri="{FF2B5EF4-FFF2-40B4-BE49-F238E27FC236}">
                <a16:creationId xmlns:a16="http://schemas.microsoft.com/office/drawing/2014/main" id="{0BCED9FE-3730-E498-E87E-C5D4F1C98F2A}"/>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276A7511-9EBE-2037-4332-F5B0B6AA9D16}"/>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183300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8D6E9-5B1E-E414-B4BB-A00EAB4AFB9B}"/>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3" name="Footer Placeholder 2">
            <a:extLst>
              <a:ext uri="{FF2B5EF4-FFF2-40B4-BE49-F238E27FC236}">
                <a16:creationId xmlns:a16="http://schemas.microsoft.com/office/drawing/2014/main" id="{48E7774D-CDCD-146B-FC2D-28E83A75BA27}"/>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28E859B5-E4B6-9852-BE06-6B29AE883A5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369303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1E7E-7FFC-7D20-B361-9F3B52ADFE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F599E599-603D-2F32-D4D8-DBAFE76259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F52CE027-AF2D-0C5B-C650-3D1DF50CE9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BA35D9-EACF-710A-C495-B386C26255A0}"/>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638C95A1-CCC7-8794-CBB7-67865E6AB0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E208442F-C062-76CF-A283-7F9D40066F80}"/>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17082076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F101F-436C-78D4-3353-52675D7050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099DD766-D53E-402F-6ABB-7220593A41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2481012-864C-DA8A-6BE2-C7E016EFB2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14AF22-E284-A04F-35FA-BAC8CC467F9A}"/>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6" name="Footer Placeholder 5">
            <a:extLst>
              <a:ext uri="{FF2B5EF4-FFF2-40B4-BE49-F238E27FC236}">
                <a16:creationId xmlns:a16="http://schemas.microsoft.com/office/drawing/2014/main" id="{7DBDB1FE-2F11-940A-0D5F-F3D399A4894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3A7109B1-55CB-156E-CD60-2B1EB9DE1C01}"/>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581327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99D2-6E79-0D65-DB6E-B0BBE96B94B6}"/>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DA29EEA9-80A3-BE9A-FF93-6F71EBDA45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222AC008-F0D0-891C-DAED-28B00F77F534}"/>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5BA338D0-440C-2B3C-B840-065F121724F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C6B32F4-0DEA-EC93-20BA-8671A4F5A51D}"/>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68879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E7E0DD-AE40-51F8-67ED-2757B9CE83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F2A65760-CB0B-CCF8-974D-AF2102498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B220DC16-6EB9-6693-25EE-22631FBD0DED}"/>
              </a:ext>
            </a:extLst>
          </p:cNvPr>
          <p:cNvSpPr>
            <a:spLocks noGrp="1"/>
          </p:cNvSpPr>
          <p:nvPr>
            <p:ph type="dt" sz="half" idx="10"/>
          </p:nvPr>
        </p:nvSpPr>
        <p:spPr/>
        <p:txBody>
          <a:body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40AF9D08-60B1-AC3E-15DA-EDB52EDEB2CB}"/>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2259838-C42F-58BE-18FC-85DBA5C2ADE4}"/>
              </a:ext>
            </a:extLst>
          </p:cNvPr>
          <p:cNvSpPr>
            <a:spLocks noGrp="1"/>
          </p:cNvSpPr>
          <p:nvPr>
            <p:ph type="sldNum" sz="quarter" idx="12"/>
          </p:nvPr>
        </p:nvSpPr>
        <p:spPr/>
        <p:txBody>
          <a:bodyPr/>
          <a:lstStyle/>
          <a:p>
            <a:fld id="{1BE59FAF-36E2-46C7-B056-2E79DE02A3C7}" type="slidenum">
              <a:rPr lang="en-SG" smtClean="0"/>
              <a:t>‹#›</a:t>
            </a:fld>
            <a:endParaRPr lang="en-SG"/>
          </a:p>
        </p:txBody>
      </p:sp>
    </p:spTree>
    <p:extLst>
      <p:ext uri="{BB962C8B-B14F-4D97-AF65-F5344CB8AC3E}">
        <p14:creationId xmlns:p14="http://schemas.microsoft.com/office/powerpoint/2010/main" val="2914708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A22612-53E9-1472-DE56-3B9BA8CBC1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9B0B86C-45DF-4306-D1E8-1719261092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830B4949-C105-D7A3-A521-C8123DF3D7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5F6B0-D468-4997-9CE3-CF2A1AE5E3F9}" type="datetimeFigureOut">
              <a:rPr lang="en-SG" smtClean="0"/>
              <a:t>14/1/2026</a:t>
            </a:fld>
            <a:endParaRPr lang="en-SG"/>
          </a:p>
        </p:txBody>
      </p:sp>
      <p:sp>
        <p:nvSpPr>
          <p:cNvPr id="5" name="Footer Placeholder 4">
            <a:extLst>
              <a:ext uri="{FF2B5EF4-FFF2-40B4-BE49-F238E27FC236}">
                <a16:creationId xmlns:a16="http://schemas.microsoft.com/office/drawing/2014/main" id="{A2BC09B9-0678-1AEF-93C0-B1A3A7CDB6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6493F84A-B605-98F7-7694-62AFD7A6E2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E59FAF-36E2-46C7-B056-2E79DE02A3C7}" type="slidenum">
              <a:rPr lang="en-SG" smtClean="0"/>
              <a:t>‹#›</a:t>
            </a:fld>
            <a:endParaRPr lang="en-SG"/>
          </a:p>
        </p:txBody>
      </p:sp>
      <p:sp>
        <p:nvSpPr>
          <p:cNvPr id="9" name="TextBox 8">
            <a:extLst>
              <a:ext uri="{FF2B5EF4-FFF2-40B4-BE49-F238E27FC236}">
                <a16:creationId xmlns:a16="http://schemas.microsoft.com/office/drawing/2014/main" id="{487321BB-4993-C3D7-45BA-3941EB0C1E33}"/>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1EEF943D-E5F8-C50D-F37B-649E0AB3F320}"/>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11628953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 Id="rId4" Type="http://schemas.openxmlformats.org/officeDocument/2006/relationships/image" Target="../media/image36.jpg"/></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www.lysator.liu.se/c/ANSI-C-grammar-y.html" TargetMode="Externa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hyperlink" Target="https://www.youtube.com/watch?v=ByKf_foSlXY"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https://www.edx.org/course/compilers" TargetMode="External"/><Relationship Id="rId2" Type="http://schemas.openxmlformats.org/officeDocument/2006/relationships/hyperlink" Target="https://web.stanford.edu/class/cs143/"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50.051 Programming Language Concepts</a:t>
            </a:r>
            <a:br>
              <a:rPr lang="en-US" b="1" dirty="0"/>
            </a:br>
            <a:br>
              <a:rPr lang="en-US"/>
            </a:br>
            <a:r>
              <a:rPr lang="en-US"/>
              <a:t>W10-S3 &amp; W11-S1 </a:t>
            </a:r>
            <a:r>
              <a:rPr lang="en-US" dirty="0"/>
              <a:t>Bottom-Up Parsing</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6EAAC-A1C3-7E2F-EA78-29337EC9BA1B}"/>
              </a:ext>
            </a:extLst>
          </p:cNvPr>
          <p:cNvSpPr>
            <a:spLocks noGrp="1"/>
          </p:cNvSpPr>
          <p:nvPr>
            <p:ph type="title"/>
          </p:nvPr>
        </p:nvSpPr>
        <p:spPr/>
        <p:txBody>
          <a:bodyPr/>
          <a:lstStyle/>
          <a:p>
            <a:r>
              <a:rPr lang="en-GB" dirty="0"/>
              <a:t>Different types of Parsing</a:t>
            </a:r>
            <a:endParaRPr lang="en-SG" dirty="0"/>
          </a:p>
        </p:txBody>
      </p:sp>
      <p:sp>
        <p:nvSpPr>
          <p:cNvPr id="3" name="Content Placeholder 2">
            <a:extLst>
              <a:ext uri="{FF2B5EF4-FFF2-40B4-BE49-F238E27FC236}">
                <a16:creationId xmlns:a16="http://schemas.microsoft.com/office/drawing/2014/main" id="{EAE47573-73F1-F6C1-08DE-5E83AC025DB8}"/>
              </a:ext>
            </a:extLst>
          </p:cNvPr>
          <p:cNvSpPr>
            <a:spLocks noGrp="1"/>
          </p:cNvSpPr>
          <p:nvPr>
            <p:ph idx="1"/>
          </p:nvPr>
        </p:nvSpPr>
        <p:spPr>
          <a:xfrm>
            <a:off x="838200" y="1825624"/>
            <a:ext cx="10515600" cy="5032375"/>
          </a:xfrm>
        </p:spPr>
        <p:txBody>
          <a:bodyPr/>
          <a:lstStyle/>
          <a:p>
            <a:pPr marL="0" indent="0">
              <a:buNone/>
            </a:pPr>
            <a:r>
              <a:rPr lang="en-GB" dirty="0"/>
              <a:t>Two big families of parsing algorithms</a:t>
            </a:r>
          </a:p>
          <a:p>
            <a:pPr marL="0" indent="0">
              <a:buNone/>
            </a:pPr>
            <a:r>
              <a:rPr lang="en-GB" b="1" dirty="0"/>
              <a:t>Top-Down Parsing</a:t>
            </a:r>
          </a:p>
          <a:p>
            <a:r>
              <a:rPr lang="en-GB" dirty="0"/>
              <a:t>Seen before, best we could do was in the case of LL(1) grammars, but very few grammars are going to be LL(k).</a:t>
            </a:r>
            <a:endParaRPr lang="en-SG" dirty="0"/>
          </a:p>
          <a:p>
            <a:pPr marL="0" indent="0">
              <a:buNone/>
            </a:pPr>
            <a:r>
              <a:rPr lang="en-SG" b="1" dirty="0"/>
              <a:t>Bottom-Up Parsing</a:t>
            </a:r>
          </a:p>
          <a:p>
            <a:r>
              <a:rPr lang="en-SG" dirty="0"/>
              <a:t>Start from the input string </a:t>
            </a:r>
            <a:r>
              <a:rPr lang="en-SG" i="1" dirty="0"/>
              <a:t>x</a:t>
            </a:r>
            <a:r>
              <a:rPr lang="en-SG" dirty="0"/>
              <a:t>, whose syntax neds to be verified.</a:t>
            </a:r>
          </a:p>
          <a:p>
            <a:r>
              <a:rPr lang="en-SG" dirty="0"/>
              <a:t>Work your way back to a start symbol.</a:t>
            </a:r>
          </a:p>
          <a:p>
            <a:r>
              <a:rPr lang="en-SG" dirty="0"/>
              <a:t>Basically, the Top-Down parsing task, but in reverse! </a:t>
            </a:r>
          </a:p>
          <a:p>
            <a:r>
              <a:rPr lang="en-SG" dirty="0"/>
              <a:t>Builds on ideas of Top-Down parsing, less intuitive but more efficient, and might work on non-LL(k) grammars.</a:t>
            </a:r>
          </a:p>
        </p:txBody>
      </p:sp>
    </p:spTree>
    <p:extLst>
      <p:ext uri="{BB962C8B-B14F-4D97-AF65-F5344CB8AC3E}">
        <p14:creationId xmlns:p14="http://schemas.microsoft.com/office/powerpoint/2010/main" val="1545638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08D5-A677-0233-9DA0-DD3998D35184}"/>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970CD3-75FF-9AB2-6300-EEA8A9804D18}"/>
                  </a:ext>
                </a:extLst>
              </p:cNvPr>
              <p:cNvSpPr>
                <a:spLocks noGrp="1"/>
              </p:cNvSpPr>
              <p:nvPr>
                <p:ph idx="1"/>
              </p:nvPr>
            </p:nvSpPr>
            <p:spPr/>
            <p:txBody>
              <a:bodyPr/>
              <a:lstStyle/>
              <a:p>
                <a:pPr marL="0" indent="0">
                  <a:buNone/>
                </a:pPr>
                <a:r>
                  <a:rPr lang="en-US" altLang="zh-TW" b="1" dirty="0">
                    <a:ea typeface="新細明體" panose="020B0604030504040204" pitchFamily="18" charset="-120"/>
                  </a:rPr>
                  <a:t>Fact #1 (to be confirmed later): Bottom-Up Parsers can deal with non-LL(k) grammars and </a:t>
                </a:r>
                <a:r>
                  <a:rPr lang="en-US" altLang="zh-TW" b="1">
                    <a:ea typeface="新細明體" panose="020B0604030504040204" pitchFamily="18" charset="-120"/>
                  </a:rPr>
                  <a:t>can handle </a:t>
                </a:r>
                <a:r>
                  <a:rPr lang="en-US" altLang="zh-TW" b="1" dirty="0">
                    <a:ea typeface="新細明體" panose="020B0604030504040204" pitchFamily="18" charset="-120"/>
                  </a:rPr>
                  <a:t>left- and right-recursive grammars.</a:t>
                </a:r>
              </a:p>
              <a:p>
                <a:endParaRPr lang="en-US" altLang="zh-TW" dirty="0">
                  <a:ea typeface="新細明體" panose="020B0604030504040204" pitchFamily="18" charset="-120"/>
                </a:endParaRPr>
              </a:p>
              <a:p>
                <a:r>
                  <a:rPr lang="en-US" altLang="zh-TW" dirty="0">
                    <a:ea typeface="新細明體" panose="020B0604030504040204" pitchFamily="18" charset="-120"/>
                  </a:rPr>
                  <a:t>Consider the following grammar:</a:t>
                </a:r>
                <a:endParaRPr lang="en-US" altLang="zh-TW" sz="2400" dirty="0">
                  <a:solidFill>
                    <a:schemeClr val="accent2"/>
                  </a:solidFill>
                  <a:ea typeface="新細明體" panose="020B0604030504040204" pitchFamily="18" charset="-120"/>
                </a:endParaRPr>
              </a:p>
              <a:p>
                <a:pPr marL="0" indent="0" algn="ctr">
                  <a:buNone/>
                </a:pPr>
                <a14:m>
                  <m:oMathPara xmlns:m="http://schemas.openxmlformats.org/officeDocument/2006/math">
                    <m:oMathParaPr>
                      <m:jc m:val="centerGroup"/>
                    </m:oMathParaPr>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 | </m:t>
                      </m:r>
                      <m:r>
                        <a:rPr lang="en-GB" altLang="zh-TW" b="0" i="1" smtClean="0">
                          <a:latin typeface="Cambria Math" panose="02040503050406030204" pitchFamily="18" charset="0"/>
                          <a:ea typeface="新細明體" panose="020B0604030504040204" pitchFamily="18" charset="-120"/>
                        </a:rPr>
                        <m:t>𝑖𝑛𝑡</m:t>
                      </m:r>
                    </m:oMath>
                  </m:oMathPara>
                </a14:m>
                <a:endParaRPr lang="en-US" altLang="zh-TW" dirty="0">
                  <a:ea typeface="新細明體" panose="020B0604030504040204" pitchFamily="18" charset="-120"/>
                </a:endParaRPr>
              </a:p>
              <a:p>
                <a:endParaRPr lang="en-US" altLang="zh-TW" dirty="0">
                  <a:ea typeface="新細明體" panose="020B0604030504040204" pitchFamily="18" charset="-120"/>
                </a:endParaRPr>
              </a:p>
              <a:p>
                <a:r>
                  <a:rPr lang="en-US" altLang="zh-TW" dirty="0">
                    <a:ea typeface="新細明體" panose="020B0604030504040204" pitchFamily="18" charset="-120"/>
                  </a:rPr>
                  <a:t>This CFG is this not LL(1).</a:t>
                </a:r>
              </a:p>
              <a:p>
                <a:r>
                  <a:rPr lang="en-US" altLang="zh-TW" dirty="0">
                    <a:ea typeface="新細明體" panose="020B0604030504040204" pitchFamily="18" charset="-120"/>
                  </a:rPr>
                  <a:t>If not convinced, consider the string int + (int) + (int).</a:t>
                </a:r>
                <a:endParaRPr lang="en-SG" b="1" dirty="0"/>
              </a:p>
            </p:txBody>
          </p:sp>
        </mc:Choice>
        <mc:Fallback xmlns="">
          <p:sp>
            <p:nvSpPr>
              <p:cNvPr id="3" name="Content Placeholder 2">
                <a:extLst>
                  <a:ext uri="{FF2B5EF4-FFF2-40B4-BE49-F238E27FC236}">
                    <a16:creationId xmlns:a16="http://schemas.microsoft.com/office/drawing/2014/main" id="{07970CD3-75FF-9AB2-6300-EEA8A9804D18}"/>
                  </a:ext>
                </a:extLst>
              </p:cNvPr>
              <p:cNvSpPr>
                <a:spLocks noGrp="1" noRot="1" noChangeAspect="1" noMove="1" noResize="1" noEditPoints="1" noAdjustHandles="1" noChangeArrowheads="1" noChangeShapeType="1" noTextEdit="1"/>
              </p:cNvSpPr>
              <p:nvPr>
                <p:ph idx="1"/>
              </p:nvPr>
            </p:nvSpPr>
            <p:spPr>
              <a:blipFill>
                <a:blip r:embed="rId2"/>
                <a:stretch>
                  <a:fillRect l="-1217" t="-2241" r="-348"/>
                </a:stretch>
              </a:blipFill>
            </p:spPr>
            <p:txBody>
              <a:bodyPr/>
              <a:lstStyle/>
              <a:p>
                <a:r>
                  <a:rPr lang="en-GB">
                    <a:noFill/>
                  </a:rPr>
                  <a:t> </a:t>
                </a:r>
              </a:p>
            </p:txBody>
          </p:sp>
        </mc:Fallback>
      </mc:AlternateContent>
    </p:spTree>
    <p:extLst>
      <p:ext uri="{BB962C8B-B14F-4D97-AF65-F5344CB8AC3E}">
        <p14:creationId xmlns:p14="http://schemas.microsoft.com/office/powerpoint/2010/main" val="2297390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23B40-A9A2-C37B-0964-A36DF1BEC7FD}"/>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F961E2-2974-1674-4E89-2489B2A74348}"/>
                  </a:ext>
                </a:extLst>
              </p:cNvPr>
              <p:cNvSpPr>
                <a:spLocks noGrp="1"/>
              </p:cNvSpPr>
              <p:nvPr>
                <p:ph idx="1"/>
              </p:nvPr>
            </p:nvSpPr>
            <p:spPr/>
            <p:txBody>
              <a:bodyPr/>
              <a:lstStyle/>
              <a:p>
                <a:pPr marL="0" indent="0">
                  <a:buNone/>
                </a:pPr>
                <a:r>
                  <a:rPr lang="en-US" altLang="zh-TW" b="1" dirty="0">
                    <a:ea typeface="新細明體" panose="020B0604030504040204" pitchFamily="18" charset="-120"/>
                  </a:rPr>
                  <a:t>Procedure, in Layman terms: Bottom-Up Parsers attempts to </a:t>
                </a:r>
                <a:r>
                  <a:rPr lang="en-GB" altLang="zh-TW" b="1" dirty="0">
                    <a:ea typeface="新細明體" panose="020B0604030504040204" pitchFamily="18" charset="-120"/>
                  </a:rPr>
                  <a:t>reduce a string </a:t>
                </a:r>
                <a:r>
                  <a:rPr lang="en-GB" altLang="zh-TW" b="1" i="1" dirty="0">
                    <a:ea typeface="新細明體" panose="020B0604030504040204" pitchFamily="18" charset="-120"/>
                  </a:rPr>
                  <a:t>x</a:t>
                </a:r>
                <a:r>
                  <a:rPr lang="en-GB" altLang="zh-TW" b="1" dirty="0">
                    <a:ea typeface="新細明體" panose="020B0604030504040204" pitchFamily="18" charset="-120"/>
                  </a:rPr>
                  <a:t> to the start symbol by inverting productions.</a:t>
                </a:r>
              </a:p>
              <a:p>
                <a:r>
                  <a:rPr lang="en-GB" altLang="zh-TW" dirty="0">
                    <a:ea typeface="新細明體" panose="020B0604030504040204" pitchFamily="18" charset="-120"/>
                  </a:rPr>
                  <a:t>At the beginning, </a:t>
                </a:r>
                <a:r>
                  <a:rPr lang="en-GB" altLang="zh-TW" i="1" dirty="0">
                    <a:ea typeface="新細明體" panose="020B0604030504040204" pitchFamily="18" charset="-120"/>
                  </a:rPr>
                  <a:t>x</a:t>
                </a:r>
                <a:r>
                  <a:rPr lang="en-GB" altLang="zh-TW" dirty="0">
                    <a:ea typeface="新細明體" panose="020B0604030504040204" pitchFamily="18" charset="-120"/>
                  </a:rPr>
                  <a:t> should consist only of terminal symbols.</a:t>
                </a:r>
              </a:p>
              <a:p>
                <a:r>
                  <a:rPr lang="en-GB" altLang="zh-TW" dirty="0">
                    <a:ea typeface="新細明體" panose="020B0604030504040204" pitchFamily="18" charset="-120"/>
                  </a:rPr>
                  <a:t>Identify a substring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in </a:t>
                </a:r>
                <a:r>
                  <a:rPr lang="en-US" altLang="zh-TW" i="1" dirty="0">
                    <a:ea typeface="新細明體" panose="020B0604030504040204" pitchFamily="18" charset="-120"/>
                  </a:rPr>
                  <a:t>x</a:t>
                </a:r>
                <a:r>
                  <a:rPr lang="en-US" altLang="zh-TW" dirty="0">
                    <a:ea typeface="新細明體" panose="020B0604030504040204" pitchFamily="18" charset="-120"/>
                  </a:rPr>
                  <a:t>, such that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𝐴</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is a production rule of our CFG. In other words, it means </a:t>
                </a:r>
                <a:r>
                  <a:rPr lang="en-US" altLang="zh-TW" i="1" dirty="0">
                    <a:ea typeface="新細明體" panose="020B0604030504040204" pitchFamily="18" charset="-120"/>
                  </a:rPr>
                  <a:t>x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𝛼𝛽𝛾</m:t>
                    </m:r>
                  </m:oMath>
                </a14:m>
                <a:r>
                  <a:rPr lang="en-US" altLang="zh-TW" dirty="0">
                    <a:ea typeface="新細明體" panose="020B0604030504040204" pitchFamily="18" charset="-120"/>
                  </a:rPr>
                  <a:t>, with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oMath>
                </a14:m>
                <a:r>
                  <a:rPr lang="en-US" altLang="zh-TW" dirty="0">
                    <a:ea typeface="新細明體" panose="020B0604030504040204" pitchFamily="18" charset="-120"/>
                  </a:rPr>
                  <a:t> and </a:t>
                </a:r>
                <a14:m>
                  <m:oMath xmlns:m="http://schemas.openxmlformats.org/officeDocument/2006/math">
                    <m:r>
                      <a:rPr lang="en-GB" altLang="zh-TW" i="1">
                        <a:latin typeface="Cambria Math" panose="02040503050406030204" pitchFamily="18" charset="0"/>
                        <a:ea typeface="新細明體" panose="020B0604030504040204" pitchFamily="18" charset="-120"/>
                      </a:rPr>
                      <m:t>𝛾</m:t>
                    </m:r>
                  </m:oMath>
                </a14:m>
                <a:r>
                  <a:rPr lang="en-US" altLang="zh-TW" dirty="0">
                    <a:ea typeface="新細明體" panose="020B0604030504040204" pitchFamily="18" charset="-120"/>
                  </a:rPr>
                  <a:t> being strings of some sort (could be empty strings).</a:t>
                </a:r>
              </a:p>
              <a:p>
                <a:r>
                  <a:rPr lang="en-US" altLang="zh-TW" dirty="0">
                    <a:ea typeface="新細明體" panose="020B0604030504040204" pitchFamily="18" charset="-120"/>
                  </a:rPr>
                  <a:t>Replace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with </a:t>
                </a:r>
                <a14:m>
                  <m:oMath xmlns:m="http://schemas.openxmlformats.org/officeDocument/2006/math">
                    <m:r>
                      <a:rPr lang="en-US" altLang="zh-TW" i="1" dirty="0" smtClean="0">
                        <a:latin typeface="Cambria Math" panose="02040503050406030204" pitchFamily="18" charset="0"/>
                        <a:ea typeface="新細明體" panose="020B0604030504040204" pitchFamily="18" charset="-120"/>
                      </a:rPr>
                      <m:t>𝐴</m:t>
                    </m:r>
                  </m:oMath>
                </a14:m>
                <a:r>
                  <a:rPr lang="en-US" altLang="zh-TW" dirty="0">
                    <a:ea typeface="新細明體" panose="020B0604030504040204" pitchFamily="18" charset="-120"/>
                  </a:rPr>
                  <a:t> inside of </a:t>
                </a:r>
                <a:r>
                  <a:rPr lang="en-US" altLang="zh-TW" i="1" dirty="0">
                    <a:ea typeface="新細明體" panose="020B0604030504040204" pitchFamily="18" charset="-120"/>
                  </a:rPr>
                  <a:t>x</a:t>
                </a:r>
                <a:r>
                  <a:rPr lang="en-US" altLang="zh-TW" dirty="0">
                    <a:ea typeface="新細明體" panose="020B0604030504040204" pitchFamily="18" charset="-120"/>
                  </a:rPr>
                  <a:t>, updating </a:t>
                </a:r>
                <a:r>
                  <a:rPr lang="en-US" altLang="zh-TW" i="1" dirty="0">
                    <a:ea typeface="新細明體" panose="020B0604030504040204" pitchFamily="18" charset="-120"/>
                  </a:rPr>
                  <a:t>x</a:t>
                </a:r>
                <a:r>
                  <a:rPr lang="en-US" altLang="zh-TW" dirty="0">
                    <a:ea typeface="新細明體" panose="020B0604030504040204" pitchFamily="18" charset="-120"/>
                  </a:rPr>
                  <a:t> as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r>
                      <a:rPr lang="en-GB" altLang="zh-TW" b="0" i="1" smtClean="0">
                        <a:latin typeface="Cambria Math" panose="02040503050406030204" pitchFamily="18" charset="0"/>
                        <a:ea typeface="新細明體" panose="020B0604030504040204" pitchFamily="18" charset="-120"/>
                      </a:rPr>
                      <m:t>𝐴</m:t>
                    </m:r>
                    <m:r>
                      <a:rPr lang="en-GB" altLang="zh-TW" i="1">
                        <a:latin typeface="Cambria Math" panose="02040503050406030204" pitchFamily="18" charset="0"/>
                        <a:ea typeface="新細明體" panose="020B0604030504040204" pitchFamily="18" charset="-120"/>
                      </a:rPr>
                      <m:t>𝛾</m:t>
                    </m:r>
                  </m:oMath>
                </a14:m>
                <a:r>
                  <a:rPr lang="en-US" altLang="zh-TW" dirty="0">
                    <a:ea typeface="新細明體" panose="020B0604030504040204" pitchFamily="18" charset="-120"/>
                  </a:rPr>
                  <a:t>.</a:t>
                </a:r>
              </a:p>
              <a:p>
                <a:r>
                  <a:rPr lang="en-SG" dirty="0"/>
                  <a:t>Keep on doing so, until </a:t>
                </a:r>
                <a:r>
                  <a:rPr lang="en-SG" i="1" dirty="0"/>
                  <a:t>x</a:t>
                </a:r>
                <a:r>
                  <a:rPr lang="en-SG" dirty="0"/>
                  <a:t> becomes the start symbol </a:t>
                </a:r>
                <a14:m>
                  <m:oMath xmlns:m="http://schemas.openxmlformats.org/officeDocument/2006/math">
                    <m:r>
                      <a:rPr lang="en-SG" i="1" dirty="0" smtClean="0">
                        <a:latin typeface="Cambria Math" panose="02040503050406030204" pitchFamily="18" charset="0"/>
                      </a:rPr>
                      <m:t>𝑆</m:t>
                    </m:r>
                  </m:oMath>
                </a14:m>
                <a:r>
                  <a:rPr lang="en-SG" dirty="0"/>
                  <a:t> of the CFG.</a:t>
                </a:r>
              </a:p>
            </p:txBody>
          </p:sp>
        </mc:Choice>
        <mc:Fallback xmlns="">
          <p:sp>
            <p:nvSpPr>
              <p:cNvPr id="3" name="Content Placeholder 2">
                <a:extLst>
                  <a:ext uri="{FF2B5EF4-FFF2-40B4-BE49-F238E27FC236}">
                    <a16:creationId xmlns:a16="http://schemas.microsoft.com/office/drawing/2014/main" id="{CFF961E2-2974-1674-4E89-2489B2A74348}"/>
                  </a:ext>
                </a:extLst>
              </p:cNvPr>
              <p:cNvSpPr>
                <a:spLocks noGrp="1" noRot="1" noChangeAspect="1" noMove="1" noResize="1" noEditPoints="1" noAdjustHandles="1" noChangeArrowheads="1" noChangeShapeType="1" noTextEdit="1"/>
              </p:cNvSpPr>
              <p:nvPr>
                <p:ph idx="1"/>
              </p:nvPr>
            </p:nvSpPr>
            <p:spPr>
              <a:blipFill>
                <a:blip r:embed="rId2"/>
                <a:stretch>
                  <a:fillRect l="-1217" t="-2241" r="-1217"/>
                </a:stretch>
              </a:blipFill>
            </p:spPr>
            <p:txBody>
              <a:bodyPr/>
              <a:lstStyle/>
              <a:p>
                <a:r>
                  <a:rPr lang="en-GB">
                    <a:noFill/>
                  </a:rPr>
                  <a:t> </a:t>
                </a:r>
              </a:p>
            </p:txBody>
          </p:sp>
        </mc:Fallback>
      </mc:AlternateContent>
    </p:spTree>
    <p:extLst>
      <p:ext uri="{BB962C8B-B14F-4D97-AF65-F5344CB8AC3E}">
        <p14:creationId xmlns:p14="http://schemas.microsoft.com/office/powerpoint/2010/main" val="4197396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ox and whisker chart&#10;&#10;Description automatically generated">
            <a:extLst>
              <a:ext uri="{FF2B5EF4-FFF2-40B4-BE49-F238E27FC236}">
                <a16:creationId xmlns:a16="http://schemas.microsoft.com/office/drawing/2014/main" id="{83FBAF79-73A0-D6F9-6513-C47317F03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1">
            <a:extLst>
              <a:ext uri="{FF2B5EF4-FFF2-40B4-BE49-F238E27FC236}">
                <a16:creationId xmlns:a16="http://schemas.microsoft.com/office/drawing/2014/main" id="{8103A8FA-ECCF-E5A8-11A8-B29F9441D905}"/>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Introduction example for Bottom-Up Parsing</a:t>
            </a:r>
            <a:endParaRPr lang="en-SG" dirty="0"/>
          </a:p>
        </p:txBody>
      </p:sp>
    </p:spTree>
    <p:extLst>
      <p:ext uri="{BB962C8B-B14F-4D97-AF65-F5344CB8AC3E}">
        <p14:creationId xmlns:p14="http://schemas.microsoft.com/office/powerpoint/2010/main" val="3502479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26271985-EB01-8375-D27A-D9DAA06FE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1">
            <a:extLst>
              <a:ext uri="{FF2B5EF4-FFF2-40B4-BE49-F238E27FC236}">
                <a16:creationId xmlns:a16="http://schemas.microsoft.com/office/drawing/2014/main" id="{FB500BFE-7020-A445-F632-6EF6F8F9CFEC}"/>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Introduction example for Bottom-Up Parsing</a:t>
            </a:r>
            <a:endParaRPr lang="en-SG" dirty="0"/>
          </a:p>
        </p:txBody>
      </p:sp>
    </p:spTree>
    <p:extLst>
      <p:ext uri="{BB962C8B-B14F-4D97-AF65-F5344CB8AC3E}">
        <p14:creationId xmlns:p14="http://schemas.microsoft.com/office/powerpoint/2010/main" val="1805512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7EB7413-A588-D14C-B900-783025D8A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1">
            <a:extLst>
              <a:ext uri="{FF2B5EF4-FFF2-40B4-BE49-F238E27FC236}">
                <a16:creationId xmlns:a16="http://schemas.microsoft.com/office/drawing/2014/main" id="{54675EDC-F586-DDDD-23BF-8474D036D250}"/>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a:t>Introduction example for Bottom-Up Parsing</a:t>
            </a:r>
            <a:endParaRPr lang="en-SG" dirty="0"/>
          </a:p>
        </p:txBody>
      </p:sp>
    </p:spTree>
    <p:extLst>
      <p:ext uri="{BB962C8B-B14F-4D97-AF65-F5344CB8AC3E}">
        <p14:creationId xmlns:p14="http://schemas.microsoft.com/office/powerpoint/2010/main" val="2120076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608D5-A677-0233-9DA0-DD3998D35184}"/>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970CD3-75FF-9AB2-6300-EEA8A9804D18}"/>
                  </a:ext>
                </a:extLst>
              </p:cNvPr>
              <p:cNvSpPr>
                <a:spLocks noGrp="1"/>
              </p:cNvSpPr>
              <p:nvPr>
                <p:ph idx="1"/>
              </p:nvPr>
            </p:nvSpPr>
            <p:spPr/>
            <p:txBody>
              <a:bodyPr/>
              <a:lstStyle/>
              <a:p>
                <a:pPr marL="0" indent="0">
                  <a:buNone/>
                </a:pPr>
                <a:r>
                  <a:rPr lang="en-US" altLang="zh-TW" b="1" dirty="0">
                    <a:ea typeface="新細明體" panose="020B0604030504040204" pitchFamily="18" charset="-120"/>
                  </a:rPr>
                  <a:t>Fact #2: A Bottom-Up parser traces exactly what a top-down rightmost derivation would do, but in reverse.</a:t>
                </a:r>
                <a:endParaRPr lang="en-US" altLang="zh-TW" dirty="0">
                  <a:ea typeface="新細明體" panose="020B0604030504040204" pitchFamily="18" charset="-120"/>
                </a:endParaRPr>
              </a:p>
              <a:p>
                <a:r>
                  <a:rPr lang="en-GB" altLang="zh-TW" dirty="0">
                    <a:ea typeface="新細明體" panose="020B0604030504040204" pitchFamily="18" charset="-120"/>
                  </a:rPr>
                  <a:t>This has an interesting consequence…</a:t>
                </a:r>
              </a:p>
              <a:p>
                <a:r>
                  <a:rPr lang="en-GB" altLang="zh-TW" dirty="0">
                    <a:ea typeface="新細明體" panose="020B0604030504040204" pitchFamily="18" charset="-120"/>
                  </a:rPr>
                  <a:t>Let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𝛼𝛽𝛾</m:t>
                    </m:r>
                    <m:r>
                      <a:rPr lang="en-GB" altLang="zh-TW" b="0" i="1" smtClean="0">
                        <a:latin typeface="Cambria Math" panose="02040503050406030204" pitchFamily="18" charset="0"/>
                        <a:ea typeface="新細明體" panose="020B0604030504040204" pitchFamily="18" charset="-120"/>
                      </a:rPr>
                      <m:t> </m:t>
                    </m:r>
                  </m:oMath>
                </a14:m>
                <a:r>
                  <a:rPr lang="en-GB" altLang="zh-TW" dirty="0">
                    <a:ea typeface="新細明體" panose="020B0604030504040204" pitchFamily="18" charset="-120"/>
                  </a:rPr>
                  <a:t>be a step of a bottom-up parse.</a:t>
                </a:r>
              </a:p>
              <a:p>
                <a:r>
                  <a:rPr lang="en-GB" altLang="zh-TW" dirty="0">
                    <a:ea typeface="新細明體" panose="020B0604030504040204" pitchFamily="18" charset="-120"/>
                  </a:rPr>
                  <a:t>Assume the next reduction is by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𝐴</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𝛽</m:t>
                    </m:r>
                  </m:oMath>
                </a14:m>
                <a:r>
                  <a:rPr lang="en-US" altLang="zh-TW" dirty="0">
                    <a:ea typeface="新細明體" panose="020B0604030504040204" pitchFamily="18" charset="-120"/>
                  </a:rPr>
                  <a:t> </a:t>
                </a:r>
                <a:endParaRPr lang="en-GB" altLang="zh-TW" dirty="0">
                  <a:ea typeface="新細明體" panose="020B0604030504040204" pitchFamily="18" charset="-120"/>
                </a:endParaRPr>
              </a:p>
              <a:p>
                <a:r>
                  <a:rPr lang="en-GB" altLang="zh-TW" b="1" dirty="0">
                    <a:ea typeface="新細明體" panose="020B0604030504040204" pitchFamily="18" charset="-120"/>
                  </a:rPr>
                  <a:t>Then </a:t>
                </a:r>
                <a14:m>
                  <m:oMath xmlns:m="http://schemas.openxmlformats.org/officeDocument/2006/math">
                    <m:r>
                      <a:rPr lang="en-GB" altLang="zh-TW" b="1" i="1" smtClean="0">
                        <a:latin typeface="Cambria Math" panose="02040503050406030204" pitchFamily="18" charset="0"/>
                        <a:ea typeface="新細明體" panose="020B0604030504040204" pitchFamily="18" charset="-120"/>
                      </a:rPr>
                      <m:t>𝜸</m:t>
                    </m:r>
                  </m:oMath>
                </a14:m>
                <a:r>
                  <a:rPr lang="en-GB" altLang="zh-TW" b="1" dirty="0">
                    <a:ea typeface="新細明體" panose="020B0604030504040204" pitchFamily="18" charset="-120"/>
                  </a:rPr>
                  <a:t> is necessarily a string of terminals!</a:t>
                </a:r>
              </a:p>
              <a:p>
                <a:r>
                  <a:rPr lang="en-GB" altLang="zh-TW" dirty="0">
                    <a:ea typeface="新細明體" panose="020B0604030504040204" pitchFamily="18" charset="-120"/>
                  </a:rPr>
                  <a:t>Why? Because </a:t>
                </a:r>
                <a14:m>
                  <m:oMath xmlns:m="http://schemas.openxmlformats.org/officeDocument/2006/math">
                    <m:r>
                      <a:rPr lang="en-GB" altLang="zh-TW" i="1">
                        <a:latin typeface="Cambria Math" panose="02040503050406030204" pitchFamily="18" charset="0"/>
                        <a:ea typeface="新細明體" panose="020B0604030504040204" pitchFamily="18" charset="-120"/>
                      </a:rPr>
                      <m:t>𝛼</m:t>
                    </m:r>
                    <m:r>
                      <a:rPr lang="en-GB" altLang="zh-TW" b="0" i="1" smtClean="0">
                        <a:latin typeface="Cambria Math" panose="02040503050406030204" pitchFamily="18" charset="0"/>
                        <a:ea typeface="新細明體" panose="020B0604030504040204" pitchFamily="18" charset="-120"/>
                      </a:rPr>
                      <m:t>𝐴</m:t>
                    </m:r>
                    <m:r>
                      <a:rPr lang="en-GB" altLang="zh-TW" i="1">
                        <a:latin typeface="Cambria Math" panose="02040503050406030204" pitchFamily="18" charset="0"/>
                        <a:ea typeface="新細明體" panose="020B0604030504040204" pitchFamily="18" charset="-120"/>
                      </a:rPr>
                      <m:t>𝛾</m:t>
                    </m:r>
                    <m:r>
                      <a:rPr lang="en-GB" altLang="zh-TW" b="0" i="1" smtClean="0">
                        <a:latin typeface="Cambria Math" panose="02040503050406030204" pitchFamily="18" charset="0"/>
                        <a:ea typeface="新細明體" panose="020B0604030504040204" pitchFamily="18" charset="-120"/>
                      </a:rPr>
                      <m:t>→</m:t>
                    </m:r>
                    <m:r>
                      <a:rPr lang="en-GB" altLang="zh-TW" i="1">
                        <a:latin typeface="Cambria Math" panose="02040503050406030204" pitchFamily="18" charset="0"/>
                        <a:ea typeface="新細明體" panose="020B0604030504040204" pitchFamily="18" charset="-120"/>
                      </a:rPr>
                      <m:t>𝛼𝛽𝛾</m:t>
                    </m:r>
                    <m:r>
                      <a:rPr lang="en-GB" altLang="zh-TW" i="1">
                        <a:latin typeface="Cambria Math" panose="02040503050406030204" pitchFamily="18" charset="0"/>
                        <a:ea typeface="新細明體" panose="020B0604030504040204" pitchFamily="18" charset="-120"/>
                      </a:rPr>
                      <m:t> </m:t>
                    </m:r>
                  </m:oMath>
                </a14:m>
                <a:r>
                  <a:rPr lang="en-GB" altLang="zh-TW" dirty="0">
                    <a:ea typeface="新細明體" panose="020B0604030504040204" pitchFamily="18" charset="-120"/>
                  </a:rPr>
                  <a:t>is a step in a rightmost derivation!</a:t>
                </a:r>
                <a:br>
                  <a:rPr lang="en-GB" altLang="zh-TW" dirty="0">
                    <a:ea typeface="新細明體" panose="020B0604030504040204" pitchFamily="18" charset="-120"/>
                  </a:rPr>
                </a:br>
                <a:r>
                  <a:rPr lang="en-GB" altLang="zh-TW" i="1" dirty="0">
                    <a:ea typeface="新細明體" panose="020B0604030504040204" pitchFamily="18" charset="-120"/>
                  </a:rPr>
                  <a:t>(If </a:t>
                </a:r>
                <a14:m>
                  <m:oMath xmlns:m="http://schemas.openxmlformats.org/officeDocument/2006/math">
                    <m:r>
                      <a:rPr lang="en-GB" altLang="zh-TW" i="1">
                        <a:latin typeface="Cambria Math" panose="02040503050406030204" pitchFamily="18" charset="0"/>
                        <a:ea typeface="新細明體" panose="020B0604030504040204" pitchFamily="18" charset="-120"/>
                      </a:rPr>
                      <m:t>𝛾</m:t>
                    </m:r>
                  </m:oMath>
                </a14:m>
                <a:r>
                  <a:rPr lang="en-GB" altLang="zh-TW" i="1" dirty="0">
                    <a:ea typeface="新細明體" panose="020B0604030504040204" pitchFamily="18" charset="-120"/>
                  </a:rPr>
                  <a:t> does not change, it means it does not contain any non-terminals)</a:t>
                </a:r>
              </a:p>
              <a:p>
                <a:endParaRPr lang="en-US" altLang="zh-TW" dirty="0">
                  <a:ea typeface="新細明體" panose="020B0604030504040204" pitchFamily="18" charset="-120"/>
                </a:endParaRPr>
              </a:p>
            </p:txBody>
          </p:sp>
        </mc:Choice>
        <mc:Fallback xmlns="">
          <p:sp>
            <p:nvSpPr>
              <p:cNvPr id="3" name="Content Placeholder 2">
                <a:extLst>
                  <a:ext uri="{FF2B5EF4-FFF2-40B4-BE49-F238E27FC236}">
                    <a16:creationId xmlns:a16="http://schemas.microsoft.com/office/drawing/2014/main" id="{07970CD3-75FF-9AB2-6300-EEA8A9804D18}"/>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157026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graphical user interface&#10;&#10;Description automatically generated">
            <a:extLst>
              <a:ext uri="{FF2B5EF4-FFF2-40B4-BE49-F238E27FC236}">
                <a16:creationId xmlns:a16="http://schemas.microsoft.com/office/drawing/2014/main" id="{EBA7EC0B-8952-F0F9-4B8F-B02D1975E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6" name="Title 1">
            <a:extLst>
              <a:ext uri="{FF2B5EF4-FFF2-40B4-BE49-F238E27FC236}">
                <a16:creationId xmlns:a16="http://schemas.microsoft.com/office/drawing/2014/main" id="{6AA16777-5C0A-8035-C893-1A0208C24B63}"/>
              </a:ext>
            </a:extLst>
          </p:cNvPr>
          <p:cNvSpPr txBox="1">
            <a:spLocks/>
          </p:cNvSpPr>
          <p:nvPr/>
        </p:nvSpPr>
        <p:spPr>
          <a:xfrm>
            <a:off x="838200" y="365126"/>
            <a:ext cx="10515600" cy="760290"/>
          </a:xfrm>
          <a:prstGeom prst="rect">
            <a:avLst/>
          </a:prstGeom>
          <a:solidFill>
            <a:schemeClr val="bg1"/>
          </a:solidFill>
          <a:ln>
            <a:solidFill>
              <a:schemeClr val="bg1"/>
            </a:solidFill>
          </a:ln>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Introduction example for Bottom-Up Parsing</a:t>
            </a:r>
            <a:endParaRPr lang="en-SG" dirty="0"/>
          </a:p>
        </p:txBody>
      </p:sp>
      <p:pic>
        <p:nvPicPr>
          <p:cNvPr id="8" name="Picture 7">
            <a:extLst>
              <a:ext uri="{FF2B5EF4-FFF2-40B4-BE49-F238E27FC236}">
                <a16:creationId xmlns:a16="http://schemas.microsoft.com/office/drawing/2014/main" id="{FA27D21E-ED0A-05FF-0B23-561881A24D42}"/>
              </a:ext>
            </a:extLst>
          </p:cNvPr>
          <p:cNvPicPr>
            <a:picLocks noChangeAspect="1"/>
          </p:cNvPicPr>
          <p:nvPr/>
        </p:nvPicPr>
        <p:blipFill>
          <a:blip r:embed="rId3"/>
          <a:stretch>
            <a:fillRect/>
          </a:stretch>
        </p:blipFill>
        <p:spPr>
          <a:xfrm>
            <a:off x="439919" y="1664676"/>
            <a:ext cx="5199082" cy="4595473"/>
          </a:xfrm>
          <a:prstGeom prst="rect">
            <a:avLst/>
          </a:prstGeom>
        </p:spPr>
      </p:pic>
    </p:spTree>
    <p:extLst>
      <p:ext uri="{BB962C8B-B14F-4D97-AF65-F5344CB8AC3E}">
        <p14:creationId xmlns:p14="http://schemas.microsoft.com/office/powerpoint/2010/main" val="1523703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528F9-FCDF-CEFE-ADB2-DF6CBC81CE26}"/>
              </a:ext>
            </a:extLst>
          </p:cNvPr>
          <p:cNvSpPr>
            <a:spLocks noGrp="1"/>
          </p:cNvSpPr>
          <p:nvPr>
            <p:ph type="title"/>
          </p:nvPr>
        </p:nvSpPr>
        <p:spPr/>
        <p:txBody>
          <a:bodyPr/>
          <a:lstStyle/>
          <a:p>
            <a:r>
              <a:rPr lang="en-GB" dirty="0"/>
              <a:t>Introduction example for Bottom-Up Parsing</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E2B787-39F0-A520-4E53-82BA6CAD6395}"/>
                  </a:ext>
                </a:extLst>
              </p:cNvPr>
              <p:cNvSpPr>
                <a:spLocks noGrp="1"/>
              </p:cNvSpPr>
              <p:nvPr>
                <p:ph idx="1"/>
              </p:nvPr>
            </p:nvSpPr>
            <p:spPr/>
            <p:txBody>
              <a:bodyPr/>
              <a:lstStyle/>
              <a:p>
                <a:pPr marL="0" indent="0">
                  <a:buNone/>
                </a:pPr>
                <a:r>
                  <a:rPr lang="en-GB" b="1" dirty="0"/>
                  <a:t>Follow-up idea from Fact #2: Split the string into two substrings.</a:t>
                </a:r>
              </a:p>
              <a:p>
                <a:r>
                  <a:rPr lang="en-SG" dirty="0"/>
                  <a:t>The right substring should consist only of terminal symbols, and has yet to be examined by the parser.</a:t>
                </a:r>
              </a:p>
              <a:p>
                <a:r>
                  <a:rPr lang="en-SG" dirty="0"/>
                  <a:t>The left substring could have terminals and non-terminals.</a:t>
                </a:r>
              </a:p>
              <a:p>
                <a:r>
                  <a:rPr lang="en-SG" dirty="0"/>
                  <a:t>Mark the dividing point using the </a:t>
                </a:r>
                <a:r>
                  <a:rPr lang="en-SG" dirty="0">
                    <a:solidFill>
                      <a:srgbClr val="FF0000"/>
                    </a:solidFill>
                  </a:rPr>
                  <a:t>|</a:t>
                </a:r>
                <a:r>
                  <a:rPr lang="en-SG" dirty="0"/>
                  <a:t> symbol.</a:t>
                </a:r>
                <a:br>
                  <a:rPr lang="en-SG" dirty="0"/>
                </a:br>
                <a:r>
                  <a:rPr lang="en-SG" i="1" dirty="0"/>
                  <a:t>(Note that this symbol </a:t>
                </a:r>
                <a:r>
                  <a:rPr lang="en-SG" dirty="0">
                    <a:solidFill>
                      <a:srgbClr val="FF0000"/>
                    </a:solidFill>
                  </a:rPr>
                  <a:t>|</a:t>
                </a:r>
                <a:r>
                  <a:rPr lang="en-SG" i="1" dirty="0"/>
                  <a:t> is only for visualization purposes, it is not part of the string to be analysed!)</a:t>
                </a:r>
              </a:p>
              <a:p>
                <a:r>
                  <a:rPr lang="en-SG" dirty="0"/>
                  <a:t>At the beginning, the string x is therefore written as </a:t>
                </a:r>
                <a:r>
                  <a:rPr lang="en-SG" i="1" dirty="0"/>
                  <a:t>x = </a:t>
                </a:r>
                <a:r>
                  <a:rPr lang="en-SG" dirty="0">
                    <a:solidFill>
                      <a:srgbClr val="FF0000"/>
                    </a:solidFill>
                  </a:rPr>
                  <a:t>|</a:t>
                </a:r>
                <a14:m>
                  <m:oMath xmlns:m="http://schemas.openxmlformats.org/officeDocument/2006/math">
                    <m:sSub>
                      <m:sSubPr>
                        <m:ctrlPr>
                          <a:rPr lang="en-SG" i="1" dirty="0" smtClean="0">
                            <a:latin typeface="Cambria Math" panose="02040503050406030204" pitchFamily="18" charset="0"/>
                          </a:rPr>
                        </m:ctrlPr>
                      </m:sSubPr>
                      <m:e>
                        <m:r>
                          <a:rPr lang="en-SG" i="1" dirty="0" smtClean="0">
                            <a:latin typeface="Cambria Math" panose="02040503050406030204" pitchFamily="18" charset="0"/>
                          </a:rPr>
                          <m:t>𝑥</m:t>
                        </m:r>
                      </m:e>
                      <m:sub>
                        <m:r>
                          <a:rPr lang="en-SG" i="1" dirty="0" smtClean="0">
                            <a:latin typeface="Cambria Math" panose="02040503050406030204" pitchFamily="18" charset="0"/>
                          </a:rPr>
                          <m:t>1</m:t>
                        </m:r>
                      </m:sub>
                    </m:sSub>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2</m:t>
                        </m:r>
                      </m:sub>
                    </m:sSub>
                    <m:r>
                      <a:rPr lang="en-SG" i="1" dirty="0" smtClean="0">
                        <a:latin typeface="Cambria Math" panose="02040503050406030204" pitchFamily="18" charset="0"/>
                      </a:rPr>
                      <m:t>…</m:t>
                    </m:r>
                    <m:sSub>
                      <m:sSubPr>
                        <m:ctrlPr>
                          <a:rPr lang="en-SG" i="1" dirty="0" err="1" smtClean="0">
                            <a:latin typeface="Cambria Math" panose="02040503050406030204" pitchFamily="18" charset="0"/>
                          </a:rPr>
                        </m:ctrlPr>
                      </m:sSubPr>
                      <m:e>
                        <m:r>
                          <a:rPr lang="en-SG" i="1" dirty="0" err="1" smtClean="0">
                            <a:latin typeface="Cambria Math" panose="02040503050406030204" pitchFamily="18" charset="0"/>
                          </a:rPr>
                          <m:t>𝑥</m:t>
                        </m:r>
                      </m:e>
                      <m:sub>
                        <m:r>
                          <a:rPr lang="en-SG" i="1" dirty="0" err="1" smtClean="0">
                            <a:latin typeface="Cambria Math" panose="02040503050406030204" pitchFamily="18" charset="0"/>
                          </a:rPr>
                          <m:t>𝑛</m:t>
                        </m:r>
                      </m:sub>
                    </m:sSub>
                  </m:oMath>
                </a14:m>
                <a:r>
                  <a:rPr lang="en-SG" dirty="0"/>
                  <a:t>$, with </a:t>
                </a:r>
                <a14:m>
                  <m:oMath xmlns:m="http://schemas.openxmlformats.org/officeDocument/2006/math">
                    <m:sSub>
                      <m:sSubPr>
                        <m:ctrlPr>
                          <a:rPr lang="en-SG" i="1" dirty="0">
                            <a:latin typeface="Cambria Math" panose="02040503050406030204" pitchFamily="18" charset="0"/>
                          </a:rPr>
                        </m:ctrlPr>
                      </m:sSubPr>
                      <m:e>
                        <m:r>
                          <a:rPr lang="en-SG" i="1" dirty="0">
                            <a:latin typeface="Cambria Math" panose="02040503050406030204" pitchFamily="18" charset="0"/>
                          </a:rPr>
                          <m:t>𝑥</m:t>
                        </m:r>
                      </m:e>
                      <m:sub>
                        <m:r>
                          <a:rPr lang="en-SG" i="1" dirty="0">
                            <a:latin typeface="Cambria Math" panose="02040503050406030204" pitchFamily="18" charset="0"/>
                          </a:rPr>
                          <m:t>1</m:t>
                        </m:r>
                      </m:sub>
                    </m:sSub>
                    <m:sSub>
                      <m:sSubPr>
                        <m:ctrlPr>
                          <a:rPr lang="en-GB" i="1" dirty="0">
                            <a:latin typeface="Cambria Math" panose="02040503050406030204" pitchFamily="18" charset="0"/>
                          </a:rPr>
                        </m:ctrlPr>
                      </m:sSubPr>
                      <m:e>
                        <m:r>
                          <a:rPr lang="en-GB" b="0" i="1" dirty="0" smtClean="0">
                            <a:latin typeface="Cambria Math" panose="02040503050406030204" pitchFamily="18" charset="0"/>
                          </a:rPr>
                          <m:t>,</m:t>
                        </m:r>
                        <m:r>
                          <a:rPr lang="en-GB" i="1" dirty="0">
                            <a:latin typeface="Cambria Math" panose="02040503050406030204" pitchFamily="18" charset="0"/>
                          </a:rPr>
                          <m:t>𝑥</m:t>
                        </m:r>
                      </m:e>
                      <m:sub>
                        <m:r>
                          <a:rPr lang="en-GB" i="1" dirty="0">
                            <a:latin typeface="Cambria Math" panose="02040503050406030204" pitchFamily="18" charset="0"/>
                          </a:rPr>
                          <m:t>2</m:t>
                        </m:r>
                      </m:sub>
                    </m:sSub>
                    <m:r>
                      <a:rPr lang="en-GB" b="0" i="1" dirty="0" smtClean="0">
                        <a:latin typeface="Cambria Math" panose="02040503050406030204" pitchFamily="18" charset="0"/>
                      </a:rPr>
                      <m:t>,</m:t>
                    </m:r>
                    <m:r>
                      <a:rPr lang="en-SG" i="1" dirty="0">
                        <a:latin typeface="Cambria Math" panose="02040503050406030204" pitchFamily="18" charset="0"/>
                      </a:rPr>
                      <m:t>…</m:t>
                    </m:r>
                    <m:sSub>
                      <m:sSubPr>
                        <m:ctrlPr>
                          <a:rPr lang="en-SG" i="1" dirty="0" err="1">
                            <a:latin typeface="Cambria Math" panose="02040503050406030204" pitchFamily="18" charset="0"/>
                          </a:rPr>
                        </m:ctrlPr>
                      </m:sSubPr>
                      <m:e>
                        <m:r>
                          <a:rPr lang="en-SG" i="1" dirty="0" err="1">
                            <a:latin typeface="Cambria Math" panose="02040503050406030204" pitchFamily="18" charset="0"/>
                          </a:rPr>
                          <m:t>𝑥</m:t>
                        </m:r>
                      </m:e>
                      <m:sub>
                        <m:r>
                          <a:rPr lang="en-SG" i="1" dirty="0" err="1">
                            <a:latin typeface="Cambria Math" panose="02040503050406030204" pitchFamily="18" charset="0"/>
                          </a:rPr>
                          <m:t>𝑛</m:t>
                        </m:r>
                      </m:sub>
                    </m:sSub>
                  </m:oMath>
                </a14:m>
                <a:r>
                  <a:rPr lang="en-SG" dirty="0"/>
                  <a:t> being terminal symbols.</a:t>
                </a:r>
              </a:p>
            </p:txBody>
          </p:sp>
        </mc:Choice>
        <mc:Fallback xmlns="">
          <p:sp>
            <p:nvSpPr>
              <p:cNvPr id="3" name="Content Placeholder 2">
                <a:extLst>
                  <a:ext uri="{FF2B5EF4-FFF2-40B4-BE49-F238E27FC236}">
                    <a16:creationId xmlns:a16="http://schemas.microsoft.com/office/drawing/2014/main" id="{76E2B787-39F0-A520-4E53-82BA6CAD6395}"/>
                  </a:ext>
                </a:extLst>
              </p:cNvPr>
              <p:cNvSpPr>
                <a:spLocks noGrp="1" noRot="1" noChangeAspect="1" noMove="1" noResize="1" noEditPoints="1" noAdjustHandles="1" noChangeArrowheads="1" noChangeShapeType="1" noTextEdit="1"/>
              </p:cNvSpPr>
              <p:nvPr>
                <p:ph idx="1"/>
              </p:nvPr>
            </p:nvSpPr>
            <p:spPr>
              <a:blipFill>
                <a:blip r:embed="rId2"/>
                <a:stretch>
                  <a:fillRect l="-1217" t="-2241" r="-1681"/>
                </a:stretch>
              </a:blipFill>
            </p:spPr>
            <p:txBody>
              <a:bodyPr/>
              <a:lstStyle/>
              <a:p>
                <a:r>
                  <a:rPr lang="en-SG">
                    <a:noFill/>
                  </a:rPr>
                  <a:t> </a:t>
                </a:r>
              </a:p>
            </p:txBody>
          </p:sp>
        </mc:Fallback>
      </mc:AlternateContent>
    </p:spTree>
    <p:extLst>
      <p:ext uri="{BB962C8B-B14F-4D97-AF65-F5344CB8AC3E}">
        <p14:creationId xmlns:p14="http://schemas.microsoft.com/office/powerpoint/2010/main" val="908286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DE7B3-2609-8F77-6F31-9654CD2C23A0}"/>
              </a:ext>
            </a:extLst>
          </p:cNvPr>
          <p:cNvSpPr>
            <a:spLocks noGrp="1"/>
          </p:cNvSpPr>
          <p:nvPr>
            <p:ph type="title"/>
          </p:nvPr>
        </p:nvSpPr>
        <p:spPr/>
        <p:txBody>
          <a:bodyPr/>
          <a:lstStyle/>
          <a:p>
            <a:r>
              <a:rPr lang="en-GB" dirty="0"/>
              <a:t>Shift-Reduce Parsing</a:t>
            </a:r>
            <a:endParaRPr lang="en-SG" dirty="0"/>
          </a:p>
        </p:txBody>
      </p:sp>
      <p:sp>
        <p:nvSpPr>
          <p:cNvPr id="3" name="Content Placeholder 2">
            <a:extLst>
              <a:ext uri="{FF2B5EF4-FFF2-40B4-BE49-F238E27FC236}">
                <a16:creationId xmlns:a16="http://schemas.microsoft.com/office/drawing/2014/main" id="{E49149DC-4524-5790-1F50-F3FF7439FBA9}"/>
              </a:ext>
            </a:extLst>
          </p:cNvPr>
          <p:cNvSpPr>
            <a:spLocks noGrp="1"/>
          </p:cNvSpPr>
          <p:nvPr>
            <p:ph idx="1"/>
          </p:nvPr>
        </p:nvSpPr>
        <p:spPr/>
        <p:txBody>
          <a:bodyPr/>
          <a:lstStyle/>
          <a:p>
            <a:pPr marL="0" indent="0">
              <a:buNone/>
            </a:pPr>
            <a:r>
              <a:rPr lang="en-GB" b="1" dirty="0"/>
              <a:t>Fact #3: A Bottom-up Parser will attempt to revert the string by using only two possible actions.</a:t>
            </a:r>
          </a:p>
          <a:p>
            <a:pPr marL="0" indent="0">
              <a:buNone/>
            </a:pPr>
            <a:endParaRPr lang="en-GB" b="1" dirty="0"/>
          </a:p>
          <a:p>
            <a:r>
              <a:rPr lang="en-GB" b="1" dirty="0"/>
              <a:t>Shifting: </a:t>
            </a:r>
            <a:r>
              <a:rPr lang="en-GB" dirty="0"/>
              <a:t>Moves the separator one step to the right (one full symbol).</a:t>
            </a:r>
          </a:p>
          <a:p>
            <a:pPr marL="0" indent="0">
              <a:buNone/>
            </a:pPr>
            <a:r>
              <a:rPr lang="en-GB" dirty="0"/>
              <a:t>For instance, E</a:t>
            </a:r>
            <a:r>
              <a:rPr lang="en-GB" dirty="0">
                <a:solidFill>
                  <a:srgbClr val="FF0000"/>
                </a:solidFill>
              </a:rPr>
              <a:t>|</a:t>
            </a:r>
            <a:r>
              <a:rPr lang="en-GB" dirty="0"/>
              <a:t>+ (int) becomes E +</a:t>
            </a:r>
            <a:r>
              <a:rPr lang="en-GB" dirty="0">
                <a:solidFill>
                  <a:srgbClr val="FF0000"/>
                </a:solidFill>
              </a:rPr>
              <a:t>|</a:t>
            </a:r>
            <a:r>
              <a:rPr lang="en-GB" dirty="0"/>
              <a:t>(int) after shifting.</a:t>
            </a:r>
          </a:p>
          <a:p>
            <a:r>
              <a:rPr lang="en-GB" b="1" dirty="0"/>
              <a:t>Reducing: </a:t>
            </a:r>
            <a:r>
              <a:rPr lang="en-GB" dirty="0"/>
              <a:t>Apply an inverse production rule at the right of the left end string.</a:t>
            </a:r>
          </a:p>
          <a:p>
            <a:pPr marL="0" indent="0">
              <a:buNone/>
            </a:pPr>
            <a:r>
              <a:rPr lang="en-GB" dirty="0"/>
              <a:t>For instance, the string E + (</a:t>
            </a:r>
            <a:r>
              <a:rPr lang="en-GB" dirty="0">
                <a:solidFill>
                  <a:srgbClr val="0070C0"/>
                </a:solidFill>
              </a:rPr>
              <a:t>E + (E)</a:t>
            </a:r>
            <a:r>
              <a:rPr lang="en-GB" dirty="0">
                <a:solidFill>
                  <a:srgbClr val="FF0000"/>
                </a:solidFill>
              </a:rPr>
              <a:t>|</a:t>
            </a:r>
            <a:r>
              <a:rPr lang="en-GB" dirty="0"/>
              <a:t>) can be reduced into E + (</a:t>
            </a:r>
            <a:r>
              <a:rPr lang="en-GB" dirty="0">
                <a:solidFill>
                  <a:srgbClr val="00B050"/>
                </a:solidFill>
              </a:rPr>
              <a:t>E</a:t>
            </a:r>
            <a:r>
              <a:rPr lang="en-GB" dirty="0"/>
              <a:t> </a:t>
            </a:r>
            <a:r>
              <a:rPr lang="en-GB" dirty="0">
                <a:solidFill>
                  <a:srgbClr val="FF0000"/>
                </a:solidFill>
              </a:rPr>
              <a:t>|</a:t>
            </a:r>
            <a:r>
              <a:rPr lang="en-GB" dirty="0"/>
              <a:t>) by using the production </a:t>
            </a:r>
            <a:r>
              <a:rPr lang="en-GB" dirty="0">
                <a:solidFill>
                  <a:srgbClr val="00B050"/>
                </a:solidFill>
              </a:rPr>
              <a:t>E</a:t>
            </a:r>
            <a:r>
              <a:rPr lang="en-GB" dirty="0"/>
              <a:t> </a:t>
            </a:r>
            <a:r>
              <a:rPr lang="en-GB" dirty="0">
                <a:sym typeface="Wingdings" panose="05000000000000000000" pitchFamily="2" charset="2"/>
              </a:rPr>
              <a:t> </a:t>
            </a:r>
            <a:r>
              <a:rPr lang="en-GB" dirty="0">
                <a:solidFill>
                  <a:srgbClr val="0070C0"/>
                </a:solidFill>
                <a:sym typeface="Wingdings" panose="05000000000000000000" pitchFamily="2" charset="2"/>
              </a:rPr>
              <a:t>E + (E)</a:t>
            </a:r>
            <a:r>
              <a:rPr lang="en-GB" dirty="0">
                <a:sym typeface="Wingdings" panose="05000000000000000000" pitchFamily="2" charset="2"/>
              </a:rPr>
              <a:t>.</a:t>
            </a:r>
            <a:endParaRPr lang="en-SG" dirty="0"/>
          </a:p>
        </p:txBody>
      </p:sp>
    </p:spTree>
    <p:extLst>
      <p:ext uri="{BB962C8B-B14F-4D97-AF65-F5344CB8AC3E}">
        <p14:creationId xmlns:p14="http://schemas.microsoft.com/office/powerpoint/2010/main" val="1223634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65B2632-A330-6FD6-3417-91702EEFFA0D}"/>
              </a:ext>
            </a:extLst>
          </p:cNvPr>
          <p:cNvSpPr>
            <a:spLocks noGrp="1"/>
          </p:cNvSpPr>
          <p:nvPr>
            <p:ph type="title"/>
          </p:nvPr>
        </p:nvSpPr>
        <p:spPr/>
        <p:txBody>
          <a:bodyPr/>
          <a:lstStyle/>
          <a:p>
            <a:r>
              <a:rPr lang="en-GB" dirty="0"/>
              <a:t>Practice 1: Shift-Reduce </a:t>
            </a:r>
            <a:r>
              <a:rPr lang="en-GB" dirty="0" err="1"/>
              <a:t>tryout</a:t>
            </a:r>
            <a:endParaRPr lang="en-SG" dirty="0"/>
          </a:p>
        </p:txBody>
      </p:sp>
      <p:sp>
        <p:nvSpPr>
          <p:cNvPr id="6" name="Content Placeholder 5">
            <a:extLst>
              <a:ext uri="{FF2B5EF4-FFF2-40B4-BE49-F238E27FC236}">
                <a16:creationId xmlns:a16="http://schemas.microsoft.com/office/drawing/2014/main" id="{14BA5215-F398-734B-A2B4-8FBF49E88015}"/>
              </a:ext>
            </a:extLst>
          </p:cNvPr>
          <p:cNvSpPr>
            <a:spLocks noGrp="1"/>
          </p:cNvSpPr>
          <p:nvPr>
            <p:ph sz="half" idx="1"/>
          </p:nvPr>
        </p:nvSpPr>
        <p:spPr>
          <a:xfrm>
            <a:off x="838199" y="1825624"/>
            <a:ext cx="5976815" cy="5032375"/>
          </a:xfrm>
        </p:spPr>
        <p:txBody>
          <a:bodyPr>
            <a:normAutofit/>
          </a:bodyPr>
          <a:lstStyle/>
          <a:p>
            <a:pPr marL="0" indent="0">
              <a:buNone/>
            </a:pPr>
            <a:r>
              <a:rPr lang="en-GB" b="1" dirty="0"/>
              <a:t>Question: </a:t>
            </a:r>
            <a:r>
              <a:rPr lang="en-GB" dirty="0"/>
              <a:t>Consider the CFG on the right, what is the correct sequence of Reduce and Shift operations to use on the string </a:t>
            </a:r>
            <a:r>
              <a:rPr lang="en-GB" i="1" dirty="0"/>
              <a:t>x</a:t>
            </a:r>
            <a:r>
              <a:rPr lang="en-GB" dirty="0"/>
              <a:t> below?</a:t>
            </a:r>
          </a:p>
          <a:p>
            <a:pPr marL="0" indent="0" algn="ctr">
              <a:buNone/>
            </a:pPr>
            <a:r>
              <a:rPr lang="en-GB" dirty="0"/>
              <a:t>int + int * int + int</a:t>
            </a:r>
          </a:p>
          <a:p>
            <a:pPr marL="0" indent="0">
              <a:buNone/>
            </a:pPr>
            <a:endParaRPr lang="en-GB" dirty="0"/>
          </a:p>
        </p:txBody>
      </p:sp>
      <p:pic>
        <p:nvPicPr>
          <p:cNvPr id="3" name="Picture 2">
            <a:extLst>
              <a:ext uri="{FF2B5EF4-FFF2-40B4-BE49-F238E27FC236}">
                <a16:creationId xmlns:a16="http://schemas.microsoft.com/office/drawing/2014/main" id="{1A2E3024-6C84-EF7D-3020-F89A4C469AC3}"/>
              </a:ext>
            </a:extLst>
          </p:cNvPr>
          <p:cNvPicPr>
            <a:picLocks noChangeAspect="1"/>
          </p:cNvPicPr>
          <p:nvPr/>
        </p:nvPicPr>
        <p:blipFill>
          <a:blip r:embed="rId2"/>
          <a:stretch>
            <a:fillRect/>
          </a:stretch>
        </p:blipFill>
        <p:spPr>
          <a:xfrm>
            <a:off x="8424728" y="2157218"/>
            <a:ext cx="2610214" cy="3134162"/>
          </a:xfrm>
          <a:prstGeom prst="rect">
            <a:avLst/>
          </a:prstGeom>
        </p:spPr>
      </p:pic>
    </p:spTree>
    <p:extLst>
      <p:ext uri="{BB962C8B-B14F-4D97-AF65-F5344CB8AC3E}">
        <p14:creationId xmlns:p14="http://schemas.microsoft.com/office/powerpoint/2010/main" val="252106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Graphical user interface, text, application&#10;&#10;Description automatically generated">
            <a:extLst>
              <a:ext uri="{FF2B5EF4-FFF2-40B4-BE49-F238E27FC236}">
                <a16:creationId xmlns:a16="http://schemas.microsoft.com/office/drawing/2014/main" id="{2AF4D454-A7BD-8D1F-4CA0-D6C638BD4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11" name="Title 4">
            <a:extLst>
              <a:ext uri="{FF2B5EF4-FFF2-40B4-BE49-F238E27FC236}">
                <a16:creationId xmlns:a16="http://schemas.microsoft.com/office/drawing/2014/main" id="{0B90C454-4C70-7C23-A2D0-F5EAE453D94F}"/>
              </a:ext>
            </a:extLst>
          </p:cNvPr>
          <p:cNvSpPr>
            <a:spLocks noGrp="1"/>
          </p:cNvSpPr>
          <p:nvPr>
            <p:ph type="title"/>
          </p:nvPr>
        </p:nvSpPr>
        <p:spPr>
          <a:xfrm>
            <a:off x="838200" y="365125"/>
            <a:ext cx="10515600" cy="1325563"/>
          </a:xfrm>
          <a:solidFill>
            <a:schemeClr val="bg1"/>
          </a:solidFill>
        </p:spPr>
        <p:txBody>
          <a:bodyPr/>
          <a:lstStyle/>
          <a:p>
            <a:r>
              <a:rPr lang="en-GB" dirty="0"/>
              <a:t>Practice 1: Shift-Reduce </a:t>
            </a:r>
            <a:r>
              <a:rPr lang="en-GB" dirty="0" err="1"/>
              <a:t>tryout</a:t>
            </a:r>
            <a:endParaRPr lang="en-SG" dirty="0"/>
          </a:p>
        </p:txBody>
      </p:sp>
      <p:sp>
        <p:nvSpPr>
          <p:cNvPr id="12" name="Title 4">
            <a:extLst>
              <a:ext uri="{FF2B5EF4-FFF2-40B4-BE49-F238E27FC236}">
                <a16:creationId xmlns:a16="http://schemas.microsoft.com/office/drawing/2014/main" id="{FB8B89E6-B762-7AEE-AEBA-5D186935913E}"/>
              </a:ext>
            </a:extLst>
          </p:cNvPr>
          <p:cNvSpPr txBox="1">
            <a:spLocks/>
          </p:cNvSpPr>
          <p:nvPr/>
        </p:nvSpPr>
        <p:spPr>
          <a:xfrm>
            <a:off x="990600" y="5175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440204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hart, text&#10;&#10;Description automatically generated">
            <a:extLst>
              <a:ext uri="{FF2B5EF4-FFF2-40B4-BE49-F238E27FC236}">
                <a16:creationId xmlns:a16="http://schemas.microsoft.com/office/drawing/2014/main" id="{0FE1A887-9FB1-9D14-636C-261215F60E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4">
            <a:extLst>
              <a:ext uri="{FF2B5EF4-FFF2-40B4-BE49-F238E27FC236}">
                <a16:creationId xmlns:a16="http://schemas.microsoft.com/office/drawing/2014/main" id="{B808DD1E-5F55-1BF2-725F-119065E810D2}"/>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766645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A7191E71-CEAA-445F-8D1D-AE4D1E4467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1C8F93AD-8F3E-46F3-D885-9F838E86A65F}"/>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404885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81E02F23-8872-9F20-25EC-0064D43DC8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30C8980-764C-9D55-D012-D36F3A179989}"/>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038061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B758D7F3-C57D-5F91-EC71-47DF536937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43DE6537-C947-F922-FB23-28D29FC87494}"/>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7787205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E9571097-F205-61A4-EC78-92566DD0F1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B27EB6F-462F-B91D-3841-8DE7F993E43D}"/>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5542292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2D7AEA8-262C-8358-BAE2-A9F7FA32B9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2F091CA1-1C45-7687-E167-1F7D29EEF526}"/>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519256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0A9BDA2-0B81-43B5-F741-96C4C8AC71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F23244B-FC91-D26C-34D3-F52DAEEF6437}"/>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529672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69419658-B051-CD81-6008-F0894837C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DA785E30-20E0-4337-9234-D81DEE7820A1}"/>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2926505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978DB5B7-66F6-FDEE-58F3-7467D4C4C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1A991062-8B3A-4491-056F-D6BFD08D458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260000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38A22E85-4D1B-E136-0A1F-40D855C3DC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8E5D3907-94FE-D50A-FDBC-818B81575DC8}"/>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740525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AD475E6-DCEC-AD82-1DF7-2D234BB929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2459B35-9D00-F162-E0CE-1C14EACE5330}"/>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282457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53BC932E-5DDA-50CC-9553-B406AADAE3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E87E1C69-A513-7CA5-D39D-C8A130073230}"/>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189964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E923299F-B1E5-6199-9504-80FA5E0E50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3F007F9A-862B-ECCC-B4A8-6054F6578926}"/>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004561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FD7DD9EB-363C-9E1C-F74A-0E18AE199F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688E6DF5-2410-3733-E526-0148D23D3B4B}"/>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626945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81116814-0303-02CE-A9DB-1417EC297C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41FEB043-B711-96F5-67A5-2E88747A1E9A}"/>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995304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6EE01247-D3A7-5486-F20D-CC719BF0DD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388AB75C-1169-8A53-DC00-D92A909BCBED}"/>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83478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 histogram&#10;&#10;Description automatically generated">
            <a:extLst>
              <a:ext uri="{FF2B5EF4-FFF2-40B4-BE49-F238E27FC236}">
                <a16:creationId xmlns:a16="http://schemas.microsoft.com/office/drawing/2014/main" id="{A1008DD9-1066-71FD-CD32-EF3696BD7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5FED793C-BDAA-926B-910B-86D68EDE3E37}"/>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3628174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art&#10;&#10;Description automatically generated">
            <a:extLst>
              <a:ext uri="{FF2B5EF4-FFF2-40B4-BE49-F238E27FC236}">
                <a16:creationId xmlns:a16="http://schemas.microsoft.com/office/drawing/2014/main" id="{BA3F7D19-CD33-6C16-69D0-CC8C361F6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4" name="Title 4">
            <a:extLst>
              <a:ext uri="{FF2B5EF4-FFF2-40B4-BE49-F238E27FC236}">
                <a16:creationId xmlns:a16="http://schemas.microsoft.com/office/drawing/2014/main" id="{56BA6D60-87CA-CCFC-85CC-D8537936E3A5}"/>
              </a:ext>
            </a:extLst>
          </p:cNvPr>
          <p:cNvSpPr txBox="1">
            <a:spLocks/>
          </p:cNvSpPr>
          <p:nvPr/>
        </p:nvSpPr>
        <p:spPr>
          <a:xfrm>
            <a:off x="838200" y="365125"/>
            <a:ext cx="10515600" cy="1325563"/>
          </a:xfrm>
          <a:prstGeom prst="rect">
            <a:avLst/>
          </a:prstGeom>
          <a:solidFill>
            <a:schemeClr val="bg1"/>
          </a:solidFill>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a:t>Practice 1: Shift-Reduce </a:t>
            </a:r>
            <a:r>
              <a:rPr lang="en-GB" dirty="0" err="1"/>
              <a:t>tryout</a:t>
            </a:r>
            <a:endParaRPr lang="en-SG" dirty="0"/>
          </a:p>
        </p:txBody>
      </p:sp>
    </p:spTree>
    <p:extLst>
      <p:ext uri="{BB962C8B-B14F-4D97-AF65-F5344CB8AC3E}">
        <p14:creationId xmlns:p14="http://schemas.microsoft.com/office/powerpoint/2010/main" val="1530309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7ED2B-8927-32A7-6895-3CE81D527C63}"/>
              </a:ext>
            </a:extLst>
          </p:cNvPr>
          <p:cNvSpPr>
            <a:spLocks noGrp="1"/>
          </p:cNvSpPr>
          <p:nvPr>
            <p:ph type="title"/>
          </p:nvPr>
        </p:nvSpPr>
        <p:spPr/>
        <p:txBody>
          <a:bodyPr/>
          <a:lstStyle/>
          <a:p>
            <a:r>
              <a:rPr lang="en-GB" dirty="0"/>
              <a:t>Practical implementation of Shift-Reduce</a:t>
            </a:r>
            <a:endParaRPr lang="en-SG" dirty="0"/>
          </a:p>
        </p:txBody>
      </p:sp>
      <p:sp>
        <p:nvSpPr>
          <p:cNvPr id="5" name="Content Placeholder 4">
            <a:extLst>
              <a:ext uri="{FF2B5EF4-FFF2-40B4-BE49-F238E27FC236}">
                <a16:creationId xmlns:a16="http://schemas.microsoft.com/office/drawing/2014/main" id="{6B91F973-C8D3-7DEC-47E6-990088AFE4E2}"/>
              </a:ext>
            </a:extLst>
          </p:cNvPr>
          <p:cNvSpPr>
            <a:spLocks noGrp="1"/>
          </p:cNvSpPr>
          <p:nvPr>
            <p:ph idx="1"/>
          </p:nvPr>
        </p:nvSpPr>
        <p:spPr>
          <a:xfrm>
            <a:off x="838200" y="1825624"/>
            <a:ext cx="10515600" cy="5032375"/>
          </a:xfrm>
        </p:spPr>
        <p:txBody>
          <a:bodyPr>
            <a:normAutofit/>
          </a:bodyPr>
          <a:lstStyle/>
          <a:p>
            <a:pPr marL="0" indent="0">
              <a:buNone/>
            </a:pPr>
            <a:r>
              <a:rPr lang="en-GB" dirty="0"/>
              <a:t>Implementation is out of scope, but the practical implementation for the Shift-Reduce parser can be done as follows.</a:t>
            </a:r>
          </a:p>
          <a:p>
            <a:r>
              <a:rPr lang="en-GB" b="1" dirty="0"/>
              <a:t>Left substring </a:t>
            </a:r>
            <a:r>
              <a:rPr lang="en-GB" dirty="0"/>
              <a:t>can be implemented by a </a:t>
            </a:r>
            <a:r>
              <a:rPr lang="en-GB" b="1" dirty="0"/>
              <a:t>stack</a:t>
            </a:r>
            <a:r>
              <a:rPr lang="en-GB" dirty="0"/>
              <a:t>.</a:t>
            </a:r>
          </a:p>
          <a:p>
            <a:r>
              <a:rPr lang="en-GB" dirty="0"/>
              <a:t>Top of the stack is denoted by the separator symbol </a:t>
            </a:r>
            <a:r>
              <a:rPr lang="en-GB" dirty="0">
                <a:solidFill>
                  <a:srgbClr val="FF0000"/>
                </a:solidFill>
              </a:rPr>
              <a:t>|</a:t>
            </a:r>
            <a:r>
              <a:rPr lang="en-GB" dirty="0"/>
              <a:t>.</a:t>
            </a:r>
          </a:p>
          <a:p>
            <a:r>
              <a:rPr lang="en-GB" b="1" dirty="0"/>
              <a:t>Shifting</a:t>
            </a:r>
            <a:r>
              <a:rPr lang="en-GB" dirty="0"/>
              <a:t> </a:t>
            </a:r>
            <a:r>
              <a:rPr lang="en-GB" b="1" dirty="0"/>
              <a:t>pushes a terminal symbol on the stack.</a:t>
            </a:r>
            <a:endParaRPr lang="en-GB" dirty="0"/>
          </a:p>
          <a:p>
            <a:r>
              <a:rPr lang="en-GB" b="1" dirty="0"/>
              <a:t>Reducing using a production rule </a:t>
            </a:r>
            <a:r>
              <a:rPr lang="en-GB" b="1" dirty="0">
                <a:solidFill>
                  <a:srgbClr val="0070C0"/>
                </a:solidFill>
              </a:rPr>
              <a:t>A</a:t>
            </a:r>
            <a:r>
              <a:rPr lang="en-GB" b="1" dirty="0"/>
              <a:t> </a:t>
            </a:r>
            <a:r>
              <a:rPr lang="en-GB" b="1" dirty="0">
                <a:sym typeface="Wingdings" panose="05000000000000000000" pitchFamily="2" charset="2"/>
              </a:rPr>
              <a:t> </a:t>
            </a:r>
            <a:r>
              <a:rPr lang="en-GB" b="1" dirty="0">
                <a:solidFill>
                  <a:srgbClr val="00B050"/>
                </a:solidFill>
                <a:sym typeface="Wingdings" panose="05000000000000000000" pitchFamily="2" charset="2"/>
              </a:rPr>
              <a:t>B</a:t>
            </a:r>
            <a:r>
              <a:rPr lang="en-GB" b="1" dirty="0"/>
              <a:t> pops all the symbols in </a:t>
            </a:r>
            <a:r>
              <a:rPr lang="en-GB" b="1" dirty="0">
                <a:solidFill>
                  <a:srgbClr val="00B050"/>
                </a:solidFill>
              </a:rPr>
              <a:t>B</a:t>
            </a:r>
            <a:r>
              <a:rPr lang="en-GB" b="1" dirty="0"/>
              <a:t> off the top of the stack and then pushes a non-terminal symbol </a:t>
            </a:r>
            <a:r>
              <a:rPr lang="en-GB" b="1" dirty="0">
                <a:solidFill>
                  <a:srgbClr val="0070C0"/>
                </a:solidFill>
              </a:rPr>
              <a:t>A</a:t>
            </a:r>
            <a:r>
              <a:rPr lang="en-GB" b="1" dirty="0"/>
              <a:t> on the stack to replace all the symbols in </a:t>
            </a:r>
            <a:r>
              <a:rPr lang="en-GB" b="1" dirty="0">
                <a:solidFill>
                  <a:srgbClr val="00B050"/>
                </a:solidFill>
              </a:rPr>
              <a:t>B</a:t>
            </a:r>
            <a:r>
              <a:rPr lang="en-GB" b="1" dirty="0"/>
              <a:t>.</a:t>
            </a:r>
          </a:p>
          <a:p>
            <a:r>
              <a:rPr lang="en-GB" dirty="0"/>
              <a:t>(Also, two more actions technically being: </a:t>
            </a:r>
            <a:r>
              <a:rPr lang="en-GB" b="1" dirty="0"/>
              <a:t>accept</a:t>
            </a:r>
            <a:r>
              <a:rPr lang="en-GB" dirty="0"/>
              <a:t> the string if parsing has completed, or </a:t>
            </a:r>
            <a:r>
              <a:rPr lang="en-GB" b="1" dirty="0"/>
              <a:t>reject</a:t>
            </a:r>
            <a:r>
              <a:rPr lang="en-GB" dirty="0"/>
              <a:t> the string if derivation is not possible due to invalid syntax…)</a:t>
            </a:r>
          </a:p>
          <a:p>
            <a:pPr marL="0" indent="0">
              <a:buNone/>
            </a:pPr>
            <a:endParaRPr lang="en-SG" b="1" dirty="0"/>
          </a:p>
        </p:txBody>
      </p:sp>
    </p:spTree>
    <p:extLst>
      <p:ext uri="{BB962C8B-B14F-4D97-AF65-F5344CB8AC3E}">
        <p14:creationId xmlns:p14="http://schemas.microsoft.com/office/powerpoint/2010/main" val="197993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53B22-B1C7-7986-9A5B-1391D1EA248F}"/>
              </a:ext>
            </a:extLst>
          </p:cNvPr>
          <p:cNvSpPr>
            <a:spLocks noGrp="1"/>
          </p:cNvSpPr>
          <p:nvPr>
            <p:ph type="title"/>
          </p:nvPr>
        </p:nvSpPr>
        <p:spPr/>
        <p:txBody>
          <a:bodyPr/>
          <a:lstStyle/>
          <a:p>
            <a:r>
              <a:rPr lang="en-GB" dirty="0"/>
              <a:t>Million dollar question</a:t>
            </a:r>
            <a:endParaRPr lang="en-SG" dirty="0"/>
          </a:p>
        </p:txBody>
      </p:sp>
      <p:sp>
        <p:nvSpPr>
          <p:cNvPr id="3" name="Content Placeholder 2">
            <a:extLst>
              <a:ext uri="{FF2B5EF4-FFF2-40B4-BE49-F238E27FC236}">
                <a16:creationId xmlns:a16="http://schemas.microsoft.com/office/drawing/2014/main" id="{C393EEF5-1B65-A38C-DCAC-81E188B720F9}"/>
              </a:ext>
            </a:extLst>
          </p:cNvPr>
          <p:cNvSpPr>
            <a:spLocks noGrp="1"/>
          </p:cNvSpPr>
          <p:nvPr>
            <p:ph idx="1"/>
          </p:nvPr>
        </p:nvSpPr>
        <p:spPr>
          <a:xfrm>
            <a:off x="838200" y="1825624"/>
            <a:ext cx="10515600" cy="5032375"/>
          </a:xfrm>
        </p:spPr>
        <p:txBody>
          <a:bodyPr>
            <a:normAutofit/>
          </a:bodyPr>
          <a:lstStyle/>
          <a:p>
            <a:pPr marL="0" indent="0">
              <a:buNone/>
            </a:pPr>
            <a:r>
              <a:rPr lang="en-SG" b="1" dirty="0">
                <a:solidFill>
                  <a:srgbClr val="7030A0"/>
                </a:solidFill>
              </a:rPr>
              <a:t>Million dollar question: How to decide when to Shift, when to Reduce, and with which production rule from the CFG?</a:t>
            </a:r>
          </a:p>
          <a:p>
            <a:pPr marL="0" indent="0">
              <a:buNone/>
            </a:pPr>
            <a:r>
              <a:rPr lang="en-SG" dirty="0"/>
              <a:t>A few observations we can make so far</a:t>
            </a:r>
          </a:p>
          <a:p>
            <a:pPr marL="514350" indent="-514350">
              <a:buFont typeface="+mj-lt"/>
              <a:buAutoNum type="arabicPeriod"/>
            </a:pPr>
            <a:r>
              <a:rPr lang="en-SG" b="1" dirty="0"/>
              <a:t>You can always shift at any time, </a:t>
            </a:r>
            <a:r>
              <a:rPr lang="en-SG" dirty="0"/>
              <a:t>except when the separator </a:t>
            </a:r>
            <a:r>
              <a:rPr lang="en-SG" dirty="0">
                <a:solidFill>
                  <a:srgbClr val="FF0000"/>
                </a:solidFill>
              </a:rPr>
              <a:t>|</a:t>
            </a:r>
            <a:r>
              <a:rPr lang="en-SG" dirty="0"/>
              <a:t> has reached the end of the string.</a:t>
            </a:r>
          </a:p>
          <a:p>
            <a:pPr marL="514350" indent="-514350">
              <a:buFont typeface="+mj-lt"/>
              <a:buAutoNum type="arabicPeriod"/>
            </a:pPr>
            <a:r>
              <a:rPr lang="en-SG" b="1" dirty="0"/>
              <a:t>When you cannot reduce the string using any production rule of the CFG, shift, by default.</a:t>
            </a:r>
          </a:p>
          <a:p>
            <a:pPr marL="514350" indent="-514350">
              <a:buFont typeface="+mj-lt"/>
              <a:buAutoNum type="arabicPeriod"/>
            </a:pPr>
            <a:r>
              <a:rPr lang="en-SG" b="1" dirty="0">
                <a:solidFill>
                  <a:srgbClr val="C00000"/>
                </a:solidFill>
              </a:rPr>
              <a:t>The difficulty comes from deciding between shifting and reducing in scenarios where you could do both. To decide, we will reuse the idea of LL(1), about looking at the first terminal symbol to appear after the split symbol |.</a:t>
            </a:r>
          </a:p>
          <a:p>
            <a:endParaRPr lang="en-SG" dirty="0"/>
          </a:p>
        </p:txBody>
      </p:sp>
    </p:spTree>
    <p:extLst>
      <p:ext uri="{BB962C8B-B14F-4D97-AF65-F5344CB8AC3E}">
        <p14:creationId xmlns:p14="http://schemas.microsoft.com/office/powerpoint/2010/main" val="2076228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9131-16D8-2E84-CA0B-C1BAB94F176F}"/>
              </a:ext>
            </a:extLst>
          </p:cNvPr>
          <p:cNvSpPr>
            <a:spLocks noGrp="1"/>
          </p:cNvSpPr>
          <p:nvPr>
            <p:ph type="title"/>
          </p:nvPr>
        </p:nvSpPr>
        <p:spPr/>
        <p:txBody>
          <a:bodyPr/>
          <a:lstStyle/>
          <a:p>
            <a:r>
              <a:rPr lang="en-GB" dirty="0"/>
              <a:t>How to decide between shift/reduce?</a:t>
            </a:r>
            <a:endParaRPr lang="en-SG" dirty="0"/>
          </a:p>
        </p:txBody>
      </p:sp>
      <p:sp>
        <p:nvSpPr>
          <p:cNvPr id="3" name="Content Placeholder 2">
            <a:extLst>
              <a:ext uri="{FF2B5EF4-FFF2-40B4-BE49-F238E27FC236}">
                <a16:creationId xmlns:a16="http://schemas.microsoft.com/office/drawing/2014/main" id="{95AF75ED-F939-61C5-8E76-6B91888E4EC0}"/>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Build an FSM (again!), to decide when to shift or reduce.</a:t>
            </a:r>
          </a:p>
          <a:p>
            <a:r>
              <a:rPr lang="en-GB" dirty="0"/>
              <a:t>FSM will use, as input string, the current stack.</a:t>
            </a:r>
          </a:p>
          <a:p>
            <a:r>
              <a:rPr lang="en-GB" dirty="0"/>
              <a:t>The </a:t>
            </a:r>
            <a:r>
              <a:rPr lang="en-GB" b="1" dirty="0">
                <a:solidFill>
                  <a:schemeClr val="accent2">
                    <a:lumMod val="50000"/>
                  </a:schemeClr>
                </a:solidFill>
              </a:rPr>
              <a:t>actions</a:t>
            </a:r>
            <a:r>
              <a:rPr lang="en-GB" dirty="0"/>
              <a:t> consist of the possible </a:t>
            </a:r>
            <a:r>
              <a:rPr lang="en-GB" b="1" dirty="0"/>
              <a:t>terminals and non-terminals symbols</a:t>
            </a:r>
            <a:r>
              <a:rPr lang="en-GB" dirty="0"/>
              <a:t> that the CFG possesses, as well as $.</a:t>
            </a:r>
          </a:p>
          <a:p>
            <a:pPr marL="0" indent="0">
              <a:buNone/>
            </a:pPr>
            <a:endParaRPr lang="en-SG" dirty="0"/>
          </a:p>
        </p:txBody>
      </p:sp>
    </p:spTree>
    <p:extLst>
      <p:ext uri="{BB962C8B-B14F-4D97-AF65-F5344CB8AC3E}">
        <p14:creationId xmlns:p14="http://schemas.microsoft.com/office/powerpoint/2010/main" val="1426870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A9131-16D8-2E84-CA0B-C1BAB94F176F}"/>
              </a:ext>
            </a:extLst>
          </p:cNvPr>
          <p:cNvSpPr>
            <a:spLocks noGrp="1"/>
          </p:cNvSpPr>
          <p:nvPr>
            <p:ph type="title"/>
          </p:nvPr>
        </p:nvSpPr>
        <p:spPr/>
        <p:txBody>
          <a:bodyPr/>
          <a:lstStyle/>
          <a:p>
            <a:r>
              <a:rPr lang="en-GB" dirty="0"/>
              <a:t>How to decide between shift/reduce?</a:t>
            </a:r>
            <a:endParaRPr lang="en-SG" dirty="0"/>
          </a:p>
        </p:txBody>
      </p:sp>
      <p:sp>
        <p:nvSpPr>
          <p:cNvPr id="3" name="Content Placeholder 2">
            <a:extLst>
              <a:ext uri="{FF2B5EF4-FFF2-40B4-BE49-F238E27FC236}">
                <a16:creationId xmlns:a16="http://schemas.microsoft.com/office/drawing/2014/main" id="{95AF75ED-F939-61C5-8E76-6B91888E4EC0}"/>
              </a:ext>
            </a:extLst>
          </p:cNvPr>
          <p:cNvSpPr>
            <a:spLocks noGrp="1"/>
          </p:cNvSpPr>
          <p:nvPr>
            <p:ph idx="1"/>
          </p:nvPr>
        </p:nvSpPr>
        <p:spPr>
          <a:xfrm>
            <a:off x="838200" y="1825624"/>
            <a:ext cx="10515600" cy="5032375"/>
          </a:xfrm>
        </p:spPr>
        <p:txBody>
          <a:bodyPr>
            <a:normAutofit/>
          </a:bodyPr>
          <a:lstStyle/>
          <a:p>
            <a:pPr marL="0" indent="0">
              <a:buNone/>
            </a:pPr>
            <a:r>
              <a:rPr lang="en-GB" b="1" dirty="0"/>
              <a:t>First Idea: </a:t>
            </a:r>
            <a:r>
              <a:rPr lang="en-GB" dirty="0"/>
              <a:t>Build an FSM (again!), to decide when to shift or reduce.</a:t>
            </a:r>
          </a:p>
          <a:p>
            <a:r>
              <a:rPr lang="en-GB" dirty="0"/>
              <a:t>The </a:t>
            </a:r>
            <a:r>
              <a:rPr lang="en-GB" b="1" dirty="0">
                <a:solidFill>
                  <a:schemeClr val="accent2"/>
                </a:solidFill>
              </a:rPr>
              <a:t>states</a:t>
            </a:r>
            <a:r>
              <a:rPr lang="en-GB" dirty="0"/>
              <a:t> will have </a:t>
            </a:r>
            <a:r>
              <a:rPr lang="en-GB" b="1" dirty="0"/>
              <a:t>shift-reduce(rule)-accept-reject actions</a:t>
            </a:r>
            <a:r>
              <a:rPr lang="en-GB" dirty="0"/>
              <a:t> assigned to them.</a:t>
            </a:r>
          </a:p>
          <a:p>
            <a:r>
              <a:rPr lang="en-GB" dirty="0"/>
              <a:t>Whatever final state we end up on after running the FSM will tell us which parsing action to use between shift and reduce.</a:t>
            </a:r>
          </a:p>
          <a:p>
            <a:r>
              <a:rPr lang="en-GB" dirty="0"/>
              <a:t>In the case of a reduce action, we will also mention the production rule to use to transform elements in our stack.</a:t>
            </a:r>
          </a:p>
          <a:p>
            <a:r>
              <a:rPr lang="en-GB" dirty="0"/>
              <a:t>Also, keep in mind that this is a predictive parser. This means one lookahead symbol should be used. In our case, this means that </a:t>
            </a:r>
            <a:r>
              <a:rPr lang="en-GB" b="1" dirty="0"/>
              <a:t>the parsing action to use for a given final state might depend on what is currently the first terminal symbol </a:t>
            </a:r>
            <a:r>
              <a:rPr lang="en-GB" b="1" dirty="0" err="1"/>
              <a:t>immediatly</a:t>
            </a:r>
            <a:r>
              <a:rPr lang="en-GB" b="1" dirty="0"/>
              <a:t> after </a:t>
            </a:r>
            <a:r>
              <a:rPr lang="en-GB" b="1" dirty="0">
                <a:solidFill>
                  <a:srgbClr val="FF0000"/>
                </a:solidFill>
              </a:rPr>
              <a:t>|</a:t>
            </a:r>
            <a:r>
              <a:rPr lang="en-GB" b="1" dirty="0"/>
              <a:t>.</a:t>
            </a:r>
          </a:p>
          <a:p>
            <a:endParaRPr lang="en-SG" dirty="0"/>
          </a:p>
        </p:txBody>
      </p:sp>
    </p:spTree>
    <p:extLst>
      <p:ext uri="{BB962C8B-B14F-4D97-AF65-F5344CB8AC3E}">
        <p14:creationId xmlns:p14="http://schemas.microsoft.com/office/powerpoint/2010/main" val="37480920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FBA5-A002-620F-E5AA-46097DD202C1}"/>
              </a:ext>
            </a:extLst>
          </p:cNvPr>
          <p:cNvSpPr>
            <a:spLocks noGrp="1"/>
          </p:cNvSpPr>
          <p:nvPr>
            <p:ph type="title"/>
          </p:nvPr>
        </p:nvSpPr>
        <p:spPr/>
        <p:txBody>
          <a:bodyPr/>
          <a:lstStyle/>
          <a:p>
            <a:r>
              <a:rPr lang="en-GB" dirty="0"/>
              <a:t>An example FSM for our CFG</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AC45B8A-BAF1-70E4-92CA-B3338234FBD8}"/>
                  </a:ext>
                </a:extLst>
              </p:cNvPr>
              <p:cNvSpPr>
                <a:spLocks noGrp="1"/>
              </p:cNvSpPr>
              <p:nvPr>
                <p:ph idx="1"/>
              </p:nvPr>
            </p:nvSpPr>
            <p:spPr>
              <a:xfrm>
                <a:off x="838200" y="1825624"/>
                <a:ext cx="10515600" cy="5032375"/>
              </a:xfrm>
            </p:spPr>
            <p:txBody>
              <a:bodyPr>
                <a:normAutofit/>
              </a:bodyPr>
              <a:lstStyle/>
              <a:p>
                <a:pPr marL="0" indent="0">
                  <a:buNone/>
                </a:pPr>
                <a:r>
                  <a:rPr lang="en-GB" dirty="0"/>
                  <a:t>Consider our simplified CFG from earlier, below.</a:t>
                </a:r>
              </a:p>
              <a:p>
                <a:pPr marL="0" indent="0" algn="ctr">
                  <a:buNone/>
                </a:pPr>
                <a:r>
                  <a:rPr lang="en-GB" altLang="zh-TW" b="0" dirty="0">
                    <a:ea typeface="新細明體" panose="020B0604030504040204" pitchFamily="18" charset="-120"/>
                  </a:rPr>
                  <a:t>1: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d>
                      <m:dPr>
                        <m:ctrlPr>
                          <a:rPr lang="en-GB" altLang="zh-TW" b="0" i="1" smtClean="0">
                            <a:latin typeface="Cambria Math" panose="02040503050406030204" pitchFamily="18" charset="0"/>
                            <a:ea typeface="新細明體" panose="020B0604030504040204" pitchFamily="18" charset="-120"/>
                          </a:rPr>
                        </m:ctrlPr>
                      </m:dPr>
                      <m:e>
                        <m:r>
                          <a:rPr lang="en-GB" altLang="zh-TW" b="0" i="1" smtClean="0">
                            <a:latin typeface="Cambria Math" panose="02040503050406030204" pitchFamily="18" charset="0"/>
                            <a:ea typeface="新細明體" panose="020B0604030504040204" pitchFamily="18" charset="-120"/>
                          </a:rPr>
                          <m:t>𝐸</m:t>
                        </m:r>
                      </m:e>
                    </m:d>
                  </m:oMath>
                </a14:m>
                <a:endParaRPr lang="en-GB" altLang="zh-TW" b="0" i="1" dirty="0">
                  <a:latin typeface="Cambria Math" panose="02040503050406030204" pitchFamily="18" charset="0"/>
                  <a:ea typeface="新細明體" panose="020B0604030504040204" pitchFamily="18" charset="-120"/>
                </a:endParaRPr>
              </a:p>
              <a:p>
                <a:pPr marL="0" indent="0" algn="ctr">
                  <a:buNone/>
                </a:pPr>
                <a:r>
                  <a:rPr lang="en-GB" altLang="zh-TW" b="0" dirty="0">
                    <a:ea typeface="新細明體" panose="020B0604030504040204" pitchFamily="18" charset="-120"/>
                  </a:rPr>
                  <a:t>2: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𝑖𝑛𝑡</m:t>
                    </m:r>
                  </m:oMath>
                </a14:m>
                <a:endParaRPr lang="en-GB" dirty="0"/>
              </a:p>
              <a:p>
                <a:pPr marL="0" indent="0">
                  <a:buNone/>
                </a:pPr>
                <a:r>
                  <a:rPr lang="en-GB" dirty="0"/>
                  <a:t>Our FSM has the following </a:t>
                </a:r>
                <a:r>
                  <a:rPr lang="en-GB" b="1" dirty="0">
                    <a:solidFill>
                      <a:schemeClr val="accent2">
                        <a:lumMod val="50000"/>
                      </a:schemeClr>
                    </a:solidFill>
                  </a:rPr>
                  <a:t>actions</a:t>
                </a:r>
                <a:r>
                  <a:rPr lang="en-GB" dirty="0"/>
                  <a:t>: E, (, ), +, int, $.</a:t>
                </a:r>
              </a:p>
              <a:p>
                <a:pPr marL="0" indent="0">
                  <a:buNone/>
                </a:pPr>
                <a:r>
                  <a:rPr lang="en-GB" dirty="0"/>
                  <a:t>The parser has the following </a:t>
                </a:r>
                <a:r>
                  <a:rPr lang="en-GB" b="1" dirty="0"/>
                  <a:t>parsing actions </a:t>
                </a:r>
                <a:r>
                  <a:rPr lang="en-GB" dirty="0"/>
                  <a:t>to be assigned to </a:t>
                </a:r>
                <a:r>
                  <a:rPr lang="en-GB" b="1" dirty="0">
                    <a:solidFill>
                      <a:schemeClr val="accent2"/>
                    </a:solidFill>
                  </a:rPr>
                  <a:t>states</a:t>
                </a:r>
                <a:r>
                  <a:rPr lang="en-GB" dirty="0"/>
                  <a:t>: shift, reduce using rule 1, reduce using rule 2, accept, reject.</a:t>
                </a:r>
              </a:p>
              <a:p>
                <a:pPr marL="0" indent="0">
                  <a:buNone/>
                </a:pPr>
                <a:r>
                  <a:rPr lang="en-GB" dirty="0"/>
                  <a:t>For simplicity, we will not draw all </a:t>
                </a:r>
                <a:r>
                  <a:rPr lang="en-GB" b="1" dirty="0">
                    <a:solidFill>
                      <a:srgbClr val="7030A0"/>
                    </a:solidFill>
                  </a:rPr>
                  <a:t>states transitions</a:t>
                </a:r>
                <a:r>
                  <a:rPr lang="en-GB" dirty="0"/>
                  <a:t>.</a:t>
                </a:r>
              </a:p>
              <a:p>
                <a:pPr marL="0" indent="0">
                  <a:buNone/>
                </a:pPr>
                <a:r>
                  <a:rPr lang="en-GB" b="1" dirty="0"/>
                  <a:t>If a </a:t>
                </a:r>
                <a:r>
                  <a:rPr lang="en-GB" b="1" dirty="0">
                    <a:solidFill>
                      <a:srgbClr val="7030A0"/>
                    </a:solidFill>
                  </a:rPr>
                  <a:t>state transition</a:t>
                </a:r>
                <a:r>
                  <a:rPr lang="en-GB" b="1" dirty="0"/>
                  <a:t> is used but does not appear in the FSM diagram (on the next slide), then we should stop the FSM and </a:t>
                </a:r>
                <a:r>
                  <a:rPr lang="en-GB" b="1" dirty="0">
                    <a:solidFill>
                      <a:srgbClr val="C00000"/>
                    </a:solidFill>
                  </a:rPr>
                  <a:t>reject</a:t>
                </a:r>
                <a:r>
                  <a:rPr lang="en-GB" b="1" dirty="0"/>
                  <a:t> the string due to </a:t>
                </a:r>
                <a:r>
                  <a:rPr lang="en-GB" b="1" dirty="0">
                    <a:solidFill>
                      <a:srgbClr val="C00000"/>
                    </a:solidFill>
                  </a:rPr>
                  <a:t>invalid syntax</a:t>
                </a:r>
                <a:r>
                  <a:rPr lang="en-GB" b="1" dirty="0"/>
                  <a:t>!</a:t>
                </a:r>
                <a:endParaRPr lang="en-SG" b="1" dirty="0"/>
              </a:p>
            </p:txBody>
          </p:sp>
        </mc:Choice>
        <mc:Fallback xmlns="">
          <p:sp>
            <p:nvSpPr>
              <p:cNvPr id="4" name="Content Placeholder 3">
                <a:extLst>
                  <a:ext uri="{FF2B5EF4-FFF2-40B4-BE49-F238E27FC236}">
                    <a16:creationId xmlns:a16="http://schemas.microsoft.com/office/drawing/2014/main" id="{0AC45B8A-BAF1-70E4-92CA-B3338234FBD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638"/>
                </a:stretch>
              </a:blipFill>
            </p:spPr>
            <p:txBody>
              <a:bodyPr/>
              <a:lstStyle/>
              <a:p>
                <a:r>
                  <a:rPr lang="en-GB">
                    <a:noFill/>
                  </a:rPr>
                  <a:t> </a:t>
                </a:r>
              </a:p>
            </p:txBody>
          </p:sp>
        </mc:Fallback>
      </mc:AlternateContent>
    </p:spTree>
    <p:extLst>
      <p:ext uri="{BB962C8B-B14F-4D97-AF65-F5344CB8AC3E}">
        <p14:creationId xmlns:p14="http://schemas.microsoft.com/office/powerpoint/2010/main" val="2243523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EFBA5-A002-620F-E5AA-46097DD202C1}"/>
              </a:ext>
            </a:extLst>
          </p:cNvPr>
          <p:cNvSpPr>
            <a:spLocks noGrp="1"/>
          </p:cNvSpPr>
          <p:nvPr>
            <p:ph type="title"/>
          </p:nvPr>
        </p:nvSpPr>
        <p:spPr/>
        <p:txBody>
          <a:bodyPr/>
          <a:lstStyle/>
          <a:p>
            <a:r>
              <a:rPr lang="en-GB" dirty="0"/>
              <a:t>An example FSM for our CFG</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AC45B8A-BAF1-70E4-92CA-B3338234FBD8}"/>
                  </a:ext>
                </a:extLst>
              </p:cNvPr>
              <p:cNvSpPr>
                <a:spLocks noGrp="1"/>
              </p:cNvSpPr>
              <p:nvPr>
                <p:ph idx="1"/>
              </p:nvPr>
            </p:nvSpPr>
            <p:spPr>
              <a:xfrm>
                <a:off x="838200" y="1825624"/>
                <a:ext cx="10515600" cy="5032375"/>
              </a:xfrm>
            </p:spPr>
            <p:txBody>
              <a:bodyPr>
                <a:normAutofit/>
              </a:bodyPr>
              <a:lstStyle/>
              <a:p>
                <a:pPr marL="0" indent="0">
                  <a:buNone/>
                </a:pPr>
                <a:r>
                  <a:rPr lang="en-GB" dirty="0"/>
                  <a:t>Consider our simplified CFG from earlier, below.</a:t>
                </a:r>
              </a:p>
              <a:p>
                <a:pPr marL="0" indent="0" algn="ctr">
                  <a:buNone/>
                </a:pPr>
                <a:r>
                  <a:rPr lang="en-GB" altLang="zh-TW" b="0" dirty="0">
                    <a:ea typeface="新細明體" panose="020B0604030504040204" pitchFamily="18" charset="-120"/>
                  </a:rPr>
                  <a:t>1: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d>
                      <m:dPr>
                        <m:ctrlPr>
                          <a:rPr lang="en-GB" altLang="zh-TW" b="0" i="1" smtClean="0">
                            <a:latin typeface="Cambria Math" panose="02040503050406030204" pitchFamily="18" charset="0"/>
                            <a:ea typeface="新細明體" panose="020B0604030504040204" pitchFamily="18" charset="-120"/>
                          </a:rPr>
                        </m:ctrlPr>
                      </m:dPr>
                      <m:e>
                        <m:r>
                          <a:rPr lang="en-GB" altLang="zh-TW" b="0" i="1" smtClean="0">
                            <a:latin typeface="Cambria Math" panose="02040503050406030204" pitchFamily="18" charset="0"/>
                            <a:ea typeface="新細明體" panose="020B0604030504040204" pitchFamily="18" charset="-120"/>
                          </a:rPr>
                          <m:t>𝐸</m:t>
                        </m:r>
                      </m:e>
                    </m:d>
                  </m:oMath>
                </a14:m>
                <a:endParaRPr lang="en-GB" altLang="zh-TW" b="0" i="1" dirty="0">
                  <a:latin typeface="Cambria Math" panose="02040503050406030204" pitchFamily="18" charset="0"/>
                  <a:ea typeface="新細明體" panose="020B0604030504040204" pitchFamily="18" charset="-120"/>
                </a:endParaRPr>
              </a:p>
              <a:p>
                <a:pPr marL="0" indent="0" algn="ctr">
                  <a:buNone/>
                </a:pPr>
                <a:r>
                  <a:rPr lang="en-GB" altLang="zh-TW" b="0" dirty="0">
                    <a:ea typeface="新細明體" panose="020B0604030504040204" pitchFamily="18" charset="-120"/>
                  </a:rPr>
                  <a:t>2: </a:t>
                </a:r>
                <a14:m>
                  <m:oMath xmlns:m="http://schemas.openxmlformats.org/officeDocument/2006/math">
                    <m:r>
                      <a:rPr lang="en-GB" altLang="zh-TW" b="0" i="1" smtClean="0">
                        <a:latin typeface="Cambria Math" panose="02040503050406030204" pitchFamily="18" charset="0"/>
                        <a:ea typeface="新細明體" panose="020B0604030504040204" pitchFamily="18" charset="-120"/>
                      </a:rPr>
                      <m:t>𝐸</m:t>
                    </m:r>
                    <m:r>
                      <a:rPr lang="en-GB" altLang="zh-TW" b="0" i="1" smtClean="0">
                        <a:latin typeface="Cambria Math" panose="02040503050406030204" pitchFamily="18" charset="0"/>
                        <a:ea typeface="新細明體" panose="020B0604030504040204" pitchFamily="18" charset="-120"/>
                      </a:rPr>
                      <m:t>→</m:t>
                    </m:r>
                    <m:r>
                      <a:rPr lang="en-GB" altLang="zh-TW" b="0" i="1" smtClean="0">
                        <a:latin typeface="Cambria Math" panose="02040503050406030204" pitchFamily="18" charset="0"/>
                        <a:ea typeface="新細明體" panose="020B0604030504040204" pitchFamily="18" charset="-120"/>
                      </a:rPr>
                      <m:t>𝑖𝑛𝑡</m:t>
                    </m:r>
                  </m:oMath>
                </a14:m>
                <a:endParaRPr lang="en-GB" dirty="0"/>
              </a:p>
              <a:p>
                <a:pPr marL="0" indent="0">
                  <a:buNone/>
                </a:pPr>
                <a:endParaRPr lang="en-GB" dirty="0"/>
              </a:p>
              <a:p>
                <a:pPr marL="0" indent="0">
                  <a:buNone/>
                </a:pPr>
                <a:r>
                  <a:rPr lang="en-GB" dirty="0"/>
                  <a:t>The FSM hiding behind the predictive parser for our CFG above is…</a:t>
                </a:r>
                <a:br>
                  <a:rPr lang="en-GB" dirty="0"/>
                </a:br>
                <a:r>
                  <a:rPr lang="en-GB" i="1" dirty="0"/>
                  <a:t>(Given on the next slide)</a:t>
                </a:r>
              </a:p>
            </p:txBody>
          </p:sp>
        </mc:Choice>
        <mc:Fallback xmlns="">
          <p:sp>
            <p:nvSpPr>
              <p:cNvPr id="4" name="Content Placeholder 3">
                <a:extLst>
                  <a:ext uri="{FF2B5EF4-FFF2-40B4-BE49-F238E27FC236}">
                    <a16:creationId xmlns:a16="http://schemas.microsoft.com/office/drawing/2014/main" id="{0AC45B8A-BAF1-70E4-92CA-B3338234FBD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15658042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graphicFrame>
        <p:nvGraphicFramePr>
          <p:cNvPr id="79" name="Table 79">
            <a:extLst>
              <a:ext uri="{FF2B5EF4-FFF2-40B4-BE49-F238E27FC236}">
                <a16:creationId xmlns:a16="http://schemas.microsoft.com/office/drawing/2014/main" id="{E7FF2298-71FC-BA50-E3C5-9F30B1975EEA}"/>
              </a:ext>
            </a:extLst>
          </p:cNvPr>
          <p:cNvGraphicFramePr>
            <a:graphicFrameLocks noGrp="1"/>
          </p:cNvGraphicFramePr>
          <p:nvPr>
            <p:extLst>
              <p:ext uri="{D42A27DB-BD31-4B8C-83A1-F6EECF244321}">
                <p14:modId xmlns:p14="http://schemas.microsoft.com/office/powerpoint/2010/main" val="3427590804"/>
              </p:ext>
            </p:extLst>
          </p:nvPr>
        </p:nvGraphicFramePr>
        <p:xfrm>
          <a:off x="7393970" y="218211"/>
          <a:ext cx="4119604" cy="4820920"/>
        </p:xfrm>
        <a:graphic>
          <a:graphicData uri="http://schemas.openxmlformats.org/drawingml/2006/table">
            <a:tbl>
              <a:tblPr firstRow="1" bandRow="1">
                <a:tableStyleId>{073A0DAA-6AF3-43AB-8588-CEC1D06C72B9}</a:tableStyleId>
              </a:tblPr>
              <a:tblGrid>
                <a:gridCol w="869985">
                  <a:extLst>
                    <a:ext uri="{9D8B030D-6E8A-4147-A177-3AD203B41FA5}">
                      <a16:colId xmlns:a16="http://schemas.microsoft.com/office/drawing/2014/main" val="614164779"/>
                    </a:ext>
                  </a:extLst>
                </a:gridCol>
                <a:gridCol w="3249619">
                  <a:extLst>
                    <a:ext uri="{9D8B030D-6E8A-4147-A177-3AD203B41FA5}">
                      <a16:colId xmlns:a16="http://schemas.microsoft.com/office/drawing/2014/main" val="2864973430"/>
                    </a:ext>
                  </a:extLst>
                </a:gridCol>
              </a:tblGrid>
              <a:tr h="370840">
                <a:tc>
                  <a:txBody>
                    <a:bodyPr/>
                    <a:lstStyle/>
                    <a:p>
                      <a:r>
                        <a:rPr lang="en-GB" dirty="0"/>
                        <a:t>State</a:t>
                      </a:r>
                      <a:endParaRPr lang="en-SG" dirty="0"/>
                    </a:p>
                  </a:txBody>
                  <a:tcPr/>
                </a:tc>
                <a:tc>
                  <a:txBody>
                    <a:bodyPr/>
                    <a:lstStyle/>
                    <a:p>
                      <a:r>
                        <a:rPr lang="en-GB" dirty="0"/>
                        <a:t>Parsing action</a:t>
                      </a:r>
                      <a:endParaRPr lang="en-SG" dirty="0"/>
                    </a:p>
                  </a:txBody>
                  <a:tcPr/>
                </a:tc>
                <a:extLst>
                  <a:ext uri="{0D108BD9-81ED-4DB2-BD59-A6C34878D82A}">
                    <a16:rowId xmlns:a16="http://schemas.microsoft.com/office/drawing/2014/main" val="442895917"/>
                  </a:ext>
                </a:extLst>
              </a:tr>
              <a:tr h="370840">
                <a:tc>
                  <a:txBody>
                    <a:bodyPr/>
                    <a:lstStyle/>
                    <a:p>
                      <a:r>
                        <a:rPr lang="en-GB" dirty="0"/>
                        <a:t>0</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2346245086"/>
                  </a:ext>
                </a:extLst>
              </a:tr>
              <a:tr h="370840">
                <a:tc>
                  <a:txBody>
                    <a:bodyPr/>
                    <a:lstStyle/>
                    <a:p>
                      <a:r>
                        <a:rPr lang="en-GB" dirty="0"/>
                        <a:t>1</a:t>
                      </a:r>
                      <a:endParaRPr lang="en-SG" dirty="0"/>
                    </a:p>
                  </a:txBody>
                  <a:tcPr/>
                </a:tc>
                <a:tc>
                  <a:txBody>
                    <a:bodyPr/>
                    <a:lstStyle/>
                    <a:p>
                      <a:r>
                        <a:rPr lang="en-GB" dirty="0"/>
                        <a:t>Reduce using 2 if next is $ or +</a:t>
                      </a:r>
                      <a:endParaRPr lang="en-SG" dirty="0"/>
                    </a:p>
                  </a:txBody>
                  <a:tcPr/>
                </a:tc>
                <a:extLst>
                  <a:ext uri="{0D108BD9-81ED-4DB2-BD59-A6C34878D82A}">
                    <a16:rowId xmlns:a16="http://schemas.microsoft.com/office/drawing/2014/main" val="2843095635"/>
                  </a:ext>
                </a:extLst>
              </a:tr>
              <a:tr h="370840">
                <a:tc>
                  <a:txBody>
                    <a:bodyPr/>
                    <a:lstStyle/>
                    <a:p>
                      <a:r>
                        <a:rPr lang="en-GB" dirty="0"/>
                        <a:t>2</a:t>
                      </a:r>
                      <a:endParaRPr lang="en-SG" dirty="0"/>
                    </a:p>
                  </a:txBody>
                  <a:tcPr/>
                </a:tc>
                <a:tc>
                  <a:txBody>
                    <a:bodyPr/>
                    <a:lstStyle/>
                    <a:p>
                      <a:r>
                        <a:rPr lang="en-GB" dirty="0"/>
                        <a:t>Accept if next is $</a:t>
                      </a:r>
                      <a:endParaRPr lang="en-SG" dirty="0"/>
                    </a:p>
                  </a:txBody>
                  <a:tcPr/>
                </a:tc>
                <a:extLst>
                  <a:ext uri="{0D108BD9-81ED-4DB2-BD59-A6C34878D82A}">
                    <a16:rowId xmlns:a16="http://schemas.microsoft.com/office/drawing/2014/main" val="4045205624"/>
                  </a:ext>
                </a:extLst>
              </a:tr>
              <a:tr h="370840">
                <a:tc>
                  <a:txBody>
                    <a:bodyPr/>
                    <a:lstStyle/>
                    <a:p>
                      <a:r>
                        <a:rPr lang="en-GB" dirty="0"/>
                        <a:t>3</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405004427"/>
                  </a:ext>
                </a:extLst>
              </a:tr>
              <a:tr h="370840">
                <a:tc>
                  <a:txBody>
                    <a:bodyPr/>
                    <a:lstStyle/>
                    <a:p>
                      <a:r>
                        <a:rPr lang="en-GB" dirty="0"/>
                        <a:t>4</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1798644464"/>
                  </a:ext>
                </a:extLst>
              </a:tr>
              <a:tr h="370840">
                <a:tc>
                  <a:txBody>
                    <a:bodyPr/>
                    <a:lstStyle/>
                    <a:p>
                      <a:r>
                        <a:rPr lang="en-GB" dirty="0"/>
                        <a:t>5</a:t>
                      </a:r>
                      <a:endParaRPr lang="en-SG" dirty="0"/>
                    </a:p>
                  </a:txBody>
                  <a:tcPr/>
                </a:tc>
                <a:tc>
                  <a:txBody>
                    <a:bodyPr/>
                    <a:lstStyle/>
                    <a:p>
                      <a:r>
                        <a:rPr lang="en-GB" dirty="0"/>
                        <a:t>Reduce using 2 if next is ) or +</a:t>
                      </a:r>
                      <a:endParaRPr lang="en-SG" dirty="0"/>
                    </a:p>
                  </a:txBody>
                  <a:tcPr/>
                </a:tc>
                <a:extLst>
                  <a:ext uri="{0D108BD9-81ED-4DB2-BD59-A6C34878D82A}">
                    <a16:rowId xmlns:a16="http://schemas.microsoft.com/office/drawing/2014/main" val="270232810"/>
                  </a:ext>
                </a:extLst>
              </a:tr>
              <a:tr h="370840">
                <a:tc>
                  <a:txBody>
                    <a:bodyPr/>
                    <a:lstStyle/>
                    <a:p>
                      <a:r>
                        <a:rPr lang="en-GB" dirty="0"/>
                        <a:t>6</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1634531086"/>
                  </a:ext>
                </a:extLst>
              </a:tr>
              <a:tr h="370840">
                <a:tc>
                  <a:txBody>
                    <a:bodyPr/>
                    <a:lstStyle/>
                    <a:p>
                      <a:r>
                        <a:rPr lang="en-GB" dirty="0"/>
                        <a:t>7</a:t>
                      </a:r>
                      <a:endParaRPr lang="en-SG" dirty="0"/>
                    </a:p>
                  </a:txBody>
                  <a:tcPr/>
                </a:tc>
                <a:tc>
                  <a:txBody>
                    <a:bodyPr/>
                    <a:lstStyle/>
                    <a:p>
                      <a:r>
                        <a:rPr lang="en-GB" dirty="0"/>
                        <a:t>Reduce using 1 if next is  $ or +</a:t>
                      </a:r>
                      <a:endParaRPr lang="en-SG" dirty="0"/>
                    </a:p>
                  </a:txBody>
                  <a:tcPr/>
                </a:tc>
                <a:extLst>
                  <a:ext uri="{0D108BD9-81ED-4DB2-BD59-A6C34878D82A}">
                    <a16:rowId xmlns:a16="http://schemas.microsoft.com/office/drawing/2014/main" val="3099736908"/>
                  </a:ext>
                </a:extLst>
              </a:tr>
              <a:tr h="370840">
                <a:tc>
                  <a:txBody>
                    <a:bodyPr/>
                    <a:lstStyle/>
                    <a:p>
                      <a:r>
                        <a:rPr lang="en-GB" dirty="0"/>
                        <a:t>8</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3985765061"/>
                  </a:ext>
                </a:extLst>
              </a:tr>
              <a:tr h="370840">
                <a:tc>
                  <a:txBody>
                    <a:bodyPr/>
                    <a:lstStyle/>
                    <a:p>
                      <a:r>
                        <a:rPr lang="en-GB" dirty="0"/>
                        <a:t>9</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4101723648"/>
                  </a:ext>
                </a:extLst>
              </a:tr>
              <a:tr h="370840">
                <a:tc>
                  <a:txBody>
                    <a:bodyPr/>
                    <a:lstStyle/>
                    <a:p>
                      <a:r>
                        <a:rPr lang="en-GB" dirty="0"/>
                        <a:t>10</a:t>
                      </a:r>
                      <a:endParaRPr lang="en-SG" dirty="0"/>
                    </a:p>
                  </a:txBody>
                  <a:tcPr/>
                </a:tc>
                <a:tc>
                  <a:txBody>
                    <a:bodyPr/>
                    <a:lstStyle/>
                    <a:p>
                      <a:r>
                        <a:rPr lang="en-GB" dirty="0"/>
                        <a:t>Shift</a:t>
                      </a:r>
                      <a:endParaRPr lang="en-SG" dirty="0"/>
                    </a:p>
                  </a:txBody>
                  <a:tcPr/>
                </a:tc>
                <a:extLst>
                  <a:ext uri="{0D108BD9-81ED-4DB2-BD59-A6C34878D82A}">
                    <a16:rowId xmlns:a16="http://schemas.microsoft.com/office/drawing/2014/main" val="682534475"/>
                  </a:ext>
                </a:extLst>
              </a:tr>
              <a:tr h="370840">
                <a:tc>
                  <a:txBody>
                    <a:bodyPr/>
                    <a:lstStyle/>
                    <a:p>
                      <a:r>
                        <a:rPr lang="en-GB" dirty="0"/>
                        <a:t>11</a:t>
                      </a:r>
                      <a:endParaRPr lang="en-SG" dirty="0"/>
                    </a:p>
                  </a:txBody>
                  <a:tcPr/>
                </a:tc>
                <a:tc>
                  <a:txBody>
                    <a:bodyPr/>
                    <a:lstStyle/>
                    <a:p>
                      <a:r>
                        <a:rPr lang="en-GB" dirty="0"/>
                        <a:t>Reduce using 1 is next is ) or +</a:t>
                      </a:r>
                      <a:endParaRPr lang="en-SG" dirty="0"/>
                    </a:p>
                  </a:txBody>
                  <a:tcPr/>
                </a:tc>
                <a:extLst>
                  <a:ext uri="{0D108BD9-81ED-4DB2-BD59-A6C34878D82A}">
                    <a16:rowId xmlns:a16="http://schemas.microsoft.com/office/drawing/2014/main" val="3653965115"/>
                  </a:ext>
                </a:extLst>
              </a:tr>
            </a:tbl>
          </a:graphicData>
        </a:graphic>
      </p:graphicFrame>
      <p:sp>
        <p:nvSpPr>
          <p:cNvPr id="80" name="TextBox 79">
            <a:extLst>
              <a:ext uri="{FF2B5EF4-FFF2-40B4-BE49-F238E27FC236}">
                <a16:creationId xmlns:a16="http://schemas.microsoft.com/office/drawing/2014/main" id="{8409358D-E119-09DA-2C07-24AE6DEF31AE}"/>
              </a:ext>
            </a:extLst>
          </p:cNvPr>
          <p:cNvSpPr txBox="1"/>
          <p:nvPr/>
        </p:nvSpPr>
        <p:spPr>
          <a:xfrm>
            <a:off x="6096000" y="5185782"/>
            <a:ext cx="5939692" cy="1569660"/>
          </a:xfrm>
          <a:prstGeom prst="rect">
            <a:avLst/>
          </a:prstGeom>
          <a:noFill/>
        </p:spPr>
        <p:txBody>
          <a:bodyPr wrap="square" rtlCol="0">
            <a:spAutoFit/>
          </a:bodyPr>
          <a:lstStyle/>
          <a:p>
            <a:r>
              <a:rPr lang="en-GB" sz="2400" b="1" dirty="0"/>
              <a:t>Note: </a:t>
            </a:r>
            <a:r>
              <a:rPr lang="en-GB" sz="2400" dirty="0"/>
              <a:t>shift if reduce condition is not met, if the next symbol after | is not listed. For instance, on state 1, we use reduce if the element after | is $ or +; and shift otherwise.</a:t>
            </a:r>
            <a:endParaRPr lang="en-SG" sz="2400" dirty="0"/>
          </a:p>
        </p:txBody>
      </p:sp>
    </p:spTree>
    <p:extLst>
      <p:ext uri="{BB962C8B-B14F-4D97-AF65-F5344CB8AC3E}">
        <p14:creationId xmlns:p14="http://schemas.microsoft.com/office/powerpoint/2010/main" val="24005369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sp>
        <p:nvSpPr>
          <p:cNvPr id="3" name="TextBox 2">
            <a:extLst>
              <a:ext uri="{FF2B5EF4-FFF2-40B4-BE49-F238E27FC236}">
                <a16:creationId xmlns:a16="http://schemas.microsoft.com/office/drawing/2014/main" id="{5586D6F2-4AD6-E731-EE5A-06D5E8AB26C7}"/>
              </a:ext>
            </a:extLst>
          </p:cNvPr>
          <p:cNvSpPr txBox="1"/>
          <p:nvPr/>
        </p:nvSpPr>
        <p:spPr>
          <a:xfrm>
            <a:off x="6815015" y="1236759"/>
            <a:ext cx="5111259" cy="4247317"/>
          </a:xfrm>
          <a:prstGeom prst="rect">
            <a:avLst/>
          </a:prstGeom>
          <a:noFill/>
        </p:spPr>
        <p:txBody>
          <a:bodyPr wrap="square" rtlCol="0">
            <a:spAutoFit/>
          </a:bodyPr>
          <a:lstStyle/>
          <a:p>
            <a:r>
              <a:rPr lang="en-GB" dirty="0">
                <a:solidFill>
                  <a:srgbClr val="FF0000"/>
                </a:solidFill>
              </a:rPr>
              <a:t>|</a:t>
            </a:r>
            <a:r>
              <a:rPr lang="en-GB" dirty="0"/>
              <a:t>int + (int) + (int)$            [0, shift]</a:t>
            </a:r>
          </a:p>
          <a:p>
            <a:r>
              <a:rPr lang="en-GB" dirty="0"/>
              <a:t>int </a:t>
            </a:r>
            <a:r>
              <a:rPr lang="en-GB" dirty="0">
                <a:solidFill>
                  <a:srgbClr val="FF0000"/>
                </a:solidFill>
              </a:rPr>
              <a:t>|</a:t>
            </a:r>
            <a:r>
              <a:rPr lang="en-GB" dirty="0"/>
              <a:t> + (int) + (int)$           [01, reduce using 2]</a:t>
            </a:r>
          </a:p>
          <a:p>
            <a:r>
              <a:rPr lang="en-GB" dirty="0"/>
              <a:t>E </a:t>
            </a:r>
            <a:r>
              <a:rPr lang="en-GB" dirty="0">
                <a:solidFill>
                  <a:srgbClr val="FF0000"/>
                </a:solidFill>
              </a:rPr>
              <a:t>|</a:t>
            </a:r>
            <a:r>
              <a:rPr lang="en-GB" dirty="0"/>
              <a:t> + (int) + (int)$              [02, shift]</a:t>
            </a:r>
          </a:p>
          <a:p>
            <a:r>
              <a:rPr lang="en-GB" dirty="0"/>
              <a:t>E +</a:t>
            </a:r>
            <a:r>
              <a:rPr lang="en-GB" dirty="0">
                <a:solidFill>
                  <a:srgbClr val="FF0000"/>
                </a:solidFill>
              </a:rPr>
              <a:t>|</a:t>
            </a:r>
            <a:r>
              <a:rPr lang="en-GB" dirty="0"/>
              <a:t> (int) + (int)$               [023, shift]</a:t>
            </a:r>
          </a:p>
          <a:p>
            <a:r>
              <a:rPr lang="en-GB" dirty="0"/>
              <a:t>E + (</a:t>
            </a:r>
            <a:r>
              <a:rPr lang="en-GB" dirty="0">
                <a:solidFill>
                  <a:srgbClr val="FF0000"/>
                </a:solidFill>
              </a:rPr>
              <a:t>|</a:t>
            </a:r>
            <a:r>
              <a:rPr lang="en-GB" dirty="0"/>
              <a:t>int) + (int)$               [0234, shift]</a:t>
            </a:r>
            <a:endParaRPr lang="en-SG" dirty="0"/>
          </a:p>
          <a:p>
            <a:r>
              <a:rPr lang="en-GB" dirty="0"/>
              <a:t>E + (int</a:t>
            </a:r>
            <a:r>
              <a:rPr lang="en-GB" dirty="0">
                <a:solidFill>
                  <a:srgbClr val="FF0000"/>
                </a:solidFill>
              </a:rPr>
              <a:t>|</a:t>
            </a:r>
            <a:r>
              <a:rPr lang="en-GB" dirty="0"/>
              <a:t>) + (int)$               [02345, reduce using 2]</a:t>
            </a:r>
            <a:endParaRPr lang="en-SG" dirty="0"/>
          </a:p>
          <a:p>
            <a:r>
              <a:rPr lang="en-GB" dirty="0"/>
              <a:t>E + (E</a:t>
            </a:r>
            <a:r>
              <a:rPr lang="en-GB" dirty="0">
                <a:solidFill>
                  <a:srgbClr val="FF0000"/>
                </a:solidFill>
              </a:rPr>
              <a:t>|</a:t>
            </a:r>
            <a:r>
              <a:rPr lang="en-GB" dirty="0"/>
              <a:t>) + (int)$                 [02346, shift]</a:t>
            </a:r>
            <a:endParaRPr lang="en-SG" dirty="0"/>
          </a:p>
          <a:p>
            <a:r>
              <a:rPr lang="en-GB" dirty="0"/>
              <a:t>E + (E)</a:t>
            </a:r>
            <a:r>
              <a:rPr lang="en-GB" dirty="0">
                <a:solidFill>
                  <a:srgbClr val="FF0000"/>
                </a:solidFill>
              </a:rPr>
              <a:t>|</a:t>
            </a:r>
            <a:r>
              <a:rPr lang="en-GB" dirty="0"/>
              <a:t> + (int)$                 [023467, reduce using 1]</a:t>
            </a:r>
            <a:endParaRPr lang="en-SG" dirty="0"/>
          </a:p>
          <a:p>
            <a:r>
              <a:rPr lang="en-GB" dirty="0"/>
              <a:t>E</a:t>
            </a:r>
            <a:r>
              <a:rPr lang="en-GB" dirty="0">
                <a:solidFill>
                  <a:srgbClr val="FF0000"/>
                </a:solidFill>
              </a:rPr>
              <a:t>|</a:t>
            </a:r>
            <a:r>
              <a:rPr lang="en-GB" dirty="0"/>
              <a:t> + (int)$                          [02, shift]</a:t>
            </a:r>
            <a:endParaRPr lang="en-SG" dirty="0"/>
          </a:p>
          <a:p>
            <a:r>
              <a:rPr lang="en-GB" dirty="0"/>
              <a:t>E+</a:t>
            </a:r>
            <a:r>
              <a:rPr lang="en-GB" dirty="0">
                <a:solidFill>
                  <a:srgbClr val="FF0000"/>
                </a:solidFill>
              </a:rPr>
              <a:t>|</a:t>
            </a:r>
            <a:r>
              <a:rPr lang="en-GB" dirty="0"/>
              <a:t> (int)$                           [023, shift]</a:t>
            </a:r>
            <a:endParaRPr lang="en-SG" dirty="0"/>
          </a:p>
          <a:p>
            <a:r>
              <a:rPr lang="en-GB" dirty="0"/>
              <a:t>E+(</a:t>
            </a:r>
            <a:r>
              <a:rPr lang="en-GB" dirty="0">
                <a:solidFill>
                  <a:srgbClr val="FF0000"/>
                </a:solidFill>
              </a:rPr>
              <a:t>|</a:t>
            </a:r>
            <a:r>
              <a:rPr lang="en-GB" dirty="0"/>
              <a:t>int)$                            [0234, shift]</a:t>
            </a:r>
            <a:endParaRPr lang="en-SG" dirty="0"/>
          </a:p>
          <a:p>
            <a:r>
              <a:rPr lang="en-GB" dirty="0"/>
              <a:t>E+(int</a:t>
            </a:r>
            <a:r>
              <a:rPr lang="en-GB" dirty="0">
                <a:solidFill>
                  <a:srgbClr val="FF0000"/>
                </a:solidFill>
              </a:rPr>
              <a:t>|</a:t>
            </a:r>
            <a:r>
              <a:rPr lang="en-GB" dirty="0"/>
              <a:t>)$                            [02345, reduce using 1]</a:t>
            </a:r>
            <a:endParaRPr lang="en-SG" dirty="0"/>
          </a:p>
          <a:p>
            <a:r>
              <a:rPr lang="en-GB" dirty="0"/>
              <a:t>E+(E</a:t>
            </a:r>
            <a:r>
              <a:rPr lang="en-GB" dirty="0">
                <a:solidFill>
                  <a:srgbClr val="FF0000"/>
                </a:solidFill>
              </a:rPr>
              <a:t>|</a:t>
            </a:r>
            <a:r>
              <a:rPr lang="en-GB" dirty="0"/>
              <a:t>)$                              [02346, shift]</a:t>
            </a:r>
            <a:endParaRPr lang="en-SG" dirty="0"/>
          </a:p>
          <a:p>
            <a:r>
              <a:rPr lang="en-GB" dirty="0"/>
              <a:t>E+(E)</a:t>
            </a:r>
            <a:r>
              <a:rPr lang="en-GB" dirty="0">
                <a:solidFill>
                  <a:srgbClr val="FF0000"/>
                </a:solidFill>
              </a:rPr>
              <a:t>|</a:t>
            </a:r>
            <a:r>
              <a:rPr lang="en-GB" dirty="0"/>
              <a:t>$                              [023467, reduce using 1]</a:t>
            </a:r>
            <a:endParaRPr lang="en-SG" dirty="0"/>
          </a:p>
          <a:p>
            <a:r>
              <a:rPr lang="en-GB" dirty="0"/>
              <a:t>E</a:t>
            </a:r>
            <a:r>
              <a:rPr lang="en-GB" dirty="0">
                <a:solidFill>
                  <a:srgbClr val="FF0000"/>
                </a:solidFill>
              </a:rPr>
              <a:t>|</a:t>
            </a:r>
            <a:r>
              <a:rPr lang="en-GB" dirty="0"/>
              <a:t>$                                     [02, accept]</a:t>
            </a:r>
            <a:endParaRPr lang="en-SG" dirty="0"/>
          </a:p>
        </p:txBody>
      </p:sp>
      <p:sp>
        <p:nvSpPr>
          <p:cNvPr id="6" name="TextBox 5">
            <a:extLst>
              <a:ext uri="{FF2B5EF4-FFF2-40B4-BE49-F238E27FC236}">
                <a16:creationId xmlns:a16="http://schemas.microsoft.com/office/drawing/2014/main" id="{52554576-5EF5-EBA0-4DAC-897080C6319E}"/>
              </a:ext>
            </a:extLst>
          </p:cNvPr>
          <p:cNvSpPr txBox="1"/>
          <p:nvPr/>
        </p:nvSpPr>
        <p:spPr>
          <a:xfrm>
            <a:off x="6817158" y="185595"/>
            <a:ext cx="5109116" cy="954107"/>
          </a:xfrm>
          <a:prstGeom prst="rect">
            <a:avLst/>
          </a:prstGeom>
          <a:noFill/>
        </p:spPr>
        <p:txBody>
          <a:bodyPr wrap="square" rtlCol="0">
            <a:spAutoFit/>
          </a:bodyPr>
          <a:lstStyle/>
          <a:p>
            <a:r>
              <a:rPr lang="en-GB" sz="2800" dirty="0"/>
              <a:t>Let us try it on the string</a:t>
            </a:r>
            <a:br>
              <a:rPr lang="en-GB" sz="2800" dirty="0"/>
            </a:br>
            <a:r>
              <a:rPr lang="en-GB" sz="2800" dirty="0"/>
              <a:t>int + (int) + (int)!</a:t>
            </a:r>
            <a:endParaRPr lang="en-SG" sz="2800" dirty="0"/>
          </a:p>
        </p:txBody>
      </p:sp>
      <p:sp>
        <p:nvSpPr>
          <p:cNvPr id="18" name="TextBox 17">
            <a:extLst>
              <a:ext uri="{FF2B5EF4-FFF2-40B4-BE49-F238E27FC236}">
                <a16:creationId xmlns:a16="http://schemas.microsoft.com/office/drawing/2014/main" id="{6281F2A2-AC3A-2614-40AD-7F19797AC5E7}"/>
              </a:ext>
            </a:extLst>
          </p:cNvPr>
          <p:cNvSpPr txBox="1"/>
          <p:nvPr/>
        </p:nvSpPr>
        <p:spPr>
          <a:xfrm>
            <a:off x="6267938" y="5581133"/>
            <a:ext cx="5627628" cy="954107"/>
          </a:xfrm>
          <a:prstGeom prst="rect">
            <a:avLst/>
          </a:prstGeom>
          <a:noFill/>
        </p:spPr>
        <p:txBody>
          <a:bodyPr wrap="square" rtlCol="0">
            <a:spAutoFit/>
          </a:bodyPr>
          <a:lstStyle/>
          <a:p>
            <a:r>
              <a:rPr lang="en-GB" sz="2800" dirty="0"/>
              <a:t>That works, first try, and did not have to branch and backtrack either!</a:t>
            </a:r>
            <a:endParaRPr lang="en-SG" sz="2800" dirty="0"/>
          </a:p>
        </p:txBody>
      </p:sp>
      <p:pic>
        <p:nvPicPr>
          <p:cNvPr id="21" name="Picture 20">
            <a:extLst>
              <a:ext uri="{FF2B5EF4-FFF2-40B4-BE49-F238E27FC236}">
                <a16:creationId xmlns:a16="http://schemas.microsoft.com/office/drawing/2014/main" id="{5B3DC6C1-47DC-C03B-C479-B53FB12A70D0}"/>
              </a:ext>
            </a:extLst>
          </p:cNvPr>
          <p:cNvPicPr>
            <a:picLocks noChangeAspect="1"/>
          </p:cNvPicPr>
          <p:nvPr/>
        </p:nvPicPr>
        <p:blipFill>
          <a:blip r:embed="rId2"/>
          <a:stretch>
            <a:fillRect/>
          </a:stretch>
        </p:blipFill>
        <p:spPr>
          <a:xfrm>
            <a:off x="4410251" y="-12952"/>
            <a:ext cx="2281063" cy="2715869"/>
          </a:xfrm>
          <a:prstGeom prst="rect">
            <a:avLst/>
          </a:prstGeom>
        </p:spPr>
      </p:pic>
    </p:spTree>
    <p:extLst>
      <p:ext uri="{BB962C8B-B14F-4D97-AF65-F5344CB8AC3E}">
        <p14:creationId xmlns:p14="http://schemas.microsoft.com/office/powerpoint/2010/main" val="36155564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DE93FC60-BCAC-714D-E196-43477CF4FBBE}"/>
              </a:ext>
            </a:extLst>
          </p:cNvPr>
          <p:cNvSpPr/>
          <p:nvPr/>
        </p:nvSpPr>
        <p:spPr>
          <a:xfrm>
            <a:off x="1185492"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0</a:t>
            </a:r>
            <a:endParaRPr lang="en-SG" b="1" dirty="0">
              <a:solidFill>
                <a:schemeClr val="bg1"/>
              </a:solidFill>
            </a:endParaRPr>
          </a:p>
        </p:txBody>
      </p:sp>
      <p:cxnSp>
        <p:nvCxnSpPr>
          <p:cNvPr id="5" name="Straight Arrow Connector 4">
            <a:extLst>
              <a:ext uri="{FF2B5EF4-FFF2-40B4-BE49-F238E27FC236}">
                <a16:creationId xmlns:a16="http://schemas.microsoft.com/office/drawing/2014/main" id="{FF33A424-2E53-2DD9-494D-144E891E05C3}"/>
              </a:ext>
            </a:extLst>
          </p:cNvPr>
          <p:cNvCxnSpPr>
            <a:cxnSpLocks/>
            <a:stCxn id="14" idx="1"/>
            <a:endCxn id="15" idx="4"/>
          </p:cNvCxnSpPr>
          <p:nvPr/>
        </p:nvCxnSpPr>
        <p:spPr>
          <a:xfrm flipH="1" flipV="1">
            <a:off x="3071570" y="5571532"/>
            <a:ext cx="625641" cy="717156"/>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 name="Oval 6">
            <a:extLst>
              <a:ext uri="{FF2B5EF4-FFF2-40B4-BE49-F238E27FC236}">
                <a16:creationId xmlns:a16="http://schemas.microsoft.com/office/drawing/2014/main" id="{20B9596B-32F0-10BE-EA78-A490BB25126A}"/>
              </a:ext>
            </a:extLst>
          </p:cNvPr>
          <p:cNvSpPr/>
          <p:nvPr/>
        </p:nvSpPr>
        <p:spPr>
          <a:xfrm>
            <a:off x="2834538" y="1147518"/>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1</a:t>
            </a:r>
            <a:endParaRPr lang="en-SG" b="1" dirty="0">
              <a:solidFill>
                <a:schemeClr val="bg1"/>
              </a:solidFill>
            </a:endParaRPr>
          </a:p>
        </p:txBody>
      </p:sp>
      <p:sp>
        <p:nvSpPr>
          <p:cNvPr id="8" name="Oval 7">
            <a:extLst>
              <a:ext uri="{FF2B5EF4-FFF2-40B4-BE49-F238E27FC236}">
                <a16:creationId xmlns:a16="http://schemas.microsoft.com/office/drawing/2014/main" id="{6BEEB133-EC75-7CAD-34AD-6F068C4F22CC}"/>
              </a:ext>
            </a:extLst>
          </p:cNvPr>
          <p:cNvSpPr/>
          <p:nvPr/>
        </p:nvSpPr>
        <p:spPr>
          <a:xfrm>
            <a:off x="317985"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2</a:t>
            </a:r>
            <a:endParaRPr lang="en-SG" b="1" dirty="0">
              <a:solidFill>
                <a:schemeClr val="bg1"/>
              </a:solidFill>
            </a:endParaRPr>
          </a:p>
        </p:txBody>
      </p:sp>
      <p:sp>
        <p:nvSpPr>
          <p:cNvPr id="9" name="Oval 8">
            <a:extLst>
              <a:ext uri="{FF2B5EF4-FFF2-40B4-BE49-F238E27FC236}">
                <a16:creationId xmlns:a16="http://schemas.microsoft.com/office/drawing/2014/main" id="{656BA4F0-C34C-E31A-9AAC-5448B7397A22}"/>
              </a:ext>
            </a:extLst>
          </p:cNvPr>
          <p:cNvSpPr/>
          <p:nvPr/>
        </p:nvSpPr>
        <p:spPr>
          <a:xfrm>
            <a:off x="1896693"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3</a:t>
            </a:r>
            <a:endParaRPr lang="en-SG" b="1" dirty="0">
              <a:solidFill>
                <a:schemeClr val="bg1"/>
              </a:solidFill>
            </a:endParaRPr>
          </a:p>
        </p:txBody>
      </p:sp>
      <p:sp>
        <p:nvSpPr>
          <p:cNvPr id="10" name="Oval 9">
            <a:extLst>
              <a:ext uri="{FF2B5EF4-FFF2-40B4-BE49-F238E27FC236}">
                <a16:creationId xmlns:a16="http://schemas.microsoft.com/office/drawing/2014/main" id="{8C61E95E-E013-8FF7-598E-5600F1E37CEE}"/>
              </a:ext>
            </a:extLst>
          </p:cNvPr>
          <p:cNvSpPr/>
          <p:nvPr/>
        </p:nvSpPr>
        <p:spPr>
          <a:xfrm>
            <a:off x="3697211" y="23586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4</a:t>
            </a:r>
            <a:endParaRPr lang="en-SG" b="1" dirty="0">
              <a:solidFill>
                <a:schemeClr val="bg1"/>
              </a:solidFill>
            </a:endParaRPr>
          </a:p>
        </p:txBody>
      </p:sp>
      <p:sp>
        <p:nvSpPr>
          <p:cNvPr id="11" name="Oval 10">
            <a:extLst>
              <a:ext uri="{FF2B5EF4-FFF2-40B4-BE49-F238E27FC236}">
                <a16:creationId xmlns:a16="http://schemas.microsoft.com/office/drawing/2014/main" id="{9AF4A130-5FEC-D1FA-A501-6A0CDCAC9D7D}"/>
              </a:ext>
            </a:extLst>
          </p:cNvPr>
          <p:cNvSpPr/>
          <p:nvPr/>
        </p:nvSpPr>
        <p:spPr>
          <a:xfrm>
            <a:off x="4577370" y="3679471"/>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5</a:t>
            </a:r>
            <a:endParaRPr lang="en-SG" b="1" dirty="0">
              <a:solidFill>
                <a:schemeClr val="bg1"/>
              </a:solidFill>
            </a:endParaRPr>
          </a:p>
        </p:txBody>
      </p:sp>
      <p:sp>
        <p:nvSpPr>
          <p:cNvPr id="12" name="Oval 11">
            <a:extLst>
              <a:ext uri="{FF2B5EF4-FFF2-40B4-BE49-F238E27FC236}">
                <a16:creationId xmlns:a16="http://schemas.microsoft.com/office/drawing/2014/main" id="{CBF30181-DC60-67FE-9A20-5631AA78DCD0}"/>
              </a:ext>
            </a:extLst>
          </p:cNvPr>
          <p:cNvSpPr/>
          <p:nvPr/>
        </p:nvSpPr>
        <p:spPr>
          <a:xfrm>
            <a:off x="45773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9</a:t>
            </a:r>
            <a:endParaRPr lang="en-SG" b="1" dirty="0">
              <a:solidFill>
                <a:schemeClr val="bg1"/>
              </a:solidFill>
            </a:endParaRPr>
          </a:p>
        </p:txBody>
      </p:sp>
      <p:sp>
        <p:nvSpPr>
          <p:cNvPr id="13" name="Oval 12">
            <a:extLst>
              <a:ext uri="{FF2B5EF4-FFF2-40B4-BE49-F238E27FC236}">
                <a16:creationId xmlns:a16="http://schemas.microsoft.com/office/drawing/2014/main" id="{1B0EAA78-8D06-5030-E851-FFEB6419BD81}"/>
              </a:ext>
            </a:extLst>
          </p:cNvPr>
          <p:cNvSpPr/>
          <p:nvPr/>
        </p:nvSpPr>
        <p:spPr>
          <a:xfrm>
            <a:off x="5241676" y="6086609"/>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11</a:t>
            </a:r>
            <a:endParaRPr lang="en-SG" sz="1400" b="1" dirty="0">
              <a:solidFill>
                <a:schemeClr val="bg1"/>
              </a:solidFill>
            </a:endParaRPr>
          </a:p>
        </p:txBody>
      </p:sp>
      <p:sp>
        <p:nvSpPr>
          <p:cNvPr id="14" name="Oval 13">
            <a:extLst>
              <a:ext uri="{FF2B5EF4-FFF2-40B4-BE49-F238E27FC236}">
                <a16:creationId xmlns:a16="http://schemas.microsoft.com/office/drawing/2014/main" id="{6633B111-A8FA-8C35-4D42-845A7CF3B8F7}"/>
              </a:ext>
            </a:extLst>
          </p:cNvPr>
          <p:cNvSpPr/>
          <p:nvPr/>
        </p:nvSpPr>
        <p:spPr>
          <a:xfrm>
            <a:off x="3618130" y="6209607"/>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sz="1400" b="1" dirty="0">
                <a:solidFill>
                  <a:schemeClr val="bg1"/>
                </a:solidFill>
              </a:rPr>
              <a:t>10</a:t>
            </a:r>
            <a:endParaRPr lang="en-SG" sz="1400" b="1" dirty="0">
              <a:solidFill>
                <a:schemeClr val="bg1"/>
              </a:solidFill>
            </a:endParaRPr>
          </a:p>
        </p:txBody>
      </p:sp>
      <p:sp>
        <p:nvSpPr>
          <p:cNvPr id="15" name="Oval 14">
            <a:extLst>
              <a:ext uri="{FF2B5EF4-FFF2-40B4-BE49-F238E27FC236}">
                <a16:creationId xmlns:a16="http://schemas.microsoft.com/office/drawing/2014/main" id="{90260FC2-92F3-0F38-0B0A-922F012B5AFA}"/>
              </a:ext>
            </a:extLst>
          </p:cNvPr>
          <p:cNvSpPr/>
          <p:nvPr/>
        </p:nvSpPr>
        <p:spPr>
          <a:xfrm>
            <a:off x="2801570" y="5031532"/>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8</a:t>
            </a:r>
            <a:endParaRPr lang="en-SG" b="1" dirty="0">
              <a:solidFill>
                <a:schemeClr val="bg1"/>
              </a:solidFill>
            </a:endParaRPr>
          </a:p>
        </p:txBody>
      </p:sp>
      <p:sp>
        <p:nvSpPr>
          <p:cNvPr id="16" name="Oval 15">
            <a:extLst>
              <a:ext uri="{FF2B5EF4-FFF2-40B4-BE49-F238E27FC236}">
                <a16:creationId xmlns:a16="http://schemas.microsoft.com/office/drawing/2014/main" id="{F96B1A65-9722-213B-9B3D-3345C07E5C1B}"/>
              </a:ext>
            </a:extLst>
          </p:cNvPr>
          <p:cNvSpPr/>
          <p:nvPr/>
        </p:nvSpPr>
        <p:spPr>
          <a:xfrm>
            <a:off x="1896693" y="3894394"/>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6</a:t>
            </a:r>
            <a:endParaRPr lang="en-SG" b="1" dirty="0">
              <a:solidFill>
                <a:schemeClr val="bg1"/>
              </a:solidFill>
            </a:endParaRPr>
          </a:p>
        </p:txBody>
      </p:sp>
      <p:sp>
        <p:nvSpPr>
          <p:cNvPr id="17" name="Oval 16">
            <a:extLst>
              <a:ext uri="{FF2B5EF4-FFF2-40B4-BE49-F238E27FC236}">
                <a16:creationId xmlns:a16="http://schemas.microsoft.com/office/drawing/2014/main" id="{C400C11B-540E-F413-C7EE-79E53D76CCE7}"/>
              </a:ext>
            </a:extLst>
          </p:cNvPr>
          <p:cNvSpPr/>
          <p:nvPr/>
        </p:nvSpPr>
        <p:spPr>
          <a:xfrm>
            <a:off x="322386" y="4840055"/>
            <a:ext cx="540000" cy="54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7</a:t>
            </a:r>
            <a:endParaRPr lang="en-SG" b="1" dirty="0">
              <a:solidFill>
                <a:schemeClr val="bg1"/>
              </a:solidFill>
            </a:endParaRPr>
          </a:p>
        </p:txBody>
      </p:sp>
      <p:cxnSp>
        <p:nvCxnSpPr>
          <p:cNvPr id="19" name="Straight Arrow Connector 18">
            <a:extLst>
              <a:ext uri="{FF2B5EF4-FFF2-40B4-BE49-F238E27FC236}">
                <a16:creationId xmlns:a16="http://schemas.microsoft.com/office/drawing/2014/main" id="{3790C15F-8EDA-60E1-F643-4352099B1420}"/>
              </a:ext>
            </a:extLst>
          </p:cNvPr>
          <p:cNvCxnSpPr>
            <a:cxnSpLocks/>
          </p:cNvCxnSpPr>
          <p:nvPr/>
        </p:nvCxnSpPr>
        <p:spPr>
          <a:xfrm>
            <a:off x="587985" y="289169"/>
            <a:ext cx="717184" cy="858349"/>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cxnSp>
        <p:nvCxnSpPr>
          <p:cNvPr id="22" name="Straight Arrow Connector 21">
            <a:extLst>
              <a:ext uri="{FF2B5EF4-FFF2-40B4-BE49-F238E27FC236}">
                <a16:creationId xmlns:a16="http://schemas.microsoft.com/office/drawing/2014/main" id="{08E4BE0D-34D4-81B4-FB5E-EFA811FE7846}"/>
              </a:ext>
            </a:extLst>
          </p:cNvPr>
          <p:cNvCxnSpPr>
            <a:cxnSpLocks/>
            <a:stCxn id="4" idx="6"/>
            <a:endCxn id="7" idx="2"/>
          </p:cNvCxnSpPr>
          <p:nvPr/>
        </p:nvCxnSpPr>
        <p:spPr>
          <a:xfrm>
            <a:off x="1725492" y="1417518"/>
            <a:ext cx="1109046"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ADD4A900-7961-88A4-91DB-3C8038B0E25C}"/>
              </a:ext>
            </a:extLst>
          </p:cNvPr>
          <p:cNvSpPr txBox="1"/>
          <p:nvPr/>
        </p:nvSpPr>
        <p:spPr>
          <a:xfrm>
            <a:off x="1995492" y="1028647"/>
            <a:ext cx="484554" cy="369332"/>
          </a:xfrm>
          <a:prstGeom prst="rect">
            <a:avLst/>
          </a:prstGeom>
          <a:noFill/>
        </p:spPr>
        <p:txBody>
          <a:bodyPr wrap="square" rtlCol="0">
            <a:spAutoFit/>
          </a:bodyPr>
          <a:lstStyle/>
          <a:p>
            <a:r>
              <a:rPr lang="en-GB" dirty="0"/>
              <a:t>int</a:t>
            </a:r>
          </a:p>
        </p:txBody>
      </p:sp>
      <p:cxnSp>
        <p:nvCxnSpPr>
          <p:cNvPr id="27" name="Straight Arrow Connector 26">
            <a:extLst>
              <a:ext uri="{FF2B5EF4-FFF2-40B4-BE49-F238E27FC236}">
                <a16:creationId xmlns:a16="http://schemas.microsoft.com/office/drawing/2014/main" id="{49482D44-4464-E4B8-F286-695AE839F95C}"/>
              </a:ext>
            </a:extLst>
          </p:cNvPr>
          <p:cNvCxnSpPr>
            <a:cxnSpLocks/>
            <a:stCxn id="4" idx="3"/>
            <a:endCxn id="8" idx="0"/>
          </p:cNvCxnSpPr>
          <p:nvPr/>
        </p:nvCxnSpPr>
        <p:spPr>
          <a:xfrm flipH="1">
            <a:off x="587985" y="1608437"/>
            <a:ext cx="676588" cy="750234"/>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2474331-F055-647B-BF32-D3B0278FFC3E}"/>
              </a:ext>
            </a:extLst>
          </p:cNvPr>
          <p:cNvSpPr txBox="1"/>
          <p:nvPr/>
        </p:nvSpPr>
        <p:spPr>
          <a:xfrm>
            <a:off x="553372" y="1574214"/>
            <a:ext cx="484554" cy="369332"/>
          </a:xfrm>
          <a:prstGeom prst="rect">
            <a:avLst/>
          </a:prstGeom>
          <a:noFill/>
        </p:spPr>
        <p:txBody>
          <a:bodyPr wrap="square" rtlCol="0">
            <a:spAutoFit/>
          </a:bodyPr>
          <a:lstStyle/>
          <a:p>
            <a:r>
              <a:rPr lang="en-GB" dirty="0"/>
              <a:t>E</a:t>
            </a:r>
          </a:p>
        </p:txBody>
      </p:sp>
      <p:cxnSp>
        <p:nvCxnSpPr>
          <p:cNvPr id="31" name="Straight Arrow Connector 30">
            <a:extLst>
              <a:ext uri="{FF2B5EF4-FFF2-40B4-BE49-F238E27FC236}">
                <a16:creationId xmlns:a16="http://schemas.microsoft.com/office/drawing/2014/main" id="{3CCC0CC9-BF3E-57B0-2D65-D754AE82D751}"/>
              </a:ext>
            </a:extLst>
          </p:cNvPr>
          <p:cNvCxnSpPr>
            <a:cxnSpLocks/>
            <a:stCxn id="8" idx="6"/>
            <a:endCxn id="9" idx="2"/>
          </p:cNvCxnSpPr>
          <p:nvPr/>
        </p:nvCxnSpPr>
        <p:spPr>
          <a:xfrm>
            <a:off x="857985" y="2628671"/>
            <a:ext cx="103870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DAB2B526-3A49-B76A-96CC-A6CF772555D8}"/>
              </a:ext>
            </a:extLst>
          </p:cNvPr>
          <p:cNvSpPr txBox="1"/>
          <p:nvPr/>
        </p:nvSpPr>
        <p:spPr>
          <a:xfrm>
            <a:off x="1079609" y="2236227"/>
            <a:ext cx="484554" cy="369332"/>
          </a:xfrm>
          <a:prstGeom prst="rect">
            <a:avLst/>
          </a:prstGeom>
          <a:noFill/>
        </p:spPr>
        <p:txBody>
          <a:bodyPr wrap="square" rtlCol="0">
            <a:spAutoFit/>
          </a:bodyPr>
          <a:lstStyle/>
          <a:p>
            <a:r>
              <a:rPr lang="en-GB" dirty="0"/>
              <a:t>+</a:t>
            </a:r>
          </a:p>
        </p:txBody>
      </p:sp>
      <p:cxnSp>
        <p:nvCxnSpPr>
          <p:cNvPr id="35" name="Straight Arrow Connector 34">
            <a:extLst>
              <a:ext uri="{FF2B5EF4-FFF2-40B4-BE49-F238E27FC236}">
                <a16:creationId xmlns:a16="http://schemas.microsoft.com/office/drawing/2014/main" id="{0DFA8C3E-F26F-CA36-D366-AA6489C964CD}"/>
              </a:ext>
            </a:extLst>
          </p:cNvPr>
          <p:cNvCxnSpPr>
            <a:cxnSpLocks/>
            <a:stCxn id="9" idx="6"/>
            <a:endCxn id="10" idx="2"/>
          </p:cNvCxnSpPr>
          <p:nvPr/>
        </p:nvCxnSpPr>
        <p:spPr>
          <a:xfrm>
            <a:off x="2436693" y="2628671"/>
            <a:ext cx="1260518"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81D3ECB-748D-3884-E777-53CB2BF588AE}"/>
              </a:ext>
            </a:extLst>
          </p:cNvPr>
          <p:cNvSpPr txBox="1"/>
          <p:nvPr/>
        </p:nvSpPr>
        <p:spPr>
          <a:xfrm>
            <a:off x="2804115" y="2236227"/>
            <a:ext cx="484554" cy="369332"/>
          </a:xfrm>
          <a:prstGeom prst="rect">
            <a:avLst/>
          </a:prstGeom>
          <a:noFill/>
        </p:spPr>
        <p:txBody>
          <a:bodyPr wrap="square" rtlCol="0">
            <a:spAutoFit/>
          </a:bodyPr>
          <a:lstStyle/>
          <a:p>
            <a:r>
              <a:rPr lang="en-GB" dirty="0"/>
              <a:t>(</a:t>
            </a:r>
          </a:p>
        </p:txBody>
      </p:sp>
      <p:cxnSp>
        <p:nvCxnSpPr>
          <p:cNvPr id="39" name="Straight Arrow Connector 38">
            <a:extLst>
              <a:ext uri="{FF2B5EF4-FFF2-40B4-BE49-F238E27FC236}">
                <a16:creationId xmlns:a16="http://schemas.microsoft.com/office/drawing/2014/main" id="{2A9B852E-24EE-4C2A-14EE-60CCA514AB3C}"/>
              </a:ext>
            </a:extLst>
          </p:cNvPr>
          <p:cNvCxnSpPr>
            <a:cxnSpLocks/>
            <a:stCxn id="10" idx="5"/>
            <a:endCxn id="11" idx="0"/>
          </p:cNvCxnSpPr>
          <p:nvPr/>
        </p:nvCxnSpPr>
        <p:spPr>
          <a:xfrm>
            <a:off x="4158130" y="2819590"/>
            <a:ext cx="689240" cy="85988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0FF17DAB-62CE-76F5-DE84-01C6758BDA44}"/>
              </a:ext>
            </a:extLst>
          </p:cNvPr>
          <p:cNvSpPr txBox="1"/>
          <p:nvPr/>
        </p:nvSpPr>
        <p:spPr>
          <a:xfrm>
            <a:off x="4529081" y="2800057"/>
            <a:ext cx="484554" cy="369332"/>
          </a:xfrm>
          <a:prstGeom prst="rect">
            <a:avLst/>
          </a:prstGeom>
          <a:noFill/>
        </p:spPr>
        <p:txBody>
          <a:bodyPr wrap="square" rtlCol="0">
            <a:spAutoFit/>
          </a:bodyPr>
          <a:lstStyle/>
          <a:p>
            <a:r>
              <a:rPr lang="en-GB" dirty="0"/>
              <a:t>int</a:t>
            </a:r>
          </a:p>
        </p:txBody>
      </p:sp>
      <p:cxnSp>
        <p:nvCxnSpPr>
          <p:cNvPr id="43" name="Straight Arrow Connector 42">
            <a:extLst>
              <a:ext uri="{FF2B5EF4-FFF2-40B4-BE49-F238E27FC236}">
                <a16:creationId xmlns:a16="http://schemas.microsoft.com/office/drawing/2014/main" id="{440F9E87-9085-3CC4-63FA-1E45CBEB3B22}"/>
              </a:ext>
            </a:extLst>
          </p:cNvPr>
          <p:cNvCxnSpPr>
            <a:cxnSpLocks/>
            <a:stCxn id="12" idx="0"/>
            <a:endCxn id="11" idx="4"/>
          </p:cNvCxnSpPr>
          <p:nvPr/>
        </p:nvCxnSpPr>
        <p:spPr>
          <a:xfrm flipV="1">
            <a:off x="4847370" y="4219471"/>
            <a:ext cx="0" cy="812061"/>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46" name="TextBox 45">
            <a:extLst>
              <a:ext uri="{FF2B5EF4-FFF2-40B4-BE49-F238E27FC236}">
                <a16:creationId xmlns:a16="http://schemas.microsoft.com/office/drawing/2014/main" id="{B258B2C5-0600-243B-20A2-03B2DA1DE14B}"/>
              </a:ext>
            </a:extLst>
          </p:cNvPr>
          <p:cNvSpPr txBox="1"/>
          <p:nvPr/>
        </p:nvSpPr>
        <p:spPr>
          <a:xfrm>
            <a:off x="4939389" y="4470723"/>
            <a:ext cx="484554" cy="369332"/>
          </a:xfrm>
          <a:prstGeom prst="rect">
            <a:avLst/>
          </a:prstGeom>
          <a:noFill/>
        </p:spPr>
        <p:txBody>
          <a:bodyPr wrap="square" rtlCol="0">
            <a:spAutoFit/>
          </a:bodyPr>
          <a:lstStyle/>
          <a:p>
            <a:r>
              <a:rPr lang="en-GB" dirty="0"/>
              <a:t>int</a:t>
            </a:r>
          </a:p>
        </p:txBody>
      </p:sp>
      <p:cxnSp>
        <p:nvCxnSpPr>
          <p:cNvPr id="47" name="Straight Arrow Connector 46">
            <a:extLst>
              <a:ext uri="{FF2B5EF4-FFF2-40B4-BE49-F238E27FC236}">
                <a16:creationId xmlns:a16="http://schemas.microsoft.com/office/drawing/2014/main" id="{CECA5852-8DFD-3EAB-D272-92C19B80EDF8}"/>
              </a:ext>
            </a:extLst>
          </p:cNvPr>
          <p:cNvCxnSpPr>
            <a:cxnSpLocks/>
            <a:stCxn id="10" idx="3"/>
            <a:endCxn id="16" idx="7"/>
          </p:cNvCxnSpPr>
          <p:nvPr/>
        </p:nvCxnSpPr>
        <p:spPr>
          <a:xfrm flipH="1">
            <a:off x="2357612" y="2819590"/>
            <a:ext cx="1418680" cy="1153885"/>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39B9FB60-BE7C-FB68-722A-0014FE1C57B4}"/>
              </a:ext>
            </a:extLst>
          </p:cNvPr>
          <p:cNvSpPr txBox="1"/>
          <p:nvPr/>
        </p:nvSpPr>
        <p:spPr>
          <a:xfrm>
            <a:off x="2722142" y="3087277"/>
            <a:ext cx="484554" cy="369332"/>
          </a:xfrm>
          <a:prstGeom prst="rect">
            <a:avLst/>
          </a:prstGeom>
          <a:noFill/>
        </p:spPr>
        <p:txBody>
          <a:bodyPr wrap="square" rtlCol="0">
            <a:spAutoFit/>
          </a:bodyPr>
          <a:lstStyle/>
          <a:p>
            <a:r>
              <a:rPr lang="en-GB" dirty="0"/>
              <a:t>E</a:t>
            </a:r>
          </a:p>
        </p:txBody>
      </p:sp>
      <p:cxnSp>
        <p:nvCxnSpPr>
          <p:cNvPr id="51" name="Straight Arrow Connector 50">
            <a:extLst>
              <a:ext uri="{FF2B5EF4-FFF2-40B4-BE49-F238E27FC236}">
                <a16:creationId xmlns:a16="http://schemas.microsoft.com/office/drawing/2014/main" id="{F2C5F1B9-4FB7-279C-20D6-C3D5D19D4D14}"/>
              </a:ext>
            </a:extLst>
          </p:cNvPr>
          <p:cNvCxnSpPr>
            <a:cxnSpLocks/>
            <a:stCxn id="16" idx="2"/>
            <a:endCxn id="17" idx="7"/>
          </p:cNvCxnSpPr>
          <p:nvPr/>
        </p:nvCxnSpPr>
        <p:spPr>
          <a:xfrm flipH="1">
            <a:off x="783305" y="4164394"/>
            <a:ext cx="1113388" cy="754742"/>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4" name="TextBox 53">
            <a:extLst>
              <a:ext uri="{FF2B5EF4-FFF2-40B4-BE49-F238E27FC236}">
                <a16:creationId xmlns:a16="http://schemas.microsoft.com/office/drawing/2014/main" id="{2059E1DC-446F-C1F0-2A75-933793ECB2C3}"/>
              </a:ext>
            </a:extLst>
          </p:cNvPr>
          <p:cNvSpPr txBox="1"/>
          <p:nvPr/>
        </p:nvSpPr>
        <p:spPr>
          <a:xfrm>
            <a:off x="1202519" y="4070583"/>
            <a:ext cx="484554" cy="369332"/>
          </a:xfrm>
          <a:prstGeom prst="rect">
            <a:avLst/>
          </a:prstGeom>
          <a:noFill/>
        </p:spPr>
        <p:txBody>
          <a:bodyPr wrap="square" rtlCol="0">
            <a:spAutoFit/>
          </a:bodyPr>
          <a:lstStyle/>
          <a:p>
            <a:r>
              <a:rPr lang="en-GB" dirty="0"/>
              <a:t>)</a:t>
            </a:r>
          </a:p>
        </p:txBody>
      </p:sp>
      <p:cxnSp>
        <p:nvCxnSpPr>
          <p:cNvPr id="55" name="Straight Arrow Connector 54">
            <a:extLst>
              <a:ext uri="{FF2B5EF4-FFF2-40B4-BE49-F238E27FC236}">
                <a16:creationId xmlns:a16="http://schemas.microsoft.com/office/drawing/2014/main" id="{C9E16E83-A4F0-1970-50AE-7BF547FFAAFC}"/>
              </a:ext>
            </a:extLst>
          </p:cNvPr>
          <p:cNvCxnSpPr>
            <a:cxnSpLocks/>
            <a:stCxn id="16" idx="5"/>
            <a:endCxn id="15" idx="1"/>
          </p:cNvCxnSpPr>
          <p:nvPr/>
        </p:nvCxnSpPr>
        <p:spPr>
          <a:xfrm>
            <a:off x="2357612" y="4355313"/>
            <a:ext cx="523039" cy="75530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58" name="TextBox 57">
            <a:extLst>
              <a:ext uri="{FF2B5EF4-FFF2-40B4-BE49-F238E27FC236}">
                <a16:creationId xmlns:a16="http://schemas.microsoft.com/office/drawing/2014/main" id="{E49CE201-F407-5DDC-46FF-C46832AA5586}"/>
              </a:ext>
            </a:extLst>
          </p:cNvPr>
          <p:cNvSpPr txBox="1"/>
          <p:nvPr/>
        </p:nvSpPr>
        <p:spPr>
          <a:xfrm>
            <a:off x="2559293" y="4324091"/>
            <a:ext cx="484554" cy="369332"/>
          </a:xfrm>
          <a:prstGeom prst="rect">
            <a:avLst/>
          </a:prstGeom>
          <a:noFill/>
        </p:spPr>
        <p:txBody>
          <a:bodyPr wrap="square" rtlCol="0">
            <a:spAutoFit/>
          </a:bodyPr>
          <a:lstStyle/>
          <a:p>
            <a:r>
              <a:rPr lang="en-GB" dirty="0"/>
              <a:t>+</a:t>
            </a:r>
          </a:p>
        </p:txBody>
      </p:sp>
      <p:cxnSp>
        <p:nvCxnSpPr>
          <p:cNvPr id="59" name="Straight Arrow Connector 58">
            <a:extLst>
              <a:ext uri="{FF2B5EF4-FFF2-40B4-BE49-F238E27FC236}">
                <a16:creationId xmlns:a16="http://schemas.microsoft.com/office/drawing/2014/main" id="{3131201E-C28C-53BC-3E34-E7E6B6BBCDE9}"/>
              </a:ext>
            </a:extLst>
          </p:cNvPr>
          <p:cNvCxnSpPr>
            <a:cxnSpLocks/>
            <a:stCxn id="15" idx="6"/>
            <a:endCxn id="12" idx="2"/>
          </p:cNvCxnSpPr>
          <p:nvPr/>
        </p:nvCxnSpPr>
        <p:spPr>
          <a:xfrm>
            <a:off x="3341570" y="5301532"/>
            <a:ext cx="1235800"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0" name="TextBox 59">
            <a:extLst>
              <a:ext uri="{FF2B5EF4-FFF2-40B4-BE49-F238E27FC236}">
                <a16:creationId xmlns:a16="http://schemas.microsoft.com/office/drawing/2014/main" id="{F46764E1-0F83-A1B8-F040-4BB5B7DC30D3}"/>
              </a:ext>
            </a:extLst>
          </p:cNvPr>
          <p:cNvSpPr txBox="1"/>
          <p:nvPr/>
        </p:nvSpPr>
        <p:spPr>
          <a:xfrm>
            <a:off x="3719559" y="4890078"/>
            <a:ext cx="438572" cy="369332"/>
          </a:xfrm>
          <a:prstGeom prst="rect">
            <a:avLst/>
          </a:prstGeom>
          <a:noFill/>
        </p:spPr>
        <p:txBody>
          <a:bodyPr wrap="square" rtlCol="0">
            <a:spAutoFit/>
          </a:bodyPr>
          <a:lstStyle/>
          <a:p>
            <a:r>
              <a:rPr lang="en-GB" dirty="0"/>
              <a:t>(</a:t>
            </a:r>
          </a:p>
        </p:txBody>
      </p:sp>
      <p:cxnSp>
        <p:nvCxnSpPr>
          <p:cNvPr id="64" name="Straight Arrow Connector 63">
            <a:extLst>
              <a:ext uri="{FF2B5EF4-FFF2-40B4-BE49-F238E27FC236}">
                <a16:creationId xmlns:a16="http://schemas.microsoft.com/office/drawing/2014/main" id="{20235EBE-A7BD-EC54-E544-188149DB6B54}"/>
              </a:ext>
            </a:extLst>
          </p:cNvPr>
          <p:cNvCxnSpPr>
            <a:cxnSpLocks/>
            <a:stCxn id="12" idx="3"/>
            <a:endCxn id="14" idx="7"/>
          </p:cNvCxnSpPr>
          <p:nvPr/>
        </p:nvCxnSpPr>
        <p:spPr>
          <a:xfrm flipH="1">
            <a:off x="4079049" y="5492451"/>
            <a:ext cx="577402" cy="796237"/>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65" name="TextBox 64">
            <a:extLst>
              <a:ext uri="{FF2B5EF4-FFF2-40B4-BE49-F238E27FC236}">
                <a16:creationId xmlns:a16="http://schemas.microsoft.com/office/drawing/2014/main" id="{7A41BE25-CBFF-DFE0-FAEC-BDD97FDCD735}"/>
              </a:ext>
            </a:extLst>
          </p:cNvPr>
          <p:cNvSpPr txBox="1"/>
          <p:nvPr/>
        </p:nvSpPr>
        <p:spPr>
          <a:xfrm>
            <a:off x="4018196" y="5647447"/>
            <a:ext cx="484554" cy="369332"/>
          </a:xfrm>
          <a:prstGeom prst="rect">
            <a:avLst/>
          </a:prstGeom>
          <a:noFill/>
        </p:spPr>
        <p:txBody>
          <a:bodyPr wrap="square" rtlCol="0">
            <a:spAutoFit/>
          </a:bodyPr>
          <a:lstStyle/>
          <a:p>
            <a:r>
              <a:rPr lang="en-GB" dirty="0"/>
              <a:t>E</a:t>
            </a:r>
          </a:p>
        </p:txBody>
      </p:sp>
      <p:cxnSp>
        <p:nvCxnSpPr>
          <p:cNvPr id="71" name="Straight Arrow Connector 70">
            <a:extLst>
              <a:ext uri="{FF2B5EF4-FFF2-40B4-BE49-F238E27FC236}">
                <a16:creationId xmlns:a16="http://schemas.microsoft.com/office/drawing/2014/main" id="{39C878B3-A67D-BF9B-72A9-0DC44A8F417C}"/>
              </a:ext>
            </a:extLst>
          </p:cNvPr>
          <p:cNvCxnSpPr>
            <a:cxnSpLocks/>
            <a:stCxn id="14" idx="6"/>
            <a:endCxn id="13" idx="2"/>
          </p:cNvCxnSpPr>
          <p:nvPr/>
        </p:nvCxnSpPr>
        <p:spPr>
          <a:xfrm flipV="1">
            <a:off x="4158130" y="6356609"/>
            <a:ext cx="1083546" cy="122998"/>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74" name="TextBox 73">
            <a:extLst>
              <a:ext uri="{FF2B5EF4-FFF2-40B4-BE49-F238E27FC236}">
                <a16:creationId xmlns:a16="http://schemas.microsoft.com/office/drawing/2014/main" id="{A5435C6E-DFF0-8598-37DD-F5C1DD159907}"/>
              </a:ext>
            </a:extLst>
          </p:cNvPr>
          <p:cNvSpPr txBox="1"/>
          <p:nvPr/>
        </p:nvSpPr>
        <p:spPr>
          <a:xfrm>
            <a:off x="4597189" y="5999110"/>
            <a:ext cx="484554" cy="369332"/>
          </a:xfrm>
          <a:prstGeom prst="rect">
            <a:avLst/>
          </a:prstGeom>
          <a:noFill/>
        </p:spPr>
        <p:txBody>
          <a:bodyPr wrap="square" rtlCol="0">
            <a:spAutoFit/>
          </a:bodyPr>
          <a:lstStyle/>
          <a:p>
            <a:r>
              <a:rPr lang="en-GB" dirty="0"/>
              <a:t>)</a:t>
            </a:r>
          </a:p>
        </p:txBody>
      </p:sp>
      <p:sp>
        <p:nvSpPr>
          <p:cNvPr id="77" name="TextBox 76">
            <a:extLst>
              <a:ext uri="{FF2B5EF4-FFF2-40B4-BE49-F238E27FC236}">
                <a16:creationId xmlns:a16="http://schemas.microsoft.com/office/drawing/2014/main" id="{403532F3-D291-FA39-326F-1E421E4774E7}"/>
              </a:ext>
            </a:extLst>
          </p:cNvPr>
          <p:cNvSpPr txBox="1"/>
          <p:nvPr/>
        </p:nvSpPr>
        <p:spPr>
          <a:xfrm>
            <a:off x="3053610" y="5890569"/>
            <a:ext cx="484554" cy="369332"/>
          </a:xfrm>
          <a:prstGeom prst="rect">
            <a:avLst/>
          </a:prstGeom>
          <a:noFill/>
        </p:spPr>
        <p:txBody>
          <a:bodyPr wrap="square" rtlCol="0">
            <a:spAutoFit/>
          </a:bodyPr>
          <a:lstStyle/>
          <a:p>
            <a:r>
              <a:rPr lang="en-GB" dirty="0"/>
              <a:t>+</a:t>
            </a:r>
          </a:p>
        </p:txBody>
      </p:sp>
      <p:sp>
        <p:nvSpPr>
          <p:cNvPr id="6" name="TextBox 5">
            <a:extLst>
              <a:ext uri="{FF2B5EF4-FFF2-40B4-BE49-F238E27FC236}">
                <a16:creationId xmlns:a16="http://schemas.microsoft.com/office/drawing/2014/main" id="{52554576-5EF5-EBA0-4DAC-897080C6319E}"/>
              </a:ext>
            </a:extLst>
          </p:cNvPr>
          <p:cNvSpPr txBox="1"/>
          <p:nvPr/>
        </p:nvSpPr>
        <p:spPr>
          <a:xfrm>
            <a:off x="6817158" y="185595"/>
            <a:ext cx="5109116" cy="2677656"/>
          </a:xfrm>
          <a:prstGeom prst="rect">
            <a:avLst/>
          </a:prstGeom>
          <a:noFill/>
        </p:spPr>
        <p:txBody>
          <a:bodyPr wrap="square" rtlCol="0">
            <a:spAutoFit/>
          </a:bodyPr>
          <a:lstStyle/>
          <a:p>
            <a:r>
              <a:rPr lang="en-GB" sz="2800" b="1" dirty="0"/>
              <a:t>Practice: </a:t>
            </a:r>
            <a:r>
              <a:rPr lang="en-GB" sz="2800" dirty="0"/>
              <a:t>What happens with</a:t>
            </a:r>
            <a:br>
              <a:rPr lang="en-GB" sz="2800" dirty="0"/>
            </a:br>
            <a:r>
              <a:rPr lang="en-GB" sz="2800" dirty="0"/>
              <a:t>int + (int + (int))?</a:t>
            </a:r>
          </a:p>
          <a:p>
            <a:endParaRPr lang="en-GB" sz="2800" dirty="0"/>
          </a:p>
          <a:p>
            <a:r>
              <a:rPr lang="en-GB" sz="2800" dirty="0"/>
              <a:t>How about int + int + (int)?</a:t>
            </a:r>
          </a:p>
          <a:p>
            <a:endParaRPr lang="en-GB" sz="2800" dirty="0"/>
          </a:p>
          <a:p>
            <a:r>
              <a:rPr lang="en-GB" sz="2800" b="1" dirty="0"/>
              <a:t>Answer: </a:t>
            </a:r>
            <a:r>
              <a:rPr lang="en-GB" sz="2800" dirty="0"/>
              <a:t>To be shown on board.</a:t>
            </a:r>
            <a:endParaRPr lang="en-SG" sz="2800" dirty="0"/>
          </a:p>
        </p:txBody>
      </p:sp>
      <p:pic>
        <p:nvPicPr>
          <p:cNvPr id="3" name="Picture 2">
            <a:extLst>
              <a:ext uri="{FF2B5EF4-FFF2-40B4-BE49-F238E27FC236}">
                <a16:creationId xmlns:a16="http://schemas.microsoft.com/office/drawing/2014/main" id="{80338B29-7EBE-9E22-41B6-5E3BFBD152C8}"/>
              </a:ext>
            </a:extLst>
          </p:cNvPr>
          <p:cNvPicPr>
            <a:picLocks noChangeAspect="1"/>
          </p:cNvPicPr>
          <p:nvPr/>
        </p:nvPicPr>
        <p:blipFill>
          <a:blip r:embed="rId2"/>
          <a:stretch>
            <a:fillRect/>
          </a:stretch>
        </p:blipFill>
        <p:spPr>
          <a:xfrm>
            <a:off x="4410251" y="-12952"/>
            <a:ext cx="2281063" cy="2715869"/>
          </a:xfrm>
          <a:prstGeom prst="rect">
            <a:avLst/>
          </a:prstGeom>
        </p:spPr>
      </p:pic>
    </p:spTree>
    <p:extLst>
      <p:ext uri="{BB962C8B-B14F-4D97-AF65-F5344CB8AC3E}">
        <p14:creationId xmlns:p14="http://schemas.microsoft.com/office/powerpoint/2010/main" val="29779496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9A2F4-3445-C03D-E080-C44E9028E559}"/>
              </a:ext>
            </a:extLst>
          </p:cNvPr>
          <p:cNvSpPr>
            <a:spLocks noGrp="1"/>
          </p:cNvSpPr>
          <p:nvPr>
            <p:ph type="title"/>
          </p:nvPr>
        </p:nvSpPr>
        <p:spPr/>
        <p:txBody>
          <a:bodyPr/>
          <a:lstStyle/>
          <a:p>
            <a:r>
              <a:rPr lang="en-GB" dirty="0"/>
              <a:t>That is very powerful!</a:t>
            </a:r>
            <a:endParaRPr lang="en-SG" dirty="0"/>
          </a:p>
        </p:txBody>
      </p:sp>
      <p:sp>
        <p:nvSpPr>
          <p:cNvPr id="3" name="Content Placeholder 2">
            <a:extLst>
              <a:ext uri="{FF2B5EF4-FFF2-40B4-BE49-F238E27FC236}">
                <a16:creationId xmlns:a16="http://schemas.microsoft.com/office/drawing/2014/main" id="{90E2A29A-F3E5-3D5F-0784-7EED317BCE88}"/>
              </a:ext>
            </a:extLst>
          </p:cNvPr>
          <p:cNvSpPr>
            <a:spLocks noGrp="1"/>
          </p:cNvSpPr>
          <p:nvPr>
            <p:ph idx="1"/>
          </p:nvPr>
        </p:nvSpPr>
        <p:spPr>
          <a:xfrm>
            <a:off x="838200" y="1825624"/>
            <a:ext cx="10515600" cy="5032375"/>
          </a:xfrm>
        </p:spPr>
        <p:txBody>
          <a:bodyPr/>
          <a:lstStyle/>
          <a:p>
            <a:r>
              <a:rPr lang="en-GB" dirty="0"/>
              <a:t>This parser, whose name would be LR(1) according to our naming convention from earlier,…</a:t>
            </a:r>
          </a:p>
          <a:p>
            <a:r>
              <a:rPr lang="en-GB" dirty="0"/>
              <a:t>…Definitely works for that CFG!</a:t>
            </a:r>
          </a:p>
          <a:p>
            <a:endParaRPr lang="en-GB" dirty="0"/>
          </a:p>
          <a:p>
            <a:pPr marL="0" indent="0">
              <a:buNone/>
            </a:pPr>
            <a:r>
              <a:rPr lang="en-GB" b="1" dirty="0"/>
              <a:t>Several follow-up questions, obviously:</a:t>
            </a:r>
          </a:p>
          <a:p>
            <a:pPr marL="514350" indent="-514350">
              <a:buFont typeface="+mj-lt"/>
              <a:buAutoNum type="arabicPeriod"/>
            </a:pPr>
            <a:r>
              <a:rPr lang="en-GB" dirty="0"/>
              <a:t>How did we come up with the FSM and the FSM state to parsing actions mapping for our LR(1) parser? </a:t>
            </a:r>
          </a:p>
          <a:p>
            <a:pPr marL="514350" indent="-514350">
              <a:buFont typeface="+mj-lt"/>
              <a:buAutoNum type="arabicPeriod"/>
            </a:pPr>
            <a:r>
              <a:rPr lang="en-GB" dirty="0"/>
              <a:t>Does the CFG need to have special properties, again, for this to algorithm to work without issues?</a:t>
            </a:r>
            <a:endParaRPr lang="en-SG" dirty="0"/>
          </a:p>
        </p:txBody>
      </p:sp>
    </p:spTree>
    <p:extLst>
      <p:ext uri="{BB962C8B-B14F-4D97-AF65-F5344CB8AC3E}">
        <p14:creationId xmlns:p14="http://schemas.microsoft.com/office/powerpoint/2010/main" val="601720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1484-E8A2-16AD-F158-9D3B16D3017B}"/>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7A4A9BB8-22D2-4293-692A-4FB78360A199}"/>
              </a:ext>
            </a:extLst>
          </p:cNvPr>
          <p:cNvSpPr>
            <a:spLocks noGrp="1"/>
          </p:cNvSpPr>
          <p:nvPr>
            <p:ph idx="1"/>
          </p:nvPr>
        </p:nvSpPr>
        <p:spPr>
          <a:xfrm>
            <a:off x="838200" y="1825624"/>
            <a:ext cx="10515600" cy="5032375"/>
          </a:xfrm>
        </p:spPr>
        <p:txBody>
          <a:bodyPr>
            <a:normAutofit/>
          </a:bodyPr>
          <a:lstStyle/>
          <a:p>
            <a:pPr marL="0" indent="0">
              <a:buNone/>
            </a:pPr>
            <a:r>
              <a:rPr lang="en-GB" b="1" dirty="0"/>
              <a:t>Does the CFG need to have special properties, again, for this to work?</a:t>
            </a:r>
            <a:endParaRPr lang="en-SG" b="1" dirty="0"/>
          </a:p>
          <a:p>
            <a:r>
              <a:rPr lang="en-SG" dirty="0"/>
              <a:t>Yes, the CFG needs to have certain properties, which will appear when we start building the FSM following from that CFG.</a:t>
            </a:r>
          </a:p>
          <a:p>
            <a:r>
              <a:rPr lang="en-SG" dirty="0"/>
              <a:t>We say that the </a:t>
            </a:r>
            <a:r>
              <a:rPr lang="en-SG" b="1" dirty="0"/>
              <a:t>CFG is LR(1)</a:t>
            </a:r>
            <a:r>
              <a:rPr lang="en-SG" dirty="0"/>
              <a:t>, if such an LR(1) parser can be used on it.</a:t>
            </a:r>
          </a:p>
          <a:p>
            <a:r>
              <a:rPr lang="en-SG" b="1" dirty="0"/>
              <a:t>Good news #1: </a:t>
            </a:r>
            <a:r>
              <a:rPr lang="en-SG" dirty="0"/>
              <a:t>LR(1) is a stronger type than LL(1). This means our LR(1) parser can cover more CFGs than LL(1)!</a:t>
            </a:r>
          </a:p>
          <a:p>
            <a:r>
              <a:rPr lang="en-SG" b="1" dirty="0">
                <a:solidFill>
                  <a:srgbClr val="7030A0"/>
                </a:solidFill>
              </a:rPr>
              <a:t>Good news #2:</a:t>
            </a:r>
            <a:r>
              <a:rPr lang="en-SG" dirty="0">
                <a:solidFill>
                  <a:srgbClr val="7030A0"/>
                </a:solidFill>
              </a:rPr>
              <a:t> LR(1) is a very large type for CFGs, and most programming languages CFGs are LR(1)!</a:t>
            </a:r>
            <a:br>
              <a:rPr lang="en-SG" dirty="0"/>
            </a:br>
            <a:r>
              <a:rPr lang="en-SG" i="1" dirty="0"/>
              <a:t>(For the other programming languages that are not LR(1), this means that more advanced parsers are required!)</a:t>
            </a:r>
          </a:p>
        </p:txBody>
      </p:sp>
    </p:spTree>
    <p:extLst>
      <p:ext uri="{BB962C8B-B14F-4D97-AF65-F5344CB8AC3E}">
        <p14:creationId xmlns:p14="http://schemas.microsoft.com/office/powerpoint/2010/main" val="1538976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92198-74EA-F09C-EDB2-3800609495E2}"/>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85AEB580-9A31-038D-7F5A-B54DD036F66B}"/>
              </a:ext>
            </a:extLst>
          </p:cNvPr>
          <p:cNvSpPr>
            <a:spLocks noGrp="1"/>
          </p:cNvSpPr>
          <p:nvPr>
            <p:ph sz="half" idx="1"/>
          </p:nvPr>
        </p:nvSpPr>
        <p:spPr>
          <a:xfrm>
            <a:off x="838200" y="1825624"/>
            <a:ext cx="5181600" cy="5032375"/>
          </a:xfrm>
        </p:spPr>
        <p:txBody>
          <a:bodyPr>
            <a:normAutofit/>
          </a:bodyPr>
          <a:lstStyle/>
          <a:p>
            <a:pPr marL="0" indent="0">
              <a:buNone/>
            </a:pPr>
            <a:r>
              <a:rPr lang="en-SG" b="1" dirty="0"/>
              <a:t>LR(1) is a stronger type than LL(1). This means our LR(1) parser can cover more CFGs than LL(1)!</a:t>
            </a:r>
            <a:endParaRPr lang="en-SG" dirty="0"/>
          </a:p>
          <a:p>
            <a:pPr marL="0" indent="0">
              <a:buNone/>
            </a:pPr>
            <a:r>
              <a:rPr lang="en-SG" dirty="0"/>
              <a:t>Also, did not mention, but LL(k) and LR(k) grammars are necessarily non-ambiguous!</a:t>
            </a:r>
          </a:p>
          <a:p>
            <a:pPr marL="0" indent="0">
              <a:buNone/>
            </a:pPr>
            <a:r>
              <a:rPr lang="en-SG" dirty="0"/>
              <a:t>Ambiguous grammars are problematic and should not be considered for programming languages anyway…</a:t>
            </a:r>
            <a:br>
              <a:rPr lang="en-SG" dirty="0"/>
            </a:br>
            <a:r>
              <a:rPr lang="en-SG" dirty="0"/>
              <a:t>(Refer to W9S2 for reasons!).</a:t>
            </a:r>
          </a:p>
        </p:txBody>
      </p:sp>
      <p:pic>
        <p:nvPicPr>
          <p:cNvPr id="7" name="Picture 6" descr="Diagram&#10;&#10;Description automatically generated">
            <a:extLst>
              <a:ext uri="{FF2B5EF4-FFF2-40B4-BE49-F238E27FC236}">
                <a16:creationId xmlns:a16="http://schemas.microsoft.com/office/drawing/2014/main" id="{7DD63A9F-10E4-1A25-D50E-9520F2968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081" y="1737977"/>
            <a:ext cx="5379875" cy="4581860"/>
          </a:xfrm>
          <a:prstGeom prst="rect">
            <a:avLst/>
          </a:prstGeom>
        </p:spPr>
      </p:pic>
    </p:spTree>
    <p:extLst>
      <p:ext uri="{BB962C8B-B14F-4D97-AF65-F5344CB8AC3E}">
        <p14:creationId xmlns:p14="http://schemas.microsoft.com/office/powerpoint/2010/main" val="2525704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14A8-6B81-05FB-C76C-480C89FF9085}"/>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E865F0A9-07C2-AA3E-5454-116B65BABD24}"/>
              </a:ext>
            </a:extLst>
          </p:cNvPr>
          <p:cNvSpPr>
            <a:spLocks noGrp="1"/>
          </p:cNvSpPr>
          <p:nvPr>
            <p:ph idx="1"/>
          </p:nvPr>
        </p:nvSpPr>
        <p:spPr>
          <a:xfrm>
            <a:off x="838200" y="1825624"/>
            <a:ext cx="10515600" cy="5032375"/>
          </a:xfrm>
        </p:spPr>
        <p:txBody>
          <a:bodyPr>
            <a:normAutofit/>
          </a:bodyPr>
          <a:lstStyle/>
          <a:p>
            <a:pPr marL="0" indent="0">
              <a:buNone/>
            </a:pPr>
            <a:r>
              <a:rPr lang="en-GB" b="1" dirty="0"/>
              <a:t>But how did we come up with the FSM and the FSM states to parsing actions mapping for our LR(1) parser?</a:t>
            </a:r>
          </a:p>
          <a:p>
            <a:r>
              <a:rPr lang="en-GB" dirty="0"/>
              <a:t>Figuring out the FSM hiding behind a given CFG will be the</a:t>
            </a:r>
            <a:br>
              <a:rPr lang="en-GB" dirty="0"/>
            </a:br>
            <a:r>
              <a:rPr lang="en-GB" dirty="0"/>
              <a:t>not-so-easy part!</a:t>
            </a:r>
          </a:p>
          <a:p>
            <a:r>
              <a:rPr lang="en-GB" dirty="0"/>
              <a:t>Typically done by </a:t>
            </a:r>
            <a:r>
              <a:rPr lang="en-GB" b="1" dirty="0"/>
              <a:t>parsing generators (e.g. bison, ANTLR, etc.)</a:t>
            </a:r>
            <a:r>
              <a:rPr lang="en-GB" dirty="0"/>
              <a:t>.</a:t>
            </a:r>
          </a:p>
          <a:p>
            <a:r>
              <a:rPr lang="en-GB" dirty="0"/>
              <a:t>A typical parsing generator will look at a CFG and build a non-deterministic FSM first, eventually reducing it to a deterministic FSM later. This is tedious to explain, and very time-consuming…</a:t>
            </a:r>
            <a:br>
              <a:rPr lang="en-GB" dirty="0"/>
            </a:br>
            <a:r>
              <a:rPr lang="en-GB" i="1" dirty="0"/>
              <a:t>(Can suggest additional reading if interested!)</a:t>
            </a:r>
          </a:p>
          <a:p>
            <a:r>
              <a:rPr lang="en-GB" dirty="0"/>
              <a:t>Take it slow if you plan to try it on paper, it is a difficult/tedious task!</a:t>
            </a:r>
          </a:p>
          <a:p>
            <a:endParaRPr lang="en-SG" dirty="0"/>
          </a:p>
        </p:txBody>
      </p:sp>
    </p:spTree>
    <p:extLst>
      <p:ext uri="{BB962C8B-B14F-4D97-AF65-F5344CB8AC3E}">
        <p14:creationId xmlns:p14="http://schemas.microsoft.com/office/powerpoint/2010/main" val="22608686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pPr marL="0" indent="0">
              <a:buNone/>
            </a:pPr>
            <a:r>
              <a:rPr lang="en-GB" b="1" dirty="0"/>
              <a:t>Definition (The </a:t>
            </a:r>
            <a:r>
              <a:rPr lang="en-GB" b="1" dirty="0">
                <a:solidFill>
                  <a:srgbClr val="00B050"/>
                </a:solidFill>
              </a:rPr>
              <a:t>point symbol </a:t>
            </a:r>
            <a:r>
              <a:rPr lang="en-GB" b="1" dirty="0"/>
              <a:t>in LR(1)):</a:t>
            </a:r>
          </a:p>
          <a:p>
            <a:pPr marL="0" indent="0">
              <a:buNone/>
            </a:pPr>
            <a:r>
              <a:rPr lang="en-GB" dirty="0"/>
              <a:t>The </a:t>
            </a:r>
            <a:r>
              <a:rPr lang="en-GB" b="1" dirty="0">
                <a:solidFill>
                  <a:srgbClr val="00B050"/>
                </a:solidFill>
              </a:rPr>
              <a:t>point</a:t>
            </a:r>
            <a:r>
              <a:rPr lang="en-GB" b="1" dirty="0"/>
              <a:t> </a:t>
            </a:r>
            <a:r>
              <a:rPr lang="en-GB" b="1" dirty="0">
                <a:solidFill>
                  <a:srgbClr val="00B050"/>
                </a:solidFill>
              </a:rPr>
              <a:t>symbol</a:t>
            </a:r>
            <a:r>
              <a:rPr lang="en-GB" b="1" dirty="0"/>
              <a:t> (</a:t>
            </a:r>
            <a:r>
              <a:rPr lang="en-GB" b="1" dirty="0">
                <a:solidFill>
                  <a:srgbClr val="00B050"/>
                </a:solidFill>
              </a:rPr>
              <a:t>.</a:t>
            </a:r>
            <a:r>
              <a:rPr lang="en-GB" b="1" dirty="0"/>
              <a:t>) </a:t>
            </a:r>
            <a:r>
              <a:rPr lang="en-GB" dirty="0"/>
              <a:t>in the context of LR(1) parsing is used to represent the </a:t>
            </a:r>
            <a:r>
              <a:rPr lang="en-GB" b="1" dirty="0"/>
              <a:t>current position in the RHS of a production rule, while parsing a given input</a:t>
            </a:r>
            <a:r>
              <a:rPr lang="en-GB" dirty="0"/>
              <a:t>.</a:t>
            </a:r>
          </a:p>
          <a:p>
            <a:pPr marL="0" indent="0">
              <a:buNone/>
            </a:pPr>
            <a:r>
              <a:rPr lang="en-GB" dirty="0"/>
              <a:t>It helps us </a:t>
            </a:r>
            <a:r>
              <a:rPr lang="en-GB" b="1" dirty="0"/>
              <a:t>keep track of how much of the production rule has been seen and what has yet to be seen before we can use it to reduce.</a:t>
            </a:r>
            <a:endParaRPr lang="en-GB" dirty="0"/>
          </a:p>
          <a:p>
            <a:pPr marL="0" indent="0">
              <a:buNone/>
            </a:pPr>
            <a:r>
              <a:rPr lang="en-GB" dirty="0"/>
              <a:t>In simple terms, the dot (.) separates the part of the production rule that has been recognized (to the left of the dot) from the part that still needs to be parsed and seen via shifting (to the right of the dot).</a:t>
            </a:r>
          </a:p>
        </p:txBody>
      </p:sp>
    </p:spTree>
    <p:extLst>
      <p:ext uri="{BB962C8B-B14F-4D97-AF65-F5344CB8AC3E}">
        <p14:creationId xmlns:p14="http://schemas.microsoft.com/office/powerpoint/2010/main" val="8314086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pPr marL="0" indent="0">
              <a:buNone/>
            </a:pPr>
            <a:r>
              <a:rPr lang="en-GB" dirty="0"/>
              <a:t>Consider the production rule A </a:t>
            </a:r>
            <a:r>
              <a:rPr lang="en-GB" dirty="0">
                <a:sym typeface="Wingdings" panose="05000000000000000000" pitchFamily="2" charset="2"/>
              </a:rPr>
              <a:t></a:t>
            </a:r>
            <a:r>
              <a:rPr lang="en-GB" dirty="0"/>
              <a:t> BCD as an example.</a:t>
            </a:r>
          </a:p>
          <a:p>
            <a:r>
              <a:rPr lang="en-GB" dirty="0"/>
              <a:t>If we place the dot at the beginning of the rule, which represented as the production rule A </a:t>
            </a:r>
            <a:r>
              <a:rPr lang="en-GB" dirty="0">
                <a:sym typeface="Wingdings" panose="05000000000000000000" pitchFamily="2" charset="2"/>
              </a:rPr>
              <a:t></a:t>
            </a:r>
            <a:r>
              <a:rPr lang="en-GB" dirty="0"/>
              <a:t> .BCD with the dot in position 0,</a:t>
            </a:r>
          </a:p>
          <a:p>
            <a:r>
              <a:rPr lang="en-GB" dirty="0"/>
              <a:t>Then, this indicates that none of the right-hand side elements of the production rule have been recognized yet.</a:t>
            </a:r>
          </a:p>
          <a:p>
            <a:pPr marL="0" indent="0">
              <a:buNone/>
            </a:pPr>
            <a:r>
              <a:rPr lang="en-GB" dirty="0"/>
              <a:t>As the parser progresses/shifts and recognizes more symbols, the dot might move to the right:</a:t>
            </a:r>
          </a:p>
          <a:p>
            <a:r>
              <a:rPr lang="en-GB" dirty="0"/>
              <a:t>A </a:t>
            </a:r>
            <a:r>
              <a:rPr lang="en-GB" dirty="0">
                <a:sym typeface="Wingdings" panose="05000000000000000000" pitchFamily="2" charset="2"/>
              </a:rPr>
              <a:t></a:t>
            </a:r>
            <a:r>
              <a:rPr lang="en-GB" dirty="0"/>
              <a:t> B.CD    (after seeing B)</a:t>
            </a:r>
          </a:p>
          <a:p>
            <a:r>
              <a:rPr lang="en-GB" dirty="0"/>
              <a:t>A </a:t>
            </a:r>
            <a:r>
              <a:rPr lang="en-GB" dirty="0">
                <a:sym typeface="Wingdings" panose="05000000000000000000" pitchFamily="2" charset="2"/>
              </a:rPr>
              <a:t></a:t>
            </a:r>
            <a:r>
              <a:rPr lang="en-GB" dirty="0"/>
              <a:t> BC.D    (after seeing BC)</a:t>
            </a:r>
          </a:p>
          <a:p>
            <a:r>
              <a:rPr lang="en-GB" dirty="0"/>
              <a:t>A </a:t>
            </a:r>
            <a:r>
              <a:rPr lang="en-GB" dirty="0">
                <a:sym typeface="Wingdings" panose="05000000000000000000" pitchFamily="2" charset="2"/>
              </a:rPr>
              <a:t></a:t>
            </a:r>
            <a:r>
              <a:rPr lang="en-GB" dirty="0"/>
              <a:t> BCD.    (after seeing BCD)</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914B1D-1299-D31D-FFB3-B6DEA664831F}"/>
                  </a:ext>
                </a:extLst>
              </p:cNvPr>
              <p:cNvSpPr txBox="1"/>
              <p:nvPr/>
            </p:nvSpPr>
            <p:spPr>
              <a:xfrm>
                <a:off x="6213986" y="4925961"/>
                <a:ext cx="5712542"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GB" sz="2800" dirty="0"/>
                  <a:t>This dot describes the current state of the parser: A </a:t>
                </a:r>
                <a:r>
                  <a:rPr lang="en-GB" sz="2800" dirty="0">
                    <a:sym typeface="Wingdings" panose="05000000000000000000" pitchFamily="2" charset="2"/>
                  </a:rPr>
                  <a:t></a:t>
                </a:r>
                <a:r>
                  <a:rPr lang="en-GB" sz="2800" dirty="0"/>
                  <a:t> B.CD is then equivalent to our parser being in a state </a:t>
                </a:r>
                <a14:m>
                  <m:oMath xmlns:m="http://schemas.openxmlformats.org/officeDocument/2006/math">
                    <m:r>
                      <a:rPr lang="en-GB" sz="2800" i="1" dirty="0" smtClean="0">
                        <a:latin typeface="Cambria Math" panose="02040503050406030204" pitchFamily="18" charset="0"/>
                      </a:rPr>
                      <m:t>𝛼</m:t>
                    </m:r>
                  </m:oMath>
                </a14:m>
                <a:r>
                  <a:rPr lang="en-GB" sz="2800" dirty="0"/>
                  <a:t>B</a:t>
                </a:r>
                <a:r>
                  <a:rPr lang="en-GB" sz="2800" dirty="0">
                    <a:solidFill>
                      <a:srgbClr val="FF0000"/>
                    </a:solidFill>
                  </a:rPr>
                  <a:t>|</a:t>
                </a:r>
                <a14:m>
                  <m:oMath xmlns:m="http://schemas.openxmlformats.org/officeDocument/2006/math">
                    <m:r>
                      <a:rPr lang="en-GB" sz="2800" i="1" dirty="0" smtClean="0">
                        <a:latin typeface="Cambria Math" panose="02040503050406030204" pitchFamily="18" charset="0"/>
                      </a:rPr>
                      <m:t>𝛽</m:t>
                    </m:r>
                  </m:oMath>
                </a14:m>
                <a:r>
                  <a:rPr lang="en-GB" sz="2800" dirty="0"/>
                  <a:t> of some sort! </a:t>
                </a:r>
              </a:p>
            </p:txBody>
          </p:sp>
        </mc:Choice>
        <mc:Fallback xmlns="">
          <p:sp>
            <p:nvSpPr>
              <p:cNvPr id="4" name="TextBox 3">
                <a:extLst>
                  <a:ext uri="{FF2B5EF4-FFF2-40B4-BE49-F238E27FC236}">
                    <a16:creationId xmlns:a16="http://schemas.microsoft.com/office/drawing/2014/main" id="{9B914B1D-1299-D31D-FFB3-B6DEA664831F}"/>
                  </a:ext>
                </a:extLst>
              </p:cNvPr>
              <p:cNvSpPr txBox="1">
                <a:spLocks noRot="1" noChangeAspect="1" noMove="1" noResize="1" noEditPoints="1" noAdjustHandles="1" noChangeArrowheads="1" noChangeShapeType="1" noTextEdit="1"/>
              </p:cNvSpPr>
              <p:nvPr/>
            </p:nvSpPr>
            <p:spPr>
              <a:xfrm>
                <a:off x="6213986" y="4925961"/>
                <a:ext cx="5712542" cy="1815882"/>
              </a:xfrm>
              <a:prstGeom prst="rect">
                <a:avLst/>
              </a:prstGeom>
              <a:blipFill>
                <a:blip r:embed="rId2"/>
                <a:stretch>
                  <a:fillRect l="-2023" t="-2667" r="-2449" b="-8333"/>
                </a:stretch>
              </a:blipFill>
            </p:spPr>
            <p:txBody>
              <a:bodyPr/>
              <a:lstStyle/>
              <a:p>
                <a:r>
                  <a:rPr lang="en-GB">
                    <a:noFill/>
                  </a:rPr>
                  <a:t> </a:t>
                </a:r>
              </a:p>
            </p:txBody>
          </p:sp>
        </mc:Fallback>
      </mc:AlternateContent>
    </p:spTree>
    <p:extLst>
      <p:ext uri="{BB962C8B-B14F-4D97-AF65-F5344CB8AC3E}">
        <p14:creationId xmlns:p14="http://schemas.microsoft.com/office/powerpoint/2010/main" val="14131493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9B047-59DA-722A-C3DC-893491F88128}"/>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9ED3A7E0-F3C6-AFEC-58AC-C9567144FE8F}"/>
              </a:ext>
            </a:extLst>
          </p:cNvPr>
          <p:cNvSpPr>
            <a:spLocks noGrp="1"/>
          </p:cNvSpPr>
          <p:nvPr>
            <p:ph idx="1"/>
          </p:nvPr>
        </p:nvSpPr>
        <p:spPr>
          <a:xfrm>
            <a:off x="838200" y="1825624"/>
            <a:ext cx="10515600" cy="5032375"/>
          </a:xfrm>
        </p:spPr>
        <p:txBody>
          <a:bodyPr>
            <a:normAutofit/>
          </a:bodyPr>
          <a:lstStyle/>
          <a:p>
            <a:r>
              <a:rPr lang="en-GB" dirty="0"/>
              <a:t>When the dot is at the beginning or in the middle of a production rule (i.e. A </a:t>
            </a:r>
            <a:r>
              <a:rPr lang="en-GB" dirty="0">
                <a:sym typeface="Wingdings" panose="05000000000000000000" pitchFamily="2" charset="2"/>
              </a:rPr>
              <a:t> </a:t>
            </a:r>
            <a:r>
              <a:rPr lang="en-GB" dirty="0"/>
              <a:t>.BCD, A </a:t>
            </a:r>
            <a:r>
              <a:rPr lang="en-GB" dirty="0">
                <a:sym typeface="Wingdings" panose="05000000000000000000" pitchFamily="2" charset="2"/>
              </a:rPr>
              <a:t></a:t>
            </a:r>
            <a:r>
              <a:rPr lang="en-GB" dirty="0"/>
              <a:t> B.CD, or A </a:t>
            </a:r>
            <a:r>
              <a:rPr lang="en-GB" dirty="0">
                <a:sym typeface="Wingdings" panose="05000000000000000000" pitchFamily="2" charset="2"/>
              </a:rPr>
              <a:t></a:t>
            </a:r>
            <a:r>
              <a:rPr lang="en-GB" dirty="0"/>
              <a:t> BC.D), </a:t>
            </a:r>
            <a:r>
              <a:rPr lang="en-GB" b="1" dirty="0"/>
              <a:t>we have not yet recognized enough symbols to be sure we can reduce some elements of our string into A using this production rule</a:t>
            </a:r>
            <a:r>
              <a:rPr lang="en-GB" dirty="0"/>
              <a:t>.</a:t>
            </a:r>
          </a:p>
          <a:p>
            <a:r>
              <a:rPr lang="en-GB" dirty="0"/>
              <a:t>When the dot reaches the end of the production rule (i.e. A -&gt; BCD.), it means the entire rule has been recognized, and the </a:t>
            </a:r>
            <a:r>
              <a:rPr lang="en-GB" b="1" dirty="0"/>
              <a:t>parser </a:t>
            </a:r>
            <a:r>
              <a:rPr lang="en-GB" b="1" u="sng" dirty="0"/>
              <a:t>could</a:t>
            </a:r>
            <a:r>
              <a:rPr lang="en-GB" b="1" dirty="0"/>
              <a:t> technically choose to perform a reduce action based on that production rule</a:t>
            </a:r>
            <a:r>
              <a:rPr lang="en-GB" dirty="0"/>
              <a:t>.</a:t>
            </a:r>
          </a:p>
        </p:txBody>
      </p:sp>
    </p:spTree>
    <p:extLst>
      <p:ext uri="{BB962C8B-B14F-4D97-AF65-F5344CB8AC3E}">
        <p14:creationId xmlns:p14="http://schemas.microsoft.com/office/powerpoint/2010/main" val="33711445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pPr marL="0" indent="0">
              <a:buNone/>
            </a:pPr>
            <a:r>
              <a:rPr lang="en-GB" i="1" dirty="0"/>
              <a:t>For instance, the production rule A </a:t>
            </a:r>
            <a:r>
              <a:rPr lang="en-GB" i="1" dirty="0">
                <a:sym typeface="Wingdings" panose="05000000000000000000" pitchFamily="2" charset="2"/>
              </a:rPr>
              <a:t></a:t>
            </a:r>
            <a:r>
              <a:rPr lang="en-GB" i="1" dirty="0"/>
              <a:t> BCD has four possibilities in terms of dot positions, being:</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p>
          <a:p>
            <a:r>
              <a:rPr lang="en-GB" i="1" dirty="0"/>
              <a:t>A </a:t>
            </a:r>
            <a:r>
              <a:rPr lang="en-GB" i="1" dirty="0">
                <a:sym typeface="Wingdings" panose="05000000000000000000" pitchFamily="2" charset="2"/>
              </a:rPr>
              <a:t></a:t>
            </a:r>
            <a:r>
              <a:rPr lang="en-GB" i="1" dirty="0"/>
              <a:t> BCD.</a:t>
            </a:r>
            <a:endParaRPr lang="en-SG" i="1" dirty="0"/>
          </a:p>
        </p:txBody>
      </p:sp>
    </p:spTree>
    <p:extLst>
      <p:ext uri="{BB962C8B-B14F-4D97-AF65-F5344CB8AC3E}">
        <p14:creationId xmlns:p14="http://schemas.microsoft.com/office/powerpoint/2010/main" val="2586505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r>
              <a:rPr lang="en-GB" dirty="0"/>
              <a:t>But </a:t>
            </a:r>
            <a:r>
              <a:rPr lang="en-GB" b="1" dirty="0"/>
              <a:t>our CFGs also have a finite number of production rules</a:t>
            </a:r>
            <a:r>
              <a:rPr lang="en-GB" dirty="0"/>
              <a:t>.</a:t>
            </a:r>
          </a:p>
          <a:p>
            <a:pPr marL="0" indent="0">
              <a:buNone/>
            </a:pPr>
            <a:r>
              <a:rPr lang="en-GB" i="1" dirty="0"/>
              <a:t>For instance, the CFG below has four possible production rules.</a:t>
            </a:r>
          </a:p>
          <a:p>
            <a:pPr marL="0" indent="0" algn="ctr">
              <a:buNone/>
            </a:pPr>
            <a:r>
              <a:rPr lang="en-GB" sz="2400" i="1" dirty="0"/>
              <a:t>E </a:t>
            </a:r>
            <a:r>
              <a:rPr lang="en-GB" sz="2400" i="1" dirty="0">
                <a:sym typeface="Wingdings" panose="05000000000000000000" pitchFamily="2" charset="2"/>
              </a:rPr>
              <a:t> T,</a:t>
            </a:r>
          </a:p>
          <a:p>
            <a:pPr marL="0" indent="0" algn="ctr">
              <a:buNone/>
            </a:pPr>
            <a:r>
              <a:rPr lang="en-GB" sz="2400" i="1" dirty="0"/>
              <a:t>E </a:t>
            </a:r>
            <a:r>
              <a:rPr lang="en-GB" sz="2400" i="1" dirty="0">
                <a:sym typeface="Wingdings" panose="05000000000000000000" pitchFamily="2" charset="2"/>
              </a:rPr>
              <a:t> E + T,</a:t>
            </a:r>
          </a:p>
          <a:p>
            <a:pPr marL="0" indent="0" algn="ctr">
              <a:buNone/>
            </a:pPr>
            <a:r>
              <a:rPr lang="en-GB" sz="2400" i="1" dirty="0"/>
              <a:t>T </a:t>
            </a:r>
            <a:r>
              <a:rPr lang="en-GB" sz="2400" i="1" dirty="0">
                <a:sym typeface="Wingdings" panose="05000000000000000000" pitchFamily="2" charset="2"/>
              </a:rPr>
              <a:t> (E),</a:t>
            </a:r>
          </a:p>
          <a:p>
            <a:pPr marL="0" indent="0" algn="ctr">
              <a:buNone/>
            </a:pPr>
            <a:r>
              <a:rPr lang="en-GB" sz="2400" i="1" dirty="0">
                <a:sym typeface="Wingdings" panose="05000000000000000000" pitchFamily="2" charset="2"/>
              </a:rPr>
              <a:t>T  int </a:t>
            </a:r>
            <a:endParaRPr lang="en-GB" sz="2400" i="1" dirty="0"/>
          </a:p>
        </p:txBody>
      </p:sp>
    </p:spTree>
    <p:extLst>
      <p:ext uri="{BB962C8B-B14F-4D97-AF65-F5344CB8AC3E}">
        <p14:creationId xmlns:p14="http://schemas.microsoft.com/office/powerpoint/2010/main" val="5649753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BBDC6-C359-A352-AC94-416198287217}"/>
              </a:ext>
            </a:extLst>
          </p:cNvPr>
          <p:cNvSpPr>
            <a:spLocks noGrp="1"/>
          </p:cNvSpPr>
          <p:nvPr>
            <p:ph type="title"/>
          </p:nvPr>
        </p:nvSpPr>
        <p:spPr/>
        <p:txBody>
          <a:bodyPr/>
          <a:lstStyle/>
          <a:p>
            <a:r>
              <a:rPr lang="en-GB" dirty="0"/>
              <a:t>Production tracking in production rules</a:t>
            </a:r>
            <a:endParaRPr lang="en-SG" dirty="0"/>
          </a:p>
        </p:txBody>
      </p:sp>
      <p:sp>
        <p:nvSpPr>
          <p:cNvPr id="3" name="Content Placeholder 2">
            <a:extLst>
              <a:ext uri="{FF2B5EF4-FFF2-40B4-BE49-F238E27FC236}">
                <a16:creationId xmlns:a16="http://schemas.microsoft.com/office/drawing/2014/main" id="{0BE097A5-C10F-C9FD-D1C8-E883B702C810}"/>
              </a:ext>
            </a:extLst>
          </p:cNvPr>
          <p:cNvSpPr>
            <a:spLocks noGrp="1"/>
          </p:cNvSpPr>
          <p:nvPr>
            <p:ph idx="1"/>
          </p:nvPr>
        </p:nvSpPr>
        <p:spPr>
          <a:xfrm>
            <a:off x="838200" y="1825624"/>
            <a:ext cx="10515600" cy="5032375"/>
          </a:xfrm>
        </p:spPr>
        <p:txBody>
          <a:bodyPr>
            <a:normAutofit/>
          </a:bodyPr>
          <a:lstStyle/>
          <a:p>
            <a:pPr marL="0" indent="0">
              <a:buNone/>
            </a:pPr>
            <a:r>
              <a:rPr lang="en-GB" b="1" dirty="0"/>
              <a:t>An important </a:t>
            </a:r>
            <a:r>
              <a:rPr lang="en-GB" b="1" dirty="0">
                <a:solidFill>
                  <a:srgbClr val="00B050"/>
                </a:solidFill>
              </a:rPr>
              <a:t>theorem</a:t>
            </a:r>
            <a:r>
              <a:rPr lang="en-GB" b="1" dirty="0"/>
              <a:t>:</a:t>
            </a:r>
          </a:p>
          <a:p>
            <a:r>
              <a:rPr lang="en-GB" dirty="0"/>
              <a:t>Any production rule necessarily has a finite number of elements on the right-hand side. This means that </a:t>
            </a:r>
            <a:r>
              <a:rPr lang="en-GB" b="1" dirty="0"/>
              <a:t>there is a limited number of possibilities for the dot to be at</a:t>
            </a:r>
            <a:r>
              <a:rPr lang="en-GB" dirty="0"/>
              <a:t> for any given production rule.</a:t>
            </a:r>
          </a:p>
          <a:p>
            <a:r>
              <a:rPr lang="en-GB" dirty="0"/>
              <a:t>But </a:t>
            </a:r>
            <a:r>
              <a:rPr lang="en-GB" b="1" dirty="0"/>
              <a:t>our CFGs also have a finite number of production rules</a:t>
            </a:r>
            <a:r>
              <a:rPr lang="en-GB" dirty="0"/>
              <a:t>.</a:t>
            </a:r>
          </a:p>
          <a:p>
            <a:pPr marL="0" indent="0">
              <a:buNone/>
            </a:pPr>
            <a:endParaRPr lang="en-GB" dirty="0">
              <a:solidFill>
                <a:srgbClr val="FF0000"/>
              </a:solidFill>
            </a:endParaRPr>
          </a:p>
          <a:p>
            <a:pPr marL="0" indent="0">
              <a:buNone/>
            </a:pPr>
            <a:r>
              <a:rPr lang="en-GB" dirty="0">
                <a:solidFill>
                  <a:srgbClr val="FF0000"/>
                </a:solidFill>
              </a:rPr>
              <a:t>Important result: Combining these two pieces of information together means that </a:t>
            </a:r>
            <a:r>
              <a:rPr lang="en-GB" b="1" dirty="0">
                <a:solidFill>
                  <a:srgbClr val="FF0000"/>
                </a:solidFill>
              </a:rPr>
              <a:t>there is a finite number of possible dot representation for all the production rules of our CFG</a:t>
            </a:r>
            <a:r>
              <a:rPr lang="en-GB" dirty="0">
                <a:solidFill>
                  <a:srgbClr val="FF0000"/>
                </a:solidFill>
              </a:rPr>
              <a:t>.</a:t>
            </a:r>
          </a:p>
          <a:p>
            <a:pPr marL="0" indent="0">
              <a:buNone/>
            </a:pPr>
            <a:r>
              <a:rPr lang="en-GB" dirty="0">
                <a:sym typeface="Wingdings" panose="05000000000000000000" pitchFamily="2" charset="2"/>
              </a:rPr>
              <a:t> </a:t>
            </a:r>
            <a:r>
              <a:rPr lang="en-GB" dirty="0"/>
              <a:t>And these could be used as </a:t>
            </a:r>
            <a:r>
              <a:rPr lang="en-GB" b="1" dirty="0">
                <a:solidFill>
                  <a:schemeClr val="accent2"/>
                </a:solidFill>
              </a:rPr>
              <a:t>states</a:t>
            </a:r>
            <a:r>
              <a:rPr lang="en-GB" b="1" dirty="0"/>
              <a:t> for an FSM of some sort!</a:t>
            </a:r>
          </a:p>
        </p:txBody>
      </p:sp>
    </p:spTree>
    <p:extLst>
      <p:ext uri="{BB962C8B-B14F-4D97-AF65-F5344CB8AC3E}">
        <p14:creationId xmlns:p14="http://schemas.microsoft.com/office/powerpoint/2010/main" val="9839415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A9A81-7063-9FEE-15C5-A182809A7F8A}"/>
              </a:ext>
            </a:extLst>
          </p:cNvPr>
          <p:cNvSpPr>
            <a:spLocks noGrp="1"/>
          </p:cNvSpPr>
          <p:nvPr>
            <p:ph type="title"/>
          </p:nvPr>
        </p:nvSpPr>
        <p:spPr/>
        <p:txBody>
          <a:bodyPr/>
          <a:lstStyle/>
          <a:p>
            <a:r>
              <a:rPr lang="en-GB" dirty="0"/>
              <a:t>A finite number of dot representations</a:t>
            </a:r>
            <a:endParaRPr lang="en-SG" dirty="0"/>
          </a:p>
        </p:txBody>
      </p:sp>
      <p:sp>
        <p:nvSpPr>
          <p:cNvPr id="3" name="Content Placeholder 2">
            <a:extLst>
              <a:ext uri="{FF2B5EF4-FFF2-40B4-BE49-F238E27FC236}">
                <a16:creationId xmlns:a16="http://schemas.microsoft.com/office/drawing/2014/main" id="{CD146B04-A1BB-DCEB-4C21-BC53F4E3052D}"/>
              </a:ext>
            </a:extLst>
          </p:cNvPr>
          <p:cNvSpPr>
            <a:spLocks noGrp="1"/>
          </p:cNvSpPr>
          <p:nvPr>
            <p:ph sz="half" idx="1"/>
          </p:nvPr>
        </p:nvSpPr>
        <p:spPr>
          <a:xfrm>
            <a:off x="838200" y="1825624"/>
            <a:ext cx="5181600" cy="5032375"/>
          </a:xfrm>
        </p:spPr>
        <p:txBody>
          <a:bodyPr>
            <a:normAutofit/>
          </a:bodyPr>
          <a:lstStyle/>
          <a:p>
            <a:pPr marL="0" indent="0">
              <a:buNone/>
            </a:pPr>
            <a:r>
              <a:rPr lang="en-GB" sz="2600" dirty="0"/>
              <a:t>For instance, the CFG below has four possible production rules.</a:t>
            </a:r>
          </a:p>
          <a:p>
            <a:pPr marL="0" indent="0" algn="ctr">
              <a:buNone/>
            </a:pPr>
            <a:r>
              <a:rPr lang="en-GB" sz="2600" i="1" dirty="0"/>
              <a:t>E </a:t>
            </a:r>
            <a:r>
              <a:rPr lang="en-GB" sz="2600" i="1" dirty="0">
                <a:sym typeface="Wingdings" panose="05000000000000000000" pitchFamily="2" charset="2"/>
              </a:rPr>
              <a:t> T,</a:t>
            </a:r>
          </a:p>
          <a:p>
            <a:pPr marL="0" indent="0" algn="ctr">
              <a:buNone/>
            </a:pPr>
            <a:r>
              <a:rPr lang="en-GB" sz="2600" i="1" dirty="0"/>
              <a:t>E </a:t>
            </a:r>
            <a:r>
              <a:rPr lang="en-GB" sz="2600" i="1" dirty="0">
                <a:sym typeface="Wingdings" panose="05000000000000000000" pitchFamily="2" charset="2"/>
              </a:rPr>
              <a:t> E + T,</a:t>
            </a:r>
          </a:p>
          <a:p>
            <a:pPr marL="0" indent="0" algn="ctr">
              <a:buNone/>
            </a:pPr>
            <a:r>
              <a:rPr lang="en-GB" sz="2600" i="1" dirty="0"/>
              <a:t>T </a:t>
            </a:r>
            <a:r>
              <a:rPr lang="en-GB" sz="2600" i="1" dirty="0">
                <a:sym typeface="Wingdings" panose="05000000000000000000" pitchFamily="2" charset="2"/>
              </a:rPr>
              <a:t> (E),</a:t>
            </a:r>
          </a:p>
          <a:p>
            <a:pPr marL="0" indent="0" algn="ctr">
              <a:buNone/>
            </a:pPr>
            <a:r>
              <a:rPr lang="en-GB" sz="2600" i="1" dirty="0">
                <a:sym typeface="Wingdings" panose="05000000000000000000" pitchFamily="2" charset="2"/>
              </a:rPr>
              <a:t>T  int </a:t>
            </a:r>
          </a:p>
          <a:p>
            <a:pPr marL="0" indent="0" algn="ctr">
              <a:buNone/>
            </a:pPr>
            <a:endParaRPr lang="en-GB" sz="2600" i="1" dirty="0">
              <a:sym typeface="Wingdings" panose="05000000000000000000" pitchFamily="2" charset="2"/>
            </a:endParaRPr>
          </a:p>
          <a:p>
            <a:pPr marL="0" indent="0">
              <a:buNone/>
            </a:pPr>
            <a:r>
              <a:rPr lang="en-GB" sz="2600" dirty="0">
                <a:sym typeface="Wingdings" panose="05000000000000000000" pitchFamily="2" charset="2"/>
              </a:rPr>
              <a:t>According to our theorem, it means that there should be a finite number of dot representations for the production rules of that CFG.</a:t>
            </a:r>
          </a:p>
        </p:txBody>
      </p:sp>
      <p:sp>
        <p:nvSpPr>
          <p:cNvPr id="4" name="Content Placeholder 3">
            <a:extLst>
              <a:ext uri="{FF2B5EF4-FFF2-40B4-BE49-F238E27FC236}">
                <a16:creationId xmlns:a16="http://schemas.microsoft.com/office/drawing/2014/main" id="{CB1BC93C-4B0B-9F58-415B-817F3F6A5E67}"/>
              </a:ext>
            </a:extLst>
          </p:cNvPr>
          <p:cNvSpPr>
            <a:spLocks noGrp="1"/>
          </p:cNvSpPr>
          <p:nvPr>
            <p:ph sz="half" idx="2"/>
          </p:nvPr>
        </p:nvSpPr>
        <p:spPr>
          <a:xfrm>
            <a:off x="6172200" y="1825625"/>
            <a:ext cx="5181600" cy="5032374"/>
          </a:xfrm>
        </p:spPr>
        <p:txBody>
          <a:bodyPr>
            <a:normAutofit/>
          </a:bodyPr>
          <a:lstStyle/>
          <a:p>
            <a:pPr marL="0" indent="0">
              <a:buNone/>
            </a:pPr>
            <a:r>
              <a:rPr lang="en-GB" sz="2800" dirty="0">
                <a:sym typeface="Wingdings" panose="05000000000000000000" pitchFamily="2" charset="2"/>
              </a:rPr>
              <a:t>That is shown below.</a:t>
            </a:r>
          </a:p>
          <a:p>
            <a:pPr marL="0" indent="0">
              <a:buNone/>
            </a:pPr>
            <a:r>
              <a:rPr lang="en-GB" sz="2800" dirty="0">
                <a:sym typeface="Wingdings" panose="05000000000000000000" pitchFamily="2" charset="2"/>
              </a:rPr>
              <a:t>(</a:t>
            </a:r>
            <a:r>
              <a:rPr lang="en-GB" sz="2800" b="1" dirty="0">
                <a:sym typeface="Wingdings" panose="05000000000000000000" pitchFamily="2" charset="2"/>
              </a:rPr>
              <a:t>Note: </a:t>
            </a:r>
            <a:r>
              <a:rPr lang="en-GB" sz="2800" dirty="0">
                <a:sym typeface="Wingdings" panose="05000000000000000000" pitchFamily="2" charset="2"/>
              </a:rPr>
              <a:t>C</a:t>
            </a:r>
            <a:r>
              <a:rPr lang="en-GB" dirty="0">
                <a:sym typeface="Wingdings" panose="05000000000000000000" pitchFamily="2" charset="2"/>
              </a:rPr>
              <a:t>onvention to also add </a:t>
            </a:r>
            <a:r>
              <a:rPr lang="en-GB" sz="2800" dirty="0">
                <a:sym typeface="Wingdings" panose="05000000000000000000" pitchFamily="2" charset="2"/>
              </a:rPr>
              <a:t>the dot representations for the start symbol of our CFG, which is </a:t>
            </a:r>
            <a:r>
              <a:rPr lang="en-GB" sz="2800" i="1" dirty="0">
                <a:sym typeface="Wingdings" panose="05000000000000000000" pitchFamily="2" charset="2"/>
              </a:rPr>
              <a:t>E</a:t>
            </a:r>
            <a:r>
              <a:rPr lang="en-GB" sz="2800" dirty="0">
                <a:sym typeface="Wingdings" panose="05000000000000000000" pitchFamily="2" charset="2"/>
              </a:rPr>
              <a:t>).</a:t>
            </a:r>
            <a:endParaRPr lang="en-GB" sz="2800" dirty="0"/>
          </a:p>
          <a:p>
            <a:r>
              <a:rPr lang="en-GB" i="1" dirty="0"/>
              <a:t>.E, E., </a:t>
            </a:r>
          </a:p>
          <a:p>
            <a:r>
              <a:rPr lang="en-GB" i="1" dirty="0"/>
              <a:t>.T, T.,</a:t>
            </a:r>
          </a:p>
          <a:p>
            <a:r>
              <a:rPr lang="en-GB" i="1" dirty="0"/>
              <a:t>.E+T, E.+T, E+.T, E+T.,</a:t>
            </a:r>
          </a:p>
          <a:p>
            <a:r>
              <a:rPr lang="en-GB" i="1" dirty="0"/>
              <a:t>.(E), (.E), (E.), (E).,</a:t>
            </a:r>
          </a:p>
          <a:p>
            <a:r>
              <a:rPr lang="en-GB" i="1" dirty="0"/>
              <a:t>.int, int.</a:t>
            </a:r>
          </a:p>
        </p:txBody>
      </p:sp>
    </p:spTree>
    <p:extLst>
      <p:ext uri="{BB962C8B-B14F-4D97-AF65-F5344CB8AC3E}">
        <p14:creationId xmlns:p14="http://schemas.microsoft.com/office/powerpoint/2010/main" val="32049376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LR(0) items </a:t>
            </a:r>
            <a:r>
              <a:rPr lang="en-GB" b="1" dirty="0"/>
              <a:t>for a given CFG):</a:t>
            </a:r>
          </a:p>
          <a:p>
            <a:pPr marL="0" indent="0">
              <a:buNone/>
            </a:pPr>
            <a:r>
              <a:rPr lang="en-GB" dirty="0"/>
              <a:t>For a given CFG, </a:t>
            </a:r>
            <a:r>
              <a:rPr lang="en-GB" b="1" dirty="0"/>
              <a:t>all the possible right hand side formulas of all the production rules and their possible variations in terms of dot positions</a:t>
            </a:r>
            <a:r>
              <a:rPr lang="en-GB" dirty="0"/>
              <a:t>, produce what is commonly referred to as the </a:t>
            </a:r>
            <a:r>
              <a:rPr lang="en-GB" b="1" dirty="0">
                <a:solidFill>
                  <a:srgbClr val="00B050"/>
                </a:solidFill>
              </a:rPr>
              <a:t>LR(0) items </a:t>
            </a:r>
            <a:r>
              <a:rPr lang="en-GB" dirty="0"/>
              <a:t>of the CFG. In the case of our previous CFG, the LR(0) items are simply:</a:t>
            </a:r>
          </a:p>
          <a:p>
            <a:r>
              <a:rPr lang="en-GB" i="1" dirty="0"/>
              <a:t>.E, E., </a:t>
            </a:r>
          </a:p>
          <a:p>
            <a:r>
              <a:rPr lang="en-GB" i="1" dirty="0"/>
              <a:t>.T, T.,</a:t>
            </a:r>
          </a:p>
          <a:p>
            <a:r>
              <a:rPr lang="en-GB" i="1" dirty="0"/>
              <a:t>.E+T, E.+T, E+.T, E+T.,</a:t>
            </a:r>
          </a:p>
          <a:p>
            <a:r>
              <a:rPr lang="en-GB" i="1" dirty="0"/>
              <a:t>.(E), (.E), (E.), (E).,</a:t>
            </a:r>
          </a:p>
          <a:p>
            <a:r>
              <a:rPr lang="en-GB" i="1" dirty="0"/>
              <a:t>.int, int.</a:t>
            </a:r>
          </a:p>
          <a:p>
            <a:pPr marL="0" indent="0">
              <a:buNone/>
            </a:pPr>
            <a:endParaRPr lang="en-SG" b="1" dirty="0"/>
          </a:p>
        </p:txBody>
      </p:sp>
    </p:spTree>
    <p:extLst>
      <p:ext uri="{BB962C8B-B14F-4D97-AF65-F5344CB8AC3E}">
        <p14:creationId xmlns:p14="http://schemas.microsoft.com/office/powerpoint/2010/main" val="38128595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LR(1) items </a:t>
                </a:r>
                <a:r>
                  <a:rPr lang="en-GB" b="1" dirty="0"/>
                  <a:t>for a given CFG):</a:t>
                </a:r>
              </a:p>
              <a:p>
                <a:pPr marL="0" indent="0">
                  <a:buNone/>
                </a:pPr>
                <a:r>
                  <a:rPr lang="en-GB" dirty="0"/>
                  <a:t>For a given CFG, the LR(1) items are the set of all possible tuples</a:t>
                </a:r>
                <a:br>
                  <a:rPr lang="en-GB" dirty="0"/>
                </a:br>
                <a:r>
                  <a:rPr lang="en-GB" dirty="0"/>
                  <a:t>(A → α.Bβ, a), where</a:t>
                </a:r>
              </a:p>
              <a:p>
                <a:r>
                  <a:rPr lang="en-GB" dirty="0"/>
                  <a:t>A is a non-terminal symbol,</a:t>
                </a:r>
              </a:p>
              <a:p>
                <a:r>
                  <a:rPr lang="en-GB" dirty="0"/>
                  <a:t>α and β are strings of terminal and nonterminal symbols,</a:t>
                </a:r>
              </a:p>
              <a:p>
                <a:r>
                  <a:rPr lang="en-GB" dirty="0"/>
                  <a:t>B is a nonterminal symbol,</a:t>
                </a:r>
              </a:p>
              <a:p>
                <a:r>
                  <a:rPr lang="en-GB" dirty="0"/>
                  <a:t>and a is a lookahead symbol (all possible terminal symbols in the CFG or the end of string $ symbol).</a:t>
                </a:r>
              </a:p>
              <a:p>
                <a:pPr marL="0" indent="0">
                  <a:buNone/>
                </a:pPr>
                <a:r>
                  <a:rPr lang="en-GB" dirty="0"/>
                  <a:t>For instance, (E</a:t>
                </a:r>
                <a:r>
                  <a:rPr lang="en-GB" dirty="0">
                    <a:sym typeface="Wingdings" panose="05000000000000000000" pitchFamily="2" charset="2"/>
                  </a:rPr>
                  <a:t></a:t>
                </a:r>
                <a:r>
                  <a:rPr lang="en-GB" dirty="0">
                    <a:solidFill>
                      <a:srgbClr val="0070C0"/>
                    </a:solidFill>
                    <a:sym typeface="Wingdings" panose="05000000000000000000" pitchFamily="2" charset="2"/>
                  </a:rPr>
                  <a:t>E+</a:t>
                </a:r>
                <a:r>
                  <a:rPr lang="en-GB" dirty="0">
                    <a:sym typeface="Wingdings" panose="05000000000000000000" pitchFamily="2" charset="2"/>
                  </a:rPr>
                  <a:t>.T, ‘</a:t>
                </a:r>
                <a:r>
                  <a:rPr lang="en-GB" dirty="0">
                    <a:solidFill>
                      <a:schemeClr val="accent2"/>
                    </a:solidFill>
                    <a:sym typeface="Wingdings" panose="05000000000000000000" pitchFamily="2" charset="2"/>
                  </a:rPr>
                  <a:t>(</a:t>
                </a:r>
                <a:r>
                  <a:rPr lang="en-GB" dirty="0">
                    <a:sym typeface="Wingdings" panose="05000000000000000000" pitchFamily="2" charset="2"/>
                  </a:rPr>
                  <a:t>‘) is a possible </a:t>
                </a:r>
                <a:r>
                  <a:rPr lang="en-GB" b="1" dirty="0">
                    <a:solidFill>
                      <a:srgbClr val="00B050"/>
                    </a:solidFill>
                    <a:sym typeface="Wingdings" panose="05000000000000000000" pitchFamily="2" charset="2"/>
                  </a:rPr>
                  <a:t>LR(1) item</a:t>
                </a:r>
                <a:r>
                  <a:rPr lang="en-GB" dirty="0">
                    <a:sym typeface="Wingdings" panose="05000000000000000000" pitchFamily="2" charset="2"/>
                  </a:rPr>
                  <a:t>, that describes that the parser is in a configuration </a:t>
                </a:r>
                <a14:m>
                  <m:oMath xmlns:m="http://schemas.openxmlformats.org/officeDocument/2006/math">
                    <m:r>
                      <a:rPr lang="en-GB" i="1">
                        <a:latin typeface="Cambria Math" panose="02040503050406030204" pitchFamily="18" charset="0"/>
                        <a:sym typeface="Wingdings" panose="05000000000000000000" pitchFamily="2" charset="2"/>
                      </a:rPr>
                      <m:t>𝛼</m:t>
                    </m:r>
                  </m:oMath>
                </a14:m>
                <a:r>
                  <a:rPr lang="en-GB" dirty="0">
                    <a:solidFill>
                      <a:srgbClr val="0070C0"/>
                    </a:solidFill>
                  </a:rPr>
                  <a:t>E+</a:t>
                </a:r>
                <a:r>
                  <a:rPr lang="en-GB" dirty="0">
                    <a:solidFill>
                      <a:srgbClr val="FF0000"/>
                    </a:solidFill>
                  </a:rPr>
                  <a:t>|</a:t>
                </a:r>
                <a:r>
                  <a:rPr lang="en-GB" dirty="0">
                    <a:solidFill>
                      <a:schemeClr val="accent2"/>
                    </a:solidFill>
                  </a:rPr>
                  <a:t>(</a:t>
                </a:r>
                <a14:m>
                  <m:oMath xmlns:m="http://schemas.openxmlformats.org/officeDocument/2006/math">
                    <m:r>
                      <a:rPr lang="en-GB" b="0" i="1" smtClean="0">
                        <a:latin typeface="Cambria Math" panose="02040503050406030204" pitchFamily="18" charset="0"/>
                      </a:rPr>
                      <m:t>𝛽</m:t>
                    </m:r>
                  </m:oMath>
                </a14:m>
                <a:r>
                  <a:rPr lang="en-GB" dirty="0"/>
                  <a:t> of some sort.</a:t>
                </a:r>
              </a:p>
            </p:txBody>
          </p:sp>
        </mc:Choice>
        <mc:Fallback xmlns="">
          <p:sp>
            <p:nvSpPr>
              <p:cNvPr id="3" name="Content Placeholder 2">
                <a:extLst>
                  <a:ext uri="{FF2B5EF4-FFF2-40B4-BE49-F238E27FC236}">
                    <a16:creationId xmlns:a16="http://schemas.microsoft.com/office/drawing/2014/main" id="{6C17A043-B72A-E6DA-60E9-9E5B30D0D5A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464"/>
                </a:stretch>
              </a:blipFill>
            </p:spPr>
            <p:txBody>
              <a:bodyPr/>
              <a:lstStyle/>
              <a:p>
                <a:r>
                  <a:rPr lang="en-GB">
                    <a:noFill/>
                  </a:rPr>
                  <a:t> </a:t>
                </a:r>
              </a:p>
            </p:txBody>
          </p:sp>
        </mc:Fallback>
      </mc:AlternateContent>
    </p:spTree>
    <p:extLst>
      <p:ext uri="{BB962C8B-B14F-4D97-AF65-F5344CB8AC3E}">
        <p14:creationId xmlns:p14="http://schemas.microsoft.com/office/powerpoint/2010/main" val="3182693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From LR(0) to LR(1) items</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dirty="0"/>
              <a:t>Some examples of LR(1) items for our CFG are then:</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.T, +): </a:t>
            </a:r>
            <a:r>
              <a:rPr lang="en-GB" dirty="0"/>
              <a:t>This LR(1) item indicates that we are starting to parse the non-terminal E, and we have yet to see a T followed by a + symbol.</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.T, )): </a:t>
            </a:r>
            <a:r>
              <a:rPr lang="en-GB" dirty="0"/>
              <a:t>This LR(1) item indicates that we are parsing the non-terminal E, and we have yet to see a T followed by a closing parenthesis.</a:t>
            </a:r>
          </a:p>
          <a:p>
            <a:pPr>
              <a:buFont typeface="Arial" panose="020B0604020202020204" pitchFamily="34" charset="0"/>
              <a:buChar char="•"/>
            </a:pPr>
            <a:r>
              <a:rPr lang="en-GB" b="1" dirty="0"/>
              <a:t>(E </a:t>
            </a:r>
            <a:r>
              <a:rPr lang="en-GB" b="1" dirty="0">
                <a:sym typeface="Wingdings" panose="05000000000000000000" pitchFamily="2" charset="2"/>
              </a:rPr>
              <a:t></a:t>
            </a:r>
            <a:r>
              <a:rPr lang="en-GB" b="1" dirty="0"/>
              <a:t> E +. T, +): </a:t>
            </a:r>
            <a:r>
              <a:rPr lang="en-GB" dirty="0"/>
              <a:t>This LR(1) item indicates that we are parsing the non-terminal E, and we have already seen some prefix of the form “E + ...” that is now on the left of the </a:t>
            </a:r>
            <a:r>
              <a:rPr lang="en-GB" dirty="0">
                <a:solidFill>
                  <a:srgbClr val="FF0000"/>
                </a:solidFill>
              </a:rPr>
              <a:t>|</a:t>
            </a:r>
            <a:r>
              <a:rPr lang="en-GB" dirty="0"/>
              <a:t>,and we have yet to see a T to be able to reduce, and that the element on the right-side of </a:t>
            </a:r>
            <a:r>
              <a:rPr lang="en-GB" dirty="0">
                <a:solidFill>
                  <a:srgbClr val="FF0000"/>
                </a:solidFill>
              </a:rPr>
              <a:t>| </a:t>
            </a:r>
            <a:r>
              <a:rPr lang="en-GB" dirty="0"/>
              <a:t>is a + symbol.</a:t>
            </a:r>
          </a:p>
          <a:p>
            <a:pPr marL="0" indent="0">
              <a:buNone/>
            </a:pPr>
            <a:r>
              <a:rPr lang="en-GB" b="1" dirty="0"/>
              <a:t>Important: there is a finite number of LR(1) items in any given CFG.</a:t>
            </a:r>
          </a:p>
        </p:txBody>
      </p:sp>
    </p:spTree>
    <p:extLst>
      <p:ext uri="{BB962C8B-B14F-4D97-AF65-F5344CB8AC3E}">
        <p14:creationId xmlns:p14="http://schemas.microsoft.com/office/powerpoint/2010/main" val="35288337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28712-5D1F-6D7A-4302-BEA3B9FE2D89}"/>
              </a:ext>
            </a:extLst>
          </p:cNvPr>
          <p:cNvSpPr>
            <a:spLocks noGrp="1"/>
          </p:cNvSpPr>
          <p:nvPr>
            <p:ph type="title"/>
          </p:nvPr>
        </p:nvSpPr>
        <p:spPr/>
        <p:txBody>
          <a:bodyPr/>
          <a:lstStyle/>
          <a:p>
            <a:r>
              <a:rPr lang="en-GB" dirty="0"/>
              <a:t>Building an FSM: states</a:t>
            </a:r>
            <a:endParaRPr lang="en-SG" dirty="0"/>
          </a:p>
        </p:txBody>
      </p:sp>
      <p:sp>
        <p:nvSpPr>
          <p:cNvPr id="3" name="Content Placeholder 2">
            <a:extLst>
              <a:ext uri="{FF2B5EF4-FFF2-40B4-BE49-F238E27FC236}">
                <a16:creationId xmlns:a16="http://schemas.microsoft.com/office/drawing/2014/main" id="{A6071F63-1F9E-DDA1-5ACC-83115C4F3E5B}"/>
              </a:ext>
            </a:extLst>
          </p:cNvPr>
          <p:cNvSpPr>
            <a:spLocks noGrp="1"/>
          </p:cNvSpPr>
          <p:nvPr>
            <p:ph idx="1"/>
          </p:nvPr>
        </p:nvSpPr>
        <p:spPr/>
        <p:txBody>
          <a:bodyPr/>
          <a:lstStyle/>
          <a:p>
            <a:r>
              <a:rPr lang="en-GB" dirty="0"/>
              <a:t>Let us use these </a:t>
            </a:r>
            <a:r>
              <a:rPr lang="en-GB" b="1" dirty="0"/>
              <a:t>LR(1) items </a:t>
            </a:r>
            <a:r>
              <a:rPr lang="en-GB" dirty="0"/>
              <a:t>as </a:t>
            </a:r>
            <a:r>
              <a:rPr lang="en-GB" b="1" dirty="0">
                <a:solidFill>
                  <a:schemeClr val="accent2"/>
                </a:solidFill>
              </a:rPr>
              <a:t>states</a:t>
            </a:r>
            <a:r>
              <a:rPr lang="en-GB" b="1" dirty="0"/>
              <a:t> for an FSM of some sort!</a:t>
            </a:r>
          </a:p>
          <a:p>
            <a:r>
              <a:rPr lang="en-GB" dirty="0"/>
              <a:t>How about the </a:t>
            </a:r>
            <a:r>
              <a:rPr lang="en-GB" b="1" dirty="0"/>
              <a:t>input string </a:t>
            </a:r>
            <a:r>
              <a:rPr lang="en-GB" dirty="0"/>
              <a:t>to be used for that FSM?</a:t>
            </a:r>
            <a:br>
              <a:rPr lang="en-GB" dirty="0"/>
            </a:br>
            <a:r>
              <a:rPr lang="en-GB" dirty="0"/>
              <a:t>As before, let us use the current left string in our parser stack.</a:t>
            </a:r>
          </a:p>
          <a:p>
            <a:r>
              <a:rPr lang="en-GB" dirty="0"/>
              <a:t>How about our FSM </a:t>
            </a:r>
            <a:r>
              <a:rPr lang="en-GB" b="1" dirty="0">
                <a:solidFill>
                  <a:schemeClr val="accent2">
                    <a:lumMod val="50000"/>
                  </a:schemeClr>
                </a:solidFill>
              </a:rPr>
              <a:t>actions</a:t>
            </a:r>
            <a:r>
              <a:rPr lang="en-GB" dirty="0"/>
              <a:t>? As before, could consist of any terminal or non-terminal symbol in our CFG.</a:t>
            </a:r>
          </a:p>
          <a:p>
            <a:endParaRPr lang="en-GB" dirty="0"/>
          </a:p>
          <a:p>
            <a:r>
              <a:rPr lang="en-GB" dirty="0"/>
              <a:t>How to establish a </a:t>
            </a:r>
            <a:r>
              <a:rPr lang="en-GB" b="1" dirty="0">
                <a:solidFill>
                  <a:srgbClr val="7030A0"/>
                </a:solidFill>
              </a:rPr>
              <a:t>transition logic </a:t>
            </a:r>
            <a:r>
              <a:rPr lang="en-GB" dirty="0"/>
              <a:t>for our FSM then?</a:t>
            </a:r>
          </a:p>
          <a:p>
            <a:pPr marL="0" indent="0">
              <a:buNone/>
            </a:pPr>
            <a:r>
              <a:rPr lang="en-GB" i="1" dirty="0"/>
              <a:t>(Next slide shows an incomplete version of LR(1) FSM!</a:t>
            </a:r>
            <a:br>
              <a:rPr lang="en-GB" i="1" dirty="0"/>
            </a:br>
            <a:r>
              <a:rPr lang="en-GB" i="1" dirty="0"/>
              <a:t>Be prepared, it is actually quite ugly!)</a:t>
            </a:r>
            <a:endParaRPr lang="en-SG" i="1" dirty="0"/>
          </a:p>
        </p:txBody>
      </p:sp>
    </p:spTree>
    <p:extLst>
      <p:ext uri="{BB962C8B-B14F-4D97-AF65-F5344CB8AC3E}">
        <p14:creationId xmlns:p14="http://schemas.microsoft.com/office/powerpoint/2010/main" val="3008650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3" name="TextBox 2">
            <a:extLst>
              <a:ext uri="{FF2B5EF4-FFF2-40B4-BE49-F238E27FC236}">
                <a16:creationId xmlns:a16="http://schemas.microsoft.com/office/drawing/2014/main" id="{85BC202A-AB3D-0807-3CAA-0B07CEBBB6BB}"/>
              </a:ext>
            </a:extLst>
          </p:cNvPr>
          <p:cNvSpPr txBox="1"/>
          <p:nvPr/>
        </p:nvSpPr>
        <p:spPr>
          <a:xfrm>
            <a:off x="148492" y="6330462"/>
            <a:ext cx="4767385" cy="461665"/>
          </a:xfrm>
          <a:prstGeom prst="rect">
            <a:avLst/>
          </a:prstGeom>
          <a:noFill/>
        </p:spPr>
        <p:txBody>
          <a:bodyPr wrap="square" rtlCol="0">
            <a:spAutoFit/>
          </a:bodyPr>
          <a:lstStyle/>
          <a:p>
            <a:r>
              <a:rPr lang="en-GB" sz="2400" b="1" dirty="0"/>
              <a:t>Note: </a:t>
            </a:r>
            <a:r>
              <a:rPr lang="en-GB" sz="2400" dirty="0"/>
              <a:t>it is incomplete!</a:t>
            </a:r>
            <a:endParaRPr lang="en-SG" sz="2400" dirty="0"/>
          </a:p>
        </p:txBody>
      </p:sp>
    </p:spTree>
    <p:extLst>
      <p:ext uri="{BB962C8B-B14F-4D97-AF65-F5344CB8AC3E}">
        <p14:creationId xmlns:p14="http://schemas.microsoft.com/office/powerpoint/2010/main" val="866251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#1</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1150600" cy="5032375"/>
          </a:xfrm>
        </p:spPr>
        <p:txBody>
          <a:bodyPr>
            <a:normAutofit/>
          </a:bodyPr>
          <a:lstStyle/>
          <a:p>
            <a:pPr marL="0" indent="0">
              <a:buNone/>
            </a:pPr>
            <a:r>
              <a:rPr lang="en-GB" b="1" dirty="0"/>
              <a:t>Rule #1, Shift</a:t>
            </a:r>
            <a:r>
              <a:rPr lang="en-GB" dirty="0"/>
              <a:t>: If there is an LR(1) item of the form (A → α.𝑋β, s) used as the current state and </a:t>
            </a:r>
            <a:r>
              <a:rPr lang="en-GB" b="1" dirty="0"/>
              <a:t>𝑋 is a terminal symbol</a:t>
            </a:r>
            <a:r>
              <a:rPr lang="en-GB" dirty="0"/>
              <a:t>, add a transition to the state containing the item (A → α𝑋.β, s) using the symbol 𝑋.</a:t>
            </a:r>
            <a:endParaRPr lang="en-SG" dirty="0"/>
          </a:p>
        </p:txBody>
      </p:sp>
    </p:spTree>
    <p:extLst>
      <p:ext uri="{BB962C8B-B14F-4D97-AF65-F5344CB8AC3E}">
        <p14:creationId xmlns:p14="http://schemas.microsoft.com/office/powerpoint/2010/main" val="3032348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Using Rule #1, connect the following state</a:t>
            </a:r>
            <a:endParaRPr lang="en-SG" dirty="0"/>
          </a:p>
        </p:txBody>
      </p:sp>
      <p:sp>
        <p:nvSpPr>
          <p:cNvPr id="6" name="Oval 5">
            <a:extLst>
              <a:ext uri="{FF2B5EF4-FFF2-40B4-BE49-F238E27FC236}">
                <a16:creationId xmlns:a16="http://schemas.microsoft.com/office/drawing/2014/main" id="{46428802-7148-442A-FAE8-6CCF53D7733A}"/>
              </a:ext>
            </a:extLst>
          </p:cNvPr>
          <p:cNvSpPr/>
          <p:nvPr/>
        </p:nvSpPr>
        <p:spPr>
          <a:xfrm>
            <a:off x="2787645"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7" name="Straight Arrow Connector 6">
            <a:extLst>
              <a:ext uri="{FF2B5EF4-FFF2-40B4-BE49-F238E27FC236}">
                <a16:creationId xmlns:a16="http://schemas.microsoft.com/office/drawing/2014/main" id="{52D454A6-C15D-9574-5493-6BBEE55665AD}"/>
              </a:ext>
            </a:extLst>
          </p:cNvPr>
          <p:cNvCxnSpPr>
            <a:cxnSpLocks/>
            <a:stCxn id="6" idx="6"/>
            <a:endCxn id="10" idx="2"/>
          </p:cNvCxnSpPr>
          <p:nvPr/>
        </p:nvCxnSpPr>
        <p:spPr>
          <a:xfrm>
            <a:off x="3867645"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144CEAE9-15C2-97AC-89AE-C1B4227480D0}"/>
              </a:ext>
            </a:extLst>
          </p:cNvPr>
          <p:cNvSpPr txBox="1"/>
          <p:nvPr/>
        </p:nvSpPr>
        <p:spPr>
          <a:xfrm>
            <a:off x="4090015" y="2591723"/>
            <a:ext cx="484554" cy="369332"/>
          </a:xfrm>
          <a:prstGeom prst="rect">
            <a:avLst/>
          </a:prstGeom>
          <a:noFill/>
        </p:spPr>
        <p:txBody>
          <a:bodyPr wrap="square" rtlCol="0">
            <a:spAutoFit/>
          </a:bodyPr>
          <a:lstStyle/>
          <a:p>
            <a:r>
              <a:rPr lang="en-GB" dirty="0"/>
              <a:t>+</a:t>
            </a:r>
          </a:p>
        </p:txBody>
      </p:sp>
      <p:sp>
        <p:nvSpPr>
          <p:cNvPr id="10" name="Oval 9">
            <a:extLst>
              <a:ext uri="{FF2B5EF4-FFF2-40B4-BE49-F238E27FC236}">
                <a16:creationId xmlns:a16="http://schemas.microsoft.com/office/drawing/2014/main" id="{1794A512-7B31-93B4-ECEE-2C43A01E7100}"/>
              </a:ext>
            </a:extLst>
          </p:cNvPr>
          <p:cNvSpPr/>
          <p:nvPr/>
        </p:nvSpPr>
        <p:spPr>
          <a:xfrm>
            <a:off x="4995862"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sp>
        <p:nvSpPr>
          <p:cNvPr id="24" name="Oval 23">
            <a:extLst>
              <a:ext uri="{FF2B5EF4-FFF2-40B4-BE49-F238E27FC236}">
                <a16:creationId xmlns:a16="http://schemas.microsoft.com/office/drawing/2014/main" id="{CC6CC352-32C1-3CBC-1551-81F563B4DDAF}"/>
              </a:ext>
            </a:extLst>
          </p:cNvPr>
          <p:cNvSpPr/>
          <p:nvPr/>
        </p:nvSpPr>
        <p:spPr>
          <a:xfrm>
            <a:off x="2760290"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7" name="Oval 26">
            <a:extLst>
              <a:ext uri="{FF2B5EF4-FFF2-40B4-BE49-F238E27FC236}">
                <a16:creationId xmlns:a16="http://schemas.microsoft.com/office/drawing/2014/main" id="{0091BDDE-408E-245C-4D6C-5B1C3E69847E}"/>
              </a:ext>
            </a:extLst>
          </p:cNvPr>
          <p:cNvSpPr/>
          <p:nvPr/>
        </p:nvSpPr>
        <p:spPr>
          <a:xfrm>
            <a:off x="4968507"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8" name="Oval 27">
            <a:extLst>
              <a:ext uri="{FF2B5EF4-FFF2-40B4-BE49-F238E27FC236}">
                <a16:creationId xmlns:a16="http://schemas.microsoft.com/office/drawing/2014/main" id="{C1BEB977-A5D8-2999-B86A-6DFDA79071C0}"/>
              </a:ext>
            </a:extLst>
          </p:cNvPr>
          <p:cNvSpPr/>
          <p:nvPr/>
        </p:nvSpPr>
        <p:spPr>
          <a:xfrm>
            <a:off x="552073"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9" name="Straight Arrow Connector 28">
            <a:extLst>
              <a:ext uri="{FF2B5EF4-FFF2-40B4-BE49-F238E27FC236}">
                <a16:creationId xmlns:a16="http://schemas.microsoft.com/office/drawing/2014/main" id="{FF71D50F-F16D-D5A1-BDB8-7B5BBCD51F77}"/>
              </a:ext>
            </a:extLst>
          </p:cNvPr>
          <p:cNvCxnSpPr>
            <a:cxnSpLocks/>
            <a:stCxn id="28" idx="6"/>
            <a:endCxn id="24" idx="2"/>
          </p:cNvCxnSpPr>
          <p:nvPr/>
        </p:nvCxnSpPr>
        <p:spPr>
          <a:xfrm>
            <a:off x="1632073"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8A3E179-F0DF-9199-5182-BAF87D1F896B}"/>
              </a:ext>
            </a:extLst>
          </p:cNvPr>
          <p:cNvSpPr txBox="1"/>
          <p:nvPr/>
        </p:nvSpPr>
        <p:spPr>
          <a:xfrm>
            <a:off x="1953904" y="4064555"/>
            <a:ext cx="484554" cy="369332"/>
          </a:xfrm>
          <a:prstGeom prst="rect">
            <a:avLst/>
          </a:prstGeom>
          <a:noFill/>
        </p:spPr>
        <p:txBody>
          <a:bodyPr wrap="square" rtlCol="0">
            <a:spAutoFit/>
          </a:bodyPr>
          <a:lstStyle/>
          <a:p>
            <a:r>
              <a:rPr lang="en-GB" dirty="0"/>
              <a:t>(</a:t>
            </a:r>
          </a:p>
        </p:txBody>
      </p:sp>
      <p:sp>
        <p:nvSpPr>
          <p:cNvPr id="31" name="Oval 30">
            <a:extLst>
              <a:ext uri="{FF2B5EF4-FFF2-40B4-BE49-F238E27FC236}">
                <a16:creationId xmlns:a16="http://schemas.microsoft.com/office/drawing/2014/main" id="{5F207240-D3C7-7B97-1692-51ACE5A1B2D5}"/>
              </a:ext>
            </a:extLst>
          </p:cNvPr>
          <p:cNvSpPr/>
          <p:nvPr/>
        </p:nvSpPr>
        <p:spPr>
          <a:xfrm>
            <a:off x="7176724"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32" name="Straight Arrow Connector 31">
            <a:extLst>
              <a:ext uri="{FF2B5EF4-FFF2-40B4-BE49-F238E27FC236}">
                <a16:creationId xmlns:a16="http://schemas.microsoft.com/office/drawing/2014/main" id="{42B10EE3-DB51-322A-9D5F-7299B14E0BC5}"/>
              </a:ext>
            </a:extLst>
          </p:cNvPr>
          <p:cNvCxnSpPr>
            <a:cxnSpLocks/>
            <a:stCxn id="27" idx="6"/>
            <a:endCxn id="31" idx="2"/>
          </p:cNvCxnSpPr>
          <p:nvPr/>
        </p:nvCxnSpPr>
        <p:spPr>
          <a:xfrm>
            <a:off x="6048507"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653ED20B-717C-E780-45D7-6211BA837316}"/>
              </a:ext>
            </a:extLst>
          </p:cNvPr>
          <p:cNvSpPr txBox="1"/>
          <p:nvPr/>
        </p:nvSpPr>
        <p:spPr>
          <a:xfrm>
            <a:off x="6370338" y="4143077"/>
            <a:ext cx="484554" cy="369332"/>
          </a:xfrm>
          <a:prstGeom prst="rect">
            <a:avLst/>
          </a:prstGeom>
          <a:noFill/>
        </p:spPr>
        <p:txBody>
          <a:bodyPr wrap="square" rtlCol="0">
            <a:spAutoFit/>
          </a:bodyPr>
          <a:lstStyle/>
          <a:p>
            <a:r>
              <a:rPr lang="en-GB" dirty="0"/>
              <a:t>)</a:t>
            </a:r>
          </a:p>
        </p:txBody>
      </p:sp>
      <p:sp>
        <p:nvSpPr>
          <p:cNvPr id="34" name="TextBox 33">
            <a:extLst>
              <a:ext uri="{FF2B5EF4-FFF2-40B4-BE49-F238E27FC236}">
                <a16:creationId xmlns:a16="http://schemas.microsoft.com/office/drawing/2014/main" id="{9A35E6E4-772D-B625-5835-F8E569E7B587}"/>
              </a:ext>
            </a:extLst>
          </p:cNvPr>
          <p:cNvSpPr txBox="1"/>
          <p:nvPr/>
        </p:nvSpPr>
        <p:spPr>
          <a:xfrm>
            <a:off x="4574568" y="5588000"/>
            <a:ext cx="5031548" cy="954107"/>
          </a:xfrm>
          <a:prstGeom prst="rect">
            <a:avLst/>
          </a:prstGeom>
          <a:noFill/>
        </p:spPr>
        <p:txBody>
          <a:bodyPr wrap="square" rtlCol="0">
            <a:spAutoFit/>
          </a:bodyPr>
          <a:lstStyle/>
          <a:p>
            <a:r>
              <a:rPr lang="en-GB" sz="2800" dirty="0"/>
              <a:t>Repeat for all possible pairs that satisfy the rule #1 condition!</a:t>
            </a:r>
            <a:endParaRPr lang="en-SG" sz="2800" dirty="0"/>
          </a:p>
        </p:txBody>
      </p:sp>
    </p:spTree>
    <p:extLst>
      <p:ext uri="{BB962C8B-B14F-4D97-AF65-F5344CB8AC3E}">
        <p14:creationId xmlns:p14="http://schemas.microsoft.com/office/powerpoint/2010/main" val="420231794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7366605-46F2-9B8C-9EC7-538509D91322}"/>
              </a:ext>
            </a:extLst>
          </p:cNvPr>
          <p:cNvSpPr/>
          <p:nvPr/>
        </p:nvSpPr>
        <p:spPr>
          <a:xfrm>
            <a:off x="1326319" y="4211899"/>
            <a:ext cx="3750240" cy="932204"/>
          </a:xfrm>
          <a:custGeom>
            <a:avLst/>
            <a:gdLst>
              <a:gd name="connsiteX0" fmla="*/ 252389 w 3750240"/>
              <a:gd name="connsiteY0" fmla="*/ 227239 h 932204"/>
              <a:gd name="connsiteX1" fmla="*/ 33558 w 3750240"/>
              <a:gd name="connsiteY1" fmla="*/ 313209 h 932204"/>
              <a:gd name="connsiteX2" fmla="*/ 174235 w 3750240"/>
              <a:gd name="connsiteY2" fmla="*/ 492963 h 932204"/>
              <a:gd name="connsiteX3" fmla="*/ 1612266 w 3750240"/>
              <a:gd name="connsiteY3" fmla="*/ 485147 h 932204"/>
              <a:gd name="connsiteX4" fmla="*/ 1846727 w 3750240"/>
              <a:gd name="connsiteY4" fmla="*/ 922809 h 932204"/>
              <a:gd name="connsiteX5" fmla="*/ 2143712 w 3750240"/>
              <a:gd name="connsiteY5" fmla="*/ 766501 h 932204"/>
              <a:gd name="connsiteX6" fmla="*/ 2081189 w 3750240"/>
              <a:gd name="connsiteY6" fmla="*/ 547670 h 932204"/>
              <a:gd name="connsiteX7" fmla="*/ 1979589 w 3750240"/>
              <a:gd name="connsiteY7" fmla="*/ 391363 h 932204"/>
              <a:gd name="connsiteX8" fmla="*/ 2042112 w 3750240"/>
              <a:gd name="connsiteY8" fmla="*/ 305393 h 932204"/>
              <a:gd name="connsiteX9" fmla="*/ 3589558 w 3750240"/>
              <a:gd name="connsiteY9" fmla="*/ 266316 h 932204"/>
              <a:gd name="connsiteX10" fmla="*/ 3527035 w 3750240"/>
              <a:gd name="connsiteY10" fmla="*/ 31855 h 932204"/>
              <a:gd name="connsiteX11" fmla="*/ 2042112 w 3750240"/>
              <a:gd name="connsiteY11" fmla="*/ 24039 h 932204"/>
              <a:gd name="connsiteX12" fmla="*/ 1713866 w 3750240"/>
              <a:gd name="connsiteY12" fmla="*/ 235055 h 932204"/>
              <a:gd name="connsiteX13" fmla="*/ 252389 w 3750240"/>
              <a:gd name="connsiteY13" fmla="*/ 227239 h 932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50240" h="932204">
                <a:moveTo>
                  <a:pt x="252389" y="227239"/>
                </a:moveTo>
                <a:cubicBezTo>
                  <a:pt x="-27662" y="240265"/>
                  <a:pt x="46584" y="268922"/>
                  <a:pt x="33558" y="313209"/>
                </a:cubicBezTo>
                <a:cubicBezTo>
                  <a:pt x="20532" y="357496"/>
                  <a:pt x="-88883" y="464307"/>
                  <a:pt x="174235" y="492963"/>
                </a:cubicBezTo>
                <a:cubicBezTo>
                  <a:pt x="437353" y="521619"/>
                  <a:pt x="1333517" y="413506"/>
                  <a:pt x="1612266" y="485147"/>
                </a:cubicBezTo>
                <a:cubicBezTo>
                  <a:pt x="1891015" y="556788"/>
                  <a:pt x="1758153" y="875917"/>
                  <a:pt x="1846727" y="922809"/>
                </a:cubicBezTo>
                <a:cubicBezTo>
                  <a:pt x="1935301" y="969701"/>
                  <a:pt x="2104635" y="829024"/>
                  <a:pt x="2143712" y="766501"/>
                </a:cubicBezTo>
                <a:cubicBezTo>
                  <a:pt x="2182789" y="703978"/>
                  <a:pt x="2108543" y="610193"/>
                  <a:pt x="2081189" y="547670"/>
                </a:cubicBezTo>
                <a:cubicBezTo>
                  <a:pt x="2053835" y="485147"/>
                  <a:pt x="1986102" y="431742"/>
                  <a:pt x="1979589" y="391363"/>
                </a:cubicBezTo>
                <a:cubicBezTo>
                  <a:pt x="1973076" y="350984"/>
                  <a:pt x="1773784" y="326234"/>
                  <a:pt x="2042112" y="305393"/>
                </a:cubicBezTo>
                <a:cubicBezTo>
                  <a:pt x="2310440" y="284552"/>
                  <a:pt x="3342071" y="311906"/>
                  <a:pt x="3589558" y="266316"/>
                </a:cubicBezTo>
                <a:cubicBezTo>
                  <a:pt x="3837045" y="220726"/>
                  <a:pt x="3784943" y="72234"/>
                  <a:pt x="3527035" y="31855"/>
                </a:cubicBezTo>
                <a:cubicBezTo>
                  <a:pt x="3269127" y="-8525"/>
                  <a:pt x="2344307" y="-9828"/>
                  <a:pt x="2042112" y="24039"/>
                </a:cubicBezTo>
                <a:cubicBezTo>
                  <a:pt x="1739917" y="57906"/>
                  <a:pt x="2010851" y="202491"/>
                  <a:pt x="1713866" y="235055"/>
                </a:cubicBezTo>
                <a:cubicBezTo>
                  <a:pt x="1416881" y="267619"/>
                  <a:pt x="532440" y="214213"/>
                  <a:pt x="252389" y="227239"/>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3" name="TextBox 2">
            <a:extLst>
              <a:ext uri="{FF2B5EF4-FFF2-40B4-BE49-F238E27FC236}">
                <a16:creationId xmlns:a16="http://schemas.microsoft.com/office/drawing/2014/main" id="{B803E319-CB6A-9EB8-EECA-2B23A6AF11C7}"/>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9954607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#1&amp;2</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1150600" cy="5032375"/>
          </a:xfrm>
        </p:spPr>
        <p:txBody>
          <a:bodyPr>
            <a:normAutofit/>
          </a:bodyPr>
          <a:lstStyle/>
          <a:p>
            <a:pPr marL="0" indent="0">
              <a:buNone/>
            </a:pPr>
            <a:r>
              <a:rPr lang="en-GB" b="1" dirty="0"/>
              <a:t>Rule #1, Shift transition</a:t>
            </a:r>
            <a:r>
              <a:rPr lang="en-GB" dirty="0"/>
              <a:t>: If there is an LR(1) item of the form (A → α.𝑋β, s) used as the current state and </a:t>
            </a:r>
            <a:r>
              <a:rPr lang="en-GB" b="1" dirty="0"/>
              <a:t>𝑋 is a terminal symbol</a:t>
            </a:r>
            <a:r>
              <a:rPr lang="en-GB" dirty="0"/>
              <a:t>, add a transition to the state containing the item (A → α𝑋.β, s) using the symbol 𝑋.</a:t>
            </a:r>
          </a:p>
          <a:p>
            <a:pPr marL="0" indent="0">
              <a:buNone/>
            </a:pPr>
            <a:endParaRPr lang="en-GB" dirty="0"/>
          </a:p>
          <a:p>
            <a:pPr marL="0" indent="0">
              <a:buNone/>
            </a:pPr>
            <a:r>
              <a:rPr lang="en-GB" b="1" dirty="0"/>
              <a:t>Rule #2, </a:t>
            </a:r>
            <a:r>
              <a:rPr lang="en-GB" b="1" dirty="0" err="1"/>
              <a:t>GoTo</a:t>
            </a:r>
            <a:r>
              <a:rPr lang="en-GB" b="1" dirty="0"/>
              <a:t> transition</a:t>
            </a:r>
            <a:r>
              <a:rPr lang="en-GB" dirty="0"/>
              <a:t>: If there is an LR(1) item of the form (A → α.𝑋β, s) used as the current state and </a:t>
            </a:r>
            <a:r>
              <a:rPr lang="en-GB" b="1" dirty="0"/>
              <a:t>𝑋 is a non-terminal symbol this time</a:t>
            </a:r>
            <a:r>
              <a:rPr lang="en-GB" dirty="0"/>
              <a:t>, add a transition to the state containing the item (A → α𝑋.β, s) on the symbol 𝑋.</a:t>
            </a:r>
            <a:br>
              <a:rPr lang="en-GB" dirty="0"/>
            </a:br>
            <a:r>
              <a:rPr lang="en-GB" i="1" dirty="0"/>
              <a:t>(Roughly similar)</a:t>
            </a:r>
            <a:endParaRPr lang="en-SG" i="1" dirty="0"/>
          </a:p>
        </p:txBody>
      </p:sp>
    </p:spTree>
    <p:extLst>
      <p:ext uri="{BB962C8B-B14F-4D97-AF65-F5344CB8AC3E}">
        <p14:creationId xmlns:p14="http://schemas.microsoft.com/office/powerpoint/2010/main" val="26988103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#2</a:t>
            </a:r>
            <a:endParaRPr lang="en-SG" dirty="0"/>
          </a:p>
        </p:txBody>
      </p:sp>
      <p:sp>
        <p:nvSpPr>
          <p:cNvPr id="6" name="Oval 5">
            <a:extLst>
              <a:ext uri="{FF2B5EF4-FFF2-40B4-BE49-F238E27FC236}">
                <a16:creationId xmlns:a16="http://schemas.microsoft.com/office/drawing/2014/main" id="{46428802-7148-442A-FAE8-6CCF53D7733A}"/>
              </a:ext>
            </a:extLst>
          </p:cNvPr>
          <p:cNvSpPr/>
          <p:nvPr/>
        </p:nvSpPr>
        <p:spPr>
          <a:xfrm>
            <a:off x="2787645"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7" name="Straight Arrow Connector 6">
            <a:extLst>
              <a:ext uri="{FF2B5EF4-FFF2-40B4-BE49-F238E27FC236}">
                <a16:creationId xmlns:a16="http://schemas.microsoft.com/office/drawing/2014/main" id="{52D454A6-C15D-9574-5493-6BBEE55665AD}"/>
              </a:ext>
            </a:extLst>
          </p:cNvPr>
          <p:cNvCxnSpPr>
            <a:cxnSpLocks/>
            <a:stCxn id="6" idx="6"/>
            <a:endCxn id="10" idx="2"/>
          </p:cNvCxnSpPr>
          <p:nvPr/>
        </p:nvCxnSpPr>
        <p:spPr>
          <a:xfrm>
            <a:off x="3867645"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8" name="TextBox 7">
            <a:extLst>
              <a:ext uri="{FF2B5EF4-FFF2-40B4-BE49-F238E27FC236}">
                <a16:creationId xmlns:a16="http://schemas.microsoft.com/office/drawing/2014/main" id="{144CEAE9-15C2-97AC-89AE-C1B4227480D0}"/>
              </a:ext>
            </a:extLst>
          </p:cNvPr>
          <p:cNvSpPr txBox="1"/>
          <p:nvPr/>
        </p:nvSpPr>
        <p:spPr>
          <a:xfrm>
            <a:off x="4090015" y="2591723"/>
            <a:ext cx="484554" cy="369332"/>
          </a:xfrm>
          <a:prstGeom prst="rect">
            <a:avLst/>
          </a:prstGeom>
          <a:noFill/>
        </p:spPr>
        <p:txBody>
          <a:bodyPr wrap="square" rtlCol="0">
            <a:spAutoFit/>
          </a:bodyPr>
          <a:lstStyle/>
          <a:p>
            <a:r>
              <a:rPr lang="en-GB" dirty="0"/>
              <a:t>+</a:t>
            </a:r>
          </a:p>
        </p:txBody>
      </p:sp>
      <p:sp>
        <p:nvSpPr>
          <p:cNvPr id="10" name="Oval 9">
            <a:extLst>
              <a:ext uri="{FF2B5EF4-FFF2-40B4-BE49-F238E27FC236}">
                <a16:creationId xmlns:a16="http://schemas.microsoft.com/office/drawing/2014/main" id="{1794A512-7B31-93B4-ECEE-2C43A01E7100}"/>
              </a:ext>
            </a:extLst>
          </p:cNvPr>
          <p:cNvSpPr/>
          <p:nvPr/>
        </p:nvSpPr>
        <p:spPr>
          <a:xfrm>
            <a:off x="4995862"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sp>
        <p:nvSpPr>
          <p:cNvPr id="13" name="Oval 12">
            <a:extLst>
              <a:ext uri="{FF2B5EF4-FFF2-40B4-BE49-F238E27FC236}">
                <a16:creationId xmlns:a16="http://schemas.microsoft.com/office/drawing/2014/main" id="{7CE7CEA0-81E2-7BE5-FD39-21846A5B4423}"/>
              </a:ext>
            </a:extLst>
          </p:cNvPr>
          <p:cNvSpPr/>
          <p:nvPr/>
        </p:nvSpPr>
        <p:spPr>
          <a:xfrm>
            <a:off x="579428"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14" name="Straight Arrow Connector 13">
            <a:extLst>
              <a:ext uri="{FF2B5EF4-FFF2-40B4-BE49-F238E27FC236}">
                <a16:creationId xmlns:a16="http://schemas.microsoft.com/office/drawing/2014/main" id="{6C89ACAB-3D88-4A47-6E42-CBD8C0B559E3}"/>
              </a:ext>
            </a:extLst>
          </p:cNvPr>
          <p:cNvCxnSpPr>
            <a:cxnSpLocks/>
            <a:stCxn id="13" idx="6"/>
            <a:endCxn id="6" idx="2"/>
          </p:cNvCxnSpPr>
          <p:nvPr/>
        </p:nvCxnSpPr>
        <p:spPr>
          <a:xfrm>
            <a:off x="1659428"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F0F77CB5-3C11-08EE-1A14-2A401B730A88}"/>
              </a:ext>
            </a:extLst>
          </p:cNvPr>
          <p:cNvSpPr txBox="1"/>
          <p:nvPr/>
        </p:nvSpPr>
        <p:spPr>
          <a:xfrm>
            <a:off x="1981259" y="2513201"/>
            <a:ext cx="484554" cy="369332"/>
          </a:xfrm>
          <a:prstGeom prst="rect">
            <a:avLst/>
          </a:prstGeom>
          <a:noFill/>
        </p:spPr>
        <p:txBody>
          <a:bodyPr wrap="square" rtlCol="0">
            <a:spAutoFit/>
          </a:bodyPr>
          <a:lstStyle/>
          <a:p>
            <a:r>
              <a:rPr lang="en-GB" dirty="0"/>
              <a:t>E</a:t>
            </a:r>
          </a:p>
        </p:txBody>
      </p:sp>
      <p:sp>
        <p:nvSpPr>
          <p:cNvPr id="16" name="Oval 15">
            <a:extLst>
              <a:ext uri="{FF2B5EF4-FFF2-40B4-BE49-F238E27FC236}">
                <a16:creationId xmlns:a16="http://schemas.microsoft.com/office/drawing/2014/main" id="{BF567BC3-175A-0178-1657-B72910B9D9C0}"/>
              </a:ext>
            </a:extLst>
          </p:cNvPr>
          <p:cNvSpPr/>
          <p:nvPr/>
        </p:nvSpPr>
        <p:spPr>
          <a:xfrm>
            <a:off x="7204079" y="2476133"/>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a:t>
            </a:r>
            <a:r>
              <a:rPr lang="en-SG" b="1" dirty="0">
                <a:solidFill>
                  <a:schemeClr val="bg1"/>
                </a:solidFill>
              </a:rPr>
              <a:t>+T., s</a:t>
            </a:r>
            <a:endParaRPr lang="en-GB" b="1" dirty="0">
              <a:solidFill>
                <a:schemeClr val="bg1"/>
              </a:solidFill>
            </a:endParaRPr>
          </a:p>
        </p:txBody>
      </p:sp>
      <p:cxnSp>
        <p:nvCxnSpPr>
          <p:cNvPr id="20" name="Straight Arrow Connector 19">
            <a:extLst>
              <a:ext uri="{FF2B5EF4-FFF2-40B4-BE49-F238E27FC236}">
                <a16:creationId xmlns:a16="http://schemas.microsoft.com/office/drawing/2014/main" id="{0051AAC2-7A6C-4A9E-0359-751BEE714B2B}"/>
              </a:ext>
            </a:extLst>
          </p:cNvPr>
          <p:cNvCxnSpPr>
            <a:cxnSpLocks/>
            <a:stCxn id="10" idx="6"/>
            <a:endCxn id="16" idx="2"/>
          </p:cNvCxnSpPr>
          <p:nvPr/>
        </p:nvCxnSpPr>
        <p:spPr>
          <a:xfrm>
            <a:off x="6075862" y="3016133"/>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1" name="TextBox 20">
            <a:extLst>
              <a:ext uri="{FF2B5EF4-FFF2-40B4-BE49-F238E27FC236}">
                <a16:creationId xmlns:a16="http://schemas.microsoft.com/office/drawing/2014/main" id="{5C585A22-1BE3-DA9B-63C7-BD599C6027CD}"/>
              </a:ext>
            </a:extLst>
          </p:cNvPr>
          <p:cNvSpPr txBox="1"/>
          <p:nvPr/>
        </p:nvSpPr>
        <p:spPr>
          <a:xfrm>
            <a:off x="6397693" y="2591723"/>
            <a:ext cx="484554" cy="369332"/>
          </a:xfrm>
          <a:prstGeom prst="rect">
            <a:avLst/>
          </a:prstGeom>
          <a:noFill/>
        </p:spPr>
        <p:txBody>
          <a:bodyPr wrap="square" rtlCol="0">
            <a:spAutoFit/>
          </a:bodyPr>
          <a:lstStyle/>
          <a:p>
            <a:r>
              <a:rPr lang="en-GB" dirty="0"/>
              <a:t>T</a:t>
            </a:r>
          </a:p>
        </p:txBody>
      </p:sp>
      <p:sp>
        <p:nvSpPr>
          <p:cNvPr id="24" name="Oval 23">
            <a:extLst>
              <a:ext uri="{FF2B5EF4-FFF2-40B4-BE49-F238E27FC236}">
                <a16:creationId xmlns:a16="http://schemas.microsoft.com/office/drawing/2014/main" id="{CC6CC352-32C1-3CBC-1551-81F563B4DDAF}"/>
              </a:ext>
            </a:extLst>
          </p:cNvPr>
          <p:cNvSpPr/>
          <p:nvPr/>
        </p:nvSpPr>
        <p:spPr>
          <a:xfrm>
            <a:off x="2760290"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5" name="Straight Arrow Connector 24">
            <a:extLst>
              <a:ext uri="{FF2B5EF4-FFF2-40B4-BE49-F238E27FC236}">
                <a16:creationId xmlns:a16="http://schemas.microsoft.com/office/drawing/2014/main" id="{247CEBF2-DB70-F457-8278-B49B61D4EA49}"/>
              </a:ext>
            </a:extLst>
          </p:cNvPr>
          <p:cNvCxnSpPr>
            <a:cxnSpLocks/>
            <a:stCxn id="24" idx="6"/>
            <a:endCxn id="27" idx="2"/>
          </p:cNvCxnSpPr>
          <p:nvPr/>
        </p:nvCxnSpPr>
        <p:spPr>
          <a:xfrm>
            <a:off x="3840290"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26" name="TextBox 25">
            <a:extLst>
              <a:ext uri="{FF2B5EF4-FFF2-40B4-BE49-F238E27FC236}">
                <a16:creationId xmlns:a16="http://schemas.microsoft.com/office/drawing/2014/main" id="{12B2472E-D203-E26E-6CA5-5CEBE4FC4651}"/>
              </a:ext>
            </a:extLst>
          </p:cNvPr>
          <p:cNvSpPr txBox="1"/>
          <p:nvPr/>
        </p:nvSpPr>
        <p:spPr>
          <a:xfrm>
            <a:off x="4062660" y="4143077"/>
            <a:ext cx="484554" cy="369332"/>
          </a:xfrm>
          <a:prstGeom prst="rect">
            <a:avLst/>
          </a:prstGeom>
          <a:noFill/>
        </p:spPr>
        <p:txBody>
          <a:bodyPr wrap="square" rtlCol="0">
            <a:spAutoFit/>
          </a:bodyPr>
          <a:lstStyle/>
          <a:p>
            <a:r>
              <a:rPr lang="en-GB" dirty="0"/>
              <a:t>E</a:t>
            </a:r>
          </a:p>
        </p:txBody>
      </p:sp>
      <p:sp>
        <p:nvSpPr>
          <p:cNvPr id="27" name="Oval 26">
            <a:extLst>
              <a:ext uri="{FF2B5EF4-FFF2-40B4-BE49-F238E27FC236}">
                <a16:creationId xmlns:a16="http://schemas.microsoft.com/office/drawing/2014/main" id="{0091BDDE-408E-245C-4D6C-5B1C3E69847E}"/>
              </a:ext>
            </a:extLst>
          </p:cNvPr>
          <p:cNvSpPr/>
          <p:nvPr/>
        </p:nvSpPr>
        <p:spPr>
          <a:xfrm>
            <a:off x="4968507"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sp>
        <p:nvSpPr>
          <p:cNvPr id="28" name="Oval 27">
            <a:extLst>
              <a:ext uri="{FF2B5EF4-FFF2-40B4-BE49-F238E27FC236}">
                <a16:creationId xmlns:a16="http://schemas.microsoft.com/office/drawing/2014/main" id="{C1BEB977-A5D8-2999-B86A-6DFDA79071C0}"/>
              </a:ext>
            </a:extLst>
          </p:cNvPr>
          <p:cNvSpPr/>
          <p:nvPr/>
        </p:nvSpPr>
        <p:spPr>
          <a:xfrm>
            <a:off x="552073"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29" name="Straight Arrow Connector 28">
            <a:extLst>
              <a:ext uri="{FF2B5EF4-FFF2-40B4-BE49-F238E27FC236}">
                <a16:creationId xmlns:a16="http://schemas.microsoft.com/office/drawing/2014/main" id="{FF71D50F-F16D-D5A1-BDB8-7B5BBCD51F77}"/>
              </a:ext>
            </a:extLst>
          </p:cNvPr>
          <p:cNvCxnSpPr>
            <a:cxnSpLocks/>
            <a:stCxn id="28" idx="6"/>
            <a:endCxn id="24" idx="2"/>
          </p:cNvCxnSpPr>
          <p:nvPr/>
        </p:nvCxnSpPr>
        <p:spPr>
          <a:xfrm>
            <a:off x="1632073"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F8A3E179-F0DF-9199-5182-BAF87D1F896B}"/>
              </a:ext>
            </a:extLst>
          </p:cNvPr>
          <p:cNvSpPr txBox="1"/>
          <p:nvPr/>
        </p:nvSpPr>
        <p:spPr>
          <a:xfrm>
            <a:off x="1953904" y="4064555"/>
            <a:ext cx="484554" cy="369332"/>
          </a:xfrm>
          <a:prstGeom prst="rect">
            <a:avLst/>
          </a:prstGeom>
          <a:noFill/>
        </p:spPr>
        <p:txBody>
          <a:bodyPr wrap="square" rtlCol="0">
            <a:spAutoFit/>
          </a:bodyPr>
          <a:lstStyle/>
          <a:p>
            <a:r>
              <a:rPr lang="en-GB" dirty="0"/>
              <a:t>(</a:t>
            </a:r>
          </a:p>
        </p:txBody>
      </p:sp>
      <p:sp>
        <p:nvSpPr>
          <p:cNvPr id="31" name="Oval 30">
            <a:extLst>
              <a:ext uri="{FF2B5EF4-FFF2-40B4-BE49-F238E27FC236}">
                <a16:creationId xmlns:a16="http://schemas.microsoft.com/office/drawing/2014/main" id="{5F207240-D3C7-7B97-1692-51ACE5A1B2D5}"/>
              </a:ext>
            </a:extLst>
          </p:cNvPr>
          <p:cNvSpPr/>
          <p:nvPr/>
        </p:nvSpPr>
        <p:spPr>
          <a:xfrm>
            <a:off x="7176724" y="4027487"/>
            <a:ext cx="1080000" cy="1080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GB" b="1" dirty="0">
                <a:solidFill>
                  <a:schemeClr val="bg1"/>
                </a:solidFill>
              </a:rPr>
              <a:t>(E)., s</a:t>
            </a:r>
          </a:p>
        </p:txBody>
      </p:sp>
      <p:cxnSp>
        <p:nvCxnSpPr>
          <p:cNvPr id="32" name="Straight Arrow Connector 31">
            <a:extLst>
              <a:ext uri="{FF2B5EF4-FFF2-40B4-BE49-F238E27FC236}">
                <a16:creationId xmlns:a16="http://schemas.microsoft.com/office/drawing/2014/main" id="{42B10EE3-DB51-322A-9D5F-7299B14E0BC5}"/>
              </a:ext>
            </a:extLst>
          </p:cNvPr>
          <p:cNvCxnSpPr>
            <a:cxnSpLocks/>
            <a:stCxn id="27" idx="6"/>
            <a:endCxn id="31" idx="2"/>
          </p:cNvCxnSpPr>
          <p:nvPr/>
        </p:nvCxnSpPr>
        <p:spPr>
          <a:xfrm>
            <a:off x="6048507" y="4567487"/>
            <a:ext cx="1128217" cy="0"/>
          </a:xfrm>
          <a:prstGeom prst="straightConnector1">
            <a:avLst/>
          </a:prstGeom>
          <a:ln w="38100">
            <a:solidFill>
              <a:schemeClr val="tx1"/>
            </a:solidFill>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33" name="TextBox 32">
            <a:extLst>
              <a:ext uri="{FF2B5EF4-FFF2-40B4-BE49-F238E27FC236}">
                <a16:creationId xmlns:a16="http://schemas.microsoft.com/office/drawing/2014/main" id="{653ED20B-717C-E780-45D7-6211BA837316}"/>
              </a:ext>
            </a:extLst>
          </p:cNvPr>
          <p:cNvSpPr txBox="1"/>
          <p:nvPr/>
        </p:nvSpPr>
        <p:spPr>
          <a:xfrm>
            <a:off x="6370338" y="4143077"/>
            <a:ext cx="484554" cy="369332"/>
          </a:xfrm>
          <a:prstGeom prst="rect">
            <a:avLst/>
          </a:prstGeom>
          <a:noFill/>
        </p:spPr>
        <p:txBody>
          <a:bodyPr wrap="square" rtlCol="0">
            <a:spAutoFit/>
          </a:bodyPr>
          <a:lstStyle/>
          <a:p>
            <a:r>
              <a:rPr lang="en-GB" dirty="0"/>
              <a:t>)</a:t>
            </a:r>
          </a:p>
        </p:txBody>
      </p:sp>
      <p:sp>
        <p:nvSpPr>
          <p:cNvPr id="34" name="TextBox 33">
            <a:extLst>
              <a:ext uri="{FF2B5EF4-FFF2-40B4-BE49-F238E27FC236}">
                <a16:creationId xmlns:a16="http://schemas.microsoft.com/office/drawing/2014/main" id="{9A35E6E4-772D-B625-5835-F8E569E7B587}"/>
              </a:ext>
            </a:extLst>
          </p:cNvPr>
          <p:cNvSpPr txBox="1"/>
          <p:nvPr/>
        </p:nvSpPr>
        <p:spPr>
          <a:xfrm>
            <a:off x="4574569" y="5588000"/>
            <a:ext cx="5985276" cy="1384995"/>
          </a:xfrm>
          <a:prstGeom prst="rect">
            <a:avLst/>
          </a:prstGeom>
          <a:noFill/>
        </p:spPr>
        <p:txBody>
          <a:bodyPr wrap="square" rtlCol="0">
            <a:spAutoFit/>
          </a:bodyPr>
          <a:lstStyle/>
          <a:p>
            <a:r>
              <a:rPr lang="en-GB" sz="2800" dirty="0"/>
              <a:t>Repeat for all possible pairs that satisfy the rule #1 and rule #2 condition!</a:t>
            </a:r>
            <a:endParaRPr lang="en-SG" sz="2800" dirty="0"/>
          </a:p>
          <a:p>
            <a:r>
              <a:rPr lang="en-GB" sz="2800" dirty="0"/>
              <a:t>.</a:t>
            </a:r>
            <a:endParaRPr lang="en-SG" sz="2800" dirty="0"/>
          </a:p>
        </p:txBody>
      </p:sp>
    </p:spTree>
    <p:extLst>
      <p:ext uri="{BB962C8B-B14F-4D97-AF65-F5344CB8AC3E}">
        <p14:creationId xmlns:p14="http://schemas.microsoft.com/office/powerpoint/2010/main" val="686247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3" name="Freeform: Shape 2">
            <a:extLst>
              <a:ext uri="{FF2B5EF4-FFF2-40B4-BE49-F238E27FC236}">
                <a16:creationId xmlns:a16="http://schemas.microsoft.com/office/drawing/2014/main" id="{E37AF8AF-1643-96B8-4218-AD65C5409D47}"/>
              </a:ext>
            </a:extLst>
          </p:cNvPr>
          <p:cNvSpPr/>
          <p:nvPr/>
        </p:nvSpPr>
        <p:spPr>
          <a:xfrm>
            <a:off x="1256774" y="4190413"/>
            <a:ext cx="3773854" cy="1750530"/>
          </a:xfrm>
          <a:custGeom>
            <a:avLst/>
            <a:gdLst>
              <a:gd name="connsiteX0" fmla="*/ 3557503 w 3773854"/>
              <a:gd name="connsiteY0" fmla="*/ 29895 h 1750530"/>
              <a:gd name="connsiteX1" fmla="*/ 2119472 w 3773854"/>
              <a:gd name="connsiteY1" fmla="*/ 61156 h 1750530"/>
              <a:gd name="connsiteX2" fmla="*/ 2049134 w 3773854"/>
              <a:gd name="connsiteY2" fmla="*/ 412849 h 1750530"/>
              <a:gd name="connsiteX3" fmla="*/ 2033503 w 3773854"/>
              <a:gd name="connsiteY3" fmla="*/ 741095 h 1750530"/>
              <a:gd name="connsiteX4" fmla="*/ 1001872 w 3773854"/>
              <a:gd name="connsiteY4" fmla="*/ 991187 h 1750530"/>
              <a:gd name="connsiteX5" fmla="*/ 157811 w 3773854"/>
              <a:gd name="connsiteY5" fmla="*/ 1452295 h 1750530"/>
              <a:gd name="connsiteX6" fmla="*/ 165626 w 3773854"/>
              <a:gd name="connsiteY6" fmla="*/ 1725833 h 1750530"/>
              <a:gd name="connsiteX7" fmla="*/ 1853749 w 3773854"/>
              <a:gd name="connsiteY7" fmla="*/ 1710202 h 1750530"/>
              <a:gd name="connsiteX8" fmla="*/ 1705257 w 3773854"/>
              <a:gd name="connsiteY8" fmla="*/ 1483556 h 1750530"/>
              <a:gd name="connsiteX9" fmla="*/ 1291041 w 3773854"/>
              <a:gd name="connsiteY9" fmla="*/ 1460110 h 1750530"/>
              <a:gd name="connsiteX10" fmla="*/ 2361749 w 3773854"/>
              <a:gd name="connsiteY10" fmla="*/ 811433 h 1750530"/>
              <a:gd name="connsiteX11" fmla="*/ 2369564 w 3773854"/>
              <a:gd name="connsiteY11" fmla="*/ 389402 h 1750530"/>
              <a:gd name="connsiteX12" fmla="*/ 3643472 w 3773854"/>
              <a:gd name="connsiteY12" fmla="*/ 373772 h 1750530"/>
              <a:gd name="connsiteX13" fmla="*/ 3557503 w 3773854"/>
              <a:gd name="connsiteY13" fmla="*/ 29895 h 175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773854" h="1750530">
                <a:moveTo>
                  <a:pt x="3557503" y="29895"/>
                </a:moveTo>
                <a:cubicBezTo>
                  <a:pt x="3303503" y="-22208"/>
                  <a:pt x="2370867" y="-2670"/>
                  <a:pt x="2119472" y="61156"/>
                </a:cubicBezTo>
                <a:cubicBezTo>
                  <a:pt x="1868077" y="124982"/>
                  <a:pt x="2063462" y="299526"/>
                  <a:pt x="2049134" y="412849"/>
                </a:cubicBezTo>
                <a:cubicBezTo>
                  <a:pt x="2034806" y="526172"/>
                  <a:pt x="2208047" y="644705"/>
                  <a:pt x="2033503" y="741095"/>
                </a:cubicBezTo>
                <a:cubicBezTo>
                  <a:pt x="1858959" y="837485"/>
                  <a:pt x="1314487" y="872654"/>
                  <a:pt x="1001872" y="991187"/>
                </a:cubicBezTo>
                <a:cubicBezTo>
                  <a:pt x="689257" y="1109720"/>
                  <a:pt x="297185" y="1329854"/>
                  <a:pt x="157811" y="1452295"/>
                </a:cubicBezTo>
                <a:cubicBezTo>
                  <a:pt x="18437" y="1574736"/>
                  <a:pt x="-117030" y="1682848"/>
                  <a:pt x="165626" y="1725833"/>
                </a:cubicBezTo>
                <a:cubicBezTo>
                  <a:pt x="448282" y="1768818"/>
                  <a:pt x="1597144" y="1750582"/>
                  <a:pt x="1853749" y="1710202"/>
                </a:cubicBezTo>
                <a:cubicBezTo>
                  <a:pt x="2110354" y="1669823"/>
                  <a:pt x="1799042" y="1525238"/>
                  <a:pt x="1705257" y="1483556"/>
                </a:cubicBezTo>
                <a:cubicBezTo>
                  <a:pt x="1611472" y="1441874"/>
                  <a:pt x="1181626" y="1572131"/>
                  <a:pt x="1291041" y="1460110"/>
                </a:cubicBezTo>
                <a:cubicBezTo>
                  <a:pt x="1400456" y="1348089"/>
                  <a:pt x="2181995" y="989884"/>
                  <a:pt x="2361749" y="811433"/>
                </a:cubicBezTo>
                <a:cubicBezTo>
                  <a:pt x="2541503" y="632982"/>
                  <a:pt x="2155943" y="462346"/>
                  <a:pt x="2369564" y="389402"/>
                </a:cubicBezTo>
                <a:cubicBezTo>
                  <a:pt x="2583185" y="316458"/>
                  <a:pt x="3442877" y="432387"/>
                  <a:pt x="3643472" y="373772"/>
                </a:cubicBezTo>
                <a:cubicBezTo>
                  <a:pt x="3844067" y="315157"/>
                  <a:pt x="3811503" y="81998"/>
                  <a:pt x="3557503" y="29895"/>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F770E140-0325-7E0B-BB60-5943BB841329}"/>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26603293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#3</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Rule #3, Closure rule</a:t>
            </a:r>
            <a:r>
              <a:rPr lang="en-GB" dirty="0"/>
              <a:t>: If there is an LR(1) item of the form (A → α.𝑋β, s) used as the current state and </a:t>
            </a:r>
            <a:r>
              <a:rPr lang="en-GB" b="1" dirty="0"/>
              <a:t>𝑋 is a non-terminal</a:t>
            </a:r>
            <a:r>
              <a:rPr lang="en-GB" dirty="0"/>
              <a:t>, for each production 𝑋 → γ and each terminal 𝑎 in FIRST*(βs), add the item (𝑋 → .γ, 𝑎) to the current state if it is not already there.</a:t>
            </a:r>
          </a:p>
          <a:p>
            <a:pPr marL="0" indent="0">
              <a:buNone/>
            </a:pPr>
            <a:r>
              <a:rPr lang="en-GB" dirty="0"/>
              <a:t>This means that some states in our FSM will combine together!</a:t>
            </a:r>
            <a:endParaRPr lang="en-SG" dirty="0"/>
          </a:p>
          <a:p>
            <a:pPr marL="0" indent="0">
              <a:buNone/>
            </a:pPr>
            <a:endParaRPr lang="en-SG" dirty="0"/>
          </a:p>
        </p:txBody>
      </p:sp>
    </p:spTree>
    <p:extLst>
      <p:ext uri="{BB962C8B-B14F-4D97-AF65-F5344CB8AC3E}">
        <p14:creationId xmlns:p14="http://schemas.microsoft.com/office/powerpoint/2010/main" val="26958917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#3</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Rule #3, Closure rule</a:t>
            </a:r>
            <a:r>
              <a:rPr lang="en-GB" dirty="0"/>
              <a:t>: If there is an LR(1) item of the form (A → α.𝑋β, s) used as the current state and </a:t>
            </a:r>
            <a:r>
              <a:rPr lang="en-GB" b="1" dirty="0"/>
              <a:t>𝑋 is a non-terminal</a:t>
            </a:r>
            <a:r>
              <a:rPr lang="en-GB" dirty="0"/>
              <a:t>, for each production 𝑋 → γ and each terminal 𝑎 in FIRST*(βs), add the item (𝑋 → .γ, 𝑎) to the current state if it is not already there.</a:t>
            </a:r>
            <a:endParaRPr lang="en-GB" b="1" dirty="0"/>
          </a:p>
          <a:p>
            <a:pPr marL="0" indent="0">
              <a:buNone/>
            </a:pPr>
            <a:r>
              <a:rPr lang="en-GB" b="1" dirty="0"/>
              <a:t>For instance:</a:t>
            </a:r>
            <a:r>
              <a:rPr lang="en-GB" dirty="0"/>
              <a:t> Consider the LR(1) item </a:t>
            </a:r>
            <a:r>
              <a:rPr lang="en-SG" dirty="0"/>
              <a:t>(E → .T, $).</a:t>
            </a:r>
          </a:p>
          <a:p>
            <a:pPr marL="0" indent="0">
              <a:buNone/>
            </a:pPr>
            <a:r>
              <a:rPr lang="en-SG" dirty="0"/>
              <a:t>Here, </a:t>
            </a:r>
            <a:r>
              <a:rPr lang="en-GB" dirty="0"/>
              <a:t>α = empty string</a:t>
            </a:r>
            <a:r>
              <a:rPr lang="en-SG" dirty="0"/>
              <a:t>, X = T, and </a:t>
            </a:r>
            <a:r>
              <a:rPr lang="en-GB" dirty="0"/>
              <a:t>β = empty string and s = $.</a:t>
            </a:r>
            <a:br>
              <a:rPr lang="en-GB" dirty="0"/>
            </a:br>
            <a:r>
              <a:rPr lang="en-GB" dirty="0"/>
              <a:t>We have FIRST($) = {$}.</a:t>
            </a:r>
          </a:p>
          <a:p>
            <a:pPr marL="0" indent="0">
              <a:buNone/>
            </a:pPr>
            <a:r>
              <a:rPr lang="en-GB" dirty="0"/>
              <a:t>We will look for all LR(1) items having productions with T on the left hand side, and apply the dot on the leftmost position of the left-hand side. That is only two possibilities: </a:t>
            </a:r>
            <a:r>
              <a:rPr lang="en-SG" dirty="0"/>
              <a:t>(T → .int, $) and (T → .(E), $).</a:t>
            </a:r>
          </a:p>
          <a:p>
            <a:pPr marL="0" indent="0">
              <a:buNone/>
            </a:pPr>
            <a:r>
              <a:rPr lang="en-SG" dirty="0"/>
              <a:t>Rule #3 merges these LR(1) items into to the same state as (E → .T, $).</a:t>
            </a:r>
            <a:endParaRPr lang="en-GB" dirty="0"/>
          </a:p>
        </p:txBody>
      </p:sp>
    </p:spTree>
    <p:extLst>
      <p:ext uri="{BB962C8B-B14F-4D97-AF65-F5344CB8AC3E}">
        <p14:creationId xmlns:p14="http://schemas.microsoft.com/office/powerpoint/2010/main" val="2077722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EDCF778-7342-FB00-49BD-8FE5D702A721}"/>
              </a:ext>
            </a:extLst>
          </p:cNvPr>
          <p:cNvSpPr/>
          <p:nvPr/>
        </p:nvSpPr>
        <p:spPr>
          <a:xfrm>
            <a:off x="1158014" y="1611813"/>
            <a:ext cx="2045072" cy="295277"/>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Freeform: Shape 2">
            <a:extLst>
              <a:ext uri="{FF2B5EF4-FFF2-40B4-BE49-F238E27FC236}">
                <a16:creationId xmlns:a16="http://schemas.microsoft.com/office/drawing/2014/main" id="{BD875B90-F546-92D7-441C-B3B338A431F1}"/>
              </a:ext>
            </a:extLst>
          </p:cNvPr>
          <p:cNvSpPr/>
          <p:nvPr/>
        </p:nvSpPr>
        <p:spPr>
          <a:xfrm>
            <a:off x="1310414" y="2584827"/>
            <a:ext cx="1892672" cy="580404"/>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13B33A78-577E-4EE9-0D80-F3DA8A6B5712}"/>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19539353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E16E-A1E6-373F-93BF-48B6CDB602BB}"/>
              </a:ext>
            </a:extLst>
          </p:cNvPr>
          <p:cNvSpPr>
            <a:spLocks noGrp="1"/>
          </p:cNvSpPr>
          <p:nvPr>
            <p:ph type="title"/>
          </p:nvPr>
        </p:nvSpPr>
        <p:spPr/>
        <p:txBody>
          <a:bodyPr/>
          <a:lstStyle/>
          <a:p>
            <a:r>
              <a:rPr lang="en-GB" dirty="0"/>
              <a:t>Transition logic rules: Rule #4</a:t>
            </a:r>
            <a:endParaRPr lang="en-SG" dirty="0"/>
          </a:p>
        </p:txBody>
      </p:sp>
      <p:sp>
        <p:nvSpPr>
          <p:cNvPr id="3" name="Content Placeholder 2">
            <a:extLst>
              <a:ext uri="{FF2B5EF4-FFF2-40B4-BE49-F238E27FC236}">
                <a16:creationId xmlns:a16="http://schemas.microsoft.com/office/drawing/2014/main" id="{112B3314-1744-6304-B054-4D0CA0DF94E7}"/>
              </a:ext>
            </a:extLst>
          </p:cNvPr>
          <p:cNvSpPr>
            <a:spLocks noGrp="1"/>
          </p:cNvSpPr>
          <p:nvPr>
            <p:ph idx="1"/>
          </p:nvPr>
        </p:nvSpPr>
        <p:spPr>
          <a:xfrm>
            <a:off x="838200" y="1825624"/>
            <a:ext cx="10515600" cy="5032375"/>
          </a:xfrm>
        </p:spPr>
        <p:txBody>
          <a:bodyPr>
            <a:normAutofit/>
          </a:bodyPr>
          <a:lstStyle/>
          <a:p>
            <a:pPr marL="0" indent="0">
              <a:buNone/>
            </a:pPr>
            <a:r>
              <a:rPr lang="en-GB" b="1" dirty="0"/>
              <a:t>Repeat rules #1, #2 and #3 on all LR(1) items, resolving all possible connections and merging and you will obtain the “simplest” version of the FSM to use for your LR(1) parser!</a:t>
            </a:r>
          </a:p>
          <a:p>
            <a:pPr marL="0" indent="0">
              <a:buNone/>
            </a:pPr>
            <a:r>
              <a:rPr lang="en-GB" i="1" dirty="0"/>
              <a:t>(Obviously, not implementing that!)</a:t>
            </a:r>
          </a:p>
          <a:p>
            <a:pPr marL="0" indent="0">
              <a:buNone/>
            </a:pPr>
            <a:endParaRPr lang="en-GB" b="1" dirty="0"/>
          </a:p>
          <a:p>
            <a:pPr marL="0" indent="0">
              <a:buNone/>
            </a:pPr>
            <a:r>
              <a:rPr lang="en-GB" b="1" dirty="0"/>
              <a:t>Rule #4, Start State rule</a:t>
            </a:r>
            <a:r>
              <a:rPr lang="en-GB" dirty="0"/>
              <a:t>: The start state of the LR(1) parsing FSM will be the one that contains the item (S → . E, $), where S is the start symbol and $ is the end-of-input marker.</a:t>
            </a:r>
          </a:p>
          <a:p>
            <a:pPr marL="0" indent="0">
              <a:buNone/>
            </a:pPr>
            <a:r>
              <a:rPr lang="en-GB" i="1" dirty="0"/>
              <a:t>(Note: it might require that you rewrite your CFG so that it only has one production rule using the start symbol S).</a:t>
            </a:r>
            <a:endParaRPr lang="en-SG" i="1" dirty="0"/>
          </a:p>
        </p:txBody>
      </p:sp>
    </p:spTree>
    <p:extLst>
      <p:ext uri="{BB962C8B-B14F-4D97-AF65-F5344CB8AC3E}">
        <p14:creationId xmlns:p14="http://schemas.microsoft.com/office/powerpoint/2010/main" val="1155096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calendar&#10;&#10;Description automatically generated">
            <a:extLst>
              <a:ext uri="{FF2B5EF4-FFF2-40B4-BE49-F238E27FC236}">
                <a16:creationId xmlns:a16="http://schemas.microsoft.com/office/drawing/2014/main" id="{A93D3D0C-2FD6-15CE-2536-CDFE06C65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774" y="0"/>
            <a:ext cx="9150452" cy="6858000"/>
          </a:xfrm>
          <a:prstGeom prst="rect">
            <a:avLst/>
          </a:prstGeom>
        </p:spPr>
      </p:pic>
      <p:sp>
        <p:nvSpPr>
          <p:cNvPr id="7" name="Title 6">
            <a:extLst>
              <a:ext uri="{FF2B5EF4-FFF2-40B4-BE49-F238E27FC236}">
                <a16:creationId xmlns:a16="http://schemas.microsoft.com/office/drawing/2014/main" id="{204D6719-8FA5-49AB-D90D-4B02016CA370}"/>
              </a:ext>
            </a:extLst>
          </p:cNvPr>
          <p:cNvSpPr>
            <a:spLocks noGrp="1"/>
          </p:cNvSpPr>
          <p:nvPr>
            <p:ph type="title"/>
          </p:nvPr>
        </p:nvSpPr>
        <p:spPr>
          <a:xfrm>
            <a:off x="838200" y="139960"/>
            <a:ext cx="10515600" cy="662474"/>
          </a:xfrm>
          <a:solidFill>
            <a:schemeClr val="bg1"/>
          </a:solidFill>
        </p:spPr>
        <p:txBody>
          <a:bodyPr>
            <a:normAutofit fontScale="90000"/>
          </a:bodyPr>
          <a:lstStyle/>
          <a:p>
            <a:r>
              <a:rPr lang="en-GB" dirty="0"/>
              <a:t>Tedious, not fun, but technically possible</a:t>
            </a:r>
            <a:endParaRPr lang="en-SG" dirty="0"/>
          </a:p>
        </p:txBody>
      </p:sp>
      <p:sp>
        <p:nvSpPr>
          <p:cNvPr id="2" name="Freeform: Shape 1">
            <a:extLst>
              <a:ext uri="{FF2B5EF4-FFF2-40B4-BE49-F238E27FC236}">
                <a16:creationId xmlns:a16="http://schemas.microsoft.com/office/drawing/2014/main" id="{BEDCF778-7342-FB00-49BD-8FE5D702A721}"/>
              </a:ext>
            </a:extLst>
          </p:cNvPr>
          <p:cNvSpPr/>
          <p:nvPr/>
        </p:nvSpPr>
        <p:spPr>
          <a:xfrm>
            <a:off x="1158014" y="1369536"/>
            <a:ext cx="2045072" cy="295277"/>
          </a:xfrm>
          <a:custGeom>
            <a:avLst/>
            <a:gdLst>
              <a:gd name="connsiteX0" fmla="*/ 1827463 w 2045072"/>
              <a:gd name="connsiteY0" fmla="*/ 37231 h 295277"/>
              <a:gd name="connsiteX1" fmla="*/ 178417 w 2045072"/>
              <a:gd name="connsiteY1" fmla="*/ 21600 h 295277"/>
              <a:gd name="connsiteX2" fmla="*/ 233124 w 2045072"/>
              <a:gd name="connsiteY2" fmla="*/ 240431 h 295277"/>
              <a:gd name="connsiteX3" fmla="*/ 1850909 w 2045072"/>
              <a:gd name="connsiteY3" fmla="*/ 279508 h 295277"/>
              <a:gd name="connsiteX4" fmla="*/ 1827463 w 2045072"/>
              <a:gd name="connsiteY4" fmla="*/ 37231 h 29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5072" h="295277">
                <a:moveTo>
                  <a:pt x="1827463" y="37231"/>
                </a:moveTo>
                <a:cubicBezTo>
                  <a:pt x="1548714" y="-5754"/>
                  <a:pt x="444140" y="-12267"/>
                  <a:pt x="178417" y="21600"/>
                </a:cubicBezTo>
                <a:cubicBezTo>
                  <a:pt x="-87306" y="55467"/>
                  <a:pt x="-45625" y="197446"/>
                  <a:pt x="233124" y="240431"/>
                </a:cubicBezTo>
                <a:cubicBezTo>
                  <a:pt x="511873" y="283416"/>
                  <a:pt x="1581278" y="315980"/>
                  <a:pt x="1850909" y="279508"/>
                </a:cubicBezTo>
                <a:cubicBezTo>
                  <a:pt x="2120540" y="243036"/>
                  <a:pt x="2106212" y="80216"/>
                  <a:pt x="1827463" y="37231"/>
                </a:cubicBezTo>
                <a:close/>
              </a:path>
            </a:pathLst>
          </a:custGeom>
          <a:noFill/>
          <a:ln w="38100">
            <a:solidFill>
              <a:srgbClr val="7030A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6" name="TextBox 5">
            <a:extLst>
              <a:ext uri="{FF2B5EF4-FFF2-40B4-BE49-F238E27FC236}">
                <a16:creationId xmlns:a16="http://schemas.microsoft.com/office/drawing/2014/main" id="{7C8AEE9D-8E3F-0D93-13AD-25E8B580AEB1}"/>
              </a:ext>
            </a:extLst>
          </p:cNvPr>
          <p:cNvSpPr txBox="1"/>
          <p:nvPr/>
        </p:nvSpPr>
        <p:spPr>
          <a:xfrm>
            <a:off x="191943" y="6150114"/>
            <a:ext cx="4767385" cy="707886"/>
          </a:xfrm>
          <a:prstGeom prst="rect">
            <a:avLst/>
          </a:prstGeom>
          <a:noFill/>
        </p:spPr>
        <p:txBody>
          <a:bodyPr wrap="square" rtlCol="0">
            <a:spAutoFit/>
          </a:bodyPr>
          <a:lstStyle/>
          <a:p>
            <a:r>
              <a:rPr lang="en-GB" sz="2000" b="1" dirty="0"/>
              <a:t>Note: </a:t>
            </a:r>
            <a:r>
              <a:rPr lang="en-GB" sz="2000" dirty="0"/>
              <a:t>it is incomplete!</a:t>
            </a:r>
            <a:br>
              <a:rPr lang="en-GB" sz="2000" dirty="0"/>
            </a:br>
            <a:r>
              <a:rPr lang="en-GB" sz="2000" dirty="0"/>
              <a:t>Missing ( and int as terminals in LR(1) items!</a:t>
            </a:r>
            <a:endParaRPr lang="en-SG" sz="2000" dirty="0"/>
          </a:p>
        </p:txBody>
      </p:sp>
    </p:spTree>
    <p:extLst>
      <p:ext uri="{BB962C8B-B14F-4D97-AF65-F5344CB8AC3E}">
        <p14:creationId xmlns:p14="http://schemas.microsoft.com/office/powerpoint/2010/main" val="18161937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40DCC-0614-54EC-FB20-DDA3B635BB51}"/>
              </a:ext>
            </a:extLst>
          </p:cNvPr>
          <p:cNvSpPr>
            <a:spLocks noGrp="1"/>
          </p:cNvSpPr>
          <p:nvPr>
            <p:ph type="title"/>
          </p:nvPr>
        </p:nvSpPr>
        <p:spPr/>
        <p:txBody>
          <a:bodyPr/>
          <a:lstStyle/>
          <a:p>
            <a:r>
              <a:rPr lang="en-GB" dirty="0"/>
              <a:t>Getting there!</a:t>
            </a:r>
            <a:endParaRPr lang="en-SG" dirty="0"/>
          </a:p>
        </p:txBody>
      </p:sp>
      <p:sp>
        <p:nvSpPr>
          <p:cNvPr id="3" name="Content Placeholder 2">
            <a:extLst>
              <a:ext uri="{FF2B5EF4-FFF2-40B4-BE49-F238E27FC236}">
                <a16:creationId xmlns:a16="http://schemas.microsoft.com/office/drawing/2014/main" id="{70195C12-E298-C9DE-1664-AF55F060CBB3}"/>
              </a:ext>
            </a:extLst>
          </p:cNvPr>
          <p:cNvSpPr>
            <a:spLocks noGrp="1"/>
          </p:cNvSpPr>
          <p:nvPr>
            <p:ph idx="1"/>
          </p:nvPr>
        </p:nvSpPr>
        <p:spPr>
          <a:xfrm>
            <a:off x="838199" y="1825624"/>
            <a:ext cx="11080263" cy="5032375"/>
          </a:xfrm>
        </p:spPr>
        <p:txBody>
          <a:bodyPr>
            <a:normAutofit/>
          </a:bodyPr>
          <a:lstStyle/>
          <a:p>
            <a:pPr marL="0" indent="0">
              <a:buNone/>
            </a:pPr>
            <a:r>
              <a:rPr lang="en-GB" dirty="0"/>
              <a:t>Ok, so now, it means that we have all it takes to produce a (massive) </a:t>
            </a:r>
            <a:r>
              <a:rPr lang="en-GB" b="1" dirty="0"/>
              <a:t>deterministic</a:t>
            </a:r>
            <a:r>
              <a:rPr lang="en-GB" dirty="0"/>
              <a:t> </a:t>
            </a:r>
            <a:r>
              <a:rPr lang="en-GB" b="1" dirty="0"/>
              <a:t>FSM.</a:t>
            </a:r>
          </a:p>
          <a:p>
            <a:pPr marL="0" indent="0">
              <a:buNone/>
            </a:pPr>
            <a:r>
              <a:rPr lang="en-GB" i="1" dirty="0"/>
              <a:t>(Implementing and automating that would be a nightmare though, so I am somewhat glad we are not going to do it!)</a:t>
            </a:r>
          </a:p>
          <a:p>
            <a:r>
              <a:rPr lang="en-GB" dirty="0"/>
              <a:t>This FSM is called the </a:t>
            </a:r>
            <a:r>
              <a:rPr lang="en-GB" b="1" dirty="0"/>
              <a:t>LR(1) finite state automata </a:t>
            </a:r>
            <a:r>
              <a:rPr lang="en-GB" dirty="0"/>
              <a:t>for the CFG and will be </a:t>
            </a:r>
            <a:r>
              <a:rPr lang="en-GB" b="1" dirty="0"/>
              <a:t>used by the LR(1) parser</a:t>
            </a:r>
            <a:r>
              <a:rPr lang="en-GB" dirty="0"/>
              <a:t>, in an almost identical way as shown earlier.</a:t>
            </a:r>
          </a:p>
          <a:p>
            <a:r>
              <a:rPr lang="en-GB" dirty="0"/>
              <a:t>The LR(1) will now run as follows, using one of four possible actions, being: shift, reduce using a production rule of some sort, accept, reject.</a:t>
            </a:r>
          </a:p>
          <a:p>
            <a:r>
              <a:rPr lang="en-GB" b="1" dirty="0"/>
              <a:t>Our last step is then to assign a parser action to every FSM state!</a:t>
            </a:r>
            <a:endParaRPr lang="en-SG" b="1" dirty="0"/>
          </a:p>
          <a:p>
            <a:endParaRPr lang="en-SG" dirty="0"/>
          </a:p>
        </p:txBody>
      </p:sp>
    </p:spTree>
    <p:extLst>
      <p:ext uri="{BB962C8B-B14F-4D97-AF65-F5344CB8AC3E}">
        <p14:creationId xmlns:p14="http://schemas.microsoft.com/office/powerpoint/2010/main" val="39978973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a:pPr>
                <a:r>
                  <a:rPr lang="en-GB" b="1" dirty="0"/>
                  <a:t>Shift</a:t>
                </a:r>
                <a:r>
                  <a:rPr lang="en-GB" dirty="0"/>
                  <a:t>: If the FSM stops in a state containing an LR(1) item of the form (A → α.𝑋β, s) and the next input symbol is 𝑋 (a terminal symbol), the parser will shift.</a:t>
                </a:r>
                <a:br>
                  <a:rPr lang="en-GB" dirty="0"/>
                </a:br>
                <a:r>
                  <a:rPr lang="en-GB" dirty="0"/>
                  <a:t>This will move the input symbol </a:t>
                </a:r>
                <a14:m>
                  <m:oMath xmlns:m="http://schemas.openxmlformats.org/officeDocument/2006/math">
                    <m:r>
                      <a:rPr lang="en-GB" i="1" dirty="0" smtClean="0">
                        <a:latin typeface="Cambria Math" panose="02040503050406030204" pitchFamily="18" charset="0"/>
                      </a:rPr>
                      <m:t>𝑋</m:t>
                    </m:r>
                  </m:oMath>
                </a14:m>
                <a:r>
                  <a:rPr lang="en-GB" dirty="0"/>
                  <a:t> onto the stack. </a:t>
                </a:r>
              </a:p>
            </p:txBody>
          </p:sp>
        </mc:Choice>
        <mc:Fallback xmlns="">
          <p:sp>
            <p:nvSpPr>
              <p:cNvPr id="3" name="Content Placeholder 2">
                <a:extLst>
                  <a:ext uri="{FF2B5EF4-FFF2-40B4-BE49-F238E27FC236}">
                    <a16:creationId xmlns:a16="http://schemas.microsoft.com/office/drawing/2014/main" id="{6C17A043-B72A-E6DA-60E9-9E5B30D0D5A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74540961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2"/>
            </a:pPr>
            <a:r>
              <a:rPr lang="en-GB" b="1" dirty="0"/>
              <a:t>Reduce</a:t>
            </a:r>
            <a:r>
              <a:rPr lang="en-GB" dirty="0"/>
              <a:t>: If the parser is in a state containing an LR(1) item of the form (A → α. , s) and the next input symbol on the right side of the separator </a:t>
            </a:r>
            <a:r>
              <a:rPr lang="en-GB" dirty="0">
                <a:solidFill>
                  <a:srgbClr val="FF0000"/>
                </a:solidFill>
              </a:rPr>
              <a:t>|</a:t>
            </a:r>
            <a:r>
              <a:rPr lang="en-GB" dirty="0"/>
              <a:t> matches the lookahead symbol s…</a:t>
            </a:r>
            <a:br>
              <a:rPr lang="en-GB" dirty="0"/>
            </a:br>
            <a:r>
              <a:rPr lang="en-GB" dirty="0"/>
              <a:t>Then the parser will perform a reduction by using the production rule A → α in reverse and will update the stack on the left side of </a:t>
            </a:r>
            <a:r>
              <a:rPr lang="en-GB" dirty="0">
                <a:solidFill>
                  <a:srgbClr val="FF0000"/>
                </a:solidFill>
              </a:rPr>
              <a:t>|</a:t>
            </a:r>
            <a:r>
              <a:rPr lang="en-GB" dirty="0"/>
              <a:t>.</a:t>
            </a:r>
          </a:p>
        </p:txBody>
      </p:sp>
    </p:spTree>
    <p:extLst>
      <p:ext uri="{BB962C8B-B14F-4D97-AF65-F5344CB8AC3E}">
        <p14:creationId xmlns:p14="http://schemas.microsoft.com/office/powerpoint/2010/main" val="1252779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3"/>
            </a:pPr>
            <a:r>
              <a:rPr lang="en-GB" b="1" dirty="0"/>
              <a:t>Accept</a:t>
            </a:r>
            <a:r>
              <a:rPr lang="en-GB" dirty="0"/>
              <a:t>: If the FSM stops in the state containing an LR(1) item of the form (S → E. , $) and the next input symbol after </a:t>
            </a:r>
            <a:r>
              <a:rPr lang="en-GB" dirty="0">
                <a:solidFill>
                  <a:srgbClr val="FF0000"/>
                </a:solidFill>
              </a:rPr>
              <a:t>| </a:t>
            </a:r>
            <a:r>
              <a:rPr lang="en-GB" dirty="0"/>
              <a:t>is $ (the end-of-input marker), the LR(1) parser will accept the input string as valid.</a:t>
            </a:r>
          </a:p>
          <a:p>
            <a:pPr marL="0" indent="0">
              <a:buNone/>
            </a:pPr>
            <a:r>
              <a:rPr lang="en-GB" dirty="0"/>
              <a:t>The produced derivation is then our answer!</a:t>
            </a:r>
          </a:p>
        </p:txBody>
      </p:sp>
    </p:spTree>
    <p:extLst>
      <p:ext uri="{BB962C8B-B14F-4D97-AF65-F5344CB8AC3E}">
        <p14:creationId xmlns:p14="http://schemas.microsoft.com/office/powerpoint/2010/main" val="199159043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52789-E23A-4D7E-21DF-7F79E36EC84B}"/>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C17A043-B72A-E6DA-60E9-9E5B30D0D5A1}"/>
              </a:ext>
            </a:extLst>
          </p:cNvPr>
          <p:cNvSpPr>
            <a:spLocks noGrp="1"/>
          </p:cNvSpPr>
          <p:nvPr>
            <p:ph idx="1"/>
          </p:nvPr>
        </p:nvSpPr>
        <p:spPr>
          <a:xfrm>
            <a:off x="838200" y="1825624"/>
            <a:ext cx="10515600" cy="5032375"/>
          </a:xfrm>
        </p:spPr>
        <p:txBody>
          <a:bodyPr>
            <a:normAutofit/>
          </a:bodyPr>
          <a:lstStyle/>
          <a:p>
            <a:pPr marL="0" indent="0">
              <a:buNone/>
            </a:pPr>
            <a:r>
              <a:rPr lang="en-GB" b="1" dirty="0"/>
              <a:t>Our last step is then to assign a parser action to every FSM state!</a:t>
            </a:r>
            <a:endParaRPr lang="en-SG" b="1" dirty="0"/>
          </a:p>
          <a:p>
            <a:pPr marL="514350" indent="-514350">
              <a:buFont typeface="+mj-lt"/>
              <a:buAutoNum type="arabicPeriod" startAt="4"/>
            </a:pPr>
            <a:r>
              <a:rPr lang="en-GB" b="1" dirty="0"/>
              <a:t>Error</a:t>
            </a:r>
            <a:r>
              <a:rPr lang="en-GB" dirty="0"/>
              <a:t>: If the parser encounters an input symbol that does not correspond to any valid transition in the FSM, it will report a parsing/syntax error.</a:t>
            </a:r>
          </a:p>
          <a:p>
            <a:pPr marL="514350" indent="-514350">
              <a:buFont typeface="+mj-lt"/>
              <a:buAutoNum type="arabicPeriod" startAt="4"/>
            </a:pPr>
            <a:endParaRPr lang="en-GB" dirty="0"/>
          </a:p>
        </p:txBody>
      </p:sp>
    </p:spTree>
    <p:extLst>
      <p:ext uri="{BB962C8B-B14F-4D97-AF65-F5344CB8AC3E}">
        <p14:creationId xmlns:p14="http://schemas.microsoft.com/office/powerpoint/2010/main" val="31862198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6BE9A-3C20-619B-9791-85EF629B47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20FB8-134F-32A8-B445-F379491461F2}"/>
              </a:ext>
            </a:extLst>
          </p:cNvPr>
          <p:cNvSpPr>
            <a:spLocks noGrp="1"/>
          </p:cNvSpPr>
          <p:nvPr>
            <p:ph type="title"/>
          </p:nvPr>
        </p:nvSpPr>
        <p:spPr/>
        <p:txBody>
          <a:bodyPr/>
          <a:lstStyle/>
          <a:p>
            <a:r>
              <a:rPr lang="en-GB" dirty="0"/>
              <a:t>Lifting the final shift-reduce conflict</a:t>
            </a:r>
            <a:endParaRPr lang="en-SG" dirty="0"/>
          </a:p>
        </p:txBody>
      </p:sp>
      <p:sp>
        <p:nvSpPr>
          <p:cNvPr id="3" name="Content Placeholder 2">
            <a:extLst>
              <a:ext uri="{FF2B5EF4-FFF2-40B4-BE49-F238E27FC236}">
                <a16:creationId xmlns:a16="http://schemas.microsoft.com/office/drawing/2014/main" id="{6DE5EEAC-DA58-3EE3-2E8C-6601A0872E91}"/>
              </a:ext>
            </a:extLst>
          </p:cNvPr>
          <p:cNvSpPr>
            <a:spLocks noGrp="1"/>
          </p:cNvSpPr>
          <p:nvPr>
            <p:ph idx="1"/>
          </p:nvPr>
        </p:nvSpPr>
        <p:spPr>
          <a:xfrm>
            <a:off x="838200" y="1825624"/>
            <a:ext cx="10515600" cy="5032375"/>
          </a:xfrm>
        </p:spPr>
        <p:txBody>
          <a:bodyPr>
            <a:normAutofit/>
          </a:bodyPr>
          <a:lstStyle/>
          <a:p>
            <a:pPr marL="0" indent="0">
              <a:buNone/>
            </a:pPr>
            <a:r>
              <a:rPr lang="en-GB" b="1" dirty="0"/>
              <a:t>After that, rename all states as simple indexes {0, 1, 2, … N}, and put the parsing actions into a table, and </a:t>
            </a:r>
            <a:r>
              <a:rPr lang="en-GB" b="1" dirty="0" err="1"/>
              <a:t>tada</a:t>
            </a:r>
            <a:r>
              <a:rPr lang="en-GB" b="1" dirty="0"/>
              <a:t>!</a:t>
            </a:r>
          </a:p>
          <a:p>
            <a:pPr marL="0" indent="0">
              <a:buNone/>
            </a:pPr>
            <a:r>
              <a:rPr lang="en-GB" b="1" dirty="0"/>
              <a:t>Can this be automated? Yes, but damn tedious.</a:t>
            </a:r>
          </a:p>
        </p:txBody>
      </p:sp>
      <p:pic>
        <p:nvPicPr>
          <p:cNvPr id="5" name="Picture 4">
            <a:extLst>
              <a:ext uri="{FF2B5EF4-FFF2-40B4-BE49-F238E27FC236}">
                <a16:creationId xmlns:a16="http://schemas.microsoft.com/office/drawing/2014/main" id="{E3A6497C-1060-F4FF-C616-BD217A11BD9F}"/>
              </a:ext>
            </a:extLst>
          </p:cNvPr>
          <p:cNvPicPr>
            <a:picLocks noChangeAspect="1"/>
          </p:cNvPicPr>
          <p:nvPr/>
        </p:nvPicPr>
        <p:blipFill>
          <a:blip r:embed="rId2"/>
          <a:stretch>
            <a:fillRect/>
          </a:stretch>
        </p:blipFill>
        <p:spPr>
          <a:xfrm>
            <a:off x="3069897" y="3340223"/>
            <a:ext cx="6052206" cy="339555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57444717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536E-0479-645B-EE6B-6F172E91A0B3}"/>
              </a:ext>
            </a:extLst>
          </p:cNvPr>
          <p:cNvSpPr>
            <a:spLocks noGrp="1"/>
          </p:cNvSpPr>
          <p:nvPr>
            <p:ph type="title"/>
          </p:nvPr>
        </p:nvSpPr>
        <p:spPr/>
        <p:txBody>
          <a:bodyPr/>
          <a:lstStyle/>
          <a:p>
            <a:r>
              <a:rPr lang="en-GB" dirty="0"/>
              <a:t>But wait…</a:t>
            </a:r>
            <a:endParaRPr lang="en-SG" dirty="0"/>
          </a:p>
        </p:txBody>
      </p:sp>
      <p:sp>
        <p:nvSpPr>
          <p:cNvPr id="3" name="Content Placeholder 2">
            <a:extLst>
              <a:ext uri="{FF2B5EF4-FFF2-40B4-BE49-F238E27FC236}">
                <a16:creationId xmlns:a16="http://schemas.microsoft.com/office/drawing/2014/main" id="{32B2501A-825E-DED1-8397-A642D7035F21}"/>
              </a:ext>
            </a:extLst>
          </p:cNvPr>
          <p:cNvSpPr>
            <a:spLocks noGrp="1"/>
          </p:cNvSpPr>
          <p:nvPr>
            <p:ph idx="1"/>
          </p:nvPr>
        </p:nvSpPr>
        <p:spPr>
          <a:xfrm>
            <a:off x="838200" y="1825625"/>
            <a:ext cx="10515600" cy="5032375"/>
          </a:xfrm>
        </p:spPr>
        <p:txBody>
          <a:bodyPr/>
          <a:lstStyle/>
          <a:p>
            <a:pPr marL="0" indent="0">
              <a:buNone/>
            </a:pPr>
            <a:r>
              <a:rPr lang="en-GB" b="1" dirty="0"/>
              <a:t>According to our previous definitions, LR(1) will always attempt to reduce whenever possible?</a:t>
            </a:r>
          </a:p>
          <a:p>
            <a:pPr marL="0" indent="0">
              <a:buNone/>
            </a:pPr>
            <a:r>
              <a:rPr lang="en-GB" dirty="0"/>
              <a:t>But, technically, it feels like I could decide to reduce, or I could decide to shift some more symbols and reduce later, maybe even using a different production rule…!</a:t>
            </a:r>
          </a:p>
          <a:p>
            <a:pPr marL="0" indent="0">
              <a:buNone/>
            </a:pPr>
            <a:r>
              <a:rPr lang="en-GB" dirty="0"/>
              <a:t>I feel that this could still be a problem for my LR(1) FSM in certain CFGs!</a:t>
            </a:r>
          </a:p>
          <a:p>
            <a:pPr marL="0" indent="0">
              <a:buNone/>
            </a:pPr>
            <a:endParaRPr lang="en-GB" dirty="0"/>
          </a:p>
          <a:p>
            <a:pPr marL="0" indent="0">
              <a:buNone/>
            </a:pPr>
            <a:r>
              <a:rPr lang="en-GB" b="1" dirty="0"/>
              <a:t>Question: In this LR(1), are there scenarios where we should postpone an opportunity to reduce, shift some more, and then reduce using a different production rule?</a:t>
            </a:r>
          </a:p>
          <a:p>
            <a:pPr marL="0" indent="0">
              <a:buNone/>
            </a:pPr>
            <a:endParaRPr lang="en-SG" dirty="0"/>
          </a:p>
        </p:txBody>
      </p:sp>
    </p:spTree>
    <p:extLst>
      <p:ext uri="{BB962C8B-B14F-4D97-AF65-F5344CB8AC3E}">
        <p14:creationId xmlns:p14="http://schemas.microsoft.com/office/powerpoint/2010/main" val="39903373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8EF39-5EE2-2BC7-8D09-0A5236D7BC53}"/>
              </a:ext>
            </a:extLst>
          </p:cNvPr>
          <p:cNvSpPr>
            <a:spLocks noGrp="1"/>
          </p:cNvSpPr>
          <p:nvPr>
            <p:ph type="title"/>
          </p:nvPr>
        </p:nvSpPr>
        <p:spPr/>
        <p:txBody>
          <a:bodyPr/>
          <a:lstStyle/>
          <a:p>
            <a:r>
              <a:rPr lang="en-GB" dirty="0"/>
              <a:t>A quick word about conflicts</a:t>
            </a:r>
            <a:endParaRPr lang="en-SG" dirty="0"/>
          </a:p>
        </p:txBody>
      </p:sp>
      <p:sp>
        <p:nvSpPr>
          <p:cNvPr id="3" name="Content Placeholder 2">
            <a:extLst>
              <a:ext uri="{FF2B5EF4-FFF2-40B4-BE49-F238E27FC236}">
                <a16:creationId xmlns:a16="http://schemas.microsoft.com/office/drawing/2014/main" id="{AB31810E-19E6-A69D-6CF8-6D2DC27B1434}"/>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Shift-Reduce</a:t>
            </a:r>
            <a:r>
              <a:rPr lang="en-GB" b="1" dirty="0"/>
              <a:t> </a:t>
            </a:r>
            <a:r>
              <a:rPr lang="en-GB" b="1" dirty="0">
                <a:solidFill>
                  <a:srgbClr val="00B050"/>
                </a:solidFill>
              </a:rPr>
              <a:t>conflicts</a:t>
            </a:r>
            <a:r>
              <a:rPr lang="en-GB" b="1" dirty="0"/>
              <a:t>):</a:t>
            </a:r>
          </a:p>
          <a:p>
            <a:pPr marL="0" indent="0">
              <a:buNone/>
            </a:pPr>
            <a:r>
              <a:rPr lang="en-GB" dirty="0"/>
              <a:t>A </a:t>
            </a:r>
            <a:r>
              <a:rPr lang="en-GB" b="1" dirty="0">
                <a:solidFill>
                  <a:srgbClr val="00B050"/>
                </a:solidFill>
              </a:rPr>
              <a:t>shift-reduce conflict </a:t>
            </a:r>
            <a:r>
              <a:rPr lang="en-GB" dirty="0"/>
              <a:t>occurs in a parsing situation </a:t>
            </a:r>
            <a:r>
              <a:rPr lang="en-GB" b="1" dirty="0"/>
              <a:t>when the LR(1) FSM has a state for which we cannot decide whether to shift the next input symbol or reduce by applying a production rule</a:t>
            </a:r>
            <a:r>
              <a:rPr lang="en-GB" dirty="0"/>
              <a:t>.</a:t>
            </a:r>
          </a:p>
          <a:p>
            <a:pPr marL="0" indent="0">
              <a:buNone/>
            </a:pPr>
            <a:r>
              <a:rPr lang="en-GB" dirty="0"/>
              <a:t>This </a:t>
            </a:r>
            <a:r>
              <a:rPr lang="en-GB" b="1" dirty="0"/>
              <a:t>ambiguity</a:t>
            </a:r>
            <a:r>
              <a:rPr lang="en-GB" dirty="0"/>
              <a:t> can lead to different parse trees for the same (syntactically valid) input string.</a:t>
            </a:r>
          </a:p>
          <a:p>
            <a:pPr marL="0" indent="0">
              <a:buNone/>
            </a:pPr>
            <a:r>
              <a:rPr lang="en-GB" dirty="0"/>
              <a:t>When such a conflict exists, we say that the CFG is not LR(1), meaning that it cannot be unambiguously parsed using an LR(1) parser.</a:t>
            </a:r>
          </a:p>
          <a:p>
            <a:pPr marL="0" indent="0">
              <a:buNone/>
            </a:pPr>
            <a:r>
              <a:rPr lang="en-GB" dirty="0"/>
              <a:t>In those cases, more advanced parsers, like LR(k), should be considered</a:t>
            </a:r>
            <a:br>
              <a:rPr lang="en-GB" dirty="0"/>
            </a:br>
            <a:r>
              <a:rPr lang="en-GB" dirty="0"/>
              <a:t>(</a:t>
            </a:r>
            <a:r>
              <a:rPr lang="en-GB" u="sng" dirty="0"/>
              <a:t>out-of-scope</a:t>
            </a:r>
            <a:r>
              <a:rPr lang="en-GB" dirty="0"/>
              <a:t> though!)</a:t>
            </a:r>
            <a:endParaRPr lang="en-SG" dirty="0"/>
          </a:p>
        </p:txBody>
      </p:sp>
    </p:spTree>
    <p:extLst>
      <p:ext uri="{BB962C8B-B14F-4D97-AF65-F5344CB8AC3E}">
        <p14:creationId xmlns:p14="http://schemas.microsoft.com/office/powerpoint/2010/main" val="1643824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6EA11-CCB4-1233-6646-417F6E5AB079}"/>
              </a:ext>
            </a:extLst>
          </p:cNvPr>
          <p:cNvSpPr>
            <a:spLocks noGrp="1"/>
          </p:cNvSpPr>
          <p:nvPr>
            <p:ph type="title"/>
          </p:nvPr>
        </p:nvSpPr>
        <p:spPr/>
        <p:txBody>
          <a:bodyPr/>
          <a:lstStyle/>
          <a:p>
            <a:r>
              <a:rPr lang="en-GB" dirty="0"/>
              <a:t>A quick word about conflicts</a:t>
            </a:r>
            <a:endParaRPr lang="en-SG" dirty="0"/>
          </a:p>
        </p:txBody>
      </p:sp>
      <p:sp>
        <p:nvSpPr>
          <p:cNvPr id="3" name="Content Placeholder 2">
            <a:extLst>
              <a:ext uri="{FF2B5EF4-FFF2-40B4-BE49-F238E27FC236}">
                <a16:creationId xmlns:a16="http://schemas.microsoft.com/office/drawing/2014/main" id="{88DAB0FF-73E2-4D74-1F36-C91A0E360347}"/>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Reduce-Reduce</a:t>
            </a:r>
            <a:r>
              <a:rPr lang="en-GB" b="1" dirty="0"/>
              <a:t> </a:t>
            </a:r>
            <a:r>
              <a:rPr lang="en-GB" b="1" dirty="0">
                <a:solidFill>
                  <a:srgbClr val="00B050"/>
                </a:solidFill>
              </a:rPr>
              <a:t>conflicts</a:t>
            </a:r>
            <a:r>
              <a:rPr lang="en-GB" b="1" dirty="0"/>
              <a:t>):</a:t>
            </a:r>
          </a:p>
          <a:p>
            <a:pPr marL="0" indent="0">
              <a:buNone/>
            </a:pPr>
            <a:r>
              <a:rPr lang="en-GB" dirty="0"/>
              <a:t>A </a:t>
            </a:r>
            <a:r>
              <a:rPr lang="en-GB" b="1" dirty="0">
                <a:solidFill>
                  <a:srgbClr val="00B050"/>
                </a:solidFill>
              </a:rPr>
              <a:t>reduce-reduce conflict </a:t>
            </a:r>
            <a:r>
              <a:rPr lang="en-GB" dirty="0"/>
              <a:t>occurs if </a:t>
            </a:r>
            <a:r>
              <a:rPr lang="en-GB" b="1" dirty="0"/>
              <a:t>the LR(1) FSM has a state, where we could use two or more reductions with different production rules</a:t>
            </a:r>
            <a:r>
              <a:rPr lang="en-GB" dirty="0"/>
              <a:t>.</a:t>
            </a:r>
          </a:p>
          <a:p>
            <a:pPr marL="0" indent="0">
              <a:buNone/>
            </a:pPr>
            <a:r>
              <a:rPr lang="en-GB" dirty="0"/>
              <a:t>It means that the parser cannot unambiguously decide which production rule to apply for reducing the current input.</a:t>
            </a:r>
          </a:p>
          <a:p>
            <a:pPr marL="0" indent="0">
              <a:buNone/>
            </a:pPr>
            <a:r>
              <a:rPr lang="en-GB" dirty="0"/>
              <a:t>When such a conflict exists, we say that the CFG is not LR(1), meaning that it cannot be unambiguously parsed using an LR(1) parser.</a:t>
            </a:r>
          </a:p>
          <a:p>
            <a:pPr marL="0" indent="0">
              <a:buNone/>
            </a:pPr>
            <a:r>
              <a:rPr lang="en-GB" dirty="0"/>
              <a:t>In those cases, more advanced parsers, like LR(k), should be considered</a:t>
            </a:r>
            <a:br>
              <a:rPr lang="en-GB" dirty="0"/>
            </a:br>
            <a:r>
              <a:rPr lang="en-GB" dirty="0"/>
              <a:t>(</a:t>
            </a:r>
            <a:r>
              <a:rPr lang="en-GB" u="sng" dirty="0"/>
              <a:t>out-of-scope</a:t>
            </a:r>
            <a:r>
              <a:rPr lang="en-GB" dirty="0"/>
              <a:t> though!)</a:t>
            </a:r>
            <a:endParaRPr lang="en-SG" dirty="0"/>
          </a:p>
          <a:p>
            <a:pPr marL="0" indent="0">
              <a:buNone/>
            </a:pPr>
            <a:endParaRPr lang="en-SG" dirty="0"/>
          </a:p>
        </p:txBody>
      </p:sp>
    </p:spTree>
    <p:extLst>
      <p:ext uri="{BB962C8B-B14F-4D97-AF65-F5344CB8AC3E}">
        <p14:creationId xmlns:p14="http://schemas.microsoft.com/office/powerpoint/2010/main" val="4868947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E536E-0479-645B-EE6B-6F172E91A0B3}"/>
              </a:ext>
            </a:extLst>
          </p:cNvPr>
          <p:cNvSpPr>
            <a:spLocks noGrp="1"/>
          </p:cNvSpPr>
          <p:nvPr>
            <p:ph type="title"/>
          </p:nvPr>
        </p:nvSpPr>
        <p:spPr/>
        <p:txBody>
          <a:bodyPr/>
          <a:lstStyle/>
          <a:p>
            <a:r>
              <a:rPr lang="en-GB" dirty="0"/>
              <a:t>But wait…</a:t>
            </a:r>
            <a:endParaRPr lang="en-SG" dirty="0"/>
          </a:p>
        </p:txBody>
      </p:sp>
      <p:sp>
        <p:nvSpPr>
          <p:cNvPr id="3" name="Content Placeholder 2">
            <a:extLst>
              <a:ext uri="{FF2B5EF4-FFF2-40B4-BE49-F238E27FC236}">
                <a16:creationId xmlns:a16="http://schemas.microsoft.com/office/drawing/2014/main" id="{32B2501A-825E-DED1-8397-A642D7035F21}"/>
              </a:ext>
            </a:extLst>
          </p:cNvPr>
          <p:cNvSpPr>
            <a:spLocks noGrp="1"/>
          </p:cNvSpPr>
          <p:nvPr>
            <p:ph idx="1"/>
          </p:nvPr>
        </p:nvSpPr>
        <p:spPr>
          <a:xfrm>
            <a:off x="838200" y="1825625"/>
            <a:ext cx="10515600" cy="5032375"/>
          </a:xfrm>
        </p:spPr>
        <p:txBody>
          <a:bodyPr/>
          <a:lstStyle/>
          <a:p>
            <a:pPr marL="0" indent="0">
              <a:buNone/>
            </a:pPr>
            <a:r>
              <a:rPr lang="en-GB" b="1" dirty="0"/>
              <a:t>Question: Are there scenarios where we should postpone an opportunity to reduce, shift some more, and then reduce using a different production rule?</a:t>
            </a:r>
          </a:p>
          <a:p>
            <a:pPr marL="0" indent="0">
              <a:buNone/>
            </a:pPr>
            <a:r>
              <a:rPr lang="en-GB" b="1" dirty="0"/>
              <a:t>Or in other words, are all CFGs immune to Shift-reduce and Reduce-reduce conflicts?</a:t>
            </a:r>
          </a:p>
          <a:p>
            <a:pPr marL="0" indent="0">
              <a:buNone/>
            </a:pPr>
            <a:r>
              <a:rPr lang="en-SG" b="1" dirty="0">
                <a:solidFill>
                  <a:srgbClr val="7030A0"/>
                </a:solidFill>
              </a:rPr>
              <a:t>Answer: If the CFG has Shift-reduce and Reduce-reduce conflicts, then we simply say that it is not LR(1). If the CFG is LR(1), no need to worry about that, reduce whenever you can and no conflicts will arise.</a:t>
            </a:r>
          </a:p>
        </p:txBody>
      </p:sp>
    </p:spTree>
    <p:extLst>
      <p:ext uri="{BB962C8B-B14F-4D97-AF65-F5344CB8AC3E}">
        <p14:creationId xmlns:p14="http://schemas.microsoft.com/office/powerpoint/2010/main" val="4978761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p:txBody>
          <a:bodyPr/>
          <a:lstStyle/>
          <a:p>
            <a:pPr marL="0" indent="0">
              <a:buNone/>
            </a:pPr>
            <a:r>
              <a:rPr lang="en-GB" b="1" dirty="0"/>
              <a:t>Erm, will sound like a stupid question, but is our CFG actually LR(1)?</a:t>
            </a:r>
          </a:p>
          <a:p>
            <a:pPr marL="0" indent="0" algn="ctr">
              <a:buNone/>
            </a:pPr>
            <a:r>
              <a:rPr lang="en-GB" sz="2800" i="1" dirty="0"/>
              <a:t>E </a:t>
            </a:r>
            <a:r>
              <a:rPr lang="en-GB" sz="2800" i="1" dirty="0">
                <a:sym typeface="Wingdings" panose="05000000000000000000" pitchFamily="2" charset="2"/>
              </a:rPr>
              <a:t> T,</a:t>
            </a:r>
          </a:p>
          <a:p>
            <a:pPr marL="0" indent="0" algn="ctr">
              <a:buNone/>
            </a:pPr>
            <a:r>
              <a:rPr lang="en-GB" sz="2800" i="1" dirty="0"/>
              <a:t>E </a:t>
            </a:r>
            <a:r>
              <a:rPr lang="en-GB" sz="2800" i="1" dirty="0">
                <a:sym typeface="Wingdings" panose="05000000000000000000" pitchFamily="2" charset="2"/>
              </a:rPr>
              <a:t> E + T,</a:t>
            </a:r>
          </a:p>
          <a:p>
            <a:pPr marL="0" indent="0" algn="ctr">
              <a:buNone/>
            </a:pPr>
            <a:r>
              <a:rPr lang="en-GB" sz="2800" i="1" dirty="0"/>
              <a:t>T </a:t>
            </a:r>
            <a:r>
              <a:rPr lang="en-GB" sz="2800" i="1" dirty="0">
                <a:sym typeface="Wingdings" panose="05000000000000000000" pitchFamily="2" charset="2"/>
              </a:rPr>
              <a:t> (E),</a:t>
            </a:r>
          </a:p>
          <a:p>
            <a:pPr marL="0" indent="0" algn="ctr">
              <a:buNone/>
            </a:pPr>
            <a:r>
              <a:rPr lang="en-GB" sz="2800" i="1" dirty="0">
                <a:sym typeface="Wingdings" panose="05000000000000000000" pitchFamily="2" charset="2"/>
              </a:rPr>
              <a:t>T  int </a:t>
            </a:r>
            <a:endParaRPr lang="en-GB" sz="2800" i="1" dirty="0"/>
          </a:p>
          <a:p>
            <a:pPr marL="0" indent="0">
              <a:buNone/>
            </a:pPr>
            <a:endParaRPr lang="en-SG" dirty="0"/>
          </a:p>
        </p:txBody>
      </p:sp>
    </p:spTree>
    <p:extLst>
      <p:ext uri="{BB962C8B-B14F-4D97-AF65-F5344CB8AC3E}">
        <p14:creationId xmlns:p14="http://schemas.microsoft.com/office/powerpoint/2010/main" val="38147823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lstStyle/>
          <a:p>
            <a:pPr marL="0" indent="0">
              <a:buNone/>
            </a:pPr>
            <a:r>
              <a:rPr lang="en-GB" b="1" dirty="0"/>
              <a:t>Erm, will sound like a stupid question, but is our CFG actually LR(1)?</a:t>
            </a:r>
          </a:p>
          <a:p>
            <a:pPr marL="0" indent="0" algn="ctr">
              <a:buNone/>
            </a:pPr>
            <a:r>
              <a:rPr lang="en-GB" sz="2800" i="1" dirty="0"/>
              <a:t>E </a:t>
            </a:r>
            <a:r>
              <a:rPr lang="en-GB" sz="2800" i="1" dirty="0">
                <a:sym typeface="Wingdings" panose="05000000000000000000" pitchFamily="2" charset="2"/>
              </a:rPr>
              <a:t> T,</a:t>
            </a:r>
          </a:p>
          <a:p>
            <a:pPr marL="0" indent="0" algn="ctr">
              <a:buNone/>
            </a:pPr>
            <a:r>
              <a:rPr lang="en-GB" sz="2800" i="1" dirty="0"/>
              <a:t>E </a:t>
            </a:r>
            <a:r>
              <a:rPr lang="en-GB" sz="2800" i="1" dirty="0">
                <a:sym typeface="Wingdings" panose="05000000000000000000" pitchFamily="2" charset="2"/>
              </a:rPr>
              <a:t> E + T,</a:t>
            </a:r>
          </a:p>
          <a:p>
            <a:pPr marL="0" indent="0" algn="ctr">
              <a:buNone/>
            </a:pPr>
            <a:r>
              <a:rPr lang="en-GB" sz="2800" i="1" dirty="0"/>
              <a:t>T </a:t>
            </a:r>
            <a:r>
              <a:rPr lang="en-GB" sz="2800" i="1" dirty="0">
                <a:sym typeface="Wingdings" panose="05000000000000000000" pitchFamily="2" charset="2"/>
              </a:rPr>
              <a:t> (E),</a:t>
            </a:r>
          </a:p>
          <a:p>
            <a:pPr marL="0" indent="0" algn="ctr">
              <a:buNone/>
            </a:pPr>
            <a:r>
              <a:rPr lang="en-GB" sz="2800" i="1" dirty="0">
                <a:sym typeface="Wingdings" panose="05000000000000000000" pitchFamily="2" charset="2"/>
              </a:rPr>
              <a:t>T  int </a:t>
            </a:r>
            <a:endParaRPr lang="en-GB" sz="2800" i="1" dirty="0"/>
          </a:p>
          <a:p>
            <a:endParaRPr lang="en-SG" dirty="0"/>
          </a:p>
          <a:p>
            <a:pPr marL="0" indent="0">
              <a:buNone/>
            </a:pPr>
            <a:r>
              <a:rPr lang="en-SG" dirty="0"/>
              <a:t>Yes, it is!</a:t>
            </a:r>
            <a:br>
              <a:rPr lang="en-SG" dirty="0"/>
            </a:br>
            <a:r>
              <a:rPr lang="en-SG" dirty="0"/>
              <a:t>Phew…!</a:t>
            </a:r>
          </a:p>
          <a:p>
            <a:pPr marL="0" indent="0">
              <a:buNone/>
            </a:pPr>
            <a:r>
              <a:rPr lang="en-SG" i="1" dirty="0"/>
              <a:t>(Try it, for extra practice?)</a:t>
            </a:r>
          </a:p>
        </p:txBody>
      </p:sp>
    </p:spTree>
    <p:extLst>
      <p:ext uri="{BB962C8B-B14F-4D97-AF65-F5344CB8AC3E}">
        <p14:creationId xmlns:p14="http://schemas.microsoft.com/office/powerpoint/2010/main" val="69663495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p:txBody>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spTree>
    <p:extLst>
      <p:ext uri="{BB962C8B-B14F-4D97-AF65-F5344CB8AC3E}">
        <p14:creationId xmlns:p14="http://schemas.microsoft.com/office/powerpoint/2010/main" val="9633963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p:txBody>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Yes, it is!</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pic>
        <p:nvPicPr>
          <p:cNvPr id="6" name="Picture 5" descr="A picture containing text, clipart&#10;&#10;Description automatically generated">
            <a:extLst>
              <a:ext uri="{FF2B5EF4-FFF2-40B4-BE49-F238E27FC236}">
                <a16:creationId xmlns:a16="http://schemas.microsoft.com/office/drawing/2014/main" id="{45399433-D8EE-D242-26C4-2B1CBB3CA1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4131" y="4574963"/>
            <a:ext cx="3404577" cy="1917912"/>
          </a:xfrm>
          <a:prstGeom prst="rect">
            <a:avLst/>
          </a:prstGeom>
        </p:spPr>
      </p:pic>
    </p:spTree>
    <p:extLst>
      <p:ext uri="{BB962C8B-B14F-4D97-AF65-F5344CB8AC3E}">
        <p14:creationId xmlns:p14="http://schemas.microsoft.com/office/powerpoint/2010/main" val="33430742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sz="half" idx="1"/>
          </p:nvPr>
        </p:nvSpPr>
        <p:spPr>
          <a:xfrm>
            <a:off x="838200" y="1825624"/>
            <a:ext cx="5181600" cy="5032375"/>
          </a:xfrm>
        </p:spPr>
        <p:txBody>
          <a:bodyPr>
            <a:normAutofit/>
          </a:bodyPr>
          <a:lstStyle/>
          <a:p>
            <a:pPr marL="0" indent="0">
              <a:buNone/>
            </a:pPr>
            <a:r>
              <a:rPr lang="en-GB" b="1" dirty="0"/>
              <a:t>Ok, how about the YACC CFG that you have shown us for the C programming language in a previous lecture? Is it LR(1)?</a:t>
            </a:r>
          </a:p>
          <a:p>
            <a:pPr marL="0" indent="0">
              <a:buNone/>
            </a:pPr>
            <a:r>
              <a:rPr lang="en-SG" dirty="0"/>
              <a:t>(</a:t>
            </a:r>
            <a:r>
              <a:rPr lang="en-GB" dirty="0">
                <a:hlinkClick r:id="rId2"/>
              </a:rPr>
              <a:t>http://www.lysator.liu.se/c/ANSI-C-grammar-y.html</a:t>
            </a:r>
            <a:r>
              <a:rPr lang="en-SG" dirty="0"/>
              <a:t>)</a:t>
            </a:r>
          </a:p>
          <a:p>
            <a:pPr marL="0" indent="0">
              <a:buNone/>
            </a:pPr>
            <a:endParaRPr lang="en-SG" dirty="0"/>
          </a:p>
          <a:p>
            <a:pPr marL="0" indent="0">
              <a:buNone/>
            </a:pPr>
            <a:r>
              <a:rPr lang="en-SG" dirty="0"/>
              <a:t>Yes, it is!</a:t>
            </a:r>
          </a:p>
          <a:p>
            <a:pPr marL="0" indent="0">
              <a:buNone/>
            </a:pPr>
            <a:r>
              <a:rPr lang="en-SG" dirty="0"/>
              <a:t>This means an LR(1) parser will work nicely for a C compiler!</a:t>
            </a:r>
          </a:p>
        </p:txBody>
      </p:sp>
      <p:pic>
        <p:nvPicPr>
          <p:cNvPr id="5" name="Picture 4">
            <a:extLst>
              <a:ext uri="{FF2B5EF4-FFF2-40B4-BE49-F238E27FC236}">
                <a16:creationId xmlns:a16="http://schemas.microsoft.com/office/drawing/2014/main" id="{AB2B9D31-27F7-78AB-7DF4-4FE680372162}"/>
              </a:ext>
            </a:extLst>
          </p:cNvPr>
          <p:cNvPicPr>
            <a:picLocks noChangeAspect="1"/>
          </p:cNvPicPr>
          <p:nvPr/>
        </p:nvPicPr>
        <p:blipFill>
          <a:blip r:embed="rId3"/>
          <a:stretch>
            <a:fillRect/>
          </a:stretch>
        </p:blipFill>
        <p:spPr>
          <a:xfrm>
            <a:off x="7500423" y="0"/>
            <a:ext cx="4084321" cy="6858000"/>
          </a:xfrm>
          <a:prstGeom prst="rect">
            <a:avLst/>
          </a:prstGeom>
        </p:spPr>
      </p:pic>
    </p:spTree>
    <p:extLst>
      <p:ext uri="{BB962C8B-B14F-4D97-AF65-F5344CB8AC3E}">
        <p14:creationId xmlns:p14="http://schemas.microsoft.com/office/powerpoint/2010/main" val="275684075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normAutofit/>
          </a:bodyPr>
          <a:lstStyle/>
          <a:p>
            <a:pPr marL="0" indent="0">
              <a:buNone/>
            </a:pPr>
            <a:r>
              <a:rPr lang="en-GB" b="1" dirty="0"/>
              <a:t>How about C++?</a:t>
            </a:r>
          </a:p>
          <a:p>
            <a:pPr marL="0" indent="0">
              <a:buNone/>
            </a:pPr>
            <a:r>
              <a:rPr lang="en-GB" dirty="0"/>
              <a:t>Well… The CFG of C++ is </a:t>
            </a:r>
            <a:r>
              <a:rPr lang="en-GB" u="sng" dirty="0"/>
              <a:t>not</a:t>
            </a:r>
            <a:r>
              <a:rPr lang="en-GB" dirty="0"/>
              <a:t> LR(1).</a:t>
            </a:r>
            <a:br>
              <a:rPr lang="en-GB" dirty="0"/>
            </a:br>
            <a:r>
              <a:rPr lang="en-GB" dirty="0"/>
              <a:t>This means we need a more advanced type of parser.</a:t>
            </a:r>
          </a:p>
          <a:p>
            <a:pPr marL="0" indent="0">
              <a:buNone/>
            </a:pPr>
            <a:r>
              <a:rPr lang="en-GB" dirty="0"/>
              <a:t>As a matter of fact, the C++ grammar is context-sensitive in certain places (e.g., due to </a:t>
            </a:r>
            <a:r>
              <a:rPr lang="en-GB" b="1" dirty="0"/>
              <a:t>the “most vexing parse” problem*).</a:t>
            </a:r>
          </a:p>
          <a:p>
            <a:pPr marL="0" indent="0">
              <a:buNone/>
            </a:pPr>
            <a:r>
              <a:rPr lang="en-GB" dirty="0"/>
              <a:t>This makes pure CFG-based parsing insufficient (Ouch!).</a:t>
            </a:r>
          </a:p>
          <a:p>
            <a:pPr marL="0" indent="0">
              <a:buNone/>
            </a:pPr>
            <a:r>
              <a:rPr lang="en-GB" dirty="0"/>
              <a:t>(But it is </a:t>
            </a:r>
            <a:r>
              <a:rPr lang="en-GB" u="sng" dirty="0"/>
              <a:t>out-of-scope</a:t>
            </a:r>
            <a:r>
              <a:rPr lang="en-GB" dirty="0"/>
              <a:t>).</a:t>
            </a:r>
          </a:p>
          <a:p>
            <a:pPr marL="0" indent="0">
              <a:buNone/>
            </a:pPr>
            <a:endParaRPr lang="en-GB" dirty="0"/>
          </a:p>
          <a:p>
            <a:pPr marL="0" indent="0">
              <a:buNone/>
            </a:pPr>
            <a:r>
              <a:rPr lang="en-GB" dirty="0"/>
              <a:t>*See </a:t>
            </a:r>
            <a:r>
              <a:rPr lang="en-GB" dirty="0">
                <a:hlinkClick r:id="rId2"/>
              </a:rPr>
              <a:t>https://www.youtube.com/watch?v=ByKf_foSlXY</a:t>
            </a:r>
            <a:endParaRPr lang="en-GB" dirty="0"/>
          </a:p>
          <a:p>
            <a:pPr marL="0" indent="0">
              <a:buNone/>
            </a:pPr>
            <a:endParaRPr lang="en-GB" dirty="0"/>
          </a:p>
          <a:p>
            <a:pPr marL="0" indent="0">
              <a:buNone/>
            </a:pPr>
            <a:endParaRPr lang="en-GB" b="1" dirty="0"/>
          </a:p>
        </p:txBody>
      </p:sp>
      <p:pic>
        <p:nvPicPr>
          <p:cNvPr id="8" name="Picture 7" descr="A person with his mouth open&#10;&#10;Description automatically generated with low confidence">
            <a:extLst>
              <a:ext uri="{FF2B5EF4-FFF2-40B4-BE49-F238E27FC236}">
                <a16:creationId xmlns:a16="http://schemas.microsoft.com/office/drawing/2014/main" id="{13C440EA-C58D-0A7E-F88C-C677CF099D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39797" y="262181"/>
            <a:ext cx="3265939" cy="2331880"/>
          </a:xfrm>
          <a:prstGeom prst="rect">
            <a:avLst/>
          </a:prstGeom>
        </p:spPr>
      </p:pic>
    </p:spTree>
    <p:extLst>
      <p:ext uri="{BB962C8B-B14F-4D97-AF65-F5344CB8AC3E}">
        <p14:creationId xmlns:p14="http://schemas.microsoft.com/office/powerpoint/2010/main" val="31681197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92198-74EA-F09C-EDB2-3800609495E2}"/>
              </a:ext>
            </a:extLst>
          </p:cNvPr>
          <p:cNvSpPr>
            <a:spLocks noGrp="1"/>
          </p:cNvSpPr>
          <p:nvPr>
            <p:ph type="title"/>
          </p:nvPr>
        </p:nvSpPr>
        <p:spPr/>
        <p:txBody>
          <a:bodyPr/>
          <a:lstStyle/>
          <a:p>
            <a:r>
              <a:rPr lang="en-GB" dirty="0"/>
              <a:t>Addressing the questions</a:t>
            </a:r>
            <a:endParaRPr lang="en-SG" dirty="0"/>
          </a:p>
        </p:txBody>
      </p:sp>
      <p:sp>
        <p:nvSpPr>
          <p:cNvPr id="3" name="Content Placeholder 2">
            <a:extLst>
              <a:ext uri="{FF2B5EF4-FFF2-40B4-BE49-F238E27FC236}">
                <a16:creationId xmlns:a16="http://schemas.microsoft.com/office/drawing/2014/main" id="{85AEB580-9A31-038D-7F5A-B54DD036F66B}"/>
              </a:ext>
            </a:extLst>
          </p:cNvPr>
          <p:cNvSpPr>
            <a:spLocks noGrp="1"/>
          </p:cNvSpPr>
          <p:nvPr>
            <p:ph sz="half" idx="1"/>
          </p:nvPr>
        </p:nvSpPr>
        <p:spPr>
          <a:xfrm>
            <a:off x="838200" y="1825624"/>
            <a:ext cx="5181600" cy="5032375"/>
          </a:xfrm>
        </p:spPr>
        <p:txBody>
          <a:bodyPr>
            <a:normAutofit/>
          </a:bodyPr>
          <a:lstStyle/>
          <a:p>
            <a:pPr marL="0" indent="0">
              <a:buNone/>
            </a:pPr>
            <a:r>
              <a:rPr lang="en-SG" b="1" dirty="0"/>
              <a:t>As we have mentioned, there are additional algorithms to investigate if LR(1) does not work for your CFG!</a:t>
            </a:r>
          </a:p>
          <a:p>
            <a:pPr marL="0" indent="0">
              <a:buNone/>
            </a:pPr>
            <a:endParaRPr lang="en-SG" b="1" dirty="0"/>
          </a:p>
          <a:p>
            <a:pPr marL="0" indent="0">
              <a:buNone/>
            </a:pPr>
            <a:r>
              <a:rPr lang="en-SG" b="1" dirty="0"/>
              <a:t>And there is more stuff beyond CFGs (especially if the grammar is NOT context-free).</a:t>
            </a:r>
          </a:p>
          <a:p>
            <a:pPr marL="0" indent="0">
              <a:buNone/>
            </a:pPr>
            <a:endParaRPr lang="en-SG" b="1" dirty="0"/>
          </a:p>
          <a:p>
            <a:pPr marL="0" indent="0">
              <a:buNone/>
            </a:pPr>
            <a:r>
              <a:rPr lang="en-SG" i="1" dirty="0"/>
              <a:t>(This is definitely </a:t>
            </a:r>
            <a:r>
              <a:rPr lang="en-SG" i="1" u="sng" dirty="0"/>
              <a:t>out-of-scope</a:t>
            </a:r>
            <a:r>
              <a:rPr lang="en-SG" i="1" dirty="0"/>
              <a:t> for this class, though!)</a:t>
            </a:r>
          </a:p>
        </p:txBody>
      </p:sp>
      <p:pic>
        <p:nvPicPr>
          <p:cNvPr id="7" name="Picture 6" descr="Diagram&#10;&#10;Description automatically generated">
            <a:extLst>
              <a:ext uri="{FF2B5EF4-FFF2-40B4-BE49-F238E27FC236}">
                <a16:creationId xmlns:a16="http://schemas.microsoft.com/office/drawing/2014/main" id="{7DD63A9F-10E4-1A25-D50E-9520F2968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8081" y="1737977"/>
            <a:ext cx="5379875" cy="4581860"/>
          </a:xfrm>
          <a:prstGeom prst="rect">
            <a:avLst/>
          </a:prstGeom>
        </p:spPr>
      </p:pic>
    </p:spTree>
    <p:extLst>
      <p:ext uri="{BB962C8B-B14F-4D97-AF65-F5344CB8AC3E}">
        <p14:creationId xmlns:p14="http://schemas.microsoft.com/office/powerpoint/2010/main" val="14208284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4307-20D2-210D-1AE1-022FB53C1708}"/>
              </a:ext>
            </a:extLst>
          </p:cNvPr>
          <p:cNvSpPr>
            <a:spLocks noGrp="1"/>
          </p:cNvSpPr>
          <p:nvPr>
            <p:ph type="title"/>
          </p:nvPr>
        </p:nvSpPr>
        <p:spPr/>
        <p:txBody>
          <a:bodyPr/>
          <a:lstStyle/>
          <a:p>
            <a:r>
              <a:rPr lang="en-GB" dirty="0"/>
              <a:t>An important question</a:t>
            </a:r>
            <a:endParaRPr lang="en-SG" dirty="0"/>
          </a:p>
        </p:txBody>
      </p:sp>
      <p:sp>
        <p:nvSpPr>
          <p:cNvPr id="3" name="Content Placeholder 2">
            <a:extLst>
              <a:ext uri="{FF2B5EF4-FFF2-40B4-BE49-F238E27FC236}">
                <a16:creationId xmlns:a16="http://schemas.microsoft.com/office/drawing/2014/main" id="{D54ADA33-942B-09A4-5876-03BAAEE4169B}"/>
              </a:ext>
            </a:extLst>
          </p:cNvPr>
          <p:cNvSpPr>
            <a:spLocks noGrp="1"/>
          </p:cNvSpPr>
          <p:nvPr>
            <p:ph idx="1"/>
          </p:nvPr>
        </p:nvSpPr>
        <p:spPr>
          <a:xfrm>
            <a:off x="838200" y="1825624"/>
            <a:ext cx="10515600" cy="5032375"/>
          </a:xfrm>
        </p:spPr>
        <p:txBody>
          <a:bodyPr>
            <a:normAutofit/>
          </a:bodyPr>
          <a:lstStyle/>
          <a:p>
            <a:pPr marL="0" indent="0">
              <a:buNone/>
            </a:pPr>
            <a:r>
              <a:rPr lang="en-GB" b="1" dirty="0"/>
              <a:t>How about Python then?</a:t>
            </a:r>
          </a:p>
          <a:p>
            <a:pPr marL="0" indent="0">
              <a:buNone/>
            </a:pPr>
            <a:r>
              <a:rPr lang="en-GB" dirty="0"/>
              <a:t>Since v3.9, Python is relying on a different and simpler parser, called PEG, which belongs to the class of LL(1).</a:t>
            </a:r>
          </a:p>
          <a:p>
            <a:pPr marL="0" indent="0">
              <a:buNone/>
            </a:pPr>
            <a:br>
              <a:rPr lang="en-GB" dirty="0"/>
            </a:br>
            <a:r>
              <a:rPr lang="en-GB" dirty="0"/>
              <a:t>This means you can use an even simpler parser than LR(1) to do the CFG parsing job!</a:t>
            </a:r>
          </a:p>
          <a:p>
            <a:pPr marL="0" indent="0">
              <a:buNone/>
            </a:pPr>
            <a:r>
              <a:rPr lang="en-GB" dirty="0"/>
              <a:t>(But it is also </a:t>
            </a:r>
            <a:r>
              <a:rPr lang="en-GB" u="sng" dirty="0"/>
              <a:t>out-of-scope</a:t>
            </a:r>
            <a:r>
              <a:rPr lang="en-GB" dirty="0"/>
              <a:t>).</a:t>
            </a:r>
            <a:endParaRPr lang="en-SG" dirty="0"/>
          </a:p>
        </p:txBody>
      </p:sp>
    </p:spTree>
    <p:extLst>
      <p:ext uri="{BB962C8B-B14F-4D97-AF65-F5344CB8AC3E}">
        <p14:creationId xmlns:p14="http://schemas.microsoft.com/office/powerpoint/2010/main" val="5046170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r>
              <a:rPr lang="en-GB" dirty="0"/>
              <a:t>Top-Down parsing was inconclusive but gave us good insights.</a:t>
            </a:r>
          </a:p>
          <a:p>
            <a:r>
              <a:rPr lang="en-GB" dirty="0"/>
              <a:t>The C programming language is LR(1), we can use a bottom-up parser for the compiler of that language.</a:t>
            </a:r>
          </a:p>
          <a:p>
            <a:r>
              <a:rPr lang="en-GB" dirty="0"/>
              <a:t>Many other languages might not be LR(1) and might require more advanced classes of parsers, which are </a:t>
            </a:r>
            <a:r>
              <a:rPr lang="en-GB" u="sng" dirty="0"/>
              <a:t>out-of-scope</a:t>
            </a:r>
            <a:r>
              <a:rPr lang="en-GB" dirty="0"/>
              <a:t>.</a:t>
            </a:r>
          </a:p>
          <a:p>
            <a:r>
              <a:rPr lang="en-GB" dirty="0"/>
              <a:t>The implementation of said parser, while interesting, is typically out-of-scope.</a:t>
            </a:r>
          </a:p>
        </p:txBody>
      </p:sp>
    </p:spTree>
    <p:extLst>
      <p:ext uri="{BB962C8B-B14F-4D97-AF65-F5344CB8AC3E}">
        <p14:creationId xmlns:p14="http://schemas.microsoft.com/office/powerpoint/2010/main" val="253292704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pPr marL="0" indent="0">
              <a:buNone/>
            </a:pPr>
            <a:r>
              <a:rPr lang="en-GB" dirty="0"/>
              <a:t>So, here is where we are.</a:t>
            </a:r>
          </a:p>
          <a:p>
            <a:r>
              <a:rPr lang="en-GB" dirty="0"/>
              <a:t>If our source code passes the lexical analysis and tokenizes with no trouble,</a:t>
            </a:r>
          </a:p>
          <a:p>
            <a:r>
              <a:rPr lang="en-GB" dirty="0"/>
              <a:t>And if there exist a derivation for the stream of tokens, that fits the YACC CFG,</a:t>
            </a:r>
          </a:p>
          <a:p>
            <a:r>
              <a:rPr lang="en-GB" dirty="0"/>
              <a:t>Then the code is also valid in terms of lexica and syntax (big result!). </a:t>
            </a:r>
          </a:p>
          <a:p>
            <a:pPr marL="0" indent="0">
              <a:buNone/>
            </a:pPr>
            <a:r>
              <a:rPr lang="en-GB" dirty="0"/>
              <a:t>This is not over yet, as there are still some errors that could technically make the source code malfunction, but 90% of the errors have been covered so far!</a:t>
            </a:r>
          </a:p>
          <a:p>
            <a:pPr marL="0" indent="0">
              <a:buNone/>
            </a:pPr>
            <a:r>
              <a:rPr lang="en-GB" b="1" dirty="0"/>
              <a:t>Next, semantic analysis!</a:t>
            </a:r>
          </a:p>
        </p:txBody>
      </p:sp>
    </p:spTree>
    <p:extLst>
      <p:ext uri="{BB962C8B-B14F-4D97-AF65-F5344CB8AC3E}">
        <p14:creationId xmlns:p14="http://schemas.microsoft.com/office/powerpoint/2010/main" val="30194894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6A890-84E5-A56B-D96F-89B0FEF05CEC}"/>
              </a:ext>
            </a:extLst>
          </p:cNvPr>
          <p:cNvSpPr>
            <a:spLocks noGrp="1"/>
          </p:cNvSpPr>
          <p:nvPr>
            <p:ph type="title"/>
          </p:nvPr>
        </p:nvSpPr>
        <p:spPr/>
        <p:txBody>
          <a:bodyPr/>
          <a:lstStyle/>
          <a:p>
            <a:r>
              <a:rPr lang="en-GB" dirty="0"/>
              <a:t>Conclusion</a:t>
            </a:r>
            <a:endParaRPr lang="en-SG" dirty="0"/>
          </a:p>
        </p:txBody>
      </p:sp>
      <p:sp>
        <p:nvSpPr>
          <p:cNvPr id="3" name="Content Placeholder 2">
            <a:extLst>
              <a:ext uri="{FF2B5EF4-FFF2-40B4-BE49-F238E27FC236}">
                <a16:creationId xmlns:a16="http://schemas.microsoft.com/office/drawing/2014/main" id="{32C179D5-EE1C-27A1-0A45-90B683130C14}"/>
              </a:ext>
            </a:extLst>
          </p:cNvPr>
          <p:cNvSpPr>
            <a:spLocks noGrp="1"/>
          </p:cNvSpPr>
          <p:nvPr>
            <p:ph idx="1"/>
          </p:nvPr>
        </p:nvSpPr>
        <p:spPr>
          <a:xfrm>
            <a:off x="838200" y="1825624"/>
            <a:ext cx="10515600" cy="5032375"/>
          </a:xfrm>
        </p:spPr>
        <p:txBody>
          <a:bodyPr>
            <a:normAutofit/>
          </a:bodyPr>
          <a:lstStyle/>
          <a:p>
            <a:r>
              <a:rPr lang="en-GB" dirty="0"/>
              <a:t>If interested to learn more about parsers, the reference course is the one from Stanford</a:t>
            </a:r>
          </a:p>
          <a:p>
            <a:pPr marL="0" indent="0">
              <a:buNone/>
            </a:pPr>
            <a:r>
              <a:rPr lang="en-GB" dirty="0">
                <a:hlinkClick r:id="rId2"/>
              </a:rPr>
              <a:t>https://web.stanford.edu/class/cs143/</a:t>
            </a:r>
            <a:r>
              <a:rPr lang="en-GB" dirty="0"/>
              <a:t> </a:t>
            </a:r>
          </a:p>
          <a:p>
            <a:endParaRPr lang="en-GB" dirty="0"/>
          </a:p>
          <a:p>
            <a:r>
              <a:rPr lang="en-GB" dirty="0"/>
              <a:t>Available for free online and comes with video recordings</a:t>
            </a:r>
          </a:p>
          <a:p>
            <a:pPr marL="0" indent="0">
              <a:buNone/>
            </a:pPr>
            <a:r>
              <a:rPr lang="en-GB" dirty="0">
                <a:hlinkClick r:id="rId3"/>
              </a:rPr>
              <a:t>https://www.edx.org/course/compilers</a:t>
            </a:r>
            <a:endParaRPr lang="en-GB" dirty="0"/>
          </a:p>
          <a:p>
            <a:endParaRPr lang="en-SG" dirty="0"/>
          </a:p>
        </p:txBody>
      </p:sp>
    </p:spTree>
    <p:extLst>
      <p:ext uri="{BB962C8B-B14F-4D97-AF65-F5344CB8AC3E}">
        <p14:creationId xmlns:p14="http://schemas.microsoft.com/office/powerpoint/2010/main" val="1312954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2334</TotalTime>
  <Words>6077</Words>
  <Application>Microsoft Office PowerPoint</Application>
  <PresentationFormat>Widescreen</PresentationFormat>
  <Paragraphs>512</Paragraphs>
  <Slides>88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88</vt:i4>
      </vt:variant>
    </vt:vector>
  </HeadingPairs>
  <TitlesOfParts>
    <vt:vector size="95" baseType="lpstr">
      <vt:lpstr>新細明體</vt:lpstr>
      <vt:lpstr>Arial</vt:lpstr>
      <vt:lpstr>Calibri</vt:lpstr>
      <vt:lpstr>Calibri Light</vt:lpstr>
      <vt:lpstr>Cambria Math</vt:lpstr>
      <vt:lpstr>Wingdings</vt:lpstr>
      <vt:lpstr>Office Theme</vt:lpstr>
      <vt:lpstr>50.051 Programming Language Concepts  W10-S3 &amp; W11-S1 Bottom-Up Parsing</vt:lpstr>
      <vt:lpstr>Different types of Parsing</vt:lpstr>
      <vt:lpstr>Introduction example for Bottom-Up Parsing</vt:lpstr>
      <vt:lpstr>Introduction example for Bottom-Up Parsing</vt:lpstr>
      <vt:lpstr>PowerPoint Presentation</vt:lpstr>
      <vt:lpstr>PowerPoint Presentation</vt:lpstr>
      <vt:lpstr>PowerPoint Presentation</vt:lpstr>
      <vt:lpstr>Introduction example for Bottom-Up Parsing</vt:lpstr>
      <vt:lpstr>PowerPoint Presentation</vt:lpstr>
      <vt:lpstr>Introduction example for Bottom-Up Parsing</vt:lpstr>
      <vt:lpstr>Shift-Reduce Parsing</vt:lpstr>
      <vt:lpstr>Practice 1: Shift-Reduce tryout</vt:lpstr>
      <vt:lpstr>Practice 1: Shift-Reduce tryout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Practical implementation of Shift-Reduce</vt:lpstr>
      <vt:lpstr>Million dollar question</vt:lpstr>
      <vt:lpstr>How to decide between shift/reduce?</vt:lpstr>
      <vt:lpstr>How to decide between shift/reduce?</vt:lpstr>
      <vt:lpstr>An example FSM for our CFG</vt:lpstr>
      <vt:lpstr>An example FSM for our CFG</vt:lpstr>
      <vt:lpstr>PowerPoint Presentation</vt:lpstr>
      <vt:lpstr>PowerPoint Presentation</vt:lpstr>
      <vt:lpstr>PowerPoint Presentation</vt:lpstr>
      <vt:lpstr>That is very powerful!</vt:lpstr>
      <vt:lpstr>Addressing the questions</vt:lpstr>
      <vt:lpstr>Addressing the questions</vt:lpstr>
      <vt:lpstr>Addressing the questions</vt:lpstr>
      <vt:lpstr>Production tracking in production rules</vt:lpstr>
      <vt:lpstr>Production tracking in production rules</vt:lpstr>
      <vt:lpstr>Production tracking in production rules</vt:lpstr>
      <vt:lpstr>Production tracking in production rules</vt:lpstr>
      <vt:lpstr>Production tracking in production rules</vt:lpstr>
      <vt:lpstr>Production tracking in production rules</vt:lpstr>
      <vt:lpstr>A finite number of dot representations</vt:lpstr>
      <vt:lpstr>From LR(0) to LR(1) items</vt:lpstr>
      <vt:lpstr>From LR(0) to LR(1) items</vt:lpstr>
      <vt:lpstr>From LR(0) to LR(1) items</vt:lpstr>
      <vt:lpstr>Building an FSM: states</vt:lpstr>
      <vt:lpstr>Tedious, not fun, but technically possible</vt:lpstr>
      <vt:lpstr>Transition logic rules: Rule #1</vt:lpstr>
      <vt:lpstr>Using Rule #1, connect the following state</vt:lpstr>
      <vt:lpstr>Tedious, not fun, but technically possible</vt:lpstr>
      <vt:lpstr>Transition logic rules: Rule #1&amp;2</vt:lpstr>
      <vt:lpstr>Transition logic rules: Rule #2</vt:lpstr>
      <vt:lpstr>Tedious, not fun, but technically possible</vt:lpstr>
      <vt:lpstr>Transition logic rules: Rule #3</vt:lpstr>
      <vt:lpstr>Transition logic rules: Rule #3</vt:lpstr>
      <vt:lpstr>Tedious, not fun, but technically possible</vt:lpstr>
      <vt:lpstr>Transition logic rules: Rule #4</vt:lpstr>
      <vt:lpstr>Tedious, not fun, but technically possible</vt:lpstr>
      <vt:lpstr>Getting there!</vt:lpstr>
      <vt:lpstr>Lifting the final shift-reduce conflict</vt:lpstr>
      <vt:lpstr>Lifting the final shift-reduce conflict</vt:lpstr>
      <vt:lpstr>Lifting the final shift-reduce conflict</vt:lpstr>
      <vt:lpstr>Lifting the final shift-reduce conflict</vt:lpstr>
      <vt:lpstr>Lifting the final shift-reduce conflict</vt:lpstr>
      <vt:lpstr>But wait…</vt:lpstr>
      <vt:lpstr>A quick word about conflicts</vt:lpstr>
      <vt:lpstr>A quick word about conflicts</vt:lpstr>
      <vt:lpstr>But wait…</vt:lpstr>
      <vt:lpstr>An important question</vt:lpstr>
      <vt:lpstr>An important question</vt:lpstr>
      <vt:lpstr>An important question</vt:lpstr>
      <vt:lpstr>An important question</vt:lpstr>
      <vt:lpstr>An important question</vt:lpstr>
      <vt:lpstr>An important question</vt:lpstr>
      <vt:lpstr>Addressing the questions</vt:lpstr>
      <vt:lpstr>An important question</vt:lpstr>
      <vt:lpstr>Conclusion</vt:lpstr>
      <vt:lpstr>Conclusion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50.051 Programming Language Concepts  W1-S1 Introduction to Compilers and Course Outline</dc:title>
  <dc:creator>Matthieu DE MARI</dc:creator>
  <cp:lastModifiedBy>Matthieu De Mari</cp:lastModifiedBy>
  <cp:revision>1</cp:revision>
  <dcterms:created xsi:type="dcterms:W3CDTF">2023-03-02T06:54:24Z</dcterms:created>
  <dcterms:modified xsi:type="dcterms:W3CDTF">2026-01-14T09:43:00Z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2023-03-02T06:54:28Z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d53d049c-34cc-4ec9-a6d9-543a36f42364</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